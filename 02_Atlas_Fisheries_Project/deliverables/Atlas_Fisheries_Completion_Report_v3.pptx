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6858000" cy="9720263"/>
  <p:notesSz cx="9720263"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714" autoAdjust="0"/>
    <p:restoredTop sz="94610"/>
  </p:normalViewPr>
  <p:slideViewPr>
    <p:cSldViewPr snapToGrid="0" snapToObjects="1">
      <p:cViewPr>
        <p:scale>
          <a:sx n="73" d="100"/>
          <a:sy n="73" d="100"/>
        </p:scale>
        <p:origin x="286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22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svg"/><Relationship Id="rId3" Type="http://schemas.openxmlformats.org/officeDocument/2006/relationships/image" Target="../media/image4.jpg"/><Relationship Id="rId7" Type="http://schemas.microsoft.com/office/2007/relationships/hdphoto" Target="../media/hdphoto4.wdp"/><Relationship Id="rId12" Type="http://schemas.microsoft.com/office/2007/relationships/hdphoto" Target="../media/hdphoto6.wdp"/><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9.png"/><Relationship Id="rId5" Type="http://schemas.microsoft.com/office/2007/relationships/hdphoto" Target="../media/hdphoto3.wdp"/><Relationship Id="rId10" Type="http://schemas.microsoft.com/office/2007/relationships/hdphoto" Target="../media/hdphoto5.wdp"/><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7.wdp"/><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jpg"/><Relationship Id="rId18" Type="http://schemas.openxmlformats.org/officeDocument/2006/relationships/image" Target="../media/image28.png"/><Relationship Id="rId3" Type="http://schemas.openxmlformats.org/officeDocument/2006/relationships/image" Target="../media/image14.jpeg"/><Relationship Id="rId7" Type="http://schemas.openxmlformats.org/officeDocument/2006/relationships/image" Target="../media/image17.jpg"/><Relationship Id="rId12" Type="http://schemas.openxmlformats.org/officeDocument/2006/relationships/image" Target="../media/image22.png"/><Relationship Id="rId17" Type="http://schemas.openxmlformats.org/officeDocument/2006/relationships/image" Target="../media/image27.jpg"/><Relationship Id="rId2" Type="http://schemas.openxmlformats.org/officeDocument/2006/relationships/notesSlide" Target="../notesSlides/notesSlide5.xml"/><Relationship Id="rId16" Type="http://schemas.openxmlformats.org/officeDocument/2006/relationships/image" Target="../media/image26.jp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jpg"/><Relationship Id="rId15" Type="http://schemas.openxmlformats.org/officeDocument/2006/relationships/image" Target="../media/image25.jp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jpe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1.jpg"/><Relationship Id="rId4" Type="http://schemas.openxmlformats.org/officeDocument/2006/relationships/image" Target="../media/image30.jpg"/></Relationships>
</file>

<file path=ppt/slides/_rels/slide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microsoft.com/office/2007/relationships/hdphoto" Target="../media/hdphoto8.wdp"/><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41.jpg"/><Relationship Id="rId3" Type="http://schemas.openxmlformats.org/officeDocument/2006/relationships/image" Target="../media/image34.png"/><Relationship Id="rId7" Type="http://schemas.microsoft.com/office/2007/relationships/hdphoto" Target="../media/hdphoto9.wdp"/><Relationship Id="rId12" Type="http://schemas.openxmlformats.org/officeDocument/2006/relationships/image" Target="../media/image40.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39.jpg"/><Relationship Id="rId5" Type="http://schemas.openxmlformats.org/officeDocument/2006/relationships/image" Target="../media/image36.svg"/><Relationship Id="rId10" Type="http://schemas.openxmlformats.org/officeDocument/2006/relationships/image" Target="../media/image38.jpg"/><Relationship Id="rId4" Type="http://schemas.openxmlformats.org/officeDocument/2006/relationships/image" Target="../media/image35.png"/><Relationship Id="rId9" Type="http://schemas.microsoft.com/office/2007/relationships/hdphoto" Target="../media/hdphoto4.wdp"/><Relationship Id="rId14" Type="http://schemas.openxmlformats.org/officeDocument/2006/relationships/image" Target="../media/image42.jp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jpg"/><Relationship Id="rId18" Type="http://schemas.openxmlformats.org/officeDocument/2006/relationships/image" Target="../media/image53.jpg"/><Relationship Id="rId3" Type="http://schemas.openxmlformats.org/officeDocument/2006/relationships/image" Target="../media/image34.png"/><Relationship Id="rId21" Type="http://schemas.openxmlformats.org/officeDocument/2006/relationships/image" Target="../media/image56.jpg"/><Relationship Id="rId7" Type="http://schemas.openxmlformats.org/officeDocument/2006/relationships/image" Target="../media/image7.png"/><Relationship Id="rId12" Type="http://schemas.openxmlformats.org/officeDocument/2006/relationships/image" Target="../media/image47.jpg"/><Relationship Id="rId17" Type="http://schemas.openxmlformats.org/officeDocument/2006/relationships/image" Target="../media/image52.jpg"/><Relationship Id="rId2" Type="http://schemas.openxmlformats.org/officeDocument/2006/relationships/notesSlide" Target="../notesSlides/notesSlide9.xml"/><Relationship Id="rId16" Type="http://schemas.openxmlformats.org/officeDocument/2006/relationships/image" Target="../media/image51.jpg"/><Relationship Id="rId20" Type="http://schemas.openxmlformats.org/officeDocument/2006/relationships/image" Target="../media/image55.jpg"/><Relationship Id="rId1" Type="http://schemas.openxmlformats.org/officeDocument/2006/relationships/slideLayout" Target="../slideLayouts/slideLayout1.xml"/><Relationship Id="rId6" Type="http://schemas.microsoft.com/office/2007/relationships/hdphoto" Target="../media/hdphoto10.wdp"/><Relationship Id="rId11" Type="http://schemas.microsoft.com/office/2007/relationships/hdphoto" Target="../media/hdphoto11.wdp"/><Relationship Id="rId5" Type="http://schemas.openxmlformats.org/officeDocument/2006/relationships/image" Target="../media/image43.png"/><Relationship Id="rId15" Type="http://schemas.openxmlformats.org/officeDocument/2006/relationships/image" Target="../media/image50.jpg"/><Relationship Id="rId10" Type="http://schemas.openxmlformats.org/officeDocument/2006/relationships/image" Target="../media/image46.png"/><Relationship Id="rId19" Type="http://schemas.openxmlformats.org/officeDocument/2006/relationships/image" Target="../media/image54.jpg"/><Relationship Id="rId4" Type="http://schemas.openxmlformats.org/officeDocument/2006/relationships/image" Target="../media/image35.png"/><Relationship Id="rId9" Type="http://schemas.openxmlformats.org/officeDocument/2006/relationships/image" Target="../media/image45.png"/><Relationship Id="rId14" Type="http://schemas.openxmlformats.org/officeDocument/2006/relationships/image" Target="../media/image49.jpg"/><Relationship Id="rId22" Type="http://schemas.openxmlformats.org/officeDocument/2006/relationships/image" Target="../media/image5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8.png"/><Relationship Id="rId7" Type="http://schemas.microsoft.com/office/2007/relationships/hdphoto" Target="../media/hdphoto6.wdp"/><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7.png"/><Relationship Id="rId4" Type="http://schemas.openxmlformats.org/officeDocument/2006/relationships/image" Target="../media/image35.png"/><Relationship Id="rId9" Type="http://schemas.openxmlformats.org/officeDocument/2006/relationships/image" Target="../media/image60.jpg"/></Relationships>
</file>

<file path=ppt/slides/_rels/slide12.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microsoft.com/office/2007/relationships/hdphoto" Target="../media/hdphoto12.wdp"/><Relationship Id="rId4" Type="http://schemas.openxmlformats.org/officeDocument/2006/relationships/image" Target="../media/image62.png"/></Relationships>
</file>

<file path=ppt/slides/_rels/slide13.xml.rels><?xml version="1.0" encoding="UTF-8" standalone="yes"?>
<Relationships xmlns="http://schemas.openxmlformats.org/package/2006/relationships"><Relationship Id="rId8" Type="http://schemas.microsoft.com/office/2007/relationships/hdphoto" Target="../media/hdphoto15.wdp"/><Relationship Id="rId3" Type="http://schemas.openxmlformats.org/officeDocument/2006/relationships/image" Target="../media/image63.png"/><Relationship Id="rId7"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07/relationships/hdphoto" Target="../media/hdphoto14.wdp"/><Relationship Id="rId5" Type="http://schemas.openxmlformats.org/officeDocument/2006/relationships/image" Target="../media/image64.png"/><Relationship Id="rId10" Type="http://schemas.openxmlformats.org/officeDocument/2006/relationships/image" Target="../media/image27.jpg"/><Relationship Id="rId4" Type="http://schemas.microsoft.com/office/2007/relationships/hdphoto" Target="../media/hdphoto13.wdp"/><Relationship Id="rId9" Type="http://schemas.openxmlformats.org/officeDocument/2006/relationships/image" Target="../media/image66.jpg"/></Relationships>
</file>

<file path=ppt/slides/_rels/slide14.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microsoft.com/office/2007/relationships/hdphoto" Target="../media/hdphoto16.wdp"/><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8" Type="http://schemas.microsoft.com/office/2007/relationships/hdphoto" Target="../media/hdphoto18.wdp"/><Relationship Id="rId13" Type="http://schemas.openxmlformats.org/officeDocument/2006/relationships/image" Target="../media/image74.jpg"/><Relationship Id="rId3" Type="http://schemas.openxmlformats.org/officeDocument/2006/relationships/image" Target="../media/image69.png"/><Relationship Id="rId7" Type="http://schemas.openxmlformats.org/officeDocument/2006/relationships/image" Target="../media/image71.png"/><Relationship Id="rId12" Type="http://schemas.microsoft.com/office/2007/relationships/hdphoto" Target="../media/hdphoto20.wdp"/><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07/relationships/hdphoto" Target="../media/hdphoto17.wdp"/><Relationship Id="rId11" Type="http://schemas.openxmlformats.org/officeDocument/2006/relationships/image" Target="../media/image73.png"/><Relationship Id="rId5" Type="http://schemas.openxmlformats.org/officeDocument/2006/relationships/image" Target="../media/image70.png"/><Relationship Id="rId10" Type="http://schemas.microsoft.com/office/2007/relationships/hdphoto" Target="../media/hdphoto19.wdp"/><Relationship Id="rId4" Type="http://schemas.openxmlformats.org/officeDocument/2006/relationships/image" Target="../media/image45.png"/><Relationship Id="rId9" Type="http://schemas.openxmlformats.org/officeDocument/2006/relationships/image" Target="../media/image72.png"/><Relationship Id="rId14" Type="http://schemas.openxmlformats.org/officeDocument/2006/relationships/image" Target="../media/image75.jpg"/></Relationships>
</file>

<file path=ppt/slides/_rels/slide1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3.jpg"/><Relationship Id="rId3" Type="http://schemas.openxmlformats.org/officeDocument/2006/relationships/image" Target="../media/image76.png"/><Relationship Id="rId7" Type="http://schemas.microsoft.com/office/2007/relationships/hdphoto" Target="../media/hdphoto10.wdp"/><Relationship Id="rId12" Type="http://schemas.openxmlformats.org/officeDocument/2006/relationships/image" Target="../media/image82.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1.jpg"/><Relationship Id="rId5" Type="http://schemas.openxmlformats.org/officeDocument/2006/relationships/image" Target="../media/image77.png"/><Relationship Id="rId10" Type="http://schemas.openxmlformats.org/officeDocument/2006/relationships/image" Target="../media/image80.jpg"/><Relationship Id="rId4" Type="http://schemas.microsoft.com/office/2007/relationships/hdphoto" Target="../media/hdphoto21.wdp"/><Relationship Id="rId9" Type="http://schemas.microsoft.com/office/2007/relationships/hdphoto" Target="../media/hdphoto11.wdp"/></Relationships>
</file>

<file path=ppt/slides/_rels/slide1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5.png"/><Relationship Id="rId4" Type="http://schemas.microsoft.com/office/2007/relationships/hdphoto" Target="../media/hdphoto22.wdp"/></Relationships>
</file>

<file path=ppt/slides/_rels/slide1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microsoft.com/office/2007/relationships/hdphoto" Target="../media/hdphoto23.wdp"/><Relationship Id="rId4" Type="http://schemas.openxmlformats.org/officeDocument/2006/relationships/image" Target="../media/image88.png"/></Relationships>
</file>

<file path=ppt/slides/_rels/slide2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1.png"/><Relationship Id="rId5" Type="http://schemas.microsoft.com/office/2007/relationships/hdphoto" Target="../media/hdphoto24.wdp"/><Relationship Id="rId4" Type="http://schemas.openxmlformats.org/officeDocument/2006/relationships/image" Target="../media/image90.png"/></Relationships>
</file>

<file path=ppt/slides/_rels/slide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3.png"/><Relationship Id="rId4" Type="http://schemas.microsoft.com/office/2007/relationships/hdphoto" Target="../media/hdphoto25.wdp"/></Relationships>
</file>

<file path=ppt/slides/_rels/slide2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94.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95.jpg"/><Relationship Id="rId5" Type="http://schemas.openxmlformats.org/officeDocument/2006/relationships/image" Target="../media/image17.jpg"/><Relationship Id="rId10" Type="http://schemas.openxmlformats.org/officeDocument/2006/relationships/image" Target="../media/image97.jpg"/><Relationship Id="rId4" Type="http://schemas.microsoft.com/office/2007/relationships/hdphoto" Target="../media/hdphoto26.wdp"/><Relationship Id="rId9" Type="http://schemas.openxmlformats.org/officeDocument/2006/relationships/image" Target="../media/image96.jpg"/></Relationships>
</file>

<file path=ppt/slides/_rels/slide2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99.png"/><Relationship Id="rId4" Type="http://schemas.openxmlformats.org/officeDocument/2006/relationships/image" Target="../media/image98.png"/></Relationships>
</file>

<file path=ppt/slides/_rels/slide24.xml.rels><?xml version="1.0" encoding="UTF-8" standalone="yes"?>
<Relationships xmlns="http://schemas.openxmlformats.org/package/2006/relationships"><Relationship Id="rId8" Type="http://schemas.microsoft.com/office/2007/relationships/hdphoto" Target="../media/hdphoto5.wdp"/><Relationship Id="rId13" Type="http://schemas.microsoft.com/office/2007/relationships/hdphoto" Target="../media/hdphoto28.wdp"/><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07/relationships/hdphoto" Target="../media/hdphoto27.wdp"/><Relationship Id="rId11" Type="http://schemas.openxmlformats.org/officeDocument/2006/relationships/image" Target="../media/image35.png"/><Relationship Id="rId5" Type="http://schemas.openxmlformats.org/officeDocument/2006/relationships/image" Target="../media/image102.png"/><Relationship Id="rId10" Type="http://schemas.microsoft.com/office/2007/relationships/hdphoto" Target="../media/hdphoto4.wdp"/><Relationship Id="rId4" Type="http://schemas.microsoft.com/office/2007/relationships/hdphoto" Target="../media/hdphoto3.wdp"/><Relationship Id="rId9" Type="http://schemas.openxmlformats.org/officeDocument/2006/relationships/image" Target="../media/image104.png"/></Relationships>
</file>

<file path=ppt/slides/_rels/slide2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07.png"/><Relationship Id="rId5" Type="http://schemas.microsoft.com/office/2007/relationships/hdphoto" Target="../media/hdphoto29.wdp"/><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1F"/>
        </a:solidFill>
        <a:effectLst/>
      </p:bgPr>
    </p:bg>
    <p:spTree>
      <p:nvGrpSpPr>
        <p:cNvPr id="1" name=""/>
        <p:cNvGrpSpPr/>
        <p:nvPr/>
      </p:nvGrpSpPr>
      <p:grpSpPr>
        <a:xfrm>
          <a:off x="0" y="0"/>
          <a:ext cx="0" cy="0"/>
          <a:chOff x="0" y="0"/>
          <a:chExt cx="0" cy="0"/>
        </a:xfrm>
      </p:grpSpPr>
      <p:sp>
        <p:nvSpPr>
          <p:cNvPr id="3" name="Shape 0"/>
          <p:cNvSpPr/>
          <p:nvPr/>
        </p:nvSpPr>
        <p:spPr>
          <a:xfrm>
            <a:off x="0" y="36576"/>
            <a:ext cx="6858000" cy="6309360"/>
          </a:xfrm>
          <a:prstGeom prst="rect">
            <a:avLst/>
          </a:prstGeom>
          <a:solidFill>
            <a:srgbClr val="0B1F1F">
              <a:alpha val="60000"/>
            </a:srgbClr>
          </a:solidFill>
          <a:ln w="12700">
            <a:solidFill>
              <a:srgbClr val="0B1F1F"/>
            </a:solidFill>
            <a:prstDash val="solid"/>
          </a:ln>
        </p:spPr>
      </p:sp>
      <p:sp>
        <p:nvSpPr>
          <p:cNvPr id="4" name="Shape 1"/>
          <p:cNvSpPr/>
          <p:nvPr/>
        </p:nvSpPr>
        <p:spPr>
          <a:xfrm>
            <a:off x="0" y="0"/>
            <a:ext cx="6858000" cy="109728"/>
          </a:xfrm>
          <a:prstGeom prst="rect">
            <a:avLst/>
          </a:prstGeom>
          <a:solidFill>
            <a:srgbClr val="C8960A"/>
          </a:solidFill>
          <a:ln w="12700">
            <a:solidFill>
              <a:srgbClr val="C8960A"/>
            </a:solidFill>
            <a:prstDash val="solid"/>
          </a:ln>
        </p:spPr>
      </p:sp>
      <p:pic>
        <p:nvPicPr>
          <p:cNvPr id="39" name="Picture 38">
            <a:extLst>
              <a:ext uri="{FF2B5EF4-FFF2-40B4-BE49-F238E27FC236}">
                <a16:creationId xmlns:a16="http://schemas.microsoft.com/office/drawing/2014/main" id="{29B8030A-6266-F7DC-B7AC-48C2AC1DF5C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Lst>
          </a:blip>
          <a:srcRect l="6927" t="-410" r="52791" b="73"/>
          <a:stretch>
            <a:fillRect/>
          </a:stretch>
        </p:blipFill>
        <p:spPr>
          <a:xfrm>
            <a:off x="-126124" y="-32864"/>
            <a:ext cx="7007316" cy="9769160"/>
          </a:xfrm>
          <a:prstGeom prst="rect">
            <a:avLst/>
          </a:prstGeom>
        </p:spPr>
      </p:pic>
      <p:sp>
        <p:nvSpPr>
          <p:cNvPr id="9" name="Shape 4"/>
          <p:cNvSpPr/>
          <p:nvPr/>
        </p:nvSpPr>
        <p:spPr>
          <a:xfrm>
            <a:off x="292607" y="1005840"/>
            <a:ext cx="3868575" cy="242316"/>
          </a:xfrm>
          <a:prstGeom prst="roundRect">
            <a:avLst>
              <a:gd name="adj" fmla="val 13333"/>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0" name="Text 5"/>
          <p:cNvSpPr/>
          <p:nvPr/>
        </p:nvSpPr>
        <p:spPr>
          <a:xfrm>
            <a:off x="292607" y="1005840"/>
            <a:ext cx="3868575" cy="24231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000" b="1" kern="0" spc="50" dirty="0">
                <a:solidFill>
                  <a:schemeClr val="accent5">
                    <a:lumMod val="20000"/>
                    <a:lumOff val="80000"/>
                  </a:schemeClr>
                </a:solidFill>
                <a:latin typeface="Century Gothic" panose="020B0502020202090204" pitchFamily="34" charset="0"/>
                <a:ea typeface="Calibri" pitchFamily="34" charset="-122"/>
                <a:cs typeface="Calibri" pitchFamily="34" charset="-120"/>
              </a:rPr>
              <a:t>PROJECT COMPLETION REPORT  ·  MAY 2023 – APRIL 2026</a:t>
            </a:r>
            <a:endParaRPr lang="en-US" sz="1000" dirty="0">
              <a:solidFill>
                <a:schemeClr val="accent5">
                  <a:lumMod val="20000"/>
                  <a:lumOff val="80000"/>
                </a:schemeClr>
              </a:solidFill>
              <a:latin typeface="Century Gothic" panose="020B0502020202090204" pitchFamily="34" charset="0"/>
            </a:endParaRPr>
          </a:p>
        </p:txBody>
      </p:sp>
      <p:sp>
        <p:nvSpPr>
          <p:cNvPr id="11" name="Text 6"/>
          <p:cNvSpPr/>
          <p:nvPr/>
        </p:nvSpPr>
        <p:spPr>
          <a:xfrm>
            <a:off x="292608" y="1417319"/>
            <a:ext cx="6272784" cy="3177829"/>
          </a:xfrm>
          <a:prstGeom prst="rect">
            <a:avLst/>
          </a:prstGeom>
          <a:noFill/>
          <a:ln/>
        </p:spPr>
        <p:txBody>
          <a:bodyPr wrap="square" lIns="0" tIns="0" rIns="0" bIns="0" rtlCol="0" anchor="t"/>
          <a:lstStyle/>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Inland Fishery Based</a:t>
            </a:r>
            <a:endParaRPr lang="en-US" sz="3600" dirty="0">
              <a:solidFill>
                <a:schemeClr val="accent5">
                  <a:lumMod val="60000"/>
                  <a:lumOff val="40000"/>
                </a:schemeClr>
              </a:solidFill>
              <a:latin typeface="Felix Titling" panose="04060505060202020A04" pitchFamily="82" charset="0"/>
            </a:endParaRPr>
          </a:p>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Livelihood Improvement</a:t>
            </a:r>
            <a:endParaRPr lang="en-US" sz="3600" dirty="0">
              <a:solidFill>
                <a:schemeClr val="accent5">
                  <a:lumMod val="60000"/>
                  <a:lumOff val="40000"/>
                </a:schemeClr>
              </a:solidFill>
              <a:latin typeface="Felix Titling" panose="04060505060202020A04" pitchFamily="82" charset="0"/>
            </a:endParaRPr>
          </a:p>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Intervention</a:t>
            </a:r>
          </a:p>
          <a:p>
            <a:pPr marL="0" indent="0" algn="l">
              <a:buNone/>
            </a:pPr>
            <a:r>
              <a:rPr lang="en-US" sz="2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for Tribal Community of </a:t>
            </a:r>
            <a:r>
              <a:rPr lang="en-US" sz="2000" b="1" dirty="0" err="1">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Poladpur</a:t>
            </a:r>
            <a:r>
              <a:rPr lang="en-US" sz="2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 block, Raigad</a:t>
            </a:r>
          </a:p>
          <a:p>
            <a:pPr marL="0" indent="0" algn="l">
              <a:buNone/>
            </a:pPr>
            <a:endParaRPr lang="en-US" sz="3600" dirty="0">
              <a:solidFill>
                <a:schemeClr val="accent5">
                  <a:lumMod val="60000"/>
                  <a:lumOff val="40000"/>
                </a:schemeClr>
              </a:solidFill>
              <a:latin typeface="Felix Titling" panose="04060505060202020A04" pitchFamily="82" charset="0"/>
            </a:endParaRPr>
          </a:p>
        </p:txBody>
      </p:sp>
      <p:sp>
        <p:nvSpPr>
          <p:cNvPr id="13" name="Shape 8"/>
          <p:cNvSpPr/>
          <p:nvPr/>
        </p:nvSpPr>
        <p:spPr>
          <a:xfrm>
            <a:off x="0" y="9646918"/>
            <a:ext cx="6858000" cy="73153"/>
          </a:xfrm>
          <a:prstGeom prst="rect">
            <a:avLst/>
          </a:prstGeom>
          <a:noFill/>
          <a:ln w="12700">
            <a:solidFill>
              <a:srgbClr val="0B1F1F"/>
            </a:solidFill>
            <a:prstDash val="solid"/>
          </a:ln>
        </p:spPr>
      </p:sp>
      <p:sp>
        <p:nvSpPr>
          <p:cNvPr id="15" name="Shape 10"/>
          <p:cNvSpPr/>
          <p:nvPr/>
        </p:nvSpPr>
        <p:spPr>
          <a:xfrm>
            <a:off x="256032" y="7585545"/>
            <a:ext cx="3081528" cy="1819972"/>
          </a:xfrm>
          <a:prstGeom prst="roundRect">
            <a:avLst>
              <a:gd name="adj" fmla="val 6667"/>
            </a:avLst>
          </a:prstGeom>
          <a:solidFill>
            <a:schemeClr val="bg1"/>
          </a:solidFill>
          <a:ln w="12700">
            <a:solidFill>
              <a:srgbClr val="FFFFFF"/>
            </a:solidFill>
            <a:prstDash val="solid"/>
          </a:ln>
        </p:spPr>
        <p:txBody>
          <a:bodyPr/>
          <a:lstStyle/>
          <a:p>
            <a:endParaRPr lang="en-IN" dirty="0"/>
          </a:p>
        </p:txBody>
      </p:sp>
      <p:sp>
        <p:nvSpPr>
          <p:cNvPr id="16" name="Text 11"/>
          <p:cNvSpPr/>
          <p:nvPr/>
        </p:nvSpPr>
        <p:spPr>
          <a:xfrm>
            <a:off x="402336" y="7695273"/>
            <a:ext cx="2788920" cy="182880"/>
          </a:xfrm>
          <a:prstGeom prst="rect">
            <a:avLst/>
          </a:prstGeom>
          <a:noFill/>
          <a:ln/>
        </p:spPr>
        <p:txBody>
          <a:bodyPr wrap="square" lIns="0" tIns="0" rIns="0" bIns="0" rtlCol="0" anchor="t"/>
          <a:lstStyle/>
          <a:p>
            <a:pPr marL="0" indent="0" algn="l">
              <a:buNone/>
            </a:pPr>
            <a:r>
              <a:rPr lang="en-US" sz="750" kern="0" spc="150" dirty="0">
                <a:solidFill>
                  <a:srgbClr val="5E7070"/>
                </a:solidFill>
                <a:latin typeface="Felix Titling" panose="04060505060202020A04" pitchFamily="82" charset="0"/>
                <a:ea typeface="Calibri" pitchFamily="34" charset="-122"/>
                <a:cs typeface="Calibri" pitchFamily="34" charset="-120"/>
              </a:rPr>
              <a:t>FUNDED BY</a:t>
            </a:r>
            <a:endParaRPr lang="en-US" sz="750" dirty="0">
              <a:latin typeface="Felix Titling" panose="04060505060202020A04" pitchFamily="82" charset="0"/>
            </a:endParaRPr>
          </a:p>
        </p:txBody>
      </p:sp>
      <p:sp>
        <p:nvSpPr>
          <p:cNvPr id="17" name="Text 12"/>
          <p:cNvSpPr/>
          <p:nvPr/>
        </p:nvSpPr>
        <p:spPr>
          <a:xfrm>
            <a:off x="402336" y="7896441"/>
            <a:ext cx="2788920" cy="292608"/>
          </a:xfrm>
          <a:prstGeom prst="rect">
            <a:avLst/>
          </a:prstGeom>
          <a:noFill/>
          <a:ln/>
        </p:spPr>
        <p:txBody>
          <a:bodyPr wrap="square" lIns="0" tIns="0" rIns="0" bIns="0" rtlCol="0" anchor="t"/>
          <a:lstStyle/>
          <a:p>
            <a:pPr marL="0" indent="0" algn="l">
              <a:buNone/>
            </a:pPr>
            <a:r>
              <a:rPr lang="en-US" sz="1400" b="1" dirty="0">
                <a:solidFill>
                  <a:srgbClr val="005F5F"/>
                </a:solidFill>
                <a:latin typeface="Felix Titling" panose="04060505060202020A04" pitchFamily="82" charset="0"/>
                <a:ea typeface="Cambria" pitchFamily="34" charset="-122"/>
                <a:cs typeface="Cambria" pitchFamily="34" charset="-120"/>
              </a:rPr>
              <a:t>Atlas Copco (India) Pvt. Ltd.</a:t>
            </a:r>
            <a:endParaRPr lang="en-US" sz="1400" dirty="0">
              <a:latin typeface="Felix Titling" panose="04060505060202020A04" pitchFamily="82" charset="0"/>
            </a:endParaRPr>
          </a:p>
        </p:txBody>
      </p:sp>
      <p:sp>
        <p:nvSpPr>
          <p:cNvPr id="18" name="Text 13"/>
          <p:cNvSpPr/>
          <p:nvPr/>
        </p:nvSpPr>
        <p:spPr>
          <a:xfrm>
            <a:off x="402336" y="8207337"/>
            <a:ext cx="2788920" cy="201168"/>
          </a:xfrm>
          <a:prstGeom prst="rect">
            <a:avLst/>
          </a:prstGeom>
          <a:noFill/>
          <a:ln/>
        </p:spPr>
        <p:txBody>
          <a:bodyPr wrap="square" lIns="0" tIns="0" rIns="0" bIns="0" rtlCol="0" anchor="t"/>
          <a:lstStyle/>
          <a:p>
            <a:pPr marL="0" indent="0" algn="l">
              <a:buNone/>
            </a:pPr>
            <a:r>
              <a:rPr lang="en-US" sz="850" i="1" dirty="0">
                <a:solidFill>
                  <a:srgbClr val="5E7070"/>
                </a:solidFill>
                <a:latin typeface="Felix Titling" panose="04060505060202020A04" pitchFamily="82" charset="0"/>
                <a:ea typeface="Calibri" pitchFamily="34" charset="-122"/>
                <a:cs typeface="Calibri" pitchFamily="34" charset="-120"/>
              </a:rPr>
              <a:t>Corporate Social Responsibility Initiative</a:t>
            </a:r>
            <a:endParaRPr lang="en-US" sz="850" dirty="0">
              <a:latin typeface="Felix Titling" panose="04060505060202020A04" pitchFamily="82" charset="0"/>
            </a:endParaRPr>
          </a:p>
        </p:txBody>
      </p:sp>
      <p:sp>
        <p:nvSpPr>
          <p:cNvPr id="19" name="Shape 14"/>
          <p:cNvSpPr/>
          <p:nvPr/>
        </p:nvSpPr>
        <p:spPr>
          <a:xfrm>
            <a:off x="3520440" y="7585545"/>
            <a:ext cx="3081528" cy="1819971"/>
          </a:xfrm>
          <a:prstGeom prst="roundRect">
            <a:avLst>
              <a:gd name="adj" fmla="val 6667"/>
            </a:avLst>
          </a:prstGeom>
          <a:solidFill>
            <a:schemeClr val="bg1"/>
          </a:solidFill>
          <a:ln w="12700">
            <a:solidFill>
              <a:srgbClr val="E0F2F2"/>
            </a:solidFill>
            <a:prstDash val="solid"/>
          </a:ln>
        </p:spPr>
      </p:sp>
      <p:sp>
        <p:nvSpPr>
          <p:cNvPr id="20" name="Text 15"/>
          <p:cNvSpPr/>
          <p:nvPr/>
        </p:nvSpPr>
        <p:spPr>
          <a:xfrm>
            <a:off x="3666744" y="7695273"/>
            <a:ext cx="2788920" cy="182880"/>
          </a:xfrm>
          <a:prstGeom prst="rect">
            <a:avLst/>
          </a:prstGeom>
          <a:noFill/>
          <a:ln/>
        </p:spPr>
        <p:txBody>
          <a:bodyPr wrap="square" lIns="0" tIns="0" rIns="0" bIns="0" rtlCol="0" anchor="t"/>
          <a:lstStyle/>
          <a:p>
            <a:pPr marL="0" indent="0" algn="l">
              <a:buNone/>
            </a:pPr>
            <a:r>
              <a:rPr lang="en-US" sz="750" kern="0" spc="150" dirty="0">
                <a:solidFill>
                  <a:srgbClr val="5E7070"/>
                </a:solidFill>
                <a:latin typeface="Felix Titling" panose="04060505060202020A04" pitchFamily="82" charset="0"/>
                <a:ea typeface="Calibri" pitchFamily="34" charset="-122"/>
                <a:cs typeface="Calibri" pitchFamily="34" charset="-120"/>
              </a:rPr>
              <a:t>IMPLEMENTED BY</a:t>
            </a:r>
            <a:endParaRPr lang="en-US" sz="750" dirty="0">
              <a:latin typeface="Felix Titling" panose="04060505060202020A04" pitchFamily="82" charset="0"/>
            </a:endParaRPr>
          </a:p>
        </p:txBody>
      </p:sp>
      <p:sp>
        <p:nvSpPr>
          <p:cNvPr id="21" name="Text 16"/>
          <p:cNvSpPr/>
          <p:nvPr/>
        </p:nvSpPr>
        <p:spPr>
          <a:xfrm>
            <a:off x="3666744" y="7896441"/>
            <a:ext cx="2788920" cy="457200"/>
          </a:xfrm>
          <a:prstGeom prst="rect">
            <a:avLst/>
          </a:prstGeom>
          <a:noFill/>
          <a:ln/>
        </p:spPr>
        <p:txBody>
          <a:bodyPr wrap="square" lIns="0" tIns="0" rIns="0" bIns="0" rtlCol="0" anchor="t"/>
          <a:lstStyle/>
          <a:p>
            <a:pPr marL="0" indent="0" algn="l">
              <a:buNone/>
            </a:pPr>
            <a:r>
              <a:rPr lang="en-US" sz="1600" b="1" dirty="0">
                <a:solidFill>
                  <a:schemeClr val="accent6"/>
                </a:solidFill>
                <a:latin typeface="Felix Titling" panose="04060505060202020A04" pitchFamily="82" charset="0"/>
                <a:ea typeface="Cambria" pitchFamily="34" charset="-122"/>
                <a:cs typeface="Cambria" pitchFamily="34" charset="-120"/>
              </a:rPr>
              <a:t>Shramjivi Janata Sahayyak Mandal (SJSM)</a:t>
            </a:r>
            <a:endParaRPr lang="en-US" sz="1600" dirty="0">
              <a:solidFill>
                <a:schemeClr val="accent6"/>
              </a:solidFill>
              <a:latin typeface="Felix Titling" panose="04060505060202020A04" pitchFamily="82" charset="0"/>
            </a:endParaRPr>
          </a:p>
        </p:txBody>
      </p:sp>
      <p:sp>
        <p:nvSpPr>
          <p:cNvPr id="22" name="Text 17"/>
          <p:cNvSpPr/>
          <p:nvPr/>
        </p:nvSpPr>
        <p:spPr>
          <a:xfrm>
            <a:off x="3666744" y="8390217"/>
            <a:ext cx="2788920" cy="201168"/>
          </a:xfrm>
          <a:prstGeom prst="rect">
            <a:avLst/>
          </a:prstGeom>
          <a:noFill/>
          <a:ln/>
        </p:spPr>
        <p:txBody>
          <a:bodyPr wrap="square" lIns="0" tIns="0" rIns="0" bIns="0" rtlCol="0" anchor="t"/>
          <a:lstStyle/>
          <a:p>
            <a:pPr marL="0" indent="0" algn="l">
              <a:buNone/>
            </a:pPr>
            <a:r>
              <a:rPr lang="en-US" sz="850" i="1" dirty="0">
                <a:solidFill>
                  <a:srgbClr val="5E7070"/>
                </a:solidFill>
                <a:latin typeface="Felix Titling" panose="04060505060202020A04" pitchFamily="82" charset="0"/>
                <a:ea typeface="Calibri" pitchFamily="34" charset="-122"/>
                <a:cs typeface="Calibri" pitchFamily="34" charset="-120"/>
              </a:rPr>
              <a:t>Satara, Maharashtra</a:t>
            </a:r>
            <a:endParaRPr lang="en-US" sz="850" dirty="0">
              <a:latin typeface="Felix Titling" panose="04060505060202020A04" pitchFamily="82" charset="0"/>
            </a:endParaRPr>
          </a:p>
        </p:txBody>
      </p:sp>
      <p:sp>
        <p:nvSpPr>
          <p:cNvPr id="35" name="Shape 30"/>
          <p:cNvSpPr/>
          <p:nvPr/>
        </p:nvSpPr>
        <p:spPr>
          <a:xfrm>
            <a:off x="0" y="9610344"/>
            <a:ext cx="6858000" cy="109728"/>
          </a:xfrm>
          <a:prstGeom prst="rect">
            <a:avLst/>
          </a:prstGeom>
          <a:solidFill>
            <a:srgbClr val="C8960A"/>
          </a:solidFill>
          <a:ln w="12700">
            <a:solidFill>
              <a:srgbClr val="C8960A"/>
            </a:solidFill>
            <a:prstDash val="solid"/>
          </a:ln>
        </p:spPr>
      </p:sp>
      <p:pic>
        <p:nvPicPr>
          <p:cNvPr id="2" name="Picture 1">
            <a:extLst>
              <a:ext uri="{FF2B5EF4-FFF2-40B4-BE49-F238E27FC236}">
                <a16:creationId xmlns:a16="http://schemas.microsoft.com/office/drawing/2014/main" id="{04C197DE-5E56-E68F-7B3F-04B6CBB386CF}"/>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51641" y="8403041"/>
            <a:ext cx="2427890" cy="875223"/>
          </a:xfrm>
          <a:prstGeom prst="rect">
            <a:avLst/>
          </a:prstGeom>
          <a:noFill/>
          <a:ln>
            <a:noFill/>
          </a:ln>
        </p:spPr>
      </p:pic>
      <p:pic>
        <p:nvPicPr>
          <p:cNvPr id="37" name="Picture 2">
            <a:extLst>
              <a:ext uri="{FF2B5EF4-FFF2-40B4-BE49-F238E27FC236}">
                <a16:creationId xmlns:a16="http://schemas.microsoft.com/office/drawing/2014/main" id="{A00D09DD-CBA8-5260-F7DB-21A30A2D042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46204" y="8591385"/>
            <a:ext cx="2167780" cy="616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Table of Contents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800" dirty="0">
                <a:solidFill>
                  <a:srgbClr val="9AAEAE"/>
                </a:solidFill>
                <a:latin typeface="Century Gothic" panose="020B0502020202090204" pitchFamily="34" charset="0"/>
                <a:ea typeface="Calibri" pitchFamily="34" charset="-122"/>
                <a:cs typeface="Calibri" pitchFamily="34" charset="-120"/>
              </a:rPr>
              <a:t>SJSM · Atlas Copco CSR · 2023–2026</a:t>
            </a:r>
            <a:endParaRPr lang="en-US" sz="800" dirty="0">
              <a:latin typeface="Century Gothic" panose="020B0502020202090204" pitchFamily="34" charset="0"/>
            </a:endParaRPr>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1" name="Shape 9"/>
          <p:cNvSpPr/>
          <p:nvPr/>
        </p:nvSpPr>
        <p:spPr>
          <a:xfrm>
            <a:off x="0" y="274320"/>
            <a:ext cx="6858000" cy="16459"/>
          </a:xfrm>
          <a:prstGeom prst="rect">
            <a:avLst/>
          </a:prstGeom>
          <a:solidFill>
            <a:srgbClr val="C8960A"/>
          </a:solidFill>
          <a:ln w="12700">
            <a:solidFill>
              <a:srgbClr val="C8960A"/>
            </a:solidFill>
            <a:prstDash val="solid"/>
          </a:ln>
        </p:spPr>
      </p:sp>
      <p:sp>
        <p:nvSpPr>
          <p:cNvPr id="12" name="Shape 10"/>
          <p:cNvSpPr/>
          <p:nvPr/>
        </p:nvSpPr>
        <p:spPr>
          <a:xfrm>
            <a:off x="0" y="320040"/>
            <a:ext cx="2377440" cy="9079992"/>
          </a:xfrm>
          <a:prstGeom prst="rect">
            <a:avLst/>
          </a:prstGeom>
          <a:solidFill>
            <a:srgbClr val="005F5F"/>
          </a:solidFill>
          <a:ln w="12700">
            <a:solidFill>
              <a:srgbClr val="005F5F"/>
            </a:solidFill>
            <a:prstDash val="solid"/>
          </a:ln>
        </p:spPr>
      </p:sp>
      <p:sp>
        <p:nvSpPr>
          <p:cNvPr id="15" name="Text 12"/>
          <p:cNvSpPr/>
          <p:nvPr/>
        </p:nvSpPr>
        <p:spPr>
          <a:xfrm>
            <a:off x="201168" y="502920"/>
            <a:ext cx="1965960" cy="1280160"/>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Table of</a:t>
            </a:r>
            <a:endParaRPr lang="en-US" sz="2400" dirty="0">
              <a:latin typeface="Felix Titling" panose="04060505060202020A04" pitchFamily="82" charset="0"/>
            </a:endParaRPr>
          </a:p>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Contents</a:t>
            </a:r>
            <a:endParaRPr lang="en-US" sz="2400" dirty="0">
              <a:latin typeface="Felix Titling" panose="04060505060202020A04" pitchFamily="82" charset="0"/>
            </a:endParaRPr>
          </a:p>
        </p:txBody>
      </p:sp>
      <p:sp>
        <p:nvSpPr>
          <p:cNvPr id="16" name="Shape 13"/>
          <p:cNvSpPr/>
          <p:nvPr/>
        </p:nvSpPr>
        <p:spPr>
          <a:xfrm>
            <a:off x="201168" y="1828800"/>
            <a:ext cx="1280160" cy="22860"/>
          </a:xfrm>
          <a:prstGeom prst="rect">
            <a:avLst/>
          </a:prstGeom>
          <a:solidFill>
            <a:srgbClr val="C8960A"/>
          </a:solidFill>
          <a:ln w="12700">
            <a:solidFill>
              <a:srgbClr val="C8960A"/>
            </a:solidFill>
            <a:prstDash val="solid"/>
          </a:ln>
        </p:spPr>
      </p:sp>
      <p:sp>
        <p:nvSpPr>
          <p:cNvPr id="17" name="Text 14"/>
          <p:cNvSpPr/>
          <p:nvPr/>
        </p:nvSpPr>
        <p:spPr>
          <a:xfrm>
            <a:off x="201168" y="1920240"/>
            <a:ext cx="1965960" cy="594360"/>
          </a:xfrm>
          <a:prstGeom prst="rect">
            <a:avLst/>
          </a:prstGeom>
          <a:noFill/>
          <a:ln/>
        </p:spPr>
        <p:txBody>
          <a:bodyPr wrap="square" lIns="0" tIns="0" rIns="0" bIns="0" rtlCol="0" anchor="t"/>
          <a:lstStyle/>
          <a:p>
            <a:pPr marL="0" indent="0" algn="l">
              <a:buNone/>
            </a:pPr>
            <a:r>
              <a:rPr lang="en-US" sz="1200" i="1" dirty="0">
                <a:solidFill>
                  <a:srgbClr val="E0F2F2"/>
                </a:solidFill>
                <a:latin typeface="Century Gothic" panose="020B0502020202090204" pitchFamily="34" charset="0"/>
                <a:ea typeface="Calibri" pitchFamily="34" charset="-122"/>
                <a:cs typeface="Calibri" pitchFamily="34" charset="-120"/>
              </a:rPr>
              <a:t>Project Completion Report</a:t>
            </a:r>
            <a:endParaRPr lang="en-US" sz="1200" dirty="0">
              <a:latin typeface="Century Gothic" panose="020B0502020202090204" pitchFamily="34" charset="0"/>
            </a:endParaRPr>
          </a:p>
          <a:p>
            <a:pPr marL="0" indent="0" algn="l">
              <a:buNone/>
            </a:pPr>
            <a:r>
              <a:rPr lang="en-US" sz="1200" i="1" dirty="0">
                <a:solidFill>
                  <a:srgbClr val="E0F2F2"/>
                </a:solidFill>
                <a:latin typeface="Century Gothic" panose="020B0502020202090204" pitchFamily="34" charset="0"/>
                <a:ea typeface="Calibri" pitchFamily="34" charset="-122"/>
                <a:cs typeface="Calibri" pitchFamily="34" charset="-120"/>
              </a:rPr>
              <a:t>May 2023 – April 2026</a:t>
            </a:r>
            <a:endParaRPr lang="en-US" sz="1200" dirty="0">
              <a:latin typeface="Century Gothic" panose="020B0502020202090204" pitchFamily="34" charset="0"/>
            </a:endParaRPr>
          </a:p>
        </p:txBody>
      </p:sp>
      <p:sp>
        <p:nvSpPr>
          <p:cNvPr id="18" name="Shape 15"/>
          <p:cNvSpPr/>
          <p:nvPr/>
        </p:nvSpPr>
        <p:spPr>
          <a:xfrm>
            <a:off x="2542032" y="475488"/>
            <a:ext cx="4114800" cy="402336"/>
          </a:xfrm>
          <a:prstGeom prst="roundRect">
            <a:avLst>
              <a:gd name="adj" fmla="val 11364"/>
            </a:avLst>
          </a:prstGeom>
          <a:solidFill>
            <a:srgbClr val="FFFFFF"/>
          </a:solidFill>
          <a:ln w="12700">
            <a:solidFill>
              <a:srgbClr val="E5EDED"/>
            </a:solidFill>
            <a:prstDash val="solid"/>
          </a:ln>
        </p:spPr>
      </p:sp>
      <p:sp>
        <p:nvSpPr>
          <p:cNvPr id="19" name="Shape 16"/>
          <p:cNvSpPr/>
          <p:nvPr/>
        </p:nvSpPr>
        <p:spPr>
          <a:xfrm>
            <a:off x="6327648" y="548640"/>
            <a:ext cx="256032" cy="256032"/>
          </a:xfrm>
          <a:prstGeom prst="roundRect">
            <a:avLst>
              <a:gd name="adj" fmla="val 21429"/>
            </a:avLst>
          </a:prstGeom>
          <a:solidFill>
            <a:srgbClr val="005F5F"/>
          </a:solidFill>
          <a:ln w="12700">
            <a:solidFill>
              <a:srgbClr val="005F5F"/>
            </a:solidFill>
            <a:prstDash val="solid"/>
          </a:ln>
        </p:spPr>
      </p:sp>
      <p:sp>
        <p:nvSpPr>
          <p:cNvPr id="20" name="Text 17"/>
          <p:cNvSpPr/>
          <p:nvPr/>
        </p:nvSpPr>
        <p:spPr>
          <a:xfrm>
            <a:off x="6327648" y="54864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a:t>
            </a:r>
            <a:endParaRPr lang="en-US" sz="900" dirty="0">
              <a:latin typeface="Century Gothic" panose="020B0502020202090204" pitchFamily="34" charset="0"/>
            </a:endParaRPr>
          </a:p>
        </p:txBody>
      </p:sp>
      <p:sp>
        <p:nvSpPr>
          <p:cNvPr id="21" name="Text 18"/>
          <p:cNvSpPr/>
          <p:nvPr/>
        </p:nvSpPr>
        <p:spPr>
          <a:xfrm>
            <a:off x="2633472" y="52120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Cover Page</a:t>
            </a:r>
            <a:endParaRPr lang="en-US" sz="1100" dirty="0">
              <a:latin typeface="Felix Titling" panose="04060505060202020A04" pitchFamily="82" charset="0"/>
            </a:endParaRPr>
          </a:p>
        </p:txBody>
      </p:sp>
      <p:sp>
        <p:nvSpPr>
          <p:cNvPr id="22" name="Text 19"/>
          <p:cNvSpPr/>
          <p:nvPr/>
        </p:nvSpPr>
        <p:spPr>
          <a:xfrm>
            <a:off x="2633472" y="71323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Project overview &amp; partnership details</a:t>
            </a:r>
            <a:endParaRPr lang="en-US" sz="900" dirty="0">
              <a:latin typeface="Century Gothic" panose="020B0502020202090204" pitchFamily="34" charset="0"/>
            </a:endParaRPr>
          </a:p>
        </p:txBody>
      </p:sp>
      <p:sp>
        <p:nvSpPr>
          <p:cNvPr id="23" name="Shape 20"/>
          <p:cNvSpPr/>
          <p:nvPr/>
        </p:nvSpPr>
        <p:spPr>
          <a:xfrm>
            <a:off x="2542032" y="900684"/>
            <a:ext cx="4114800" cy="402336"/>
          </a:xfrm>
          <a:prstGeom prst="roundRect">
            <a:avLst>
              <a:gd name="adj" fmla="val 11364"/>
            </a:avLst>
          </a:prstGeom>
          <a:solidFill>
            <a:srgbClr val="F5FCFC"/>
          </a:solidFill>
          <a:ln w="12700">
            <a:solidFill>
              <a:srgbClr val="E5EDED"/>
            </a:solidFill>
            <a:prstDash val="solid"/>
          </a:ln>
        </p:spPr>
      </p:sp>
      <p:sp>
        <p:nvSpPr>
          <p:cNvPr id="24" name="Shape 21"/>
          <p:cNvSpPr/>
          <p:nvPr/>
        </p:nvSpPr>
        <p:spPr>
          <a:xfrm>
            <a:off x="6327648" y="973836"/>
            <a:ext cx="256032" cy="256032"/>
          </a:xfrm>
          <a:prstGeom prst="roundRect">
            <a:avLst>
              <a:gd name="adj" fmla="val 21429"/>
            </a:avLst>
          </a:prstGeom>
          <a:solidFill>
            <a:srgbClr val="005F5F"/>
          </a:solidFill>
          <a:ln w="12700">
            <a:solidFill>
              <a:srgbClr val="005F5F"/>
            </a:solidFill>
            <a:prstDash val="solid"/>
          </a:ln>
        </p:spPr>
      </p:sp>
      <p:sp>
        <p:nvSpPr>
          <p:cNvPr id="25" name="Text 22"/>
          <p:cNvSpPr/>
          <p:nvPr/>
        </p:nvSpPr>
        <p:spPr>
          <a:xfrm>
            <a:off x="6327648" y="9738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26" name="Text 23"/>
          <p:cNvSpPr/>
          <p:nvPr/>
        </p:nvSpPr>
        <p:spPr>
          <a:xfrm>
            <a:off x="2633472" y="94640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About SJSM &amp; Project Background</a:t>
            </a:r>
            <a:endParaRPr lang="en-US" sz="1100" dirty="0">
              <a:latin typeface="Felix Titling" panose="04060505060202020A04" pitchFamily="82" charset="0"/>
            </a:endParaRPr>
          </a:p>
        </p:txBody>
      </p:sp>
      <p:sp>
        <p:nvSpPr>
          <p:cNvPr id="27" name="Text 24"/>
          <p:cNvSpPr/>
          <p:nvPr/>
        </p:nvSpPr>
        <p:spPr>
          <a:xfrm>
            <a:off x="2633472" y="113842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Organisation profile and project context</a:t>
            </a:r>
            <a:endParaRPr lang="en-US" sz="900" dirty="0">
              <a:latin typeface="Century Gothic" panose="020B0502020202090204" pitchFamily="34" charset="0"/>
            </a:endParaRPr>
          </a:p>
        </p:txBody>
      </p:sp>
      <p:sp>
        <p:nvSpPr>
          <p:cNvPr id="28" name="Shape 25"/>
          <p:cNvSpPr/>
          <p:nvPr/>
        </p:nvSpPr>
        <p:spPr>
          <a:xfrm>
            <a:off x="2542032" y="1325880"/>
            <a:ext cx="4114800" cy="402336"/>
          </a:xfrm>
          <a:prstGeom prst="roundRect">
            <a:avLst>
              <a:gd name="adj" fmla="val 11364"/>
            </a:avLst>
          </a:prstGeom>
          <a:solidFill>
            <a:srgbClr val="FFFFFF"/>
          </a:solidFill>
          <a:ln w="12700">
            <a:solidFill>
              <a:srgbClr val="E5EDED"/>
            </a:solidFill>
            <a:prstDash val="solid"/>
          </a:ln>
        </p:spPr>
      </p:sp>
      <p:sp>
        <p:nvSpPr>
          <p:cNvPr id="29" name="Shape 26"/>
          <p:cNvSpPr/>
          <p:nvPr/>
        </p:nvSpPr>
        <p:spPr>
          <a:xfrm>
            <a:off x="6327648" y="1399032"/>
            <a:ext cx="256032" cy="256032"/>
          </a:xfrm>
          <a:prstGeom prst="roundRect">
            <a:avLst>
              <a:gd name="adj" fmla="val 21429"/>
            </a:avLst>
          </a:prstGeom>
          <a:solidFill>
            <a:srgbClr val="005F5F"/>
          </a:solidFill>
          <a:ln w="12700">
            <a:solidFill>
              <a:srgbClr val="005F5F"/>
            </a:solidFill>
            <a:prstDash val="solid"/>
          </a:ln>
        </p:spPr>
      </p:sp>
      <p:sp>
        <p:nvSpPr>
          <p:cNvPr id="30" name="Text 27"/>
          <p:cNvSpPr/>
          <p:nvPr/>
        </p:nvSpPr>
        <p:spPr>
          <a:xfrm>
            <a:off x="6327648" y="13990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31" name="Text 28"/>
          <p:cNvSpPr/>
          <p:nvPr/>
        </p:nvSpPr>
        <p:spPr>
          <a:xfrm>
            <a:off x="2633472" y="137160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Project Objectives</a:t>
            </a:r>
            <a:endParaRPr lang="en-US" sz="1100" dirty="0">
              <a:latin typeface="Felix Titling" panose="04060505060202020A04" pitchFamily="82" charset="0"/>
            </a:endParaRPr>
          </a:p>
        </p:txBody>
      </p:sp>
      <p:sp>
        <p:nvSpPr>
          <p:cNvPr id="32" name="Text 29"/>
          <p:cNvSpPr/>
          <p:nvPr/>
        </p:nvSpPr>
        <p:spPr>
          <a:xfrm>
            <a:off x="2633472" y="156362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Goals and intended outcomes</a:t>
            </a:r>
            <a:endParaRPr lang="en-US" sz="900" dirty="0">
              <a:latin typeface="Century Gothic" panose="020B0502020202090204" pitchFamily="34" charset="0"/>
            </a:endParaRPr>
          </a:p>
        </p:txBody>
      </p:sp>
      <p:sp>
        <p:nvSpPr>
          <p:cNvPr id="33" name="Shape 30"/>
          <p:cNvSpPr/>
          <p:nvPr/>
        </p:nvSpPr>
        <p:spPr>
          <a:xfrm>
            <a:off x="2542032" y="1751076"/>
            <a:ext cx="4114800" cy="402336"/>
          </a:xfrm>
          <a:prstGeom prst="roundRect">
            <a:avLst>
              <a:gd name="adj" fmla="val 11364"/>
            </a:avLst>
          </a:prstGeom>
          <a:solidFill>
            <a:srgbClr val="F5FCFC"/>
          </a:solidFill>
          <a:ln w="12700">
            <a:solidFill>
              <a:srgbClr val="E5EDED"/>
            </a:solidFill>
            <a:prstDash val="solid"/>
          </a:ln>
        </p:spPr>
      </p:sp>
      <p:sp>
        <p:nvSpPr>
          <p:cNvPr id="34" name="Shape 31"/>
          <p:cNvSpPr/>
          <p:nvPr/>
        </p:nvSpPr>
        <p:spPr>
          <a:xfrm>
            <a:off x="6327648" y="1824228"/>
            <a:ext cx="256032" cy="256032"/>
          </a:xfrm>
          <a:prstGeom prst="roundRect">
            <a:avLst>
              <a:gd name="adj" fmla="val 21429"/>
            </a:avLst>
          </a:prstGeom>
          <a:solidFill>
            <a:srgbClr val="005F5F"/>
          </a:solidFill>
          <a:ln w="12700">
            <a:solidFill>
              <a:srgbClr val="005F5F"/>
            </a:solidFill>
            <a:prstDash val="solid"/>
          </a:ln>
        </p:spPr>
      </p:sp>
      <p:sp>
        <p:nvSpPr>
          <p:cNvPr id="35" name="Text 32"/>
          <p:cNvSpPr/>
          <p:nvPr/>
        </p:nvSpPr>
        <p:spPr>
          <a:xfrm>
            <a:off x="6327648" y="182422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5</a:t>
            </a:r>
            <a:endParaRPr lang="en-US" sz="900" dirty="0">
              <a:latin typeface="Century Gothic" panose="020B0502020202090204" pitchFamily="34" charset="0"/>
            </a:endParaRPr>
          </a:p>
        </p:txBody>
      </p:sp>
      <p:sp>
        <p:nvSpPr>
          <p:cNvPr id="36" name="Text 33"/>
          <p:cNvSpPr/>
          <p:nvPr/>
        </p:nvSpPr>
        <p:spPr>
          <a:xfrm>
            <a:off x="2633472" y="179679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Major Interventions - Overview</a:t>
            </a:r>
            <a:endParaRPr lang="en-US" sz="1100" dirty="0">
              <a:latin typeface="Felix Titling" panose="04060505060202020A04" pitchFamily="82" charset="0"/>
            </a:endParaRPr>
          </a:p>
        </p:txBody>
      </p:sp>
      <p:sp>
        <p:nvSpPr>
          <p:cNvPr id="37" name="Text 34"/>
          <p:cNvSpPr/>
          <p:nvPr/>
        </p:nvSpPr>
        <p:spPr>
          <a:xfrm>
            <a:off x="2633472" y="198882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Nine fishery livelihood support activities</a:t>
            </a:r>
            <a:endParaRPr lang="en-US" sz="900" dirty="0">
              <a:latin typeface="Century Gothic" panose="020B0502020202090204" pitchFamily="34" charset="0"/>
            </a:endParaRPr>
          </a:p>
        </p:txBody>
      </p:sp>
      <p:sp>
        <p:nvSpPr>
          <p:cNvPr id="38" name="Shape 35"/>
          <p:cNvSpPr/>
          <p:nvPr/>
        </p:nvSpPr>
        <p:spPr>
          <a:xfrm>
            <a:off x="2542032" y="2176272"/>
            <a:ext cx="4114800" cy="402336"/>
          </a:xfrm>
          <a:prstGeom prst="roundRect">
            <a:avLst>
              <a:gd name="adj" fmla="val 11364"/>
            </a:avLst>
          </a:prstGeom>
          <a:solidFill>
            <a:srgbClr val="FFFFFF"/>
          </a:solidFill>
          <a:ln w="12700">
            <a:solidFill>
              <a:srgbClr val="E5EDED"/>
            </a:solidFill>
            <a:prstDash val="solid"/>
          </a:ln>
        </p:spPr>
      </p:sp>
      <p:sp>
        <p:nvSpPr>
          <p:cNvPr id="39" name="Shape 36"/>
          <p:cNvSpPr/>
          <p:nvPr/>
        </p:nvSpPr>
        <p:spPr>
          <a:xfrm>
            <a:off x="6327648" y="2249424"/>
            <a:ext cx="256032" cy="256032"/>
          </a:xfrm>
          <a:prstGeom prst="roundRect">
            <a:avLst>
              <a:gd name="adj" fmla="val 21429"/>
            </a:avLst>
          </a:prstGeom>
          <a:solidFill>
            <a:srgbClr val="005F5F"/>
          </a:solidFill>
          <a:ln w="12700">
            <a:solidFill>
              <a:srgbClr val="005F5F"/>
            </a:solidFill>
            <a:prstDash val="solid"/>
          </a:ln>
        </p:spPr>
      </p:sp>
      <p:sp>
        <p:nvSpPr>
          <p:cNvPr id="40" name="Text 37"/>
          <p:cNvSpPr/>
          <p:nvPr/>
        </p:nvSpPr>
        <p:spPr>
          <a:xfrm>
            <a:off x="6327648" y="224942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6</a:t>
            </a:r>
            <a:endParaRPr lang="en-US" sz="900" dirty="0">
              <a:latin typeface="Century Gothic" panose="020B0502020202090204" pitchFamily="34" charset="0"/>
            </a:endParaRPr>
          </a:p>
        </p:txBody>
      </p:sp>
      <p:sp>
        <p:nvSpPr>
          <p:cNvPr id="41" name="Text 38"/>
          <p:cNvSpPr/>
          <p:nvPr/>
        </p:nvSpPr>
        <p:spPr>
          <a:xfrm>
            <a:off x="2633472" y="222199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Fishery Operations in Detail</a:t>
            </a:r>
            <a:endParaRPr lang="en-US" sz="1100" dirty="0">
              <a:latin typeface="Felix Titling" panose="04060505060202020A04" pitchFamily="82" charset="0"/>
            </a:endParaRPr>
          </a:p>
        </p:txBody>
      </p:sp>
      <p:sp>
        <p:nvSpPr>
          <p:cNvPr id="42" name="Text 39"/>
          <p:cNvSpPr/>
          <p:nvPr/>
        </p:nvSpPr>
        <p:spPr>
          <a:xfrm>
            <a:off x="2633472" y="241401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Hatchery, fingerling stocking, brood stock</a:t>
            </a:r>
            <a:endParaRPr lang="en-US" sz="900" dirty="0">
              <a:latin typeface="Century Gothic" panose="020B0502020202090204" pitchFamily="34" charset="0"/>
            </a:endParaRPr>
          </a:p>
        </p:txBody>
      </p:sp>
      <p:sp>
        <p:nvSpPr>
          <p:cNvPr id="43" name="Shape 40"/>
          <p:cNvSpPr/>
          <p:nvPr/>
        </p:nvSpPr>
        <p:spPr>
          <a:xfrm>
            <a:off x="2542032" y="2601468"/>
            <a:ext cx="4114800" cy="402336"/>
          </a:xfrm>
          <a:prstGeom prst="roundRect">
            <a:avLst>
              <a:gd name="adj" fmla="val 11364"/>
            </a:avLst>
          </a:prstGeom>
          <a:solidFill>
            <a:srgbClr val="F5FCFC"/>
          </a:solidFill>
          <a:ln w="12700">
            <a:solidFill>
              <a:srgbClr val="E5EDED"/>
            </a:solidFill>
            <a:prstDash val="solid"/>
          </a:ln>
        </p:spPr>
      </p:sp>
      <p:sp>
        <p:nvSpPr>
          <p:cNvPr id="44" name="Shape 41"/>
          <p:cNvSpPr/>
          <p:nvPr/>
        </p:nvSpPr>
        <p:spPr>
          <a:xfrm>
            <a:off x="6327648" y="2674620"/>
            <a:ext cx="256032" cy="256032"/>
          </a:xfrm>
          <a:prstGeom prst="roundRect">
            <a:avLst>
              <a:gd name="adj" fmla="val 21429"/>
            </a:avLst>
          </a:prstGeom>
          <a:solidFill>
            <a:srgbClr val="005F5F"/>
          </a:solidFill>
          <a:ln w="12700">
            <a:solidFill>
              <a:srgbClr val="005F5F"/>
            </a:solidFill>
            <a:prstDash val="solid"/>
          </a:ln>
        </p:spPr>
      </p:sp>
      <p:sp>
        <p:nvSpPr>
          <p:cNvPr id="45" name="Text 42"/>
          <p:cNvSpPr/>
          <p:nvPr/>
        </p:nvSpPr>
        <p:spPr>
          <a:xfrm>
            <a:off x="6327648" y="267462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7</a:t>
            </a:r>
            <a:endParaRPr lang="en-US" sz="900" dirty="0">
              <a:latin typeface="Century Gothic" panose="020B0502020202090204" pitchFamily="34" charset="0"/>
            </a:endParaRPr>
          </a:p>
        </p:txBody>
      </p:sp>
      <p:sp>
        <p:nvSpPr>
          <p:cNvPr id="46" name="Text 43"/>
          <p:cNvSpPr/>
          <p:nvPr/>
        </p:nvSpPr>
        <p:spPr>
          <a:xfrm>
            <a:off x="2633472" y="264718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Training &amp; Capacity Building</a:t>
            </a:r>
            <a:endParaRPr lang="en-US" sz="1100" dirty="0">
              <a:latin typeface="Felix Titling" panose="04060505060202020A04" pitchFamily="82" charset="0"/>
            </a:endParaRPr>
          </a:p>
        </p:txBody>
      </p:sp>
      <p:sp>
        <p:nvSpPr>
          <p:cNvPr id="47" name="Text 44"/>
          <p:cNvSpPr/>
          <p:nvPr/>
        </p:nvSpPr>
        <p:spPr>
          <a:xfrm>
            <a:off x="2633472" y="283921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126 programmes · 800+ participants</a:t>
            </a:r>
            <a:endParaRPr lang="en-US" sz="900" dirty="0">
              <a:latin typeface="Century Gothic" panose="020B0502020202090204" pitchFamily="34" charset="0"/>
            </a:endParaRPr>
          </a:p>
        </p:txBody>
      </p:sp>
      <p:sp>
        <p:nvSpPr>
          <p:cNvPr id="48" name="Shape 45"/>
          <p:cNvSpPr/>
          <p:nvPr/>
        </p:nvSpPr>
        <p:spPr>
          <a:xfrm>
            <a:off x="2542032" y="3026664"/>
            <a:ext cx="4114800" cy="402336"/>
          </a:xfrm>
          <a:prstGeom prst="roundRect">
            <a:avLst>
              <a:gd name="adj" fmla="val 11364"/>
            </a:avLst>
          </a:prstGeom>
          <a:solidFill>
            <a:srgbClr val="FFFFFF"/>
          </a:solidFill>
          <a:ln w="12700">
            <a:solidFill>
              <a:srgbClr val="E5EDED"/>
            </a:solidFill>
            <a:prstDash val="solid"/>
          </a:ln>
        </p:spPr>
      </p:sp>
      <p:sp>
        <p:nvSpPr>
          <p:cNvPr id="49" name="Shape 46"/>
          <p:cNvSpPr/>
          <p:nvPr/>
        </p:nvSpPr>
        <p:spPr>
          <a:xfrm>
            <a:off x="6327648" y="3099816"/>
            <a:ext cx="256032" cy="256032"/>
          </a:xfrm>
          <a:prstGeom prst="roundRect">
            <a:avLst>
              <a:gd name="adj" fmla="val 21429"/>
            </a:avLst>
          </a:prstGeom>
          <a:solidFill>
            <a:srgbClr val="005F5F"/>
          </a:solidFill>
          <a:ln w="12700">
            <a:solidFill>
              <a:srgbClr val="005F5F"/>
            </a:solidFill>
            <a:prstDash val="solid"/>
          </a:ln>
        </p:spPr>
      </p:sp>
      <p:sp>
        <p:nvSpPr>
          <p:cNvPr id="50" name="Text 47"/>
          <p:cNvSpPr/>
          <p:nvPr/>
        </p:nvSpPr>
        <p:spPr>
          <a:xfrm>
            <a:off x="6327648" y="30998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8</a:t>
            </a:r>
            <a:endParaRPr lang="en-US" sz="900" dirty="0">
              <a:latin typeface="Century Gothic" panose="020B0502020202090204" pitchFamily="34" charset="0"/>
            </a:endParaRPr>
          </a:p>
        </p:txBody>
      </p:sp>
      <p:sp>
        <p:nvSpPr>
          <p:cNvPr id="51" name="Text 48"/>
          <p:cNvSpPr/>
          <p:nvPr/>
        </p:nvSpPr>
        <p:spPr>
          <a:xfrm>
            <a:off x="2633472" y="307238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Capacity Building Achievements</a:t>
            </a:r>
            <a:endParaRPr lang="en-US" sz="1100" dirty="0">
              <a:latin typeface="Felix Titling" panose="04060505060202020A04" pitchFamily="82" charset="0"/>
            </a:endParaRPr>
          </a:p>
        </p:txBody>
      </p:sp>
      <p:sp>
        <p:nvSpPr>
          <p:cNvPr id="52" name="Text 49"/>
          <p:cNvSpPr/>
          <p:nvPr/>
        </p:nvSpPr>
        <p:spPr>
          <a:xfrm>
            <a:off x="2633472" y="326440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Training data and key outcomes</a:t>
            </a:r>
            <a:endParaRPr lang="en-US" sz="900" dirty="0">
              <a:latin typeface="Century Gothic" panose="020B0502020202090204" pitchFamily="34" charset="0"/>
            </a:endParaRPr>
          </a:p>
        </p:txBody>
      </p:sp>
      <p:sp>
        <p:nvSpPr>
          <p:cNvPr id="53" name="Shape 50"/>
          <p:cNvSpPr/>
          <p:nvPr/>
        </p:nvSpPr>
        <p:spPr>
          <a:xfrm>
            <a:off x="2542032" y="3451860"/>
            <a:ext cx="4114800" cy="402336"/>
          </a:xfrm>
          <a:prstGeom prst="roundRect">
            <a:avLst>
              <a:gd name="adj" fmla="val 11364"/>
            </a:avLst>
          </a:prstGeom>
          <a:solidFill>
            <a:srgbClr val="F5FCFC"/>
          </a:solidFill>
          <a:ln w="12700">
            <a:solidFill>
              <a:srgbClr val="E5EDED"/>
            </a:solidFill>
            <a:prstDash val="solid"/>
          </a:ln>
        </p:spPr>
      </p:sp>
      <p:sp>
        <p:nvSpPr>
          <p:cNvPr id="54" name="Shape 51"/>
          <p:cNvSpPr/>
          <p:nvPr/>
        </p:nvSpPr>
        <p:spPr>
          <a:xfrm>
            <a:off x="6327648" y="3525012"/>
            <a:ext cx="256032" cy="256032"/>
          </a:xfrm>
          <a:prstGeom prst="roundRect">
            <a:avLst>
              <a:gd name="adj" fmla="val 21429"/>
            </a:avLst>
          </a:prstGeom>
          <a:solidFill>
            <a:srgbClr val="005F5F"/>
          </a:solidFill>
          <a:ln w="12700">
            <a:solidFill>
              <a:srgbClr val="005F5F"/>
            </a:solidFill>
            <a:prstDash val="solid"/>
          </a:ln>
        </p:spPr>
      </p:sp>
      <p:sp>
        <p:nvSpPr>
          <p:cNvPr id="55" name="Text 52"/>
          <p:cNvSpPr/>
          <p:nvPr/>
        </p:nvSpPr>
        <p:spPr>
          <a:xfrm>
            <a:off x="6327648" y="352501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9</a:t>
            </a:r>
            <a:endParaRPr lang="en-US" sz="900" dirty="0">
              <a:latin typeface="Century Gothic" panose="020B0502020202090204" pitchFamily="34" charset="0"/>
            </a:endParaRPr>
          </a:p>
        </p:txBody>
      </p:sp>
      <p:sp>
        <p:nvSpPr>
          <p:cNvPr id="56" name="Text 53"/>
          <p:cNvSpPr/>
          <p:nvPr/>
        </p:nvSpPr>
        <p:spPr>
          <a:xfrm>
            <a:off x="2633472" y="349758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Photo Gallery - Field Activities</a:t>
            </a:r>
            <a:endParaRPr lang="en-US" sz="1100" dirty="0">
              <a:latin typeface="Felix Titling" panose="04060505060202020A04" pitchFamily="82" charset="0"/>
            </a:endParaRPr>
          </a:p>
        </p:txBody>
      </p:sp>
      <p:sp>
        <p:nvSpPr>
          <p:cNvPr id="57" name="Text 54"/>
          <p:cNvSpPr/>
          <p:nvPr/>
        </p:nvSpPr>
        <p:spPr>
          <a:xfrm>
            <a:off x="2633472" y="368960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Glimpses of interventions on ground</a:t>
            </a:r>
            <a:endParaRPr lang="en-US" sz="900" dirty="0">
              <a:latin typeface="Century Gothic" panose="020B0502020202090204" pitchFamily="34" charset="0"/>
            </a:endParaRPr>
          </a:p>
        </p:txBody>
      </p:sp>
      <p:sp>
        <p:nvSpPr>
          <p:cNvPr id="58" name="Shape 55"/>
          <p:cNvSpPr/>
          <p:nvPr/>
        </p:nvSpPr>
        <p:spPr>
          <a:xfrm>
            <a:off x="2542032" y="3877056"/>
            <a:ext cx="4114800" cy="402336"/>
          </a:xfrm>
          <a:prstGeom prst="roundRect">
            <a:avLst>
              <a:gd name="adj" fmla="val 11364"/>
            </a:avLst>
          </a:prstGeom>
          <a:solidFill>
            <a:srgbClr val="FFFFFF"/>
          </a:solidFill>
          <a:ln w="12700">
            <a:solidFill>
              <a:srgbClr val="E5EDED"/>
            </a:solidFill>
            <a:prstDash val="solid"/>
          </a:ln>
        </p:spPr>
      </p:sp>
      <p:sp>
        <p:nvSpPr>
          <p:cNvPr id="59" name="Shape 56"/>
          <p:cNvSpPr/>
          <p:nvPr/>
        </p:nvSpPr>
        <p:spPr>
          <a:xfrm>
            <a:off x="6327648" y="3950208"/>
            <a:ext cx="256032" cy="256032"/>
          </a:xfrm>
          <a:prstGeom prst="roundRect">
            <a:avLst>
              <a:gd name="adj" fmla="val 21429"/>
            </a:avLst>
          </a:prstGeom>
          <a:solidFill>
            <a:srgbClr val="005F5F"/>
          </a:solidFill>
          <a:ln w="12700">
            <a:solidFill>
              <a:srgbClr val="005F5F"/>
            </a:solidFill>
            <a:prstDash val="solid"/>
          </a:ln>
        </p:spPr>
      </p:sp>
      <p:sp>
        <p:nvSpPr>
          <p:cNvPr id="60" name="Text 57"/>
          <p:cNvSpPr/>
          <p:nvPr/>
        </p:nvSpPr>
        <p:spPr>
          <a:xfrm>
            <a:off x="6327648" y="395020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10</a:t>
            </a:r>
            <a:endParaRPr lang="en-US" sz="900" dirty="0">
              <a:latin typeface="Century Gothic" panose="020B0502020202090204" pitchFamily="34" charset="0"/>
            </a:endParaRPr>
          </a:p>
        </p:txBody>
      </p:sp>
      <p:sp>
        <p:nvSpPr>
          <p:cNvPr id="61" name="Text 58"/>
          <p:cNvSpPr/>
          <p:nvPr/>
        </p:nvSpPr>
        <p:spPr>
          <a:xfrm>
            <a:off x="2633472" y="392277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Major Achievements Summary</a:t>
            </a:r>
            <a:endParaRPr lang="en-US" sz="1100" dirty="0">
              <a:latin typeface="Felix Titling" panose="04060505060202020A04" pitchFamily="82" charset="0"/>
            </a:endParaRPr>
          </a:p>
        </p:txBody>
      </p:sp>
      <p:sp>
        <p:nvSpPr>
          <p:cNvPr id="62" name="Text 59"/>
          <p:cNvSpPr/>
          <p:nvPr/>
        </p:nvSpPr>
        <p:spPr>
          <a:xfrm>
            <a:off x="2633472" y="411480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10 milestones with data</a:t>
            </a:r>
            <a:endParaRPr lang="en-US" sz="900" dirty="0">
              <a:latin typeface="Century Gothic" panose="020B0502020202090204" pitchFamily="34" charset="0"/>
            </a:endParaRPr>
          </a:p>
        </p:txBody>
      </p:sp>
      <p:sp>
        <p:nvSpPr>
          <p:cNvPr id="63" name="Shape 60"/>
          <p:cNvSpPr/>
          <p:nvPr/>
        </p:nvSpPr>
        <p:spPr>
          <a:xfrm>
            <a:off x="2542032" y="4302252"/>
            <a:ext cx="4114800" cy="402336"/>
          </a:xfrm>
          <a:prstGeom prst="roundRect">
            <a:avLst>
              <a:gd name="adj" fmla="val 11364"/>
            </a:avLst>
          </a:prstGeom>
          <a:solidFill>
            <a:srgbClr val="F5FCFC"/>
          </a:solidFill>
          <a:ln w="12700">
            <a:solidFill>
              <a:srgbClr val="E5EDED"/>
            </a:solidFill>
            <a:prstDash val="solid"/>
          </a:ln>
        </p:spPr>
      </p:sp>
      <p:sp>
        <p:nvSpPr>
          <p:cNvPr id="64" name="Shape 61"/>
          <p:cNvSpPr/>
          <p:nvPr/>
        </p:nvSpPr>
        <p:spPr>
          <a:xfrm>
            <a:off x="6327648" y="4375404"/>
            <a:ext cx="256032" cy="256032"/>
          </a:xfrm>
          <a:prstGeom prst="roundRect">
            <a:avLst>
              <a:gd name="adj" fmla="val 21429"/>
            </a:avLst>
          </a:prstGeom>
          <a:solidFill>
            <a:srgbClr val="005F5F"/>
          </a:solidFill>
          <a:ln w="12700">
            <a:solidFill>
              <a:srgbClr val="005F5F"/>
            </a:solidFill>
            <a:prstDash val="solid"/>
          </a:ln>
        </p:spPr>
      </p:sp>
      <p:sp>
        <p:nvSpPr>
          <p:cNvPr id="65" name="Text 62"/>
          <p:cNvSpPr/>
          <p:nvPr/>
        </p:nvSpPr>
        <p:spPr>
          <a:xfrm>
            <a:off x="6327648" y="437540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11</a:t>
            </a:r>
            <a:endParaRPr lang="en-US" sz="900" dirty="0">
              <a:latin typeface="Century Gothic" panose="020B0502020202090204" pitchFamily="34" charset="0"/>
            </a:endParaRPr>
          </a:p>
        </p:txBody>
      </p:sp>
      <p:sp>
        <p:nvSpPr>
          <p:cNvPr id="66" name="Text 63"/>
          <p:cNvSpPr/>
          <p:nvPr/>
        </p:nvSpPr>
        <p:spPr>
          <a:xfrm>
            <a:off x="2633472" y="434797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Fisheries Impact &amp; Income Generated</a:t>
            </a:r>
            <a:endParaRPr lang="en-US" sz="1100" dirty="0">
              <a:latin typeface="Felix Titling" panose="04060505060202020A04" pitchFamily="82" charset="0"/>
            </a:endParaRPr>
          </a:p>
        </p:txBody>
      </p:sp>
      <p:sp>
        <p:nvSpPr>
          <p:cNvPr id="67" name="Text 64"/>
          <p:cNvSpPr/>
          <p:nvPr/>
        </p:nvSpPr>
        <p:spPr>
          <a:xfrm>
            <a:off x="2633472" y="453999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270 beneficiaries · ₹1.89 Crore</a:t>
            </a:r>
            <a:endParaRPr lang="en-US" sz="900" dirty="0">
              <a:latin typeface="Century Gothic" panose="020B0502020202090204" pitchFamily="34" charset="0"/>
            </a:endParaRPr>
          </a:p>
        </p:txBody>
      </p:sp>
      <p:sp>
        <p:nvSpPr>
          <p:cNvPr id="68" name="Shape 65"/>
          <p:cNvSpPr/>
          <p:nvPr/>
        </p:nvSpPr>
        <p:spPr>
          <a:xfrm>
            <a:off x="2542032" y="4727448"/>
            <a:ext cx="4114800" cy="402336"/>
          </a:xfrm>
          <a:prstGeom prst="roundRect">
            <a:avLst>
              <a:gd name="adj" fmla="val 11364"/>
            </a:avLst>
          </a:prstGeom>
          <a:solidFill>
            <a:srgbClr val="FFFFFF"/>
          </a:solidFill>
          <a:ln w="12700">
            <a:solidFill>
              <a:srgbClr val="E5EDED"/>
            </a:solidFill>
            <a:prstDash val="solid"/>
          </a:ln>
        </p:spPr>
      </p:sp>
      <p:sp>
        <p:nvSpPr>
          <p:cNvPr id="69" name="Shape 66"/>
          <p:cNvSpPr/>
          <p:nvPr/>
        </p:nvSpPr>
        <p:spPr>
          <a:xfrm>
            <a:off x="6327648" y="4800600"/>
            <a:ext cx="256032" cy="256032"/>
          </a:xfrm>
          <a:prstGeom prst="roundRect">
            <a:avLst>
              <a:gd name="adj" fmla="val 21429"/>
            </a:avLst>
          </a:prstGeom>
          <a:solidFill>
            <a:srgbClr val="005F5F"/>
          </a:solidFill>
          <a:ln w="12700">
            <a:solidFill>
              <a:srgbClr val="005F5F"/>
            </a:solidFill>
            <a:prstDash val="solid"/>
          </a:ln>
        </p:spPr>
      </p:sp>
      <p:sp>
        <p:nvSpPr>
          <p:cNvPr id="70" name="Text 67"/>
          <p:cNvSpPr/>
          <p:nvPr/>
        </p:nvSpPr>
        <p:spPr>
          <a:xfrm>
            <a:off x="6327648" y="480060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12</a:t>
            </a:r>
            <a:endParaRPr lang="en-US" sz="900" dirty="0">
              <a:latin typeface="Century Gothic" panose="020B0502020202090204" pitchFamily="34" charset="0"/>
            </a:endParaRPr>
          </a:p>
        </p:txBody>
      </p:sp>
      <p:sp>
        <p:nvSpPr>
          <p:cNvPr id="71" name="Text 68"/>
          <p:cNvSpPr/>
          <p:nvPr/>
        </p:nvSpPr>
        <p:spPr>
          <a:xfrm>
            <a:off x="2633472" y="477316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Poladpur Block - Deep Dive</a:t>
            </a:r>
            <a:endParaRPr lang="en-US" sz="1100" dirty="0">
              <a:latin typeface="Felix Titling" panose="04060505060202020A04" pitchFamily="82" charset="0"/>
            </a:endParaRPr>
          </a:p>
        </p:txBody>
      </p:sp>
      <p:sp>
        <p:nvSpPr>
          <p:cNvPr id="72" name="Text 69"/>
          <p:cNvSpPr/>
          <p:nvPr/>
        </p:nvSpPr>
        <p:spPr>
          <a:xfrm>
            <a:off x="2633472" y="496519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Interventions, reach &amp; outcomes</a:t>
            </a:r>
            <a:endParaRPr lang="en-US" sz="900" dirty="0">
              <a:latin typeface="Century Gothic" panose="020B0502020202090204" pitchFamily="34" charset="0"/>
            </a:endParaRPr>
          </a:p>
        </p:txBody>
      </p:sp>
      <p:sp>
        <p:nvSpPr>
          <p:cNvPr id="73" name="Shape 70"/>
          <p:cNvSpPr/>
          <p:nvPr/>
        </p:nvSpPr>
        <p:spPr>
          <a:xfrm>
            <a:off x="2542032" y="5152644"/>
            <a:ext cx="4114800" cy="402336"/>
          </a:xfrm>
          <a:prstGeom prst="roundRect">
            <a:avLst>
              <a:gd name="adj" fmla="val 11364"/>
            </a:avLst>
          </a:prstGeom>
          <a:solidFill>
            <a:srgbClr val="F5FCFC"/>
          </a:solidFill>
          <a:ln w="12700">
            <a:solidFill>
              <a:srgbClr val="E5EDED"/>
            </a:solidFill>
            <a:prstDash val="solid"/>
          </a:ln>
        </p:spPr>
      </p:sp>
      <p:sp>
        <p:nvSpPr>
          <p:cNvPr id="74" name="Shape 71"/>
          <p:cNvSpPr/>
          <p:nvPr/>
        </p:nvSpPr>
        <p:spPr>
          <a:xfrm>
            <a:off x="6327648" y="5225796"/>
            <a:ext cx="256032" cy="256032"/>
          </a:xfrm>
          <a:prstGeom prst="roundRect">
            <a:avLst>
              <a:gd name="adj" fmla="val 21429"/>
            </a:avLst>
          </a:prstGeom>
          <a:solidFill>
            <a:srgbClr val="005F5F"/>
          </a:solidFill>
          <a:ln w="12700">
            <a:solidFill>
              <a:srgbClr val="005F5F"/>
            </a:solidFill>
            <a:prstDash val="solid"/>
          </a:ln>
        </p:spPr>
      </p:sp>
      <p:sp>
        <p:nvSpPr>
          <p:cNvPr id="75" name="Text 72"/>
          <p:cNvSpPr/>
          <p:nvPr/>
        </p:nvSpPr>
        <p:spPr>
          <a:xfrm>
            <a:off x="6327648" y="52257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13</a:t>
            </a:r>
            <a:endParaRPr lang="en-US" sz="900" dirty="0">
              <a:latin typeface="Century Gothic" panose="020B0502020202090204" pitchFamily="34" charset="0"/>
            </a:endParaRPr>
          </a:p>
        </p:txBody>
      </p:sp>
      <p:sp>
        <p:nvSpPr>
          <p:cNvPr id="76" name="Text 73"/>
          <p:cNvSpPr/>
          <p:nvPr/>
        </p:nvSpPr>
        <p:spPr>
          <a:xfrm>
            <a:off x="2633472" y="519836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Mahad Block - Deep Dive</a:t>
            </a:r>
            <a:endParaRPr lang="en-US" sz="1100" dirty="0">
              <a:latin typeface="Felix Titling" panose="04060505060202020A04" pitchFamily="82" charset="0"/>
            </a:endParaRPr>
          </a:p>
        </p:txBody>
      </p:sp>
      <p:sp>
        <p:nvSpPr>
          <p:cNvPr id="77" name="Text 74"/>
          <p:cNvSpPr/>
          <p:nvPr/>
        </p:nvSpPr>
        <p:spPr>
          <a:xfrm>
            <a:off x="2633472" y="539038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Interventions, reach &amp; outcomes</a:t>
            </a:r>
            <a:endParaRPr lang="en-US" sz="900" dirty="0">
              <a:latin typeface="Century Gothic" panose="020B0502020202090204" pitchFamily="34" charset="0"/>
            </a:endParaRPr>
          </a:p>
        </p:txBody>
      </p:sp>
      <p:sp>
        <p:nvSpPr>
          <p:cNvPr id="78" name="Shape 75"/>
          <p:cNvSpPr/>
          <p:nvPr/>
        </p:nvSpPr>
        <p:spPr>
          <a:xfrm>
            <a:off x="2542032" y="5577840"/>
            <a:ext cx="4114800" cy="402336"/>
          </a:xfrm>
          <a:prstGeom prst="roundRect">
            <a:avLst>
              <a:gd name="adj" fmla="val 11364"/>
            </a:avLst>
          </a:prstGeom>
          <a:solidFill>
            <a:srgbClr val="FFFFFF"/>
          </a:solidFill>
          <a:ln w="12700">
            <a:solidFill>
              <a:srgbClr val="E5EDED"/>
            </a:solidFill>
            <a:prstDash val="solid"/>
          </a:ln>
        </p:spPr>
      </p:sp>
      <p:sp>
        <p:nvSpPr>
          <p:cNvPr id="79" name="Shape 76"/>
          <p:cNvSpPr/>
          <p:nvPr/>
        </p:nvSpPr>
        <p:spPr>
          <a:xfrm>
            <a:off x="6327648" y="5650992"/>
            <a:ext cx="256032" cy="256032"/>
          </a:xfrm>
          <a:prstGeom prst="roundRect">
            <a:avLst>
              <a:gd name="adj" fmla="val 21429"/>
            </a:avLst>
          </a:prstGeom>
          <a:solidFill>
            <a:srgbClr val="005F5F"/>
          </a:solidFill>
          <a:ln w="12700">
            <a:solidFill>
              <a:srgbClr val="005F5F"/>
            </a:solidFill>
            <a:prstDash val="solid"/>
          </a:ln>
        </p:spPr>
      </p:sp>
      <p:sp>
        <p:nvSpPr>
          <p:cNvPr id="80" name="Text 77"/>
          <p:cNvSpPr/>
          <p:nvPr/>
        </p:nvSpPr>
        <p:spPr>
          <a:xfrm>
            <a:off x="6327648" y="565099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14</a:t>
            </a:r>
            <a:endParaRPr lang="en-US" sz="900" dirty="0">
              <a:latin typeface="Century Gothic" panose="020B0502020202090204" pitchFamily="34" charset="0"/>
            </a:endParaRPr>
          </a:p>
        </p:txBody>
      </p:sp>
      <p:sp>
        <p:nvSpPr>
          <p:cNvPr id="81" name="Text 78"/>
          <p:cNvSpPr/>
          <p:nvPr/>
        </p:nvSpPr>
        <p:spPr>
          <a:xfrm>
            <a:off x="2633472" y="562356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Government Scheme Access - Poladpur</a:t>
            </a:r>
            <a:endParaRPr lang="en-US" sz="1100" dirty="0">
              <a:latin typeface="Felix Titling" panose="04060505060202020A04" pitchFamily="82" charset="0"/>
            </a:endParaRPr>
          </a:p>
        </p:txBody>
      </p:sp>
      <p:sp>
        <p:nvSpPr>
          <p:cNvPr id="82" name="Text 79"/>
          <p:cNvSpPr/>
          <p:nvPr/>
        </p:nvSpPr>
        <p:spPr>
          <a:xfrm>
            <a:off x="2633472" y="581558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485 beneficiaries · ₹3.05 Crore</a:t>
            </a:r>
            <a:endParaRPr lang="en-US" sz="900" dirty="0">
              <a:latin typeface="Century Gothic" panose="020B0502020202090204" pitchFamily="34" charset="0"/>
            </a:endParaRPr>
          </a:p>
        </p:txBody>
      </p:sp>
      <p:sp>
        <p:nvSpPr>
          <p:cNvPr id="83" name="Shape 80"/>
          <p:cNvSpPr/>
          <p:nvPr/>
        </p:nvSpPr>
        <p:spPr>
          <a:xfrm>
            <a:off x="2542032" y="6003036"/>
            <a:ext cx="4114800" cy="402336"/>
          </a:xfrm>
          <a:prstGeom prst="roundRect">
            <a:avLst>
              <a:gd name="adj" fmla="val 11364"/>
            </a:avLst>
          </a:prstGeom>
          <a:solidFill>
            <a:srgbClr val="F5FCFC"/>
          </a:solidFill>
          <a:ln w="12700">
            <a:solidFill>
              <a:srgbClr val="E5EDED"/>
            </a:solidFill>
            <a:prstDash val="solid"/>
          </a:ln>
        </p:spPr>
      </p:sp>
      <p:sp>
        <p:nvSpPr>
          <p:cNvPr id="84" name="Shape 81"/>
          <p:cNvSpPr/>
          <p:nvPr/>
        </p:nvSpPr>
        <p:spPr>
          <a:xfrm>
            <a:off x="6327648" y="6076188"/>
            <a:ext cx="256032" cy="256032"/>
          </a:xfrm>
          <a:prstGeom prst="roundRect">
            <a:avLst>
              <a:gd name="adj" fmla="val 21429"/>
            </a:avLst>
          </a:prstGeom>
          <a:solidFill>
            <a:srgbClr val="005F5F"/>
          </a:solidFill>
          <a:ln w="12700">
            <a:solidFill>
              <a:srgbClr val="005F5F"/>
            </a:solidFill>
            <a:prstDash val="solid"/>
          </a:ln>
        </p:spPr>
      </p:sp>
      <p:sp>
        <p:nvSpPr>
          <p:cNvPr id="85" name="Text 82"/>
          <p:cNvSpPr/>
          <p:nvPr/>
        </p:nvSpPr>
        <p:spPr>
          <a:xfrm>
            <a:off x="6327648" y="607618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15</a:t>
            </a:r>
            <a:endParaRPr lang="en-US" sz="900" dirty="0">
              <a:latin typeface="Century Gothic" panose="020B0502020202090204" pitchFamily="34" charset="0"/>
            </a:endParaRPr>
          </a:p>
        </p:txBody>
      </p:sp>
      <p:sp>
        <p:nvSpPr>
          <p:cNvPr id="86" name="Text 83"/>
          <p:cNvSpPr/>
          <p:nvPr/>
        </p:nvSpPr>
        <p:spPr>
          <a:xfrm>
            <a:off x="2633472" y="604875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Government Scheme Access - Mahad</a:t>
            </a:r>
            <a:endParaRPr lang="en-US" sz="1100" dirty="0">
              <a:latin typeface="Felix Titling" panose="04060505060202020A04" pitchFamily="82" charset="0"/>
            </a:endParaRPr>
          </a:p>
        </p:txBody>
      </p:sp>
      <p:sp>
        <p:nvSpPr>
          <p:cNvPr id="87" name="Text 84"/>
          <p:cNvSpPr/>
          <p:nvPr/>
        </p:nvSpPr>
        <p:spPr>
          <a:xfrm>
            <a:off x="2633472" y="624078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235 beneficiaries · ₹1.78 Crore</a:t>
            </a:r>
            <a:endParaRPr lang="en-US" sz="900" dirty="0">
              <a:latin typeface="Century Gothic" panose="020B0502020202090204" pitchFamily="34" charset="0"/>
            </a:endParaRPr>
          </a:p>
        </p:txBody>
      </p:sp>
      <p:sp>
        <p:nvSpPr>
          <p:cNvPr id="88" name="Shape 85"/>
          <p:cNvSpPr/>
          <p:nvPr/>
        </p:nvSpPr>
        <p:spPr>
          <a:xfrm>
            <a:off x="2542032" y="6428232"/>
            <a:ext cx="4114800" cy="402336"/>
          </a:xfrm>
          <a:prstGeom prst="roundRect">
            <a:avLst>
              <a:gd name="adj" fmla="val 11364"/>
            </a:avLst>
          </a:prstGeom>
          <a:solidFill>
            <a:srgbClr val="FFFFFF"/>
          </a:solidFill>
          <a:ln w="12700">
            <a:solidFill>
              <a:srgbClr val="E5EDED"/>
            </a:solidFill>
            <a:prstDash val="solid"/>
          </a:ln>
        </p:spPr>
      </p:sp>
      <p:sp>
        <p:nvSpPr>
          <p:cNvPr id="89" name="Shape 86"/>
          <p:cNvSpPr/>
          <p:nvPr/>
        </p:nvSpPr>
        <p:spPr>
          <a:xfrm>
            <a:off x="6327648" y="6501384"/>
            <a:ext cx="256032" cy="256032"/>
          </a:xfrm>
          <a:prstGeom prst="roundRect">
            <a:avLst>
              <a:gd name="adj" fmla="val 21429"/>
            </a:avLst>
          </a:prstGeom>
          <a:solidFill>
            <a:srgbClr val="005F5F"/>
          </a:solidFill>
          <a:ln w="12700">
            <a:solidFill>
              <a:srgbClr val="005F5F"/>
            </a:solidFill>
            <a:prstDash val="solid"/>
          </a:ln>
        </p:spPr>
      </p:sp>
      <p:sp>
        <p:nvSpPr>
          <p:cNvPr id="90" name="Text 87"/>
          <p:cNvSpPr/>
          <p:nvPr/>
        </p:nvSpPr>
        <p:spPr>
          <a:xfrm>
            <a:off x="6327648" y="65013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16</a:t>
            </a:r>
            <a:endParaRPr lang="en-US" sz="900" dirty="0">
              <a:latin typeface="Century Gothic" panose="020B0502020202090204" pitchFamily="34" charset="0"/>
            </a:endParaRPr>
          </a:p>
        </p:txBody>
      </p:sp>
      <p:sp>
        <p:nvSpPr>
          <p:cNvPr id="91" name="Text 88"/>
          <p:cNvSpPr/>
          <p:nvPr/>
        </p:nvSpPr>
        <p:spPr>
          <a:xfrm>
            <a:off x="2633472" y="647395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Social Welfare &amp; Media Coverage</a:t>
            </a:r>
            <a:endParaRPr lang="en-US" sz="1100" dirty="0">
              <a:latin typeface="Felix Titling" panose="04060505060202020A04" pitchFamily="82" charset="0"/>
            </a:endParaRPr>
          </a:p>
        </p:txBody>
      </p:sp>
      <p:sp>
        <p:nvSpPr>
          <p:cNvPr id="92" name="Text 89"/>
          <p:cNvSpPr/>
          <p:nvPr/>
        </p:nvSpPr>
        <p:spPr>
          <a:xfrm>
            <a:off x="2633472" y="666597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Scheme linkages &amp; newspaper coverage</a:t>
            </a:r>
            <a:endParaRPr lang="en-US" sz="900" dirty="0">
              <a:latin typeface="Century Gothic" panose="020B0502020202090204" pitchFamily="34" charset="0"/>
            </a:endParaRPr>
          </a:p>
        </p:txBody>
      </p:sp>
      <p:sp>
        <p:nvSpPr>
          <p:cNvPr id="93" name="Shape 90"/>
          <p:cNvSpPr/>
          <p:nvPr/>
        </p:nvSpPr>
        <p:spPr>
          <a:xfrm>
            <a:off x="2542032" y="6853428"/>
            <a:ext cx="4114800" cy="402336"/>
          </a:xfrm>
          <a:prstGeom prst="roundRect">
            <a:avLst>
              <a:gd name="adj" fmla="val 11364"/>
            </a:avLst>
          </a:prstGeom>
          <a:solidFill>
            <a:srgbClr val="F5FCFC"/>
          </a:solidFill>
          <a:ln w="12700">
            <a:solidFill>
              <a:srgbClr val="E5EDED"/>
            </a:solidFill>
            <a:prstDash val="solid"/>
          </a:ln>
        </p:spPr>
      </p:sp>
      <p:sp>
        <p:nvSpPr>
          <p:cNvPr id="94" name="Shape 91"/>
          <p:cNvSpPr/>
          <p:nvPr/>
        </p:nvSpPr>
        <p:spPr>
          <a:xfrm>
            <a:off x="6327648" y="6926580"/>
            <a:ext cx="256032" cy="256032"/>
          </a:xfrm>
          <a:prstGeom prst="roundRect">
            <a:avLst>
              <a:gd name="adj" fmla="val 21429"/>
            </a:avLst>
          </a:prstGeom>
          <a:solidFill>
            <a:srgbClr val="005F5F"/>
          </a:solidFill>
          <a:ln w="12700">
            <a:solidFill>
              <a:srgbClr val="005F5F"/>
            </a:solidFill>
            <a:prstDash val="solid"/>
          </a:ln>
        </p:spPr>
      </p:sp>
      <p:sp>
        <p:nvSpPr>
          <p:cNvPr id="95" name="Text 92"/>
          <p:cNvSpPr/>
          <p:nvPr/>
        </p:nvSpPr>
        <p:spPr>
          <a:xfrm>
            <a:off x="6327648" y="69265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17</a:t>
            </a:r>
            <a:endParaRPr lang="en-US" sz="900" dirty="0">
              <a:latin typeface="Century Gothic" panose="020B0502020202090204" pitchFamily="34" charset="0"/>
            </a:endParaRPr>
          </a:p>
        </p:txBody>
      </p:sp>
      <p:sp>
        <p:nvSpPr>
          <p:cNvPr id="96" name="Text 93"/>
          <p:cNvSpPr/>
          <p:nvPr/>
        </p:nvSpPr>
        <p:spPr>
          <a:xfrm>
            <a:off x="2633472" y="689914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1 - Ranjana Pawar</a:t>
            </a:r>
            <a:endParaRPr lang="en-US" sz="1100" dirty="0">
              <a:latin typeface="Felix Titling" panose="04060505060202020A04" pitchFamily="82" charset="0"/>
            </a:endParaRPr>
          </a:p>
        </p:txBody>
      </p:sp>
      <p:sp>
        <p:nvSpPr>
          <p:cNvPr id="97" name="Text 94"/>
          <p:cNvSpPr/>
          <p:nvPr/>
        </p:nvSpPr>
        <p:spPr>
          <a:xfrm>
            <a:off x="2633472" y="709117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From daily struggle to sustainable income</a:t>
            </a:r>
            <a:endParaRPr lang="en-US" sz="900" dirty="0">
              <a:latin typeface="Century Gothic" panose="020B0502020202090204" pitchFamily="34" charset="0"/>
            </a:endParaRPr>
          </a:p>
        </p:txBody>
      </p:sp>
      <p:sp>
        <p:nvSpPr>
          <p:cNvPr id="98" name="Shape 95"/>
          <p:cNvSpPr/>
          <p:nvPr/>
        </p:nvSpPr>
        <p:spPr>
          <a:xfrm>
            <a:off x="2542032" y="7278624"/>
            <a:ext cx="4114800" cy="402336"/>
          </a:xfrm>
          <a:prstGeom prst="roundRect">
            <a:avLst>
              <a:gd name="adj" fmla="val 11364"/>
            </a:avLst>
          </a:prstGeom>
          <a:solidFill>
            <a:srgbClr val="FFFFFF"/>
          </a:solidFill>
          <a:ln w="12700">
            <a:solidFill>
              <a:srgbClr val="E5EDED"/>
            </a:solidFill>
            <a:prstDash val="solid"/>
          </a:ln>
        </p:spPr>
      </p:sp>
      <p:sp>
        <p:nvSpPr>
          <p:cNvPr id="99" name="Shape 96"/>
          <p:cNvSpPr/>
          <p:nvPr/>
        </p:nvSpPr>
        <p:spPr>
          <a:xfrm>
            <a:off x="6327648" y="7351776"/>
            <a:ext cx="256032" cy="256032"/>
          </a:xfrm>
          <a:prstGeom prst="roundRect">
            <a:avLst>
              <a:gd name="adj" fmla="val 21429"/>
            </a:avLst>
          </a:prstGeom>
          <a:solidFill>
            <a:srgbClr val="005F5F"/>
          </a:solidFill>
          <a:ln w="12700">
            <a:solidFill>
              <a:srgbClr val="005F5F"/>
            </a:solidFill>
            <a:prstDash val="solid"/>
          </a:ln>
        </p:spPr>
      </p:sp>
      <p:sp>
        <p:nvSpPr>
          <p:cNvPr id="100" name="Text 97"/>
          <p:cNvSpPr/>
          <p:nvPr/>
        </p:nvSpPr>
        <p:spPr>
          <a:xfrm>
            <a:off x="6327648" y="735177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18</a:t>
            </a:r>
            <a:endParaRPr lang="en-US" sz="900" dirty="0">
              <a:latin typeface="Century Gothic" panose="020B0502020202090204" pitchFamily="34" charset="0"/>
            </a:endParaRPr>
          </a:p>
        </p:txBody>
      </p:sp>
      <p:sp>
        <p:nvSpPr>
          <p:cNvPr id="101" name="Text 98"/>
          <p:cNvSpPr/>
          <p:nvPr/>
        </p:nvSpPr>
        <p:spPr>
          <a:xfrm>
            <a:off x="2633472" y="732434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2 - Gadital Cooperative</a:t>
            </a:r>
            <a:endParaRPr lang="en-US" sz="1100" dirty="0">
              <a:latin typeface="Felix Titling" panose="04060505060202020A04" pitchFamily="82" charset="0"/>
            </a:endParaRPr>
          </a:p>
        </p:txBody>
      </p:sp>
      <p:sp>
        <p:nvSpPr>
          <p:cNvPr id="102" name="Text 99"/>
          <p:cNvSpPr/>
          <p:nvPr/>
        </p:nvSpPr>
        <p:spPr>
          <a:xfrm>
            <a:off x="2633472" y="751636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Preserving the catch, securing the future</a:t>
            </a:r>
            <a:endParaRPr lang="en-US" sz="900" dirty="0">
              <a:latin typeface="Century Gothic" panose="020B0502020202090204" pitchFamily="34" charset="0"/>
            </a:endParaRPr>
          </a:p>
        </p:txBody>
      </p:sp>
      <p:sp>
        <p:nvSpPr>
          <p:cNvPr id="103" name="Shape 100"/>
          <p:cNvSpPr/>
          <p:nvPr/>
        </p:nvSpPr>
        <p:spPr>
          <a:xfrm>
            <a:off x="2542032" y="7703820"/>
            <a:ext cx="4114800" cy="402336"/>
          </a:xfrm>
          <a:prstGeom prst="roundRect">
            <a:avLst>
              <a:gd name="adj" fmla="val 11364"/>
            </a:avLst>
          </a:prstGeom>
          <a:solidFill>
            <a:srgbClr val="F5FCFC"/>
          </a:solidFill>
          <a:ln w="12700">
            <a:solidFill>
              <a:srgbClr val="E5EDED"/>
            </a:solidFill>
            <a:prstDash val="solid"/>
          </a:ln>
        </p:spPr>
      </p:sp>
      <p:sp>
        <p:nvSpPr>
          <p:cNvPr id="104" name="Shape 101"/>
          <p:cNvSpPr/>
          <p:nvPr/>
        </p:nvSpPr>
        <p:spPr>
          <a:xfrm>
            <a:off x="6327648" y="7776972"/>
            <a:ext cx="256032" cy="256032"/>
          </a:xfrm>
          <a:prstGeom prst="roundRect">
            <a:avLst>
              <a:gd name="adj" fmla="val 21429"/>
            </a:avLst>
          </a:prstGeom>
          <a:solidFill>
            <a:srgbClr val="005F5F"/>
          </a:solidFill>
          <a:ln w="12700">
            <a:solidFill>
              <a:srgbClr val="005F5F"/>
            </a:solidFill>
            <a:prstDash val="solid"/>
          </a:ln>
        </p:spPr>
      </p:sp>
      <p:sp>
        <p:nvSpPr>
          <p:cNvPr id="105" name="Text 102"/>
          <p:cNvSpPr/>
          <p:nvPr/>
        </p:nvSpPr>
        <p:spPr>
          <a:xfrm>
            <a:off x="6327648" y="777697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19</a:t>
            </a:r>
            <a:endParaRPr lang="en-US" sz="900" dirty="0">
              <a:latin typeface="Century Gothic" panose="020B0502020202090204" pitchFamily="34" charset="0"/>
            </a:endParaRPr>
          </a:p>
        </p:txBody>
      </p:sp>
      <p:sp>
        <p:nvSpPr>
          <p:cNvPr id="106" name="Text 103"/>
          <p:cNvSpPr/>
          <p:nvPr/>
        </p:nvSpPr>
        <p:spPr>
          <a:xfrm>
            <a:off x="2633472" y="774954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3 - Cage Culture</a:t>
            </a:r>
            <a:endParaRPr lang="en-US" sz="1100" dirty="0">
              <a:latin typeface="Felix Titling" panose="04060505060202020A04" pitchFamily="82" charset="0"/>
            </a:endParaRPr>
          </a:p>
        </p:txBody>
      </p:sp>
      <p:sp>
        <p:nvSpPr>
          <p:cNvPr id="107" name="Text 104"/>
          <p:cNvSpPr/>
          <p:nvPr/>
        </p:nvSpPr>
        <p:spPr>
          <a:xfrm>
            <a:off x="2633472" y="794156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Innovating fisheries at Aambavade Dam</a:t>
            </a:r>
            <a:endParaRPr lang="en-US" sz="900" dirty="0">
              <a:latin typeface="Century Gothic" panose="020B0502020202090204" pitchFamily="34" charset="0"/>
            </a:endParaRPr>
          </a:p>
        </p:txBody>
      </p:sp>
      <p:sp>
        <p:nvSpPr>
          <p:cNvPr id="108" name="Shape 105"/>
          <p:cNvSpPr/>
          <p:nvPr/>
        </p:nvSpPr>
        <p:spPr>
          <a:xfrm>
            <a:off x="2542032" y="8129016"/>
            <a:ext cx="4114800" cy="402336"/>
          </a:xfrm>
          <a:prstGeom prst="roundRect">
            <a:avLst>
              <a:gd name="adj" fmla="val 11364"/>
            </a:avLst>
          </a:prstGeom>
          <a:solidFill>
            <a:srgbClr val="FFFFFF"/>
          </a:solidFill>
          <a:ln w="12700">
            <a:solidFill>
              <a:srgbClr val="E5EDED"/>
            </a:solidFill>
            <a:prstDash val="solid"/>
          </a:ln>
        </p:spPr>
      </p:sp>
      <p:sp>
        <p:nvSpPr>
          <p:cNvPr id="109" name="Shape 106"/>
          <p:cNvSpPr/>
          <p:nvPr/>
        </p:nvSpPr>
        <p:spPr>
          <a:xfrm>
            <a:off x="6327648" y="8202168"/>
            <a:ext cx="256032" cy="256032"/>
          </a:xfrm>
          <a:prstGeom prst="roundRect">
            <a:avLst>
              <a:gd name="adj" fmla="val 21429"/>
            </a:avLst>
          </a:prstGeom>
          <a:solidFill>
            <a:srgbClr val="005F5F"/>
          </a:solidFill>
          <a:ln w="12700">
            <a:solidFill>
              <a:srgbClr val="005F5F"/>
            </a:solidFill>
            <a:prstDash val="solid"/>
          </a:ln>
        </p:spPr>
      </p:sp>
      <p:sp>
        <p:nvSpPr>
          <p:cNvPr id="110" name="Text 107"/>
          <p:cNvSpPr/>
          <p:nvPr/>
        </p:nvSpPr>
        <p:spPr>
          <a:xfrm>
            <a:off x="6327648" y="820216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20</a:t>
            </a:r>
            <a:endParaRPr lang="en-US" sz="900" dirty="0">
              <a:latin typeface="Century Gothic" panose="020B0502020202090204" pitchFamily="34" charset="0"/>
            </a:endParaRPr>
          </a:p>
        </p:txBody>
      </p:sp>
      <p:sp>
        <p:nvSpPr>
          <p:cNvPr id="111" name="Text 108"/>
          <p:cNvSpPr/>
          <p:nvPr/>
        </p:nvSpPr>
        <p:spPr>
          <a:xfrm>
            <a:off x="2633472" y="817473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Cumulative Impact Summary</a:t>
            </a:r>
            <a:endParaRPr lang="en-US" sz="1100" dirty="0">
              <a:latin typeface="Felix Titling" panose="04060505060202020A04" pitchFamily="82" charset="0"/>
            </a:endParaRPr>
          </a:p>
        </p:txBody>
      </p:sp>
      <p:sp>
        <p:nvSpPr>
          <p:cNvPr id="112" name="Text 109"/>
          <p:cNvSpPr/>
          <p:nvPr/>
        </p:nvSpPr>
        <p:spPr>
          <a:xfrm>
            <a:off x="2633472" y="836676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All outcomes across both blocks</a:t>
            </a:r>
            <a:endParaRPr lang="en-US" sz="900" dirty="0">
              <a:latin typeface="Century Gothic" panose="020B0502020202090204" pitchFamily="34" charset="0"/>
            </a:endParaRPr>
          </a:p>
        </p:txBody>
      </p:sp>
      <p:sp>
        <p:nvSpPr>
          <p:cNvPr id="113" name="Shape 110"/>
          <p:cNvSpPr/>
          <p:nvPr/>
        </p:nvSpPr>
        <p:spPr>
          <a:xfrm>
            <a:off x="2542032" y="8554212"/>
            <a:ext cx="4114800" cy="402336"/>
          </a:xfrm>
          <a:prstGeom prst="roundRect">
            <a:avLst>
              <a:gd name="adj" fmla="val 11364"/>
            </a:avLst>
          </a:prstGeom>
          <a:solidFill>
            <a:srgbClr val="F5FCFC"/>
          </a:solidFill>
          <a:ln w="12700">
            <a:solidFill>
              <a:srgbClr val="E5EDED"/>
            </a:solidFill>
            <a:prstDash val="solid"/>
          </a:ln>
        </p:spPr>
      </p:sp>
      <p:sp>
        <p:nvSpPr>
          <p:cNvPr id="114" name="Shape 111"/>
          <p:cNvSpPr/>
          <p:nvPr/>
        </p:nvSpPr>
        <p:spPr>
          <a:xfrm>
            <a:off x="6327648" y="8627364"/>
            <a:ext cx="256032" cy="256032"/>
          </a:xfrm>
          <a:prstGeom prst="roundRect">
            <a:avLst>
              <a:gd name="adj" fmla="val 21429"/>
            </a:avLst>
          </a:prstGeom>
          <a:solidFill>
            <a:srgbClr val="005F5F"/>
          </a:solidFill>
          <a:ln w="12700">
            <a:solidFill>
              <a:srgbClr val="005F5F"/>
            </a:solidFill>
            <a:prstDash val="solid"/>
          </a:ln>
        </p:spPr>
      </p:sp>
      <p:sp>
        <p:nvSpPr>
          <p:cNvPr id="115" name="Text 112"/>
          <p:cNvSpPr/>
          <p:nvPr/>
        </p:nvSpPr>
        <p:spPr>
          <a:xfrm>
            <a:off x="6327648" y="862736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21</a:t>
            </a:r>
            <a:endParaRPr lang="en-US" sz="900" dirty="0">
              <a:latin typeface="Century Gothic" panose="020B0502020202090204" pitchFamily="34" charset="0"/>
            </a:endParaRPr>
          </a:p>
        </p:txBody>
      </p:sp>
      <p:sp>
        <p:nvSpPr>
          <p:cNvPr id="116" name="Text 113"/>
          <p:cNvSpPr/>
          <p:nvPr/>
        </p:nvSpPr>
        <p:spPr>
          <a:xfrm>
            <a:off x="2633472" y="859993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Way Forward &amp; Recommendations</a:t>
            </a:r>
            <a:endParaRPr lang="en-US" sz="1100" dirty="0">
              <a:latin typeface="Felix Titling" panose="04060505060202020A04" pitchFamily="82" charset="0"/>
            </a:endParaRPr>
          </a:p>
        </p:txBody>
      </p:sp>
      <p:sp>
        <p:nvSpPr>
          <p:cNvPr id="117" name="Text 114"/>
          <p:cNvSpPr/>
          <p:nvPr/>
        </p:nvSpPr>
        <p:spPr>
          <a:xfrm>
            <a:off x="2633472" y="879195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Next steps and replication strategy</a:t>
            </a:r>
            <a:endParaRPr lang="en-US" sz="900" dirty="0">
              <a:latin typeface="Century Gothic" panose="020B0502020202090204" pitchFamily="34" charset="0"/>
            </a:endParaRPr>
          </a:p>
        </p:txBody>
      </p:sp>
      <p:sp>
        <p:nvSpPr>
          <p:cNvPr id="118" name="Shape 115"/>
          <p:cNvSpPr/>
          <p:nvPr/>
        </p:nvSpPr>
        <p:spPr>
          <a:xfrm>
            <a:off x="2542032" y="8979408"/>
            <a:ext cx="4114800" cy="402336"/>
          </a:xfrm>
          <a:prstGeom prst="roundRect">
            <a:avLst>
              <a:gd name="adj" fmla="val 11364"/>
            </a:avLst>
          </a:prstGeom>
          <a:solidFill>
            <a:srgbClr val="FFFFFF"/>
          </a:solidFill>
          <a:ln w="12700">
            <a:solidFill>
              <a:srgbClr val="E5EDED"/>
            </a:solidFill>
            <a:prstDash val="solid"/>
          </a:ln>
        </p:spPr>
      </p:sp>
      <p:sp>
        <p:nvSpPr>
          <p:cNvPr id="119" name="Shape 116"/>
          <p:cNvSpPr/>
          <p:nvPr/>
        </p:nvSpPr>
        <p:spPr>
          <a:xfrm>
            <a:off x="6327648" y="9052560"/>
            <a:ext cx="256032" cy="256032"/>
          </a:xfrm>
          <a:prstGeom prst="roundRect">
            <a:avLst>
              <a:gd name="adj" fmla="val 21429"/>
            </a:avLst>
          </a:prstGeom>
          <a:solidFill>
            <a:srgbClr val="005F5F"/>
          </a:solidFill>
          <a:ln w="12700">
            <a:solidFill>
              <a:srgbClr val="005F5F"/>
            </a:solidFill>
            <a:prstDash val="solid"/>
          </a:ln>
        </p:spPr>
      </p:sp>
      <p:sp>
        <p:nvSpPr>
          <p:cNvPr id="120" name="Text 117"/>
          <p:cNvSpPr/>
          <p:nvPr/>
        </p:nvSpPr>
        <p:spPr>
          <a:xfrm>
            <a:off x="6327648" y="905256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22</a:t>
            </a:r>
            <a:endParaRPr lang="en-US" sz="900" dirty="0">
              <a:latin typeface="Century Gothic" panose="020B0502020202090204" pitchFamily="34" charset="0"/>
            </a:endParaRPr>
          </a:p>
        </p:txBody>
      </p:sp>
      <p:sp>
        <p:nvSpPr>
          <p:cNvPr id="121" name="Text 118"/>
          <p:cNvSpPr/>
          <p:nvPr/>
        </p:nvSpPr>
        <p:spPr>
          <a:xfrm>
            <a:off x="2633472" y="902512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Conclusion</a:t>
            </a:r>
            <a:endParaRPr lang="en-US" sz="1100" dirty="0">
              <a:latin typeface="Felix Titling" panose="04060505060202020A04" pitchFamily="82" charset="0"/>
            </a:endParaRPr>
          </a:p>
        </p:txBody>
      </p:sp>
      <p:sp>
        <p:nvSpPr>
          <p:cNvPr id="122" name="Text 119"/>
          <p:cNvSpPr/>
          <p:nvPr/>
        </p:nvSpPr>
        <p:spPr>
          <a:xfrm>
            <a:off x="2633472" y="921715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Closing statement and partnership acknowledgement</a:t>
            </a:r>
            <a:endParaRPr lang="en-US" sz="900" dirty="0">
              <a:latin typeface="Century Gothic" panose="020B0502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30" name="Shape 26"/>
          <p:cNvSpPr/>
          <p:nvPr/>
        </p:nvSpPr>
        <p:spPr>
          <a:xfrm>
            <a:off x="0" y="5265794"/>
            <a:ext cx="6858000" cy="1536192"/>
          </a:xfrm>
          <a:prstGeom prst="rect">
            <a:avLst/>
          </a:prstGeom>
          <a:solidFill>
            <a:srgbClr val="005F5F"/>
          </a:solidFill>
          <a:ln w="12700">
            <a:solidFill>
              <a:srgbClr val="005F5F"/>
            </a:solidFill>
            <a:prstDash val="solid"/>
          </a:ln>
        </p:spPr>
      </p:sp>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Background &amp; About the Project</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sz="2000" b="1" dirty="0">
                <a:solidFill>
                  <a:srgbClr val="005F5F"/>
                </a:solidFill>
                <a:latin typeface="Felix Titling" panose="04060505060202020A04" pitchFamily="82" charset="0"/>
                <a:ea typeface="Cambria" pitchFamily="34" charset="-122"/>
                <a:cs typeface="Cambria" pitchFamily="34" charset="-120"/>
              </a:rPr>
              <a:t>About Shramjivi Janata Sahayyak Mandal (SJSM)</a:t>
            </a:r>
            <a:endParaRPr lang="en-US" sz="2000" dirty="0">
              <a:latin typeface="Felix Titling" panose="04060505060202020A04" pitchFamily="82" charset="0"/>
            </a:endParaRPr>
          </a:p>
        </p:txBody>
      </p:sp>
      <p:sp>
        <p:nvSpPr>
          <p:cNvPr id="12" name="Text 10"/>
          <p:cNvSpPr/>
          <p:nvPr/>
        </p:nvSpPr>
        <p:spPr>
          <a:xfrm>
            <a:off x="308927" y="999297"/>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Calibri" pitchFamily="34" charset="0"/>
                <a:ea typeface="Calibri" pitchFamily="34" charset="-122"/>
                <a:cs typeface="Calibri" pitchFamily="34" charset="-120"/>
              </a:rPr>
              <a:t>Development NGO established 1980 · Satara, Maharashtra</a:t>
            </a:r>
            <a:endParaRPr lang="en-US" sz="900" dirty="0"/>
          </a:p>
        </p:txBody>
      </p:sp>
      <p:sp>
        <p:nvSpPr>
          <p:cNvPr id="13" name="Shape 11"/>
          <p:cNvSpPr/>
          <p:nvPr/>
        </p:nvSpPr>
        <p:spPr>
          <a:xfrm>
            <a:off x="167322" y="1303020"/>
            <a:ext cx="822960" cy="18288"/>
          </a:xfrm>
          <a:prstGeom prst="rect">
            <a:avLst/>
          </a:prstGeom>
          <a:solidFill>
            <a:srgbClr val="C8960A"/>
          </a:solidFill>
          <a:ln w="12700">
            <a:solidFill>
              <a:srgbClr val="C8960A"/>
            </a:solidFill>
            <a:prstDash val="solid"/>
          </a:ln>
        </p:spPr>
      </p:sp>
      <p:sp>
        <p:nvSpPr>
          <p:cNvPr id="14" name="Shape 12"/>
          <p:cNvSpPr/>
          <p:nvPr/>
        </p:nvSpPr>
        <p:spPr>
          <a:xfrm>
            <a:off x="130746" y="1417635"/>
            <a:ext cx="3154680" cy="3658797"/>
          </a:xfrm>
          <a:prstGeom prst="roundRect">
            <a:avLst>
              <a:gd name="adj" fmla="val 23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5" name="Image 0" descr="/home/claude/rpt_imgs/logo_sjsm.jpg"/>
          <p:cNvPicPr>
            <a:picLocks noChangeAspect="1"/>
          </p:cNvPicPr>
          <p:nvPr/>
        </p:nvPicPr>
        <p:blipFill>
          <a:blip r:embed="rId3"/>
          <a:srcRect/>
          <a:stretch/>
        </p:blipFill>
        <p:spPr>
          <a:xfrm>
            <a:off x="267906" y="1536507"/>
            <a:ext cx="1097280" cy="739513"/>
          </a:xfrm>
          <a:prstGeom prst="rect">
            <a:avLst/>
          </a:prstGeom>
        </p:spPr>
      </p:pic>
      <p:sp>
        <p:nvSpPr>
          <p:cNvPr id="16" name="Text 13"/>
          <p:cNvSpPr/>
          <p:nvPr/>
        </p:nvSpPr>
        <p:spPr>
          <a:xfrm>
            <a:off x="295338" y="2391495"/>
            <a:ext cx="2825496" cy="658368"/>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SJSM is a development NGO based in Satara, Maharashtra, established in 1980 by youth from nomadic tribal communities near the Koyna Dam. It has expanded to 500+ villages across Satara, Sangli, and Raigad - promoting self-reliant, community-led development.</a:t>
            </a:r>
            <a:endParaRPr lang="en-US" sz="950" dirty="0">
              <a:latin typeface="Footlight MT Light" panose="0204060206030A020304" pitchFamily="18" charset="0"/>
            </a:endParaRPr>
          </a:p>
        </p:txBody>
      </p:sp>
      <p:sp>
        <p:nvSpPr>
          <p:cNvPr id="18" name="Text 15"/>
          <p:cNvSpPr/>
          <p:nvPr/>
        </p:nvSpPr>
        <p:spPr>
          <a:xfrm>
            <a:off x="292608" y="3338574"/>
            <a:ext cx="2825496" cy="731315"/>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SJSM has promoted 60 cooperatives with 27,500+ tribal families across sectors including fisheries, dairy, food processing, SHGs, herbal cultivation, and Ayurvedic medicine. Its micro-credit cooperative has 2,525 households with an annual turnover of ₹100 million.</a:t>
            </a:r>
            <a:endParaRPr lang="en-US" sz="950" dirty="0">
              <a:latin typeface="Footlight MT Light" panose="0204060206030A020304" pitchFamily="18" charset="0"/>
            </a:endParaRPr>
          </a:p>
        </p:txBody>
      </p:sp>
      <p:sp>
        <p:nvSpPr>
          <p:cNvPr id="20" name="Text 17"/>
          <p:cNvSpPr/>
          <p:nvPr/>
        </p:nvSpPr>
        <p:spPr>
          <a:xfrm>
            <a:off x="328882" y="4184794"/>
            <a:ext cx="2825496" cy="757710"/>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After the Konkan floods of 2005, SJSM initiated tribal rehabilitation and inland fisheries programs for Katkari communities, forming the Konkan Lokadhikar Manch to strengthen tribal rights and advocacy.</a:t>
            </a:r>
            <a:endParaRPr lang="en-US" sz="950" dirty="0">
              <a:latin typeface="Footlight MT Light" panose="0204060206030A020304" pitchFamily="18" charset="0"/>
            </a:endParaRPr>
          </a:p>
        </p:txBody>
      </p:sp>
      <p:pic>
        <p:nvPicPr>
          <p:cNvPr id="21" name="Image 1"/>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rcRect/>
          <a:stretch/>
        </p:blipFill>
        <p:spPr>
          <a:xfrm>
            <a:off x="3514026" y="1417636"/>
            <a:ext cx="3124518" cy="1508760"/>
          </a:xfrm>
          <a:prstGeom prst="roundRect">
            <a:avLst>
              <a:gd name="adj" fmla="val 6914"/>
            </a:avLst>
          </a:prstGeom>
        </p:spPr>
      </p:pic>
      <p:sp>
        <p:nvSpPr>
          <p:cNvPr id="23" name="Text 19"/>
          <p:cNvSpPr/>
          <p:nvPr/>
        </p:nvSpPr>
        <p:spPr>
          <a:xfrm>
            <a:off x="3651186" y="1573084"/>
            <a:ext cx="2880360" cy="228600"/>
          </a:xfrm>
          <a:prstGeom prst="rect">
            <a:avLst/>
          </a:prstGeom>
          <a:noFill/>
          <a:ln/>
        </p:spPr>
        <p:txBody>
          <a:bodyPr wrap="square" lIns="0" tIns="0" rIns="0" bIns="0" rtlCol="0" anchor="t"/>
          <a:lstStyle/>
          <a:p>
            <a:pPr marL="0" indent="0" algn="l">
              <a:buNone/>
            </a:pPr>
            <a:r>
              <a:rPr lang="en-US" sz="1000" b="1" dirty="0">
                <a:solidFill>
                  <a:srgbClr val="FFFFFF"/>
                </a:solidFill>
                <a:latin typeface="Felix Titling" panose="04060505060202020A04" pitchFamily="82" charset="0"/>
                <a:ea typeface="Cambria" pitchFamily="34" charset="-122"/>
                <a:cs typeface="Cambria" pitchFamily="34" charset="-120"/>
              </a:rPr>
              <a:t>BACKGROUND</a:t>
            </a:r>
            <a:endParaRPr lang="en-US" sz="1000" dirty="0">
              <a:latin typeface="Felix Titling" panose="04060505060202020A04" pitchFamily="82" charset="0"/>
            </a:endParaRPr>
          </a:p>
        </p:txBody>
      </p:sp>
      <p:sp>
        <p:nvSpPr>
          <p:cNvPr id="24" name="Shape 20"/>
          <p:cNvSpPr/>
          <p:nvPr/>
        </p:nvSpPr>
        <p:spPr>
          <a:xfrm>
            <a:off x="3651186" y="1829116"/>
            <a:ext cx="731520" cy="18288"/>
          </a:xfrm>
          <a:prstGeom prst="rect">
            <a:avLst/>
          </a:prstGeom>
          <a:solidFill>
            <a:srgbClr val="C8960A"/>
          </a:solidFill>
          <a:ln w="12700">
            <a:solidFill>
              <a:srgbClr val="C8960A"/>
            </a:solidFill>
            <a:prstDash val="solid"/>
          </a:ln>
        </p:spPr>
      </p:sp>
      <p:sp>
        <p:nvSpPr>
          <p:cNvPr id="25" name="Text 21"/>
          <p:cNvSpPr/>
          <p:nvPr/>
        </p:nvSpPr>
        <p:spPr>
          <a:xfrm>
            <a:off x="3623754" y="2220022"/>
            <a:ext cx="2907792" cy="621792"/>
          </a:xfrm>
          <a:prstGeom prst="rect">
            <a:avLst/>
          </a:prstGeom>
          <a:noFill/>
          <a:ln/>
        </p:spPr>
        <p:txBody>
          <a:bodyPr wrap="square" lIns="0" tIns="0" rIns="0" bIns="0" rtlCol="0" anchor="t"/>
          <a:lstStyle/>
          <a:p>
            <a:pPr marL="0" indent="0" algn="just">
              <a:buNone/>
            </a:pPr>
            <a:r>
              <a:rPr lang="en-US" sz="900" dirty="0">
                <a:solidFill>
                  <a:srgbClr val="FFFFFF"/>
                </a:solidFill>
                <a:latin typeface="Footlight MT Light" panose="0204060206030A020304" pitchFamily="18" charset="0"/>
                <a:ea typeface="Calibri" pitchFamily="34" charset="-122"/>
                <a:cs typeface="Calibri" pitchFamily="34" charset="-120"/>
              </a:rPr>
              <a:t>The Katkari tribal communities of Poladpur Taluka primarily depend on inland fisheries and wage labour. Limited access to modern fishing equipment, poor post-harvest infrastructure, and declining fish productivity restricted income opportunities for fishing families.</a:t>
            </a:r>
            <a:endParaRPr lang="en-US" sz="900" dirty="0">
              <a:latin typeface="Footlight MT Light" panose="0204060206030A020304" pitchFamily="18" charset="0"/>
            </a:endParaRPr>
          </a:p>
        </p:txBody>
      </p:sp>
      <p:sp>
        <p:nvSpPr>
          <p:cNvPr id="26" name="Shape 22"/>
          <p:cNvSpPr/>
          <p:nvPr/>
        </p:nvSpPr>
        <p:spPr>
          <a:xfrm>
            <a:off x="3514026" y="2999548"/>
            <a:ext cx="3154680" cy="2098738"/>
          </a:xfrm>
          <a:prstGeom prst="roundRect">
            <a:avLst>
              <a:gd name="adj" fmla="val 404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7" name="Text 23"/>
          <p:cNvSpPr/>
          <p:nvPr/>
        </p:nvSpPr>
        <p:spPr>
          <a:xfrm>
            <a:off x="3678618" y="3127564"/>
            <a:ext cx="2825496" cy="237744"/>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mbria" pitchFamily="34" charset="-122"/>
                <a:cs typeface="Cambria" pitchFamily="34" charset="-120"/>
              </a:rPr>
              <a:t>About the Project</a:t>
            </a:r>
            <a:endParaRPr lang="en-US" sz="1100" dirty="0">
              <a:latin typeface="Felix Titling" panose="04060505060202020A04" pitchFamily="82" charset="0"/>
            </a:endParaRPr>
          </a:p>
        </p:txBody>
      </p:sp>
      <p:sp>
        <p:nvSpPr>
          <p:cNvPr id="28" name="Shape 24"/>
          <p:cNvSpPr/>
          <p:nvPr/>
        </p:nvSpPr>
        <p:spPr>
          <a:xfrm>
            <a:off x="3678618" y="3383596"/>
            <a:ext cx="640080" cy="16459"/>
          </a:xfrm>
          <a:prstGeom prst="rect">
            <a:avLst/>
          </a:prstGeom>
          <a:solidFill>
            <a:srgbClr val="C8960A"/>
          </a:solidFill>
          <a:ln w="12700">
            <a:solidFill>
              <a:srgbClr val="C8960A"/>
            </a:solidFill>
            <a:prstDash val="solid"/>
          </a:ln>
        </p:spPr>
      </p:sp>
      <p:sp>
        <p:nvSpPr>
          <p:cNvPr id="29" name="Text 25"/>
          <p:cNvSpPr/>
          <p:nvPr/>
        </p:nvSpPr>
        <p:spPr>
          <a:xfrm>
            <a:off x="3678618" y="3511612"/>
            <a:ext cx="2852928" cy="1170432"/>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The project aimed to enhance the socio-economic condition of tribal fishing communities through sustainable fisheries development, capacity building, institutional strengthening, and livelihood support interventions. Implemented across 15 tribal hamlets of Poladpur Taluka (and Mahad Block), the project focused on improving fish production, strengthening cooperatives and SHGs, promoting scientific fishery practices, and increasing access to government entitlements over three years.</a:t>
            </a:r>
            <a:endParaRPr lang="en-US" sz="950" dirty="0">
              <a:latin typeface="Footlight MT Light" panose="0204060206030A020304" pitchFamily="18" charset="0"/>
            </a:endParaRPr>
          </a:p>
        </p:txBody>
      </p:sp>
      <p:sp>
        <p:nvSpPr>
          <p:cNvPr id="31" name="Shape 27"/>
          <p:cNvSpPr/>
          <p:nvPr/>
        </p:nvSpPr>
        <p:spPr>
          <a:xfrm>
            <a:off x="0" y="5222736"/>
            <a:ext cx="6858000" cy="32004"/>
          </a:xfrm>
          <a:prstGeom prst="rect">
            <a:avLst/>
          </a:prstGeom>
          <a:solidFill>
            <a:srgbClr val="C8960A"/>
          </a:solidFill>
          <a:ln w="12700">
            <a:solidFill>
              <a:srgbClr val="C8960A"/>
            </a:solidFill>
            <a:prstDash val="solid"/>
          </a:ln>
        </p:spPr>
      </p:sp>
      <p:pic>
        <p:nvPicPr>
          <p:cNvPr id="32" name="Image 2" descr="preencoded.png"/>
          <p:cNvPicPr>
            <a:picLocks noChangeAspect="1"/>
          </p:cNvPicPr>
          <p:nvPr/>
        </p:nvPicPr>
        <p:blipFill>
          <a:blip r:embed="rId6">
            <a:duotone>
              <a:schemeClr val="accent4">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tretch>
            <a:fillRect/>
          </a:stretch>
        </p:blipFill>
        <p:spPr>
          <a:xfrm>
            <a:off x="624522" y="5420830"/>
            <a:ext cx="365760" cy="365760"/>
          </a:xfrm>
          <a:prstGeom prst="rect">
            <a:avLst/>
          </a:prstGeom>
        </p:spPr>
      </p:pic>
      <p:sp>
        <p:nvSpPr>
          <p:cNvPr id="33" name="Text 28"/>
          <p:cNvSpPr/>
          <p:nvPr/>
        </p:nvSpPr>
        <p:spPr>
          <a:xfrm>
            <a:off x="201168"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a:t>
            </a:r>
            <a:endParaRPr lang="en-US" sz="2400" dirty="0">
              <a:latin typeface="Felix Titling" panose="04060505060202020A04" pitchFamily="82" charset="0"/>
            </a:endParaRPr>
          </a:p>
        </p:txBody>
      </p:sp>
      <p:sp>
        <p:nvSpPr>
          <p:cNvPr id="34" name="Text 29"/>
          <p:cNvSpPr/>
          <p:nvPr/>
        </p:nvSpPr>
        <p:spPr>
          <a:xfrm>
            <a:off x="217487"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Tribal Hamlets</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Covered</a:t>
            </a:r>
            <a:endParaRPr lang="en-US" sz="800" dirty="0">
              <a:latin typeface="Felix Titling" panose="04060505060202020A04" pitchFamily="82" charset="0"/>
            </a:endParaRPr>
          </a:p>
        </p:txBody>
      </p:sp>
      <p:sp>
        <p:nvSpPr>
          <p:cNvPr id="35" name="Shape 30"/>
          <p:cNvSpPr/>
          <p:nvPr/>
        </p:nvSpPr>
        <p:spPr>
          <a:xfrm>
            <a:off x="1437437" y="5464736"/>
            <a:ext cx="7315" cy="1097280"/>
          </a:xfrm>
          <a:prstGeom prst="rect">
            <a:avLst/>
          </a:prstGeom>
          <a:solidFill>
            <a:srgbClr val="007A7A"/>
          </a:solidFill>
          <a:ln w="12700">
            <a:solidFill>
              <a:srgbClr val="007A7A"/>
            </a:solidFill>
            <a:prstDash val="solid"/>
          </a:ln>
        </p:spPr>
      </p:sp>
      <p:sp>
        <p:nvSpPr>
          <p:cNvPr id="37" name="Text 31"/>
          <p:cNvSpPr/>
          <p:nvPr/>
        </p:nvSpPr>
        <p:spPr>
          <a:xfrm>
            <a:off x="1573612" y="5880087"/>
            <a:ext cx="1199693" cy="402336"/>
          </a:xfrm>
          <a:prstGeom prst="rect">
            <a:avLst/>
          </a:prstGeom>
          <a:noFill/>
          <a:ln/>
        </p:spPr>
        <p:txBody>
          <a:bodyPr wrap="square" lIns="0" tIns="0" rIns="0" bIns="0" rtlCol="0" anchor="t"/>
          <a:lstStyle/>
          <a:p>
            <a:pPr algn="ctr"/>
            <a:r>
              <a:rPr lang="en-US" sz="2400" b="1" dirty="0">
                <a:solidFill>
                  <a:srgbClr val="FFF8E6"/>
                </a:solidFill>
                <a:latin typeface="Felix Titling" panose="04060505060202020A04" pitchFamily="82" charset="0"/>
                <a:ea typeface="Cambria" pitchFamily="34" charset="-122"/>
                <a:cs typeface="Cambria" pitchFamily="34" charset="-120"/>
              </a:rPr>
              <a:t>800+</a:t>
            </a:r>
            <a:endParaRPr lang="en-US" sz="2400" dirty="0">
              <a:latin typeface="Felix Titling" panose="04060505060202020A04" pitchFamily="82" charset="0"/>
            </a:endParaRPr>
          </a:p>
        </p:txBody>
      </p:sp>
      <p:sp>
        <p:nvSpPr>
          <p:cNvPr id="38" name="Text 32"/>
          <p:cNvSpPr/>
          <p:nvPr/>
        </p:nvSpPr>
        <p:spPr>
          <a:xfrm>
            <a:off x="1508620"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Direct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Beneficiaries</a:t>
            </a:r>
            <a:endParaRPr lang="en-US" sz="800" dirty="0">
              <a:latin typeface="Felix Titling" panose="04060505060202020A04" pitchFamily="82" charset="0"/>
            </a:endParaRPr>
          </a:p>
        </p:txBody>
      </p:sp>
      <p:sp>
        <p:nvSpPr>
          <p:cNvPr id="39" name="Shape 33"/>
          <p:cNvSpPr/>
          <p:nvPr/>
        </p:nvSpPr>
        <p:spPr>
          <a:xfrm>
            <a:off x="2728570" y="5464736"/>
            <a:ext cx="7315" cy="1097280"/>
          </a:xfrm>
          <a:prstGeom prst="rect">
            <a:avLst/>
          </a:prstGeom>
          <a:solidFill>
            <a:srgbClr val="007A7A"/>
          </a:solidFill>
          <a:ln w="12700">
            <a:solidFill>
              <a:srgbClr val="007A7A"/>
            </a:solidFill>
            <a:prstDash val="solid"/>
          </a:ln>
        </p:spPr>
      </p:sp>
      <p:pic>
        <p:nvPicPr>
          <p:cNvPr id="40" name="Image 4" descr="preencoded.png"/>
          <p:cNvPicPr>
            <a:picLocks noChangeAspect="1"/>
          </p:cNvPicPr>
          <p:nvPr/>
        </p:nvPicPr>
        <p:blipFill>
          <a:blip r:embed="rId8"/>
          <a:stretch>
            <a:fillRect/>
          </a:stretch>
        </p:blipFill>
        <p:spPr>
          <a:xfrm>
            <a:off x="3200400" y="5373296"/>
            <a:ext cx="365760" cy="365760"/>
          </a:xfrm>
          <a:prstGeom prst="rect">
            <a:avLst/>
          </a:prstGeom>
        </p:spPr>
      </p:pic>
      <p:sp>
        <p:nvSpPr>
          <p:cNvPr id="41" name="Text 34"/>
          <p:cNvSpPr/>
          <p:nvPr/>
        </p:nvSpPr>
        <p:spPr>
          <a:xfrm>
            <a:off x="2783434"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368 </a:t>
            </a:r>
            <a:r>
              <a:rPr lang="en-US" sz="1600" b="1" dirty="0">
                <a:solidFill>
                  <a:srgbClr val="FFFFFF"/>
                </a:solidFill>
                <a:latin typeface="Felix Titling" panose="04060505060202020A04" pitchFamily="82" charset="0"/>
                <a:ea typeface="Cambria" pitchFamily="34" charset="-122"/>
                <a:cs typeface="Cambria" pitchFamily="34" charset="-120"/>
              </a:rPr>
              <a:t>HH</a:t>
            </a:r>
            <a:endParaRPr lang="en-US" sz="1600" dirty="0">
              <a:latin typeface="Felix Titling" panose="04060505060202020A04" pitchFamily="82" charset="0"/>
            </a:endParaRPr>
          </a:p>
        </p:txBody>
      </p:sp>
      <p:sp>
        <p:nvSpPr>
          <p:cNvPr id="42" name="Text 35"/>
          <p:cNvSpPr/>
          <p:nvPr/>
        </p:nvSpPr>
        <p:spPr>
          <a:xfrm>
            <a:off x="2799753"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Baseline</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Surveyed</a:t>
            </a:r>
            <a:endParaRPr lang="en-US" sz="800" dirty="0">
              <a:latin typeface="Felix Titling" panose="04060505060202020A04" pitchFamily="82" charset="0"/>
            </a:endParaRPr>
          </a:p>
        </p:txBody>
      </p:sp>
      <p:sp>
        <p:nvSpPr>
          <p:cNvPr id="43" name="Shape 36"/>
          <p:cNvSpPr/>
          <p:nvPr/>
        </p:nvSpPr>
        <p:spPr>
          <a:xfrm>
            <a:off x="4019702" y="5464736"/>
            <a:ext cx="7315" cy="1097280"/>
          </a:xfrm>
          <a:prstGeom prst="rect">
            <a:avLst/>
          </a:prstGeom>
          <a:solidFill>
            <a:srgbClr val="007A7A"/>
          </a:solidFill>
          <a:ln w="12700">
            <a:solidFill>
              <a:srgbClr val="007A7A"/>
            </a:solidFill>
            <a:prstDash val="solid"/>
          </a:ln>
        </p:spPr>
      </p:sp>
      <p:pic>
        <p:nvPicPr>
          <p:cNvPr id="44" name="Image 5" descr="preencoded.png"/>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20000"/>
                    </a14:imgEffect>
                  </a14:imgLayer>
                </a14:imgProps>
              </a:ext>
            </a:extLst>
          </a:blip>
          <a:stretch>
            <a:fillRect/>
          </a:stretch>
        </p:blipFill>
        <p:spPr>
          <a:xfrm>
            <a:off x="4491533" y="5373296"/>
            <a:ext cx="365760" cy="365760"/>
          </a:xfrm>
          <a:prstGeom prst="rect">
            <a:avLst/>
          </a:prstGeom>
        </p:spPr>
      </p:pic>
      <p:sp>
        <p:nvSpPr>
          <p:cNvPr id="45" name="Text 37"/>
          <p:cNvSpPr/>
          <p:nvPr/>
        </p:nvSpPr>
        <p:spPr>
          <a:xfrm>
            <a:off x="4074566"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 </a:t>
            </a:r>
            <a:r>
              <a:rPr lang="en-US" sz="1600" b="1" dirty="0">
                <a:solidFill>
                  <a:srgbClr val="FFFFFF"/>
                </a:solidFill>
                <a:latin typeface="Felix Titling" panose="04060505060202020A04" pitchFamily="82" charset="0"/>
                <a:ea typeface="Cambria" pitchFamily="34" charset="-122"/>
                <a:cs typeface="Cambria" pitchFamily="34" charset="-120"/>
              </a:rPr>
              <a:t>Years</a:t>
            </a:r>
            <a:endParaRPr lang="en-US" sz="1600" dirty="0">
              <a:latin typeface="Felix Titling" panose="04060505060202020A04" pitchFamily="82" charset="0"/>
            </a:endParaRPr>
          </a:p>
        </p:txBody>
      </p:sp>
      <p:sp>
        <p:nvSpPr>
          <p:cNvPr id="46" name="Text 38"/>
          <p:cNvSpPr/>
          <p:nvPr/>
        </p:nvSpPr>
        <p:spPr>
          <a:xfrm>
            <a:off x="4090885"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Project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Duration</a:t>
            </a:r>
            <a:endParaRPr lang="en-US" sz="800" dirty="0">
              <a:latin typeface="Felix Titling" panose="04060505060202020A04" pitchFamily="82" charset="0"/>
            </a:endParaRPr>
          </a:p>
        </p:txBody>
      </p:sp>
      <p:sp>
        <p:nvSpPr>
          <p:cNvPr id="47" name="Shape 39"/>
          <p:cNvSpPr/>
          <p:nvPr/>
        </p:nvSpPr>
        <p:spPr>
          <a:xfrm>
            <a:off x="5310835" y="5464736"/>
            <a:ext cx="7315" cy="1097280"/>
          </a:xfrm>
          <a:prstGeom prst="rect">
            <a:avLst/>
          </a:prstGeom>
          <a:solidFill>
            <a:srgbClr val="007A7A"/>
          </a:solidFill>
          <a:ln w="12700">
            <a:solidFill>
              <a:srgbClr val="007A7A"/>
            </a:solidFill>
            <a:prstDash val="solid"/>
          </a:ln>
        </p:spPr>
      </p:sp>
      <p:pic>
        <p:nvPicPr>
          <p:cNvPr id="48" name="Image 6" descr="preencoded.png"/>
          <p:cNvPicPr>
            <a:picLocks noChangeAspect="1"/>
          </p:cNvPicPr>
          <p:nvPr/>
        </p:nvPicPr>
        <p:blipFill>
          <a:blip r:embed="rId11">
            <a:extLst>
              <a:ext uri="{BEBA8EAE-BF5A-486C-A8C5-ECC9F3942E4B}">
                <a14:imgProps xmlns:a14="http://schemas.microsoft.com/office/drawing/2010/main">
                  <a14:imgLayer r:embed="rId12">
                    <a14:imgEffect>
                      <a14:brightnessContrast bright="20000"/>
                    </a14:imgEffect>
                  </a14:imgLayer>
                </a14:imgProps>
              </a:ext>
            </a:extLst>
          </a:blip>
          <a:stretch>
            <a:fillRect/>
          </a:stretch>
        </p:blipFill>
        <p:spPr>
          <a:xfrm>
            <a:off x="5782666" y="5373296"/>
            <a:ext cx="365760" cy="365760"/>
          </a:xfrm>
          <a:prstGeom prst="rect">
            <a:avLst/>
          </a:prstGeom>
        </p:spPr>
      </p:pic>
      <p:sp>
        <p:nvSpPr>
          <p:cNvPr id="49" name="Text 40"/>
          <p:cNvSpPr/>
          <p:nvPr/>
        </p:nvSpPr>
        <p:spPr>
          <a:xfrm>
            <a:off x="5438851"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₹6.72 </a:t>
            </a:r>
            <a:r>
              <a:rPr lang="en-US" sz="1600" b="1" dirty="0">
                <a:solidFill>
                  <a:srgbClr val="FFFFFF"/>
                </a:solidFill>
                <a:latin typeface="Felix Titling" panose="04060505060202020A04" pitchFamily="82" charset="0"/>
                <a:ea typeface="Cambria" pitchFamily="34" charset="-122"/>
                <a:cs typeface="Cambria" pitchFamily="34" charset="-120"/>
              </a:rPr>
              <a:t>Cr</a:t>
            </a:r>
            <a:endParaRPr lang="en-US" sz="1600" dirty="0">
              <a:latin typeface="Felix Titling" panose="04060505060202020A04" pitchFamily="82" charset="0"/>
            </a:endParaRPr>
          </a:p>
        </p:txBody>
      </p:sp>
      <p:sp>
        <p:nvSpPr>
          <p:cNvPr id="50" name="Text 41"/>
          <p:cNvSpPr/>
          <p:nvPr/>
        </p:nvSpPr>
        <p:spPr>
          <a:xfrm>
            <a:off x="5382018"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Total Project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Impact</a:t>
            </a:r>
            <a:endParaRPr lang="en-US" sz="800" dirty="0">
              <a:latin typeface="Felix Titling" panose="04060505060202020A04" pitchFamily="82" charset="0"/>
            </a:endParaRPr>
          </a:p>
        </p:txBody>
      </p:sp>
      <p:sp>
        <p:nvSpPr>
          <p:cNvPr id="51" name="Text 42"/>
          <p:cNvSpPr/>
          <p:nvPr/>
        </p:nvSpPr>
        <p:spPr>
          <a:xfrm>
            <a:off x="219456" y="7003299"/>
            <a:ext cx="6345936" cy="237744"/>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mbria" pitchFamily="34" charset="-122"/>
                <a:cs typeface="Cambria" pitchFamily="34" charset="-120"/>
              </a:rPr>
              <a:t>Project Objectives</a:t>
            </a:r>
            <a:endParaRPr lang="en-US" sz="1200" dirty="0">
              <a:latin typeface="Felix Titling" panose="04060505060202020A04" pitchFamily="82" charset="0"/>
            </a:endParaRPr>
          </a:p>
        </p:txBody>
      </p:sp>
      <p:sp>
        <p:nvSpPr>
          <p:cNvPr id="52" name="Shape 43"/>
          <p:cNvSpPr/>
          <p:nvPr/>
        </p:nvSpPr>
        <p:spPr>
          <a:xfrm>
            <a:off x="219456" y="7277619"/>
            <a:ext cx="640080" cy="16459"/>
          </a:xfrm>
          <a:prstGeom prst="rect">
            <a:avLst/>
          </a:prstGeom>
          <a:solidFill>
            <a:srgbClr val="C8960A"/>
          </a:solidFill>
          <a:ln w="12700">
            <a:solidFill>
              <a:srgbClr val="C8960A"/>
            </a:solidFill>
            <a:prstDash val="solid"/>
          </a:ln>
        </p:spPr>
      </p:sp>
      <p:sp>
        <p:nvSpPr>
          <p:cNvPr id="53" name="Shape 44"/>
          <p:cNvSpPr/>
          <p:nvPr/>
        </p:nvSpPr>
        <p:spPr>
          <a:xfrm>
            <a:off x="219456" y="7460499"/>
            <a:ext cx="219456" cy="219456"/>
          </a:xfrm>
          <a:prstGeom prst="ellipse">
            <a:avLst/>
          </a:prstGeom>
          <a:solidFill>
            <a:srgbClr val="005F5F"/>
          </a:solidFill>
          <a:ln w="12700">
            <a:solidFill>
              <a:srgbClr val="005F5F"/>
            </a:solidFill>
            <a:prstDash val="solid"/>
          </a:ln>
        </p:spPr>
      </p:sp>
      <p:sp>
        <p:nvSpPr>
          <p:cNvPr id="54" name="Text 45"/>
          <p:cNvSpPr/>
          <p:nvPr/>
        </p:nvSpPr>
        <p:spPr>
          <a:xfrm>
            <a:off x="219456" y="746049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55" name="Text 46"/>
          <p:cNvSpPr/>
          <p:nvPr/>
        </p:nvSpPr>
        <p:spPr>
          <a:xfrm>
            <a:off x="493776" y="740563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Strengthen the traditional inland fishery-based livelihood of the Katkari tribal community.</a:t>
            </a:r>
            <a:endParaRPr lang="en-US" sz="1050" dirty="0">
              <a:latin typeface="Footlight MT Light" panose="0204060206030A020304" pitchFamily="18" charset="0"/>
            </a:endParaRPr>
          </a:p>
        </p:txBody>
      </p:sp>
      <p:sp>
        <p:nvSpPr>
          <p:cNvPr id="56" name="Shape 47"/>
          <p:cNvSpPr/>
          <p:nvPr/>
        </p:nvSpPr>
        <p:spPr>
          <a:xfrm>
            <a:off x="219456" y="7826259"/>
            <a:ext cx="219456" cy="219456"/>
          </a:xfrm>
          <a:prstGeom prst="ellipse">
            <a:avLst/>
          </a:prstGeom>
          <a:solidFill>
            <a:srgbClr val="005F5F"/>
          </a:solidFill>
          <a:ln w="12700">
            <a:solidFill>
              <a:srgbClr val="005F5F"/>
            </a:solidFill>
            <a:prstDash val="solid"/>
          </a:ln>
        </p:spPr>
      </p:sp>
      <p:sp>
        <p:nvSpPr>
          <p:cNvPr id="57" name="Text 48"/>
          <p:cNvSpPr/>
          <p:nvPr/>
        </p:nvSpPr>
        <p:spPr>
          <a:xfrm>
            <a:off x="219456" y="782625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58" name="Text 49"/>
          <p:cNvSpPr/>
          <p:nvPr/>
        </p:nvSpPr>
        <p:spPr>
          <a:xfrm>
            <a:off x="493776" y="777139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Develop and implement scientific fishery management models, including stocking density and culture-based capture fisheries.</a:t>
            </a:r>
            <a:endParaRPr lang="en-US" sz="1050" dirty="0">
              <a:latin typeface="Footlight MT Light" panose="0204060206030A020304" pitchFamily="18" charset="0"/>
            </a:endParaRPr>
          </a:p>
        </p:txBody>
      </p:sp>
      <p:sp>
        <p:nvSpPr>
          <p:cNvPr id="59" name="Shape 50"/>
          <p:cNvSpPr/>
          <p:nvPr/>
        </p:nvSpPr>
        <p:spPr>
          <a:xfrm>
            <a:off x="219456" y="8192019"/>
            <a:ext cx="219456" cy="219456"/>
          </a:xfrm>
          <a:prstGeom prst="ellipse">
            <a:avLst/>
          </a:prstGeom>
          <a:solidFill>
            <a:srgbClr val="005F5F"/>
          </a:solidFill>
          <a:ln w="12700">
            <a:solidFill>
              <a:srgbClr val="005F5F"/>
            </a:solidFill>
            <a:prstDash val="solid"/>
          </a:ln>
        </p:spPr>
      </p:sp>
      <p:sp>
        <p:nvSpPr>
          <p:cNvPr id="60" name="Text 51"/>
          <p:cNvSpPr/>
          <p:nvPr/>
        </p:nvSpPr>
        <p:spPr>
          <a:xfrm>
            <a:off x="219456" y="819201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61" name="Text 52"/>
          <p:cNvSpPr/>
          <p:nvPr/>
        </p:nvSpPr>
        <p:spPr>
          <a:xfrm>
            <a:off x="493776" y="813715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Strengthen local fish fingerling production units to ensure sustainable fish seed availability.</a:t>
            </a:r>
            <a:endParaRPr lang="en-US" sz="1050" dirty="0">
              <a:latin typeface="Footlight MT Light" panose="0204060206030A020304" pitchFamily="18" charset="0"/>
            </a:endParaRPr>
          </a:p>
        </p:txBody>
      </p:sp>
      <p:sp>
        <p:nvSpPr>
          <p:cNvPr id="62" name="Shape 53"/>
          <p:cNvSpPr/>
          <p:nvPr/>
        </p:nvSpPr>
        <p:spPr>
          <a:xfrm>
            <a:off x="219456" y="8557779"/>
            <a:ext cx="219456" cy="219456"/>
          </a:xfrm>
          <a:prstGeom prst="ellipse">
            <a:avLst/>
          </a:prstGeom>
          <a:solidFill>
            <a:srgbClr val="005F5F"/>
          </a:solidFill>
          <a:ln w="12700">
            <a:solidFill>
              <a:srgbClr val="005F5F"/>
            </a:solidFill>
            <a:prstDash val="solid"/>
          </a:ln>
        </p:spPr>
      </p:sp>
      <p:sp>
        <p:nvSpPr>
          <p:cNvPr id="63" name="Text 54"/>
          <p:cNvSpPr/>
          <p:nvPr/>
        </p:nvSpPr>
        <p:spPr>
          <a:xfrm>
            <a:off x="219456" y="855777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64" name="Text 55"/>
          <p:cNvSpPr/>
          <p:nvPr/>
        </p:nvSpPr>
        <p:spPr>
          <a:xfrm>
            <a:off x="493776" y="850291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Increase fish production per unit area, enhancing income of local tribal fishermen.</a:t>
            </a:r>
            <a:endParaRPr lang="en-US" sz="1050" dirty="0">
              <a:latin typeface="Footlight MT Light" panose="0204060206030A020304" pitchFamily="18" charset="0"/>
            </a:endParaRPr>
          </a:p>
        </p:txBody>
      </p:sp>
      <p:sp>
        <p:nvSpPr>
          <p:cNvPr id="65" name="Shape 56"/>
          <p:cNvSpPr/>
          <p:nvPr/>
        </p:nvSpPr>
        <p:spPr>
          <a:xfrm>
            <a:off x="219456" y="8923539"/>
            <a:ext cx="219456" cy="219456"/>
          </a:xfrm>
          <a:prstGeom prst="ellipse">
            <a:avLst/>
          </a:prstGeom>
          <a:solidFill>
            <a:srgbClr val="005F5F"/>
          </a:solidFill>
          <a:ln w="12700">
            <a:solidFill>
              <a:srgbClr val="005F5F"/>
            </a:solidFill>
            <a:prstDash val="solid"/>
          </a:ln>
        </p:spPr>
      </p:sp>
      <p:sp>
        <p:nvSpPr>
          <p:cNvPr id="66" name="Text 57"/>
          <p:cNvSpPr/>
          <p:nvPr/>
        </p:nvSpPr>
        <p:spPr>
          <a:xfrm>
            <a:off x="219456" y="892353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67" name="Text 58"/>
          <p:cNvSpPr/>
          <p:nvPr/>
        </p:nvSpPr>
        <p:spPr>
          <a:xfrm>
            <a:off x="493776" y="886867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Improve financial management skills and cooperative governance among fisherfolk.</a:t>
            </a:r>
            <a:endParaRPr lang="en-US" sz="1050" dirty="0">
              <a:latin typeface="Footlight MT Light" panose="0204060206030A020304" pitchFamily="18" charset="0"/>
            </a:endParaRPr>
          </a:p>
        </p:txBody>
      </p:sp>
      <p:pic>
        <p:nvPicPr>
          <p:cNvPr id="69" name="Graphic 68" descr="House with solid fill">
            <a:extLst>
              <a:ext uri="{FF2B5EF4-FFF2-40B4-BE49-F238E27FC236}">
                <a16:creationId xmlns:a16="http://schemas.microsoft.com/office/drawing/2014/main" id="{07634FE6-AB7A-EB4E-B801-96BCDFF5437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154378" y="5310072"/>
            <a:ext cx="490445" cy="490445"/>
          </a:xfrm>
          <a:prstGeom prst="rect">
            <a:avLst/>
          </a:prstGeom>
        </p:spPr>
      </p:pic>
      <p:pic>
        <p:nvPicPr>
          <p:cNvPr id="71" name="Graphic 70" descr="Cheers with solid fill">
            <a:extLst>
              <a:ext uri="{FF2B5EF4-FFF2-40B4-BE49-F238E27FC236}">
                <a16:creationId xmlns:a16="http://schemas.microsoft.com/office/drawing/2014/main" id="{4EDAB2A3-3FBC-6C63-6347-FC6682F3E20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831853" y="5335033"/>
            <a:ext cx="475815" cy="4758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5F5F"/>
        </a:solidFill>
        <a:effectLst/>
      </p:bgPr>
    </p:bg>
    <p:spTree>
      <p:nvGrpSpPr>
        <p:cNvPr id="1" name=""/>
        <p:cNvGrpSpPr/>
        <p:nvPr/>
      </p:nvGrpSpPr>
      <p:grpSpPr>
        <a:xfrm>
          <a:off x="0" y="0"/>
          <a:ext cx="0" cy="0"/>
          <a:chOff x="0" y="0"/>
          <a:chExt cx="0" cy="0"/>
        </a:xfrm>
      </p:grpSpPr>
      <p:pic>
        <p:nvPicPr>
          <p:cNvPr id="2" name="Image 0" descr="/home/claude/rpt_imgs/fishing_catch.jpg"/>
          <p:cNvPicPr>
            <a:picLocks noChangeAspect="1"/>
          </p:cNvPicPr>
          <p:nvPr/>
        </p:nvPicPr>
        <p:blipFill>
          <a:blip r:embed="rId3"/>
          <a:srcRect/>
          <a:stretch/>
        </p:blipFill>
        <p:spPr>
          <a:xfrm>
            <a:off x="0" y="0"/>
            <a:ext cx="6858000" cy="9720072"/>
          </a:xfrm>
          <a:prstGeom prst="rect">
            <a:avLst/>
          </a:prstGeom>
        </p:spPr>
      </p:pic>
      <p:pic>
        <p:nvPicPr>
          <p:cNvPr id="13" name="Picture 12">
            <a:extLst>
              <a:ext uri="{FF2B5EF4-FFF2-40B4-BE49-F238E27FC236}">
                <a16:creationId xmlns:a16="http://schemas.microsoft.com/office/drawing/2014/main" id="{4192DEE7-14C9-EBC7-0F7A-90DCAFFDDCB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rcRect l="24195" r="24195"/>
          <a:stretch/>
        </p:blipFill>
        <p:spPr>
          <a:xfrm>
            <a:off x="0" y="-245872"/>
            <a:ext cx="6858000" cy="9965944"/>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01</a:t>
            </a:r>
            <a:endParaRPr lang="en-US" sz="1000" dirty="0"/>
          </a:p>
        </p:txBody>
      </p:sp>
      <p:sp>
        <p:nvSpPr>
          <p:cNvPr id="7" name="Text 4"/>
          <p:cNvSpPr/>
          <p:nvPr/>
        </p:nvSpPr>
        <p:spPr>
          <a:xfrm>
            <a:off x="457200" y="822960"/>
            <a:ext cx="5943600" cy="2286000"/>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Major Interventions</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&amp; Fishery Livelihood Support</a:t>
            </a:r>
            <a:endParaRPr lang="en-US" sz="3400" dirty="0">
              <a:latin typeface="Felix Titling" panose="04060505060202020A04" pitchFamily="82" charset="0"/>
            </a:endParaRPr>
          </a:p>
        </p:txBody>
      </p:sp>
      <p:sp>
        <p:nvSpPr>
          <p:cNvPr id="8" name="Shape 5"/>
          <p:cNvSpPr/>
          <p:nvPr/>
        </p:nvSpPr>
        <p:spPr>
          <a:xfrm>
            <a:off x="457200" y="2393156"/>
            <a:ext cx="1371600" cy="36576"/>
          </a:xfrm>
          <a:prstGeom prst="rect">
            <a:avLst/>
          </a:prstGeom>
          <a:solidFill>
            <a:srgbClr val="C8960A"/>
          </a:solidFill>
          <a:ln w="12700">
            <a:solidFill>
              <a:srgbClr val="C8960A"/>
            </a:solidFill>
            <a:prstDash val="solid"/>
          </a:ln>
        </p:spPr>
      </p:sp>
      <p:sp>
        <p:nvSpPr>
          <p:cNvPr id="9" name="Text 6"/>
          <p:cNvSpPr/>
          <p:nvPr/>
        </p:nvSpPr>
        <p:spPr>
          <a:xfrm>
            <a:off x="457200" y="2530316"/>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Nine targeted interventions delivered to 270+ tribal fishermen across 15 hamlets in Poladpur Taluka - encompassing fishing equipment, cage culture, hatchery support, fingerling stocking, and market linkages.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Major Interventions - Fishery Livelihood Support</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A. Fishery Livelihood Support Interventions</a:t>
            </a:r>
            <a:endParaRPr lang="en-US"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Calibri" pitchFamily="34" charset="0"/>
                <a:ea typeface="Calibri" pitchFamily="34" charset="-122"/>
                <a:cs typeface="Calibri" pitchFamily="34" charset="-120"/>
              </a:rPr>
              <a:t>Nine activities covering </a:t>
            </a:r>
            <a:r>
              <a:rPr lang="en-US" sz="900" i="1" dirty="0">
                <a:solidFill>
                  <a:srgbClr val="5E7070"/>
                </a:solidFill>
                <a:latin typeface="Footlight MT Light" panose="0204060206030A020304" pitchFamily="18" charset="0"/>
                <a:ea typeface="Calibri" pitchFamily="34" charset="-122"/>
                <a:cs typeface="Calibri" pitchFamily="34" charset="-120"/>
              </a:rPr>
              <a:t>equipment</a:t>
            </a:r>
            <a:r>
              <a:rPr lang="en-US" sz="900" i="1" dirty="0">
                <a:solidFill>
                  <a:srgbClr val="5E7070"/>
                </a:solidFill>
                <a:latin typeface="Calibri" pitchFamily="34" charset="0"/>
                <a:ea typeface="Calibri" pitchFamily="34" charset="-122"/>
                <a:cs typeface="Calibri" pitchFamily="34" charset="-120"/>
              </a:rPr>
              <a:t>, aquaculture, seed production, and market access</a:t>
            </a:r>
            <a:endParaRPr lang="en-US" sz="900" dirty="0"/>
          </a:p>
        </p:txBody>
      </p:sp>
      <p:sp>
        <p:nvSpPr>
          <p:cNvPr id="13" name="Shape 11"/>
          <p:cNvSpPr/>
          <p:nvPr/>
        </p:nvSpPr>
        <p:spPr>
          <a:xfrm>
            <a:off x="292608" y="1236055"/>
            <a:ext cx="850110" cy="45719"/>
          </a:xfrm>
          <a:prstGeom prst="rect">
            <a:avLst/>
          </a:prstGeom>
          <a:solidFill>
            <a:srgbClr val="C8960A"/>
          </a:solidFill>
          <a:ln w="12700">
            <a:solidFill>
              <a:srgbClr val="C8960A"/>
            </a:solidFill>
            <a:prstDash val="solid"/>
          </a:ln>
        </p:spPr>
      </p:sp>
      <p:sp>
        <p:nvSpPr>
          <p:cNvPr id="14" name="Shape 12"/>
          <p:cNvSpPr/>
          <p:nvPr/>
        </p:nvSpPr>
        <p:spPr>
          <a:xfrm>
            <a:off x="164592"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5" name="Image 0"/>
          <p:cNvPicPr>
            <a:picLocks noChangeAspect="1"/>
          </p:cNvPicPr>
          <p:nvPr/>
        </p:nvPicPr>
        <p:blipFill>
          <a:blip r:embed="rId3"/>
          <a:srcRect/>
          <a:stretch/>
        </p:blipFill>
        <p:spPr>
          <a:xfrm>
            <a:off x="164592" y="1182911"/>
            <a:ext cx="2147316" cy="1035585"/>
          </a:xfrm>
          <a:prstGeom prst="rect">
            <a:avLst/>
          </a:prstGeom>
        </p:spPr>
      </p:pic>
      <p:sp>
        <p:nvSpPr>
          <p:cNvPr id="16" name="Shape 13"/>
          <p:cNvSpPr/>
          <p:nvPr/>
        </p:nvSpPr>
        <p:spPr>
          <a:xfrm>
            <a:off x="256031" y="1912711"/>
            <a:ext cx="302261" cy="299765"/>
          </a:xfrm>
          <a:prstGeom prst="ellipse">
            <a:avLst/>
          </a:prstGeom>
          <a:solidFill>
            <a:srgbClr val="005F5F"/>
          </a:solidFill>
          <a:ln w="12700">
            <a:solidFill>
              <a:srgbClr val="FFFFFF"/>
            </a:solidFill>
            <a:prstDash val="solid"/>
          </a:ln>
        </p:spPr>
      </p:sp>
      <p:sp>
        <p:nvSpPr>
          <p:cNvPr id="17" name="Text 14"/>
          <p:cNvSpPr/>
          <p:nvPr/>
        </p:nvSpPr>
        <p:spPr>
          <a:xfrm>
            <a:off x="256031"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1</a:t>
            </a:r>
            <a:endParaRPr lang="en-US" sz="1000" dirty="0">
              <a:latin typeface="Century Gothic" panose="020B0502020202090204" pitchFamily="34" charset="0"/>
            </a:endParaRPr>
          </a:p>
        </p:txBody>
      </p:sp>
      <p:pic>
        <p:nvPicPr>
          <p:cNvPr id="18" name="Image 1" descr="preencoded.png"/>
          <p:cNvPicPr>
            <a:picLocks noChangeAspect="1"/>
          </p:cNvPicPr>
          <p:nvPr/>
        </p:nvPicPr>
        <p:blipFill>
          <a:blip r:embed="rId4"/>
          <a:stretch>
            <a:fillRect/>
          </a:stretch>
        </p:blipFill>
        <p:spPr>
          <a:xfrm>
            <a:off x="1859279" y="2241895"/>
            <a:ext cx="264479" cy="264479"/>
          </a:xfrm>
          <a:prstGeom prst="rect">
            <a:avLst/>
          </a:prstGeom>
        </p:spPr>
      </p:pic>
      <p:sp>
        <p:nvSpPr>
          <p:cNvPr id="19" name="Text 15"/>
          <p:cNvSpPr/>
          <p:nvPr/>
        </p:nvSpPr>
        <p:spPr>
          <a:xfrm>
            <a:off x="256031"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Distribution of Fishing Nets</a:t>
            </a:r>
            <a:endParaRPr lang="en-US" sz="1000" dirty="0">
              <a:latin typeface="Century Gothic" panose="020B0502020202090204" pitchFamily="34" charset="0"/>
            </a:endParaRPr>
          </a:p>
        </p:txBody>
      </p:sp>
      <p:sp>
        <p:nvSpPr>
          <p:cNvPr id="20" name="Shape 16"/>
          <p:cNvSpPr/>
          <p:nvPr/>
        </p:nvSpPr>
        <p:spPr>
          <a:xfrm>
            <a:off x="256031" y="2571079"/>
            <a:ext cx="1958403" cy="45719"/>
          </a:xfrm>
          <a:prstGeom prst="rect">
            <a:avLst/>
          </a:prstGeom>
          <a:solidFill>
            <a:srgbClr val="E5EDED"/>
          </a:solidFill>
          <a:ln w="12700">
            <a:solidFill>
              <a:srgbClr val="E5EDED"/>
            </a:solidFill>
            <a:prstDash val="solid"/>
          </a:ln>
        </p:spPr>
      </p:sp>
      <p:sp>
        <p:nvSpPr>
          <p:cNvPr id="21" name="Text 17"/>
          <p:cNvSpPr/>
          <p:nvPr/>
        </p:nvSpPr>
        <p:spPr>
          <a:xfrm>
            <a:off x="256031" y="2662519"/>
            <a:ext cx="2052859"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Fishing nets distributed to fishermen &amp; cooperative members. Training on proper usage and maintenance provided. Improved efficiency, increased catch potential, and promoted sustainable fishing practices.</a:t>
            </a:r>
            <a:endParaRPr lang="en-US" sz="900" dirty="0">
              <a:latin typeface="Century Gothic" panose="020B0502020202090204" pitchFamily="34" charset="0"/>
            </a:endParaRPr>
          </a:p>
        </p:txBody>
      </p:sp>
      <p:sp>
        <p:nvSpPr>
          <p:cNvPr id="22" name="Shape 18"/>
          <p:cNvSpPr/>
          <p:nvPr/>
        </p:nvSpPr>
        <p:spPr>
          <a:xfrm>
            <a:off x="2334768"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3" name="Image 2" descr="/home/claude/rpt_imgs/fishing_net.jpg"/>
          <p:cNvPicPr>
            <a:picLocks noChangeAspect="1"/>
          </p:cNvPicPr>
          <p:nvPr/>
        </p:nvPicPr>
        <p:blipFill>
          <a:blip r:embed="rId5"/>
          <a:srcRect/>
          <a:stretch/>
        </p:blipFill>
        <p:spPr>
          <a:xfrm>
            <a:off x="2334768" y="1181192"/>
            <a:ext cx="2147316" cy="1039024"/>
          </a:xfrm>
          <a:prstGeom prst="rect">
            <a:avLst/>
          </a:prstGeom>
        </p:spPr>
      </p:pic>
      <p:sp>
        <p:nvSpPr>
          <p:cNvPr id="24" name="Shape 19"/>
          <p:cNvSpPr/>
          <p:nvPr/>
        </p:nvSpPr>
        <p:spPr>
          <a:xfrm>
            <a:off x="2426207" y="1912711"/>
            <a:ext cx="302261" cy="299765"/>
          </a:xfrm>
          <a:prstGeom prst="ellipse">
            <a:avLst/>
          </a:prstGeom>
          <a:solidFill>
            <a:srgbClr val="005F5F"/>
          </a:solidFill>
          <a:ln w="12700">
            <a:solidFill>
              <a:srgbClr val="FFFFFF"/>
            </a:solidFill>
            <a:prstDash val="solid"/>
          </a:ln>
        </p:spPr>
      </p:sp>
      <p:sp>
        <p:nvSpPr>
          <p:cNvPr id="25" name="Text 20"/>
          <p:cNvSpPr/>
          <p:nvPr/>
        </p:nvSpPr>
        <p:spPr>
          <a:xfrm>
            <a:off x="2426207"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2</a:t>
            </a:r>
            <a:endParaRPr lang="en-US" sz="1000" dirty="0">
              <a:latin typeface="Century Gothic" panose="020B0502020202090204" pitchFamily="34" charset="0"/>
            </a:endParaRPr>
          </a:p>
        </p:txBody>
      </p:sp>
      <p:pic>
        <p:nvPicPr>
          <p:cNvPr id="26" name="Image 3" descr="preencoded.png"/>
          <p:cNvPicPr>
            <a:picLocks noChangeAspect="1"/>
          </p:cNvPicPr>
          <p:nvPr/>
        </p:nvPicPr>
        <p:blipFill>
          <a:blip r:embed="rId6"/>
          <a:stretch>
            <a:fillRect/>
          </a:stretch>
        </p:blipFill>
        <p:spPr>
          <a:xfrm>
            <a:off x="4029455" y="2241895"/>
            <a:ext cx="264479" cy="264479"/>
          </a:xfrm>
          <a:prstGeom prst="rect">
            <a:avLst/>
          </a:prstGeom>
        </p:spPr>
      </p:pic>
      <p:sp>
        <p:nvSpPr>
          <p:cNvPr id="27" name="Text 21"/>
          <p:cNvSpPr/>
          <p:nvPr/>
        </p:nvSpPr>
        <p:spPr>
          <a:xfrm>
            <a:off x="2426207"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River &amp; Dam Fishing Nets</a:t>
            </a:r>
            <a:endParaRPr lang="en-US" sz="1000" dirty="0">
              <a:latin typeface="Century Gothic" panose="020B0502020202090204" pitchFamily="34" charset="0"/>
            </a:endParaRPr>
          </a:p>
        </p:txBody>
      </p:sp>
      <p:sp>
        <p:nvSpPr>
          <p:cNvPr id="28" name="Shape 22"/>
          <p:cNvSpPr/>
          <p:nvPr/>
        </p:nvSpPr>
        <p:spPr>
          <a:xfrm>
            <a:off x="2426207" y="2571079"/>
            <a:ext cx="1958403" cy="45719"/>
          </a:xfrm>
          <a:prstGeom prst="rect">
            <a:avLst/>
          </a:prstGeom>
          <a:solidFill>
            <a:srgbClr val="E5EDED"/>
          </a:solidFill>
          <a:ln w="12700">
            <a:solidFill>
              <a:srgbClr val="E5EDED"/>
            </a:solidFill>
            <a:prstDash val="solid"/>
          </a:ln>
        </p:spPr>
      </p:sp>
      <p:sp>
        <p:nvSpPr>
          <p:cNvPr id="29" name="Text 23"/>
          <p:cNvSpPr/>
          <p:nvPr/>
        </p:nvSpPr>
        <p:spPr>
          <a:xfrm>
            <a:off x="2426207" y="2662519"/>
            <a:ext cx="1958403"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River and dam fishing nets provided to eligible fishermen, enabling expanded operations and access to new fishing areas. Reduced operational costs and improved fishing productivity.</a:t>
            </a:r>
            <a:endParaRPr lang="en-US" sz="900" dirty="0">
              <a:latin typeface="Century Gothic" panose="020B0502020202090204" pitchFamily="34" charset="0"/>
            </a:endParaRPr>
          </a:p>
        </p:txBody>
      </p:sp>
      <p:sp>
        <p:nvSpPr>
          <p:cNvPr id="30" name="Shape 24"/>
          <p:cNvSpPr/>
          <p:nvPr/>
        </p:nvSpPr>
        <p:spPr>
          <a:xfrm>
            <a:off x="4504944"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1" name="Image 4" descr="/home/claude/rpt_imgs/cage_5.jpg"/>
          <p:cNvPicPr>
            <a:picLocks noChangeAspect="1"/>
          </p:cNvPicPr>
          <p:nvPr/>
        </p:nvPicPr>
        <p:blipFill>
          <a:blip r:embed="rId7"/>
          <a:srcRect/>
          <a:stretch/>
        </p:blipFill>
        <p:spPr>
          <a:xfrm>
            <a:off x="4504944" y="1181192"/>
            <a:ext cx="2147316" cy="1039024"/>
          </a:xfrm>
          <a:prstGeom prst="rect">
            <a:avLst/>
          </a:prstGeom>
        </p:spPr>
      </p:pic>
      <p:sp>
        <p:nvSpPr>
          <p:cNvPr id="32" name="Shape 25"/>
          <p:cNvSpPr/>
          <p:nvPr/>
        </p:nvSpPr>
        <p:spPr>
          <a:xfrm>
            <a:off x="4596383" y="1912711"/>
            <a:ext cx="302261" cy="299765"/>
          </a:xfrm>
          <a:prstGeom prst="ellipse">
            <a:avLst/>
          </a:prstGeom>
          <a:solidFill>
            <a:srgbClr val="005F5F"/>
          </a:solidFill>
          <a:ln w="12700">
            <a:solidFill>
              <a:srgbClr val="FFFFFF"/>
            </a:solidFill>
            <a:prstDash val="solid"/>
          </a:ln>
        </p:spPr>
      </p:sp>
      <p:sp>
        <p:nvSpPr>
          <p:cNvPr id="33" name="Text 26"/>
          <p:cNvSpPr/>
          <p:nvPr/>
        </p:nvSpPr>
        <p:spPr>
          <a:xfrm>
            <a:off x="4596383"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3</a:t>
            </a:r>
            <a:endParaRPr lang="en-US" sz="1000" dirty="0">
              <a:latin typeface="Century Gothic" panose="020B0502020202090204" pitchFamily="34" charset="0"/>
            </a:endParaRPr>
          </a:p>
        </p:txBody>
      </p:sp>
      <p:pic>
        <p:nvPicPr>
          <p:cNvPr id="34" name="Image 5" descr="preencoded.png"/>
          <p:cNvPicPr>
            <a:picLocks noChangeAspect="1"/>
          </p:cNvPicPr>
          <p:nvPr/>
        </p:nvPicPr>
        <p:blipFill>
          <a:blip r:embed="rId8"/>
          <a:stretch>
            <a:fillRect/>
          </a:stretch>
        </p:blipFill>
        <p:spPr>
          <a:xfrm>
            <a:off x="6199631" y="2241895"/>
            <a:ext cx="264479" cy="264479"/>
          </a:xfrm>
          <a:prstGeom prst="rect">
            <a:avLst/>
          </a:prstGeom>
        </p:spPr>
      </p:pic>
      <p:sp>
        <p:nvSpPr>
          <p:cNvPr id="35" name="Text 27"/>
          <p:cNvSpPr/>
          <p:nvPr/>
        </p:nvSpPr>
        <p:spPr>
          <a:xfrm>
            <a:off x="4596383"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Cage Culture Unit at Aambavade Dam</a:t>
            </a:r>
            <a:endParaRPr lang="en-US" sz="1000" dirty="0">
              <a:latin typeface="Century Gothic" panose="020B0502020202090204" pitchFamily="34" charset="0"/>
            </a:endParaRPr>
          </a:p>
        </p:txBody>
      </p:sp>
      <p:sp>
        <p:nvSpPr>
          <p:cNvPr id="36" name="Shape 28"/>
          <p:cNvSpPr/>
          <p:nvPr/>
        </p:nvSpPr>
        <p:spPr>
          <a:xfrm>
            <a:off x="4596383" y="2571079"/>
            <a:ext cx="1958403" cy="45719"/>
          </a:xfrm>
          <a:prstGeom prst="rect">
            <a:avLst/>
          </a:prstGeom>
          <a:solidFill>
            <a:srgbClr val="E5EDED"/>
          </a:solidFill>
          <a:ln w="12700">
            <a:solidFill>
              <a:srgbClr val="E5EDED"/>
            </a:solidFill>
            <a:prstDash val="solid"/>
          </a:ln>
        </p:spPr>
      </p:sp>
      <p:sp>
        <p:nvSpPr>
          <p:cNvPr id="37" name="Text 29"/>
          <p:cNvSpPr/>
          <p:nvPr/>
        </p:nvSpPr>
        <p:spPr>
          <a:xfrm>
            <a:off x="4596383" y="2662519"/>
            <a:ext cx="1958403"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One cage culture unit established at Ambavade Reservoir. Training on cage management, fish feeding, and health monitoring. Fingerlings stocked; regular monitoring ensured healthy growth.</a:t>
            </a:r>
            <a:endParaRPr lang="en-US" sz="900" dirty="0">
              <a:latin typeface="Century Gothic" panose="020B0502020202090204" pitchFamily="34" charset="0"/>
            </a:endParaRPr>
          </a:p>
        </p:txBody>
      </p:sp>
      <p:sp>
        <p:nvSpPr>
          <p:cNvPr id="38" name="Shape 30"/>
          <p:cNvSpPr/>
          <p:nvPr/>
        </p:nvSpPr>
        <p:spPr>
          <a:xfrm>
            <a:off x="164592"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9" name="Image 6"/>
          <p:cNvPicPr>
            <a:picLocks noChangeAspect="1"/>
          </p:cNvPicPr>
          <p:nvPr/>
        </p:nvPicPr>
        <p:blipFill>
          <a:blip r:embed="rId9"/>
          <a:srcRect/>
          <a:stretch/>
        </p:blipFill>
        <p:spPr>
          <a:xfrm>
            <a:off x="164847" y="3814664"/>
            <a:ext cx="2146806" cy="1039024"/>
          </a:xfrm>
          <a:prstGeom prst="rect">
            <a:avLst/>
          </a:prstGeom>
        </p:spPr>
      </p:pic>
      <p:sp>
        <p:nvSpPr>
          <p:cNvPr id="40" name="Shape 31"/>
          <p:cNvSpPr/>
          <p:nvPr/>
        </p:nvSpPr>
        <p:spPr>
          <a:xfrm>
            <a:off x="256031" y="4546183"/>
            <a:ext cx="302261" cy="299765"/>
          </a:xfrm>
          <a:prstGeom prst="ellipse">
            <a:avLst/>
          </a:prstGeom>
          <a:solidFill>
            <a:srgbClr val="005F5F"/>
          </a:solidFill>
          <a:ln w="12700">
            <a:solidFill>
              <a:srgbClr val="FFFFFF"/>
            </a:solidFill>
            <a:prstDash val="solid"/>
          </a:ln>
        </p:spPr>
      </p:sp>
      <p:sp>
        <p:nvSpPr>
          <p:cNvPr id="41" name="Text 32"/>
          <p:cNvSpPr/>
          <p:nvPr/>
        </p:nvSpPr>
        <p:spPr>
          <a:xfrm>
            <a:off x="256031"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4</a:t>
            </a:r>
            <a:endParaRPr lang="en-US" sz="1000" dirty="0">
              <a:latin typeface="Century Gothic" panose="020B0502020202090204" pitchFamily="34" charset="0"/>
            </a:endParaRPr>
          </a:p>
        </p:txBody>
      </p:sp>
      <p:pic>
        <p:nvPicPr>
          <p:cNvPr id="42" name="Image 7" descr="preencoded.png"/>
          <p:cNvPicPr>
            <a:picLocks noChangeAspect="1"/>
          </p:cNvPicPr>
          <p:nvPr/>
        </p:nvPicPr>
        <p:blipFill>
          <a:blip r:embed="rId10"/>
          <a:stretch>
            <a:fillRect/>
          </a:stretch>
        </p:blipFill>
        <p:spPr>
          <a:xfrm>
            <a:off x="1859279" y="4875367"/>
            <a:ext cx="264479" cy="264479"/>
          </a:xfrm>
          <a:prstGeom prst="rect">
            <a:avLst/>
          </a:prstGeom>
        </p:spPr>
      </p:pic>
      <p:sp>
        <p:nvSpPr>
          <p:cNvPr id="43" name="Text 33"/>
          <p:cNvSpPr/>
          <p:nvPr/>
        </p:nvSpPr>
        <p:spPr>
          <a:xfrm>
            <a:off x="256031"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Distribution of Ice Boxes</a:t>
            </a:r>
            <a:endParaRPr lang="en-US" sz="1000" dirty="0">
              <a:latin typeface="Century Gothic" panose="020B0502020202090204" pitchFamily="34" charset="0"/>
            </a:endParaRPr>
          </a:p>
        </p:txBody>
      </p:sp>
      <p:sp>
        <p:nvSpPr>
          <p:cNvPr id="44" name="Shape 34"/>
          <p:cNvSpPr/>
          <p:nvPr/>
        </p:nvSpPr>
        <p:spPr>
          <a:xfrm>
            <a:off x="256031" y="5204551"/>
            <a:ext cx="1958403" cy="45719"/>
          </a:xfrm>
          <a:prstGeom prst="rect">
            <a:avLst/>
          </a:prstGeom>
          <a:solidFill>
            <a:srgbClr val="E5EDED"/>
          </a:solidFill>
          <a:ln w="12700">
            <a:solidFill>
              <a:srgbClr val="E5EDED"/>
            </a:solidFill>
            <a:prstDash val="solid"/>
          </a:ln>
        </p:spPr>
      </p:sp>
      <p:sp>
        <p:nvSpPr>
          <p:cNvPr id="45" name="Text 35"/>
          <p:cNvSpPr/>
          <p:nvPr/>
        </p:nvSpPr>
        <p:spPr>
          <a:xfrm>
            <a:off x="256031"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Ice boxes distributed to fishing families to improve storage and transportation. Training on hygienic handling conducted. Reduced post-harvest losses and enabled better market prices.</a:t>
            </a:r>
            <a:endParaRPr lang="en-US" sz="900" dirty="0">
              <a:latin typeface="Century Gothic" panose="020B0502020202090204" pitchFamily="34" charset="0"/>
            </a:endParaRPr>
          </a:p>
        </p:txBody>
      </p:sp>
      <p:sp>
        <p:nvSpPr>
          <p:cNvPr id="46" name="Shape 36"/>
          <p:cNvSpPr/>
          <p:nvPr/>
        </p:nvSpPr>
        <p:spPr>
          <a:xfrm>
            <a:off x="2334768"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47" name="Image 8"/>
          <p:cNvPicPr>
            <a:picLocks noChangeAspect="1"/>
          </p:cNvPicPr>
          <p:nvPr/>
        </p:nvPicPr>
        <p:blipFill>
          <a:blip r:embed="rId11"/>
          <a:srcRect/>
          <a:stretch/>
        </p:blipFill>
        <p:spPr>
          <a:xfrm>
            <a:off x="2334768" y="3814664"/>
            <a:ext cx="2147315" cy="1039024"/>
          </a:xfrm>
          <a:prstGeom prst="rect">
            <a:avLst/>
          </a:prstGeom>
        </p:spPr>
      </p:pic>
      <p:sp>
        <p:nvSpPr>
          <p:cNvPr id="48" name="Shape 37"/>
          <p:cNvSpPr/>
          <p:nvPr/>
        </p:nvSpPr>
        <p:spPr>
          <a:xfrm>
            <a:off x="2426207" y="4546183"/>
            <a:ext cx="302261" cy="299765"/>
          </a:xfrm>
          <a:prstGeom prst="ellipse">
            <a:avLst/>
          </a:prstGeom>
          <a:solidFill>
            <a:srgbClr val="005F5F"/>
          </a:solidFill>
          <a:ln w="12700">
            <a:solidFill>
              <a:srgbClr val="FFFFFF"/>
            </a:solidFill>
            <a:prstDash val="solid"/>
          </a:ln>
        </p:spPr>
      </p:sp>
      <p:sp>
        <p:nvSpPr>
          <p:cNvPr id="49" name="Text 38"/>
          <p:cNvSpPr/>
          <p:nvPr/>
        </p:nvSpPr>
        <p:spPr>
          <a:xfrm>
            <a:off x="2426207"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5</a:t>
            </a:r>
            <a:endParaRPr lang="en-US" sz="1000" dirty="0">
              <a:latin typeface="Century Gothic" panose="020B0502020202090204" pitchFamily="34" charset="0"/>
            </a:endParaRPr>
          </a:p>
        </p:txBody>
      </p:sp>
      <p:pic>
        <p:nvPicPr>
          <p:cNvPr id="50" name="Image 9" descr="preencoded.png"/>
          <p:cNvPicPr>
            <a:picLocks noChangeAspect="1"/>
          </p:cNvPicPr>
          <p:nvPr/>
        </p:nvPicPr>
        <p:blipFill>
          <a:blip r:embed="rId12"/>
          <a:stretch>
            <a:fillRect/>
          </a:stretch>
        </p:blipFill>
        <p:spPr>
          <a:xfrm>
            <a:off x="4029455" y="4875367"/>
            <a:ext cx="264479" cy="264479"/>
          </a:xfrm>
          <a:prstGeom prst="rect">
            <a:avLst/>
          </a:prstGeom>
        </p:spPr>
      </p:pic>
      <p:sp>
        <p:nvSpPr>
          <p:cNvPr id="51" name="Text 39"/>
          <p:cNvSpPr/>
          <p:nvPr/>
        </p:nvSpPr>
        <p:spPr>
          <a:xfrm>
            <a:off x="2426207"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Supply of Marketing Accessories</a:t>
            </a:r>
            <a:endParaRPr lang="en-US" sz="1000" dirty="0">
              <a:latin typeface="Century Gothic" panose="020B0502020202090204" pitchFamily="34" charset="0"/>
            </a:endParaRPr>
          </a:p>
        </p:txBody>
      </p:sp>
      <p:sp>
        <p:nvSpPr>
          <p:cNvPr id="52" name="Shape 40"/>
          <p:cNvSpPr/>
          <p:nvPr/>
        </p:nvSpPr>
        <p:spPr>
          <a:xfrm>
            <a:off x="2426207" y="5204551"/>
            <a:ext cx="1958403" cy="45719"/>
          </a:xfrm>
          <a:prstGeom prst="rect">
            <a:avLst/>
          </a:prstGeom>
          <a:solidFill>
            <a:srgbClr val="E5EDED"/>
          </a:solidFill>
          <a:ln w="12700">
            <a:solidFill>
              <a:srgbClr val="E5EDED"/>
            </a:solidFill>
            <a:prstDash val="solid"/>
          </a:ln>
        </p:spPr>
      </p:sp>
      <p:sp>
        <p:nvSpPr>
          <p:cNvPr id="53" name="Text 41"/>
          <p:cNvSpPr/>
          <p:nvPr/>
        </p:nvSpPr>
        <p:spPr>
          <a:xfrm>
            <a:off x="2426207"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Marketing kits - knives, weighing scales, and plastic containers - provided to fishermen. Enhanced fish handling, storage, and marketing. Improved product quality and customer confidence.</a:t>
            </a:r>
            <a:endParaRPr lang="en-US" sz="900" dirty="0">
              <a:latin typeface="Century Gothic" panose="020B0502020202090204" pitchFamily="34" charset="0"/>
            </a:endParaRPr>
          </a:p>
        </p:txBody>
      </p:sp>
      <p:sp>
        <p:nvSpPr>
          <p:cNvPr id="54" name="Shape 42"/>
          <p:cNvSpPr/>
          <p:nvPr/>
        </p:nvSpPr>
        <p:spPr>
          <a:xfrm>
            <a:off x="4504944"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55" name="Image 10" descr="/home/claude/rpt_imgs/brood_pond_2.jpg"/>
          <p:cNvPicPr>
            <a:picLocks noChangeAspect="1"/>
          </p:cNvPicPr>
          <p:nvPr/>
        </p:nvPicPr>
        <p:blipFill>
          <a:blip r:embed="rId13"/>
          <a:srcRect/>
          <a:stretch/>
        </p:blipFill>
        <p:spPr>
          <a:xfrm>
            <a:off x="4504944" y="3814664"/>
            <a:ext cx="2147316" cy="1039024"/>
          </a:xfrm>
          <a:prstGeom prst="rect">
            <a:avLst/>
          </a:prstGeom>
        </p:spPr>
      </p:pic>
      <p:sp>
        <p:nvSpPr>
          <p:cNvPr id="56" name="Shape 43"/>
          <p:cNvSpPr/>
          <p:nvPr/>
        </p:nvSpPr>
        <p:spPr>
          <a:xfrm>
            <a:off x="4596383" y="4546183"/>
            <a:ext cx="302261" cy="299765"/>
          </a:xfrm>
          <a:prstGeom prst="ellipse">
            <a:avLst/>
          </a:prstGeom>
          <a:solidFill>
            <a:srgbClr val="005F5F"/>
          </a:solidFill>
          <a:ln w="12700">
            <a:solidFill>
              <a:srgbClr val="FFFFFF"/>
            </a:solidFill>
            <a:prstDash val="solid"/>
          </a:ln>
        </p:spPr>
      </p:sp>
      <p:sp>
        <p:nvSpPr>
          <p:cNvPr id="57" name="Text 44"/>
          <p:cNvSpPr/>
          <p:nvPr/>
        </p:nvSpPr>
        <p:spPr>
          <a:xfrm>
            <a:off x="4596383"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6</a:t>
            </a:r>
            <a:endParaRPr lang="en-US" sz="1000" dirty="0">
              <a:latin typeface="Century Gothic" panose="020B0502020202090204" pitchFamily="34" charset="0"/>
            </a:endParaRPr>
          </a:p>
        </p:txBody>
      </p:sp>
      <p:pic>
        <p:nvPicPr>
          <p:cNvPr id="58" name="Image 11" descr="preencoded.png"/>
          <p:cNvPicPr>
            <a:picLocks noChangeAspect="1"/>
          </p:cNvPicPr>
          <p:nvPr/>
        </p:nvPicPr>
        <p:blipFill>
          <a:blip r:embed="rId14"/>
          <a:stretch>
            <a:fillRect/>
          </a:stretch>
        </p:blipFill>
        <p:spPr>
          <a:xfrm>
            <a:off x="6199631" y="4875367"/>
            <a:ext cx="264479" cy="264479"/>
          </a:xfrm>
          <a:prstGeom prst="rect">
            <a:avLst/>
          </a:prstGeom>
        </p:spPr>
      </p:pic>
      <p:sp>
        <p:nvSpPr>
          <p:cNvPr id="59" name="Text 45"/>
          <p:cNvSpPr/>
          <p:nvPr/>
        </p:nvSpPr>
        <p:spPr>
          <a:xfrm>
            <a:off x="4596383"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Nurturing of Brood Stock</a:t>
            </a:r>
            <a:endParaRPr lang="en-US" sz="1000" dirty="0">
              <a:latin typeface="Century Gothic" panose="020B0502020202090204" pitchFamily="34" charset="0"/>
            </a:endParaRPr>
          </a:p>
        </p:txBody>
      </p:sp>
      <p:sp>
        <p:nvSpPr>
          <p:cNvPr id="60" name="Shape 46"/>
          <p:cNvSpPr/>
          <p:nvPr/>
        </p:nvSpPr>
        <p:spPr>
          <a:xfrm>
            <a:off x="4596383" y="5204551"/>
            <a:ext cx="1958403" cy="45719"/>
          </a:xfrm>
          <a:prstGeom prst="rect">
            <a:avLst/>
          </a:prstGeom>
          <a:solidFill>
            <a:srgbClr val="E5EDED"/>
          </a:solidFill>
          <a:ln w="12700">
            <a:solidFill>
              <a:srgbClr val="E5EDED"/>
            </a:solidFill>
            <a:prstDash val="solid"/>
          </a:ln>
        </p:spPr>
      </p:sp>
      <p:sp>
        <p:nvSpPr>
          <p:cNvPr id="61" name="Text 47"/>
          <p:cNvSpPr/>
          <p:nvPr/>
        </p:nvSpPr>
        <p:spPr>
          <a:xfrm>
            <a:off x="4596383"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Quality brood stock of Catla, Rohu, Mrigal, and Cyprinus species procured under scientific management. Regular feeding and health monitoring ensured successful breeding cycles.</a:t>
            </a:r>
            <a:endParaRPr lang="en-US" sz="900" dirty="0">
              <a:latin typeface="Century Gothic" panose="020B0502020202090204" pitchFamily="34" charset="0"/>
            </a:endParaRPr>
          </a:p>
        </p:txBody>
      </p:sp>
      <p:sp>
        <p:nvSpPr>
          <p:cNvPr id="62" name="Shape 48"/>
          <p:cNvSpPr/>
          <p:nvPr/>
        </p:nvSpPr>
        <p:spPr>
          <a:xfrm>
            <a:off x="164592"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63" name="Image 12" descr="/home/claude/rpt_imgs/stocking_2.jpg"/>
          <p:cNvPicPr>
            <a:picLocks noChangeAspect="1"/>
          </p:cNvPicPr>
          <p:nvPr/>
        </p:nvPicPr>
        <p:blipFill>
          <a:blip r:embed="rId15"/>
          <a:srcRect/>
          <a:stretch/>
        </p:blipFill>
        <p:spPr>
          <a:xfrm>
            <a:off x="164592" y="6448136"/>
            <a:ext cx="2147316" cy="1039024"/>
          </a:xfrm>
          <a:prstGeom prst="rect">
            <a:avLst/>
          </a:prstGeom>
        </p:spPr>
      </p:pic>
      <p:sp>
        <p:nvSpPr>
          <p:cNvPr id="64" name="Shape 49"/>
          <p:cNvSpPr/>
          <p:nvPr/>
        </p:nvSpPr>
        <p:spPr>
          <a:xfrm>
            <a:off x="256031" y="7179655"/>
            <a:ext cx="302261" cy="299765"/>
          </a:xfrm>
          <a:prstGeom prst="ellipse">
            <a:avLst/>
          </a:prstGeom>
          <a:solidFill>
            <a:srgbClr val="005F5F"/>
          </a:solidFill>
          <a:ln w="12700">
            <a:solidFill>
              <a:srgbClr val="FFFFFF"/>
            </a:solidFill>
            <a:prstDash val="solid"/>
          </a:ln>
        </p:spPr>
      </p:sp>
      <p:sp>
        <p:nvSpPr>
          <p:cNvPr id="65" name="Text 50"/>
          <p:cNvSpPr/>
          <p:nvPr/>
        </p:nvSpPr>
        <p:spPr>
          <a:xfrm>
            <a:off x="256031"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7</a:t>
            </a:r>
            <a:endParaRPr lang="en-US" sz="1000" dirty="0">
              <a:latin typeface="Century Gothic" panose="020B0502020202090204" pitchFamily="34" charset="0"/>
            </a:endParaRPr>
          </a:p>
        </p:txBody>
      </p:sp>
      <p:pic>
        <p:nvPicPr>
          <p:cNvPr id="66" name="Image 13" descr="preencoded.png"/>
          <p:cNvPicPr>
            <a:picLocks noChangeAspect="1"/>
          </p:cNvPicPr>
          <p:nvPr/>
        </p:nvPicPr>
        <p:blipFill>
          <a:blip r:embed="rId4"/>
          <a:stretch>
            <a:fillRect/>
          </a:stretch>
        </p:blipFill>
        <p:spPr>
          <a:xfrm>
            <a:off x="1859279" y="7508839"/>
            <a:ext cx="264479" cy="264479"/>
          </a:xfrm>
          <a:prstGeom prst="rect">
            <a:avLst/>
          </a:prstGeom>
        </p:spPr>
      </p:pic>
      <p:sp>
        <p:nvSpPr>
          <p:cNvPr id="67" name="Text 51"/>
          <p:cNvSpPr/>
          <p:nvPr/>
        </p:nvSpPr>
        <p:spPr>
          <a:xfrm>
            <a:off x="256031"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Stocking of Fingerlings in Reservoirs</a:t>
            </a:r>
            <a:endParaRPr lang="en-US" sz="1000" dirty="0">
              <a:latin typeface="Century Gothic" panose="020B0502020202090204" pitchFamily="34" charset="0"/>
            </a:endParaRPr>
          </a:p>
        </p:txBody>
      </p:sp>
      <p:sp>
        <p:nvSpPr>
          <p:cNvPr id="68" name="Shape 52"/>
          <p:cNvSpPr/>
          <p:nvPr/>
        </p:nvSpPr>
        <p:spPr>
          <a:xfrm>
            <a:off x="256031" y="7838023"/>
            <a:ext cx="1958403" cy="45719"/>
          </a:xfrm>
          <a:prstGeom prst="rect">
            <a:avLst/>
          </a:prstGeom>
          <a:solidFill>
            <a:srgbClr val="E5EDED"/>
          </a:solidFill>
          <a:ln w="12700">
            <a:solidFill>
              <a:srgbClr val="E5EDED"/>
            </a:solidFill>
            <a:prstDash val="solid"/>
          </a:ln>
        </p:spPr>
      </p:sp>
      <p:sp>
        <p:nvSpPr>
          <p:cNvPr id="69" name="Text 53"/>
          <p:cNvSpPr/>
          <p:nvPr/>
        </p:nvSpPr>
        <p:spPr>
          <a:xfrm>
            <a:off x="256031"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21.5 lakh fingerlings scientifically stocked in five reservoirs over three years. Good survival and growth rates confirmed by monitoring, improving fish production and biodiversity.</a:t>
            </a:r>
            <a:endParaRPr lang="en-US" sz="900" dirty="0">
              <a:latin typeface="Century Gothic" panose="020B0502020202090204" pitchFamily="34" charset="0"/>
            </a:endParaRPr>
          </a:p>
        </p:txBody>
      </p:sp>
      <p:sp>
        <p:nvSpPr>
          <p:cNvPr id="70" name="Shape 54"/>
          <p:cNvSpPr/>
          <p:nvPr/>
        </p:nvSpPr>
        <p:spPr>
          <a:xfrm>
            <a:off x="2334768"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71" name="Image 14" descr="/home/claude/rpt_imgs/brood_pond_1.jpg"/>
          <p:cNvPicPr>
            <a:picLocks noChangeAspect="1"/>
          </p:cNvPicPr>
          <p:nvPr/>
        </p:nvPicPr>
        <p:blipFill>
          <a:blip r:embed="rId16"/>
          <a:srcRect/>
          <a:stretch/>
        </p:blipFill>
        <p:spPr>
          <a:xfrm>
            <a:off x="2334768" y="6448136"/>
            <a:ext cx="2147316" cy="1039024"/>
          </a:xfrm>
          <a:prstGeom prst="rect">
            <a:avLst/>
          </a:prstGeom>
        </p:spPr>
      </p:pic>
      <p:sp>
        <p:nvSpPr>
          <p:cNvPr id="72" name="Shape 55"/>
          <p:cNvSpPr/>
          <p:nvPr/>
        </p:nvSpPr>
        <p:spPr>
          <a:xfrm>
            <a:off x="2426207" y="7179655"/>
            <a:ext cx="302261" cy="299765"/>
          </a:xfrm>
          <a:prstGeom prst="ellipse">
            <a:avLst/>
          </a:prstGeom>
          <a:solidFill>
            <a:srgbClr val="005F5F"/>
          </a:solidFill>
          <a:ln w="12700">
            <a:solidFill>
              <a:srgbClr val="FFFFFF"/>
            </a:solidFill>
            <a:prstDash val="solid"/>
          </a:ln>
        </p:spPr>
      </p:sp>
      <p:sp>
        <p:nvSpPr>
          <p:cNvPr id="73" name="Text 56"/>
          <p:cNvSpPr/>
          <p:nvPr/>
        </p:nvSpPr>
        <p:spPr>
          <a:xfrm>
            <a:off x="2426207"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8</a:t>
            </a:r>
            <a:endParaRPr lang="en-US" sz="1000" dirty="0">
              <a:latin typeface="Century Gothic" panose="020B0502020202090204" pitchFamily="34" charset="0"/>
            </a:endParaRPr>
          </a:p>
        </p:txBody>
      </p:sp>
      <p:pic>
        <p:nvPicPr>
          <p:cNvPr id="74" name="Image 15" descr="preencoded.png"/>
          <p:cNvPicPr>
            <a:picLocks noChangeAspect="1"/>
          </p:cNvPicPr>
          <p:nvPr/>
        </p:nvPicPr>
        <p:blipFill>
          <a:blip r:embed="rId8"/>
          <a:stretch>
            <a:fillRect/>
          </a:stretch>
        </p:blipFill>
        <p:spPr>
          <a:xfrm>
            <a:off x="4029455" y="7508839"/>
            <a:ext cx="264479" cy="264479"/>
          </a:xfrm>
          <a:prstGeom prst="rect">
            <a:avLst/>
          </a:prstGeom>
        </p:spPr>
      </p:pic>
      <p:sp>
        <p:nvSpPr>
          <p:cNvPr id="75" name="Text 57"/>
          <p:cNvSpPr/>
          <p:nvPr/>
        </p:nvSpPr>
        <p:spPr>
          <a:xfrm>
            <a:off x="2426207"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Construction of Brood Stock Pond</a:t>
            </a:r>
            <a:endParaRPr lang="en-US" sz="1000" dirty="0">
              <a:latin typeface="Century Gothic" panose="020B0502020202090204" pitchFamily="34" charset="0"/>
            </a:endParaRPr>
          </a:p>
        </p:txBody>
      </p:sp>
      <p:sp>
        <p:nvSpPr>
          <p:cNvPr id="76" name="Shape 58"/>
          <p:cNvSpPr/>
          <p:nvPr/>
        </p:nvSpPr>
        <p:spPr>
          <a:xfrm>
            <a:off x="2426207" y="7838023"/>
            <a:ext cx="1958403" cy="45719"/>
          </a:xfrm>
          <a:prstGeom prst="rect">
            <a:avLst/>
          </a:prstGeom>
          <a:solidFill>
            <a:srgbClr val="E5EDED"/>
          </a:solidFill>
          <a:ln w="12700">
            <a:solidFill>
              <a:srgbClr val="E5EDED"/>
            </a:solidFill>
            <a:prstDash val="solid"/>
          </a:ln>
        </p:spPr>
      </p:sp>
      <p:sp>
        <p:nvSpPr>
          <p:cNvPr id="77" name="Text 59"/>
          <p:cNvSpPr/>
          <p:nvPr/>
        </p:nvSpPr>
        <p:spPr>
          <a:xfrm>
            <a:off x="2426207"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Nutritious feed supplied to brood stock to improve growth, health, and reproductive performance. Training on feeding schedules and nutrition management enhanced breeding efficiency.</a:t>
            </a:r>
            <a:endParaRPr lang="en-US" sz="900" dirty="0">
              <a:latin typeface="Century Gothic" panose="020B0502020202090204" pitchFamily="34" charset="0"/>
            </a:endParaRPr>
          </a:p>
        </p:txBody>
      </p:sp>
      <p:sp>
        <p:nvSpPr>
          <p:cNvPr id="78" name="Shape 60"/>
          <p:cNvSpPr/>
          <p:nvPr/>
        </p:nvSpPr>
        <p:spPr>
          <a:xfrm>
            <a:off x="4504944"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79" name="Image 16" descr="/home/claude/rpt_imgs/stocking_3.jpg"/>
          <p:cNvPicPr>
            <a:picLocks noChangeAspect="1"/>
          </p:cNvPicPr>
          <p:nvPr/>
        </p:nvPicPr>
        <p:blipFill>
          <a:blip r:embed="rId17"/>
          <a:srcRect/>
          <a:stretch/>
        </p:blipFill>
        <p:spPr>
          <a:xfrm>
            <a:off x="4504944" y="6448136"/>
            <a:ext cx="2147316" cy="1039024"/>
          </a:xfrm>
          <a:prstGeom prst="rect">
            <a:avLst/>
          </a:prstGeom>
        </p:spPr>
      </p:pic>
      <p:sp>
        <p:nvSpPr>
          <p:cNvPr id="80" name="Shape 61"/>
          <p:cNvSpPr/>
          <p:nvPr/>
        </p:nvSpPr>
        <p:spPr>
          <a:xfrm>
            <a:off x="4596383" y="7179655"/>
            <a:ext cx="302261" cy="299765"/>
          </a:xfrm>
          <a:prstGeom prst="ellipse">
            <a:avLst/>
          </a:prstGeom>
          <a:solidFill>
            <a:srgbClr val="005F5F"/>
          </a:solidFill>
          <a:ln w="12700">
            <a:solidFill>
              <a:srgbClr val="FFFFFF"/>
            </a:solidFill>
            <a:prstDash val="solid"/>
          </a:ln>
        </p:spPr>
      </p:sp>
      <p:sp>
        <p:nvSpPr>
          <p:cNvPr id="81" name="Text 62"/>
          <p:cNvSpPr/>
          <p:nvPr/>
        </p:nvSpPr>
        <p:spPr>
          <a:xfrm>
            <a:off x="4596383"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9</a:t>
            </a:r>
            <a:endParaRPr lang="en-US" sz="1000" dirty="0">
              <a:latin typeface="Century Gothic" panose="020B0502020202090204" pitchFamily="34" charset="0"/>
            </a:endParaRPr>
          </a:p>
        </p:txBody>
      </p:sp>
      <p:pic>
        <p:nvPicPr>
          <p:cNvPr id="82" name="Image 17" descr="preencoded.png"/>
          <p:cNvPicPr>
            <a:picLocks noChangeAspect="1"/>
          </p:cNvPicPr>
          <p:nvPr/>
        </p:nvPicPr>
        <p:blipFill>
          <a:blip r:embed="rId18"/>
          <a:stretch>
            <a:fillRect/>
          </a:stretch>
        </p:blipFill>
        <p:spPr>
          <a:xfrm>
            <a:off x="6252524" y="7508839"/>
            <a:ext cx="264479" cy="264479"/>
          </a:xfrm>
          <a:prstGeom prst="rect">
            <a:avLst/>
          </a:prstGeom>
        </p:spPr>
      </p:pic>
      <p:sp>
        <p:nvSpPr>
          <p:cNvPr id="83" name="Text 63"/>
          <p:cNvSpPr/>
          <p:nvPr/>
        </p:nvSpPr>
        <p:spPr>
          <a:xfrm>
            <a:off x="4596383"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Hatchery Rearing Support</a:t>
            </a:r>
            <a:endParaRPr lang="en-US" sz="1000" dirty="0">
              <a:latin typeface="Century Gothic" panose="020B0502020202090204" pitchFamily="34" charset="0"/>
            </a:endParaRPr>
          </a:p>
        </p:txBody>
      </p:sp>
      <p:sp>
        <p:nvSpPr>
          <p:cNvPr id="84" name="Shape 64"/>
          <p:cNvSpPr/>
          <p:nvPr/>
        </p:nvSpPr>
        <p:spPr>
          <a:xfrm>
            <a:off x="4596383" y="7838023"/>
            <a:ext cx="1958403" cy="45719"/>
          </a:xfrm>
          <a:prstGeom prst="rect">
            <a:avLst/>
          </a:prstGeom>
          <a:solidFill>
            <a:srgbClr val="E5EDED"/>
          </a:solidFill>
          <a:ln w="12700">
            <a:solidFill>
              <a:srgbClr val="E5EDED"/>
            </a:solidFill>
            <a:prstDash val="solid"/>
          </a:ln>
        </p:spPr>
      </p:sp>
      <p:sp>
        <p:nvSpPr>
          <p:cNvPr id="85" name="Text 65"/>
          <p:cNvSpPr/>
          <p:nvPr/>
        </p:nvSpPr>
        <p:spPr>
          <a:xfrm>
            <a:off x="4596383"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Comprehensive hatchery support through nets, haps, feed, medicines, and equipment. Improved hatchery management and larval rearing resulted in higher survival rates and increased seed production.</a:t>
            </a:r>
            <a:endParaRPr lang="en-US" sz="900" dirty="0">
              <a:latin typeface="Century Gothic" panose="020B0502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40" name="Shape 31"/>
          <p:cNvSpPr/>
          <p:nvPr/>
        </p:nvSpPr>
        <p:spPr>
          <a:xfrm>
            <a:off x="237744" y="6436311"/>
            <a:ext cx="1463040" cy="329184"/>
          </a:xfrm>
          <a:prstGeom prst="rect">
            <a:avLst/>
          </a:prstGeom>
          <a:solidFill>
            <a:srgbClr val="005F5F"/>
          </a:solidFill>
          <a:ln w="12700">
            <a:solidFill>
              <a:srgbClr val="005F5F"/>
            </a:solidFill>
            <a:prstDash val="solid"/>
          </a:ln>
        </p:spPr>
      </p:sp>
      <p:sp>
        <p:nvSpPr>
          <p:cNvPr id="41" name="Text 32"/>
          <p:cNvSpPr/>
          <p:nvPr/>
        </p:nvSpPr>
        <p:spPr>
          <a:xfrm>
            <a:off x="329184" y="6436311"/>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Species</a:t>
            </a:r>
            <a:endParaRPr lang="en-US" sz="850" dirty="0">
              <a:latin typeface="Footlight MT Light" panose="0204060206030A020304" pitchFamily="18" charset="0"/>
            </a:endParaRPr>
          </a:p>
        </p:txBody>
      </p:sp>
      <p:sp>
        <p:nvSpPr>
          <p:cNvPr id="42" name="Shape 33"/>
          <p:cNvSpPr/>
          <p:nvPr/>
        </p:nvSpPr>
        <p:spPr>
          <a:xfrm>
            <a:off x="1700784" y="6436311"/>
            <a:ext cx="4882896" cy="329184"/>
          </a:xfrm>
          <a:prstGeom prst="rect">
            <a:avLst/>
          </a:prstGeom>
          <a:solidFill>
            <a:srgbClr val="FFFFFF"/>
          </a:solidFill>
          <a:ln w="12700">
            <a:solidFill>
              <a:srgbClr val="E5EDED"/>
            </a:solidFill>
            <a:prstDash val="solid"/>
          </a:ln>
        </p:spPr>
      </p:sp>
      <p:sp>
        <p:nvSpPr>
          <p:cNvPr id="43" name="Text 34"/>
          <p:cNvSpPr/>
          <p:nvPr/>
        </p:nvSpPr>
        <p:spPr>
          <a:xfrm>
            <a:off x="1810512" y="6436311"/>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Catla, Rohu, Mrigal, Cyprinus (Indian major carps)</a:t>
            </a:r>
            <a:endParaRPr lang="en-US" sz="900" dirty="0">
              <a:latin typeface="Footlight MT Light" panose="0204060206030A020304" pitchFamily="18" charset="0"/>
            </a:endParaRPr>
          </a:p>
        </p:txBody>
      </p:sp>
      <p:sp>
        <p:nvSpPr>
          <p:cNvPr id="44" name="Shape 35"/>
          <p:cNvSpPr/>
          <p:nvPr/>
        </p:nvSpPr>
        <p:spPr>
          <a:xfrm>
            <a:off x="237744" y="6820359"/>
            <a:ext cx="1463040" cy="329184"/>
          </a:xfrm>
          <a:prstGeom prst="rect">
            <a:avLst/>
          </a:prstGeom>
          <a:solidFill>
            <a:srgbClr val="007A7A"/>
          </a:solidFill>
          <a:ln w="12700">
            <a:solidFill>
              <a:srgbClr val="007A7A"/>
            </a:solidFill>
            <a:prstDash val="solid"/>
          </a:ln>
        </p:spPr>
      </p:sp>
      <p:sp>
        <p:nvSpPr>
          <p:cNvPr id="45" name="Text 36"/>
          <p:cNvSpPr/>
          <p:nvPr/>
        </p:nvSpPr>
        <p:spPr>
          <a:xfrm>
            <a:off x="329184" y="6820359"/>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Brood Stock</a:t>
            </a:r>
            <a:endParaRPr lang="en-US" sz="850" dirty="0">
              <a:latin typeface="Footlight MT Light" panose="0204060206030A020304" pitchFamily="18" charset="0"/>
            </a:endParaRPr>
          </a:p>
        </p:txBody>
      </p:sp>
      <p:sp>
        <p:nvSpPr>
          <p:cNvPr id="46" name="Shape 37"/>
          <p:cNvSpPr/>
          <p:nvPr/>
        </p:nvSpPr>
        <p:spPr>
          <a:xfrm>
            <a:off x="1700784" y="6820359"/>
            <a:ext cx="4882896" cy="329184"/>
          </a:xfrm>
          <a:prstGeom prst="rect">
            <a:avLst/>
          </a:prstGeom>
          <a:solidFill>
            <a:srgbClr val="F5FCFC"/>
          </a:solidFill>
          <a:ln w="12700">
            <a:solidFill>
              <a:srgbClr val="E5EDED"/>
            </a:solidFill>
            <a:prstDash val="solid"/>
          </a:ln>
        </p:spPr>
      </p:sp>
      <p:sp>
        <p:nvSpPr>
          <p:cNvPr id="47" name="Text 38"/>
          <p:cNvSpPr/>
          <p:nvPr/>
        </p:nvSpPr>
        <p:spPr>
          <a:xfrm>
            <a:off x="1810512" y="6820359"/>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1,000 kg quality brood stock procured and maintained</a:t>
            </a:r>
            <a:endParaRPr lang="en-US" sz="900" dirty="0">
              <a:latin typeface="Footlight MT Light" panose="0204060206030A020304" pitchFamily="18" charset="0"/>
            </a:endParaRPr>
          </a:p>
        </p:txBody>
      </p:sp>
      <p:sp>
        <p:nvSpPr>
          <p:cNvPr id="48" name="Shape 39"/>
          <p:cNvSpPr/>
          <p:nvPr/>
        </p:nvSpPr>
        <p:spPr>
          <a:xfrm>
            <a:off x="237744" y="7204407"/>
            <a:ext cx="1463040" cy="329184"/>
          </a:xfrm>
          <a:prstGeom prst="rect">
            <a:avLst/>
          </a:prstGeom>
          <a:solidFill>
            <a:srgbClr val="005F5F"/>
          </a:solidFill>
          <a:ln w="12700">
            <a:solidFill>
              <a:srgbClr val="005F5F"/>
            </a:solidFill>
            <a:prstDash val="solid"/>
          </a:ln>
        </p:spPr>
      </p:sp>
      <p:sp>
        <p:nvSpPr>
          <p:cNvPr id="49" name="Text 40"/>
          <p:cNvSpPr/>
          <p:nvPr/>
        </p:nvSpPr>
        <p:spPr>
          <a:xfrm>
            <a:off x="329184" y="7204407"/>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Feeding</a:t>
            </a:r>
            <a:endParaRPr lang="en-US" sz="850" dirty="0">
              <a:latin typeface="Footlight MT Light" panose="0204060206030A020304" pitchFamily="18" charset="0"/>
            </a:endParaRPr>
          </a:p>
        </p:txBody>
      </p:sp>
      <p:sp>
        <p:nvSpPr>
          <p:cNvPr id="50" name="Shape 41"/>
          <p:cNvSpPr/>
          <p:nvPr/>
        </p:nvSpPr>
        <p:spPr>
          <a:xfrm>
            <a:off x="1700784" y="7204407"/>
            <a:ext cx="4882896" cy="329184"/>
          </a:xfrm>
          <a:prstGeom prst="rect">
            <a:avLst/>
          </a:prstGeom>
          <a:solidFill>
            <a:srgbClr val="FFFFFF"/>
          </a:solidFill>
          <a:ln w="12700">
            <a:solidFill>
              <a:srgbClr val="E5EDED"/>
            </a:solidFill>
            <a:prstDash val="solid"/>
          </a:ln>
        </p:spPr>
      </p:sp>
      <p:sp>
        <p:nvSpPr>
          <p:cNvPr id="51" name="Text 42"/>
          <p:cNvSpPr/>
          <p:nvPr/>
        </p:nvSpPr>
        <p:spPr>
          <a:xfrm>
            <a:off x="1810512" y="7204407"/>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12 months of nutritious feed supplied; training on schedules provided</a:t>
            </a:r>
            <a:endParaRPr lang="en-US" sz="900" dirty="0">
              <a:latin typeface="Footlight MT Light" panose="0204060206030A020304" pitchFamily="18" charset="0"/>
            </a:endParaRPr>
          </a:p>
        </p:txBody>
      </p:sp>
      <p:sp>
        <p:nvSpPr>
          <p:cNvPr id="52" name="Shape 43"/>
          <p:cNvSpPr/>
          <p:nvPr/>
        </p:nvSpPr>
        <p:spPr>
          <a:xfrm>
            <a:off x="237744" y="7588455"/>
            <a:ext cx="1463040" cy="329184"/>
          </a:xfrm>
          <a:prstGeom prst="rect">
            <a:avLst/>
          </a:prstGeom>
          <a:solidFill>
            <a:srgbClr val="007A7A"/>
          </a:solidFill>
          <a:ln w="12700">
            <a:solidFill>
              <a:srgbClr val="007A7A"/>
            </a:solidFill>
            <a:prstDash val="solid"/>
          </a:ln>
        </p:spPr>
      </p:sp>
      <p:sp>
        <p:nvSpPr>
          <p:cNvPr id="53" name="Text 44"/>
          <p:cNvSpPr/>
          <p:nvPr/>
        </p:nvSpPr>
        <p:spPr>
          <a:xfrm>
            <a:off x="329184" y="7588455"/>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Hatchery Input</a:t>
            </a:r>
            <a:endParaRPr lang="en-US" sz="850" dirty="0">
              <a:latin typeface="Footlight MT Light" panose="0204060206030A020304" pitchFamily="18" charset="0"/>
            </a:endParaRPr>
          </a:p>
        </p:txBody>
      </p:sp>
      <p:sp>
        <p:nvSpPr>
          <p:cNvPr id="54" name="Shape 45"/>
          <p:cNvSpPr/>
          <p:nvPr/>
        </p:nvSpPr>
        <p:spPr>
          <a:xfrm>
            <a:off x="1700784" y="7588455"/>
            <a:ext cx="4882896" cy="329184"/>
          </a:xfrm>
          <a:prstGeom prst="rect">
            <a:avLst/>
          </a:prstGeom>
          <a:solidFill>
            <a:srgbClr val="F5FCFC"/>
          </a:solidFill>
          <a:ln w="12700">
            <a:solidFill>
              <a:srgbClr val="E5EDED"/>
            </a:solidFill>
            <a:prstDash val="solid"/>
          </a:ln>
        </p:spPr>
      </p:sp>
      <p:sp>
        <p:nvSpPr>
          <p:cNvPr id="55" name="Text 46"/>
          <p:cNvSpPr/>
          <p:nvPr/>
        </p:nvSpPr>
        <p:spPr>
          <a:xfrm>
            <a:off x="1810512" y="7588455"/>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Nets, haps, feed, medicines, and essential equipment provided</a:t>
            </a:r>
            <a:endParaRPr lang="en-US" sz="900" dirty="0">
              <a:latin typeface="Footlight MT Light" panose="0204060206030A020304" pitchFamily="18" charset="0"/>
            </a:endParaRPr>
          </a:p>
        </p:txBody>
      </p:sp>
      <p:sp>
        <p:nvSpPr>
          <p:cNvPr id="56" name="Shape 47"/>
          <p:cNvSpPr/>
          <p:nvPr/>
        </p:nvSpPr>
        <p:spPr>
          <a:xfrm>
            <a:off x="237744" y="7972503"/>
            <a:ext cx="1463040" cy="329184"/>
          </a:xfrm>
          <a:prstGeom prst="rect">
            <a:avLst/>
          </a:prstGeom>
          <a:solidFill>
            <a:srgbClr val="005F5F"/>
          </a:solidFill>
          <a:ln w="12700">
            <a:solidFill>
              <a:srgbClr val="005F5F"/>
            </a:solidFill>
            <a:prstDash val="solid"/>
          </a:ln>
        </p:spPr>
      </p:sp>
      <p:sp>
        <p:nvSpPr>
          <p:cNvPr id="57" name="Text 48"/>
          <p:cNvSpPr/>
          <p:nvPr/>
        </p:nvSpPr>
        <p:spPr>
          <a:xfrm>
            <a:off x="329184" y="7972503"/>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Breeding</a:t>
            </a:r>
            <a:endParaRPr lang="en-US" sz="850" dirty="0">
              <a:latin typeface="Footlight MT Light" panose="0204060206030A020304" pitchFamily="18" charset="0"/>
            </a:endParaRPr>
          </a:p>
        </p:txBody>
      </p:sp>
      <p:sp>
        <p:nvSpPr>
          <p:cNvPr id="58" name="Shape 49"/>
          <p:cNvSpPr/>
          <p:nvPr/>
        </p:nvSpPr>
        <p:spPr>
          <a:xfrm>
            <a:off x="1700784" y="7972503"/>
            <a:ext cx="4882896" cy="329184"/>
          </a:xfrm>
          <a:prstGeom prst="rect">
            <a:avLst/>
          </a:prstGeom>
          <a:solidFill>
            <a:srgbClr val="FFFFFF"/>
          </a:solidFill>
          <a:ln w="12700">
            <a:solidFill>
              <a:srgbClr val="E5EDED"/>
            </a:solidFill>
            <a:prstDash val="solid"/>
          </a:ln>
        </p:spPr>
      </p:sp>
      <p:sp>
        <p:nvSpPr>
          <p:cNvPr id="59" name="Text 50"/>
          <p:cNvSpPr/>
          <p:nvPr/>
        </p:nvSpPr>
        <p:spPr>
          <a:xfrm>
            <a:off x="1810512" y="7972503"/>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Induced breeding, larval rearing, and health monitoring ensured high survival</a:t>
            </a:r>
            <a:endParaRPr lang="en-US" sz="900" dirty="0">
              <a:latin typeface="Footlight MT Light" panose="0204060206030A020304" pitchFamily="18" charset="0"/>
            </a:endParaRPr>
          </a:p>
        </p:txBody>
      </p:sp>
      <p:sp>
        <p:nvSpPr>
          <p:cNvPr id="60" name="Shape 51"/>
          <p:cNvSpPr/>
          <p:nvPr/>
        </p:nvSpPr>
        <p:spPr>
          <a:xfrm>
            <a:off x="237744" y="8356551"/>
            <a:ext cx="1463040" cy="329184"/>
          </a:xfrm>
          <a:prstGeom prst="rect">
            <a:avLst/>
          </a:prstGeom>
          <a:solidFill>
            <a:srgbClr val="007A7A"/>
          </a:solidFill>
          <a:ln w="12700">
            <a:solidFill>
              <a:srgbClr val="007A7A"/>
            </a:solidFill>
            <a:prstDash val="solid"/>
          </a:ln>
        </p:spPr>
      </p:sp>
      <p:sp>
        <p:nvSpPr>
          <p:cNvPr id="61" name="Text 52"/>
          <p:cNvSpPr/>
          <p:nvPr/>
        </p:nvSpPr>
        <p:spPr>
          <a:xfrm>
            <a:off x="329184" y="8356551"/>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Stocking</a:t>
            </a:r>
            <a:endParaRPr lang="en-US" sz="850" dirty="0">
              <a:latin typeface="Footlight MT Light" panose="0204060206030A020304" pitchFamily="18" charset="0"/>
            </a:endParaRPr>
          </a:p>
        </p:txBody>
      </p:sp>
      <p:sp>
        <p:nvSpPr>
          <p:cNvPr id="62" name="Shape 53"/>
          <p:cNvSpPr/>
          <p:nvPr/>
        </p:nvSpPr>
        <p:spPr>
          <a:xfrm>
            <a:off x="1700784" y="8356551"/>
            <a:ext cx="4882896" cy="329184"/>
          </a:xfrm>
          <a:prstGeom prst="rect">
            <a:avLst/>
          </a:prstGeom>
          <a:solidFill>
            <a:srgbClr val="F5FCFC"/>
          </a:solidFill>
          <a:ln w="12700">
            <a:solidFill>
              <a:srgbClr val="E5EDED"/>
            </a:solidFill>
            <a:prstDash val="solid"/>
          </a:ln>
        </p:spPr>
      </p:sp>
      <p:sp>
        <p:nvSpPr>
          <p:cNvPr id="63" name="Text 54"/>
          <p:cNvSpPr/>
          <p:nvPr/>
        </p:nvSpPr>
        <p:spPr>
          <a:xfrm>
            <a:off x="1810512" y="8356551"/>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21.5 lakh fingerlings stocked in 5 reservoirs (242 ha) over 3 years</a:t>
            </a:r>
            <a:endParaRPr lang="en-US" sz="900" dirty="0">
              <a:latin typeface="Footlight MT Light" panose="0204060206030A020304" pitchFamily="18" charset="0"/>
            </a:endParaRPr>
          </a:p>
        </p:txBody>
      </p:sp>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Fishery Operations - Hatchery, Stocking &amp; Brood Stock</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Fishery Production Operations in Detail</a:t>
            </a:r>
            <a:endParaRPr lang="en-US" dirty="0">
              <a:latin typeface="Felix Titling" panose="04060505060202020A04" pitchFamily="82" charset="0"/>
            </a:endParaRPr>
          </a:p>
        </p:txBody>
      </p:sp>
      <p:sp>
        <p:nvSpPr>
          <p:cNvPr id="12" name="Text 10"/>
          <p:cNvSpPr/>
          <p:nvPr/>
        </p:nvSpPr>
        <p:spPr>
          <a:xfrm>
            <a:off x="274320" y="655796"/>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Hatchery unit, fish seed stocking, brood stock management, and pond construction</a:t>
            </a:r>
            <a:endParaRPr lang="en-US" sz="900" dirty="0">
              <a:latin typeface="Footlight MT Light" panose="0204060206030A020304" pitchFamily="18" charset="0"/>
            </a:endParaRPr>
          </a:p>
        </p:txBody>
      </p:sp>
      <p:sp>
        <p:nvSpPr>
          <p:cNvPr id="13" name="Shape 11"/>
          <p:cNvSpPr/>
          <p:nvPr/>
        </p:nvSpPr>
        <p:spPr>
          <a:xfrm>
            <a:off x="304764" y="849791"/>
            <a:ext cx="842496" cy="18288"/>
          </a:xfrm>
          <a:prstGeom prst="rect">
            <a:avLst/>
          </a:prstGeom>
          <a:solidFill>
            <a:srgbClr val="C8960A"/>
          </a:solidFill>
          <a:ln w="12700">
            <a:solidFill>
              <a:srgbClr val="C8960A"/>
            </a:solidFill>
            <a:prstDash val="solid"/>
          </a:ln>
        </p:spPr>
      </p:sp>
      <p:pic>
        <p:nvPicPr>
          <p:cNvPr id="14" name="Image 0"/>
          <p:cNvPicPr>
            <a:picLocks noChangeAspect="1"/>
          </p:cNvPicPr>
          <p:nvPr/>
        </p:nvPicPr>
        <p:blipFill>
          <a:blip r:embed="rId3"/>
          <a:srcRect l="1297" t="3369" r="1585" b="2471"/>
          <a:stretch>
            <a:fillRect/>
          </a:stretch>
        </p:blipFill>
        <p:spPr>
          <a:xfrm>
            <a:off x="256032" y="831502"/>
            <a:ext cx="6376380" cy="2425955"/>
          </a:xfrm>
          <a:prstGeom prst="rect">
            <a:avLst/>
          </a:prstGeom>
        </p:spPr>
      </p:pic>
      <p:sp>
        <p:nvSpPr>
          <p:cNvPr id="15" name="Shape 12"/>
          <p:cNvSpPr/>
          <p:nvPr/>
        </p:nvSpPr>
        <p:spPr>
          <a:xfrm>
            <a:off x="280398" y="837790"/>
            <a:ext cx="6345936" cy="22425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sp>
      <p:sp>
        <p:nvSpPr>
          <p:cNvPr id="16" name="Text 13"/>
          <p:cNvSpPr/>
          <p:nvPr/>
        </p:nvSpPr>
        <p:spPr>
          <a:xfrm>
            <a:off x="280398" y="831503"/>
            <a:ext cx="6309360" cy="274320"/>
          </a:xfrm>
          <a:prstGeom prst="rect">
            <a:avLst/>
          </a:prstGeom>
          <a:noFill/>
          <a:ln/>
        </p:spPr>
        <p:txBody>
          <a:bodyPr wrap="square" lIns="0" tIns="0" rIns="0" bIns="0" rtlCol="0" anchor="t"/>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Fish Production Unit - Hatchery Process (Spawning · Breeding · Larval Rearing · Fingerling Production)</a:t>
            </a:r>
            <a:endParaRPr lang="en-US" sz="850" dirty="0">
              <a:latin typeface="Footlight MT Light" panose="0204060206030A020304" pitchFamily="18" charset="0"/>
            </a:endParaRPr>
          </a:p>
        </p:txBody>
      </p:sp>
      <p:sp>
        <p:nvSpPr>
          <p:cNvPr id="17" name="Shape 14"/>
          <p:cNvSpPr/>
          <p:nvPr/>
        </p:nvSpPr>
        <p:spPr>
          <a:xfrm>
            <a:off x="274320" y="3353364"/>
            <a:ext cx="6345936" cy="457200"/>
          </a:xfrm>
          <a:prstGeom prst="roundRect">
            <a:avLst>
              <a:gd name="adj" fmla="val 16000"/>
            </a:avLst>
          </a:prstGeom>
          <a:solidFill>
            <a:srgbClr val="FFF8E6"/>
          </a:solidFill>
          <a:ln w="12700">
            <a:solidFill>
              <a:srgbClr val="C8960A"/>
            </a:solidFill>
            <a:prstDash val="solid"/>
          </a:ln>
        </p:spPr>
      </p:sp>
      <p:sp>
        <p:nvSpPr>
          <p:cNvPr id="18" name="Shape 15"/>
          <p:cNvSpPr/>
          <p:nvPr/>
        </p:nvSpPr>
        <p:spPr>
          <a:xfrm>
            <a:off x="274320" y="3353364"/>
            <a:ext cx="36576" cy="457200"/>
          </a:xfrm>
          <a:prstGeom prst="rect">
            <a:avLst/>
          </a:prstGeom>
          <a:solidFill>
            <a:srgbClr val="C8960A"/>
          </a:solidFill>
          <a:ln w="12700">
            <a:solidFill>
              <a:srgbClr val="C8960A"/>
            </a:solidFill>
            <a:prstDash val="solid"/>
          </a:ln>
        </p:spPr>
      </p:sp>
      <p:sp>
        <p:nvSpPr>
          <p:cNvPr id="19" name="Text 16"/>
          <p:cNvSpPr/>
          <p:nvPr/>
        </p:nvSpPr>
        <p:spPr>
          <a:xfrm>
            <a:off x="457200" y="3426516"/>
            <a:ext cx="6126480" cy="310896"/>
          </a:xfrm>
          <a:prstGeom prst="rect">
            <a:avLst/>
          </a:prstGeom>
          <a:noFill/>
          <a:ln/>
        </p:spPr>
        <p:txBody>
          <a:bodyPr wrap="square" lIns="0" tIns="0" rIns="0" bIns="0" rtlCol="0" anchor="ctr"/>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A total of 21.5 lakh fingerlings were scientifically stocked in 5 reservoirs covering 242 hectares during the project period (2023–2026), contributing to improved fish population and biodiversity.</a:t>
            </a:r>
            <a:endParaRPr lang="en-US" sz="950" dirty="0">
              <a:latin typeface="Felix Titling" panose="04060505060202020A04" pitchFamily="82" charset="0"/>
            </a:endParaRPr>
          </a:p>
        </p:txBody>
      </p:sp>
      <p:sp>
        <p:nvSpPr>
          <p:cNvPr id="38" name="Text 29"/>
          <p:cNvSpPr/>
          <p:nvPr/>
        </p:nvSpPr>
        <p:spPr>
          <a:xfrm>
            <a:off x="258109" y="5938621"/>
            <a:ext cx="6345936" cy="219456"/>
          </a:xfrm>
          <a:prstGeom prst="rect">
            <a:avLst/>
          </a:prstGeom>
          <a:noFill/>
          <a:ln/>
        </p:spPr>
        <p:txBody>
          <a:bodyPr wrap="square" lIns="0" tIns="0" rIns="0" bIns="0" rtlCol="0" anchor="t"/>
          <a:lstStyle/>
          <a:p>
            <a:pPr marL="0" indent="0" algn="l">
              <a:buNone/>
            </a:pPr>
            <a:r>
              <a:rPr lang="en-US" sz="1400" b="1" dirty="0">
                <a:solidFill>
                  <a:srgbClr val="005F5F"/>
                </a:solidFill>
                <a:latin typeface="Felix Titling" panose="04060505060202020A04" pitchFamily="82" charset="0"/>
                <a:ea typeface="Cambria" pitchFamily="34" charset="-122"/>
                <a:cs typeface="Cambria" pitchFamily="34" charset="-120"/>
              </a:rPr>
              <a:t>Brood Stock &amp; Hatchery Support - Key Details</a:t>
            </a:r>
            <a:endParaRPr lang="en-US" sz="1400" dirty="0">
              <a:latin typeface="Felix Titling" panose="04060505060202020A04" pitchFamily="82" charset="0"/>
            </a:endParaRPr>
          </a:p>
        </p:txBody>
      </p:sp>
      <p:sp>
        <p:nvSpPr>
          <p:cNvPr id="39" name="Shape 30"/>
          <p:cNvSpPr/>
          <p:nvPr/>
        </p:nvSpPr>
        <p:spPr>
          <a:xfrm>
            <a:off x="237744" y="6290007"/>
            <a:ext cx="640080" cy="16459"/>
          </a:xfrm>
          <a:prstGeom prst="rect">
            <a:avLst/>
          </a:prstGeom>
          <a:solidFill>
            <a:srgbClr val="C8960A"/>
          </a:solidFill>
          <a:ln w="12700">
            <a:solidFill>
              <a:srgbClr val="C8960A"/>
            </a:solidFill>
            <a:prstDash val="solid"/>
          </a:ln>
        </p:spPr>
      </p:sp>
      <p:pic>
        <p:nvPicPr>
          <p:cNvPr id="20" name="Image 1" descr="/home/claude/rpt_imgs/stocking_1.jpg"/>
          <p:cNvPicPr>
            <a:picLocks noChangeAspect="1"/>
          </p:cNvPicPr>
          <p:nvPr/>
        </p:nvPicPr>
        <p:blipFill>
          <a:blip r:embed="rId4"/>
          <a:srcRect r="16188"/>
          <a:stretch>
            <a:fillRect/>
          </a:stretch>
        </p:blipFill>
        <p:spPr>
          <a:xfrm>
            <a:off x="274321" y="4047176"/>
            <a:ext cx="3219638" cy="1609157"/>
          </a:xfrm>
          <a:prstGeom prst="rect">
            <a:avLst/>
          </a:prstGeom>
        </p:spPr>
      </p:pic>
      <p:sp>
        <p:nvSpPr>
          <p:cNvPr id="21" name="Shape 17"/>
          <p:cNvSpPr/>
          <p:nvPr/>
        </p:nvSpPr>
        <p:spPr>
          <a:xfrm>
            <a:off x="274320" y="5634773"/>
            <a:ext cx="3478315" cy="227774"/>
          </a:xfrm>
          <a:prstGeom prst="rect">
            <a:avLst/>
          </a:prstGeom>
          <a:solidFill>
            <a:srgbClr val="2A3535"/>
          </a:solidFill>
          <a:ln w="12700">
            <a:solidFill>
              <a:srgbClr val="2A3535"/>
            </a:solidFill>
            <a:prstDash val="solid"/>
          </a:ln>
        </p:spPr>
      </p:sp>
      <p:sp>
        <p:nvSpPr>
          <p:cNvPr id="22" name="Text 18"/>
          <p:cNvSpPr/>
          <p:nvPr/>
        </p:nvSpPr>
        <p:spPr>
          <a:xfrm>
            <a:off x="376817" y="5668281"/>
            <a:ext cx="3226870" cy="157690"/>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Fish Seed Stocking in Reservoir</a:t>
            </a:r>
            <a:endParaRPr lang="en-US" sz="750" dirty="0">
              <a:latin typeface="Footlight MT Light" panose="0204060206030A020304" pitchFamily="18" charset="0"/>
            </a:endParaRPr>
          </a:p>
        </p:txBody>
      </p:sp>
      <p:pic>
        <p:nvPicPr>
          <p:cNvPr id="23" name="Image 2" descr="/home/claude/rpt_imgs/brood_pond_3.jpg"/>
          <p:cNvPicPr>
            <a:picLocks noChangeAspect="1"/>
          </p:cNvPicPr>
          <p:nvPr/>
        </p:nvPicPr>
        <p:blipFill>
          <a:blip r:embed="rId5"/>
          <a:srcRect l="2947"/>
          <a:stretch>
            <a:fillRect/>
          </a:stretch>
        </p:blipFill>
        <p:spPr>
          <a:xfrm>
            <a:off x="3493959" y="4047176"/>
            <a:ext cx="3071434" cy="1609157"/>
          </a:xfrm>
          <a:prstGeom prst="rect">
            <a:avLst/>
          </a:prstGeom>
        </p:spPr>
      </p:pic>
      <p:sp>
        <p:nvSpPr>
          <p:cNvPr id="24" name="Shape 19"/>
          <p:cNvSpPr/>
          <p:nvPr/>
        </p:nvSpPr>
        <p:spPr>
          <a:xfrm>
            <a:off x="3087077" y="5634773"/>
            <a:ext cx="3478315" cy="227774"/>
          </a:xfrm>
          <a:prstGeom prst="rect">
            <a:avLst/>
          </a:prstGeom>
          <a:solidFill>
            <a:srgbClr val="2A3535"/>
          </a:solidFill>
          <a:ln w="12700">
            <a:solidFill>
              <a:srgbClr val="2A3535"/>
            </a:solidFill>
            <a:prstDash val="solid"/>
          </a:ln>
        </p:spPr>
      </p:sp>
      <p:sp>
        <p:nvSpPr>
          <p:cNvPr id="25" name="Text 20"/>
          <p:cNvSpPr/>
          <p:nvPr/>
        </p:nvSpPr>
        <p:spPr>
          <a:xfrm>
            <a:off x="3447288" y="5634773"/>
            <a:ext cx="2969156" cy="191198"/>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Construction of Fish Brood Stock Pond</a:t>
            </a:r>
            <a:endParaRPr lang="en-US" sz="750" dirty="0">
              <a:latin typeface="Footlight MT Light" panose="0204060206030A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ibal_day_1.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sp>
        <p:nvSpPr>
          <p:cNvPr id="4" name="Shape 1"/>
          <p:cNvSpPr/>
          <p:nvPr/>
        </p:nvSpPr>
        <p:spPr>
          <a:xfrm>
            <a:off x="0" y="0"/>
            <a:ext cx="6858000" cy="9720072"/>
          </a:xfrm>
          <a:prstGeom prst="rect">
            <a:avLst/>
          </a:prstGeom>
          <a:solidFill>
            <a:srgbClr val="005F5F">
              <a:alpha val="65000"/>
            </a:srgbClr>
          </a:solidFill>
          <a:ln w="12700">
            <a:solidFill>
              <a:srgbClr val="005F5F"/>
            </a:solidFill>
            <a:prstDash val="solid"/>
          </a:ln>
        </p:spPr>
      </p:sp>
      <p:pic>
        <p:nvPicPr>
          <p:cNvPr id="13" name="Picture 12">
            <a:extLst>
              <a:ext uri="{FF2B5EF4-FFF2-40B4-BE49-F238E27FC236}">
                <a16:creationId xmlns:a16="http://schemas.microsoft.com/office/drawing/2014/main" id="{577FAD28-9980-E488-FD08-9E89173D36A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0"/>
            <a:ext cx="6858000"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02</a:t>
            </a:r>
            <a:endParaRPr lang="en-US" sz="1000" dirty="0"/>
          </a:p>
        </p:txBody>
      </p:sp>
      <p:sp>
        <p:nvSpPr>
          <p:cNvPr id="7" name="Text 4"/>
          <p:cNvSpPr/>
          <p:nvPr/>
        </p:nvSpPr>
        <p:spPr>
          <a:xfrm>
            <a:off x="457200" y="822960"/>
            <a:ext cx="5943600" cy="1048703"/>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Training &amp;</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Capacity Building</a:t>
            </a:r>
            <a:endParaRPr lang="en-US" sz="3400" dirty="0">
              <a:latin typeface="Felix Titling" panose="04060505060202020A04" pitchFamily="82" charset="0"/>
            </a:endParaRPr>
          </a:p>
        </p:txBody>
      </p:sp>
      <p:sp>
        <p:nvSpPr>
          <p:cNvPr id="8" name="Shape 5"/>
          <p:cNvSpPr/>
          <p:nvPr/>
        </p:nvSpPr>
        <p:spPr>
          <a:xfrm>
            <a:off x="457200" y="1871663"/>
            <a:ext cx="1371600" cy="36576"/>
          </a:xfrm>
          <a:prstGeom prst="rect">
            <a:avLst/>
          </a:prstGeom>
          <a:solidFill>
            <a:srgbClr val="C8960A"/>
          </a:solidFill>
          <a:ln w="12700">
            <a:solidFill>
              <a:srgbClr val="C8960A"/>
            </a:solidFill>
            <a:prstDash val="solid"/>
          </a:ln>
        </p:spPr>
      </p:sp>
      <p:sp>
        <p:nvSpPr>
          <p:cNvPr id="9" name="Text 6"/>
          <p:cNvSpPr/>
          <p:nvPr/>
        </p:nvSpPr>
        <p:spPr>
          <a:xfrm>
            <a:off x="457200" y="2008823"/>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126 training and awareness programmes conducted, reaching 800+ participants across 15 tribal hamlets. From cooperative governance to tribal rights, every community group was systematically empowered.</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Training &amp; Capacity Building</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Training</a:t>
            </a:r>
            <a:r>
              <a:rPr lang="en-US" sz="2000" b="1" dirty="0">
                <a:solidFill>
                  <a:srgbClr val="005F5F"/>
                </a:solidFill>
                <a:latin typeface="Felix Titling" panose="04060505060202020A04" pitchFamily="82" charset="0"/>
                <a:ea typeface="Cambria" pitchFamily="34" charset="-122"/>
                <a:cs typeface="Cambria" pitchFamily="34" charset="-120"/>
              </a:rPr>
              <a:t> &amp; Capacity Building Programmes</a:t>
            </a:r>
            <a:endParaRPr lang="en-US" sz="2000"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elix Titling" panose="04060505060202020A04" pitchFamily="82" charset="0"/>
                <a:ea typeface="Calibri" pitchFamily="34" charset="-122"/>
                <a:cs typeface="Calibri" pitchFamily="34" charset="-120"/>
              </a:rPr>
              <a:t>Systematic strengthening of fishermen, SHGs, cooperatives, and community leaders</a:t>
            </a:r>
            <a:endParaRPr lang="en-US" sz="900" dirty="0">
              <a:latin typeface="Felix Titling" panose="04060505060202020A04" pitchFamily="82" charset="0"/>
            </a:endParaRPr>
          </a:p>
        </p:txBody>
      </p:sp>
      <p:sp>
        <p:nvSpPr>
          <p:cNvPr id="13" name="Shape 11"/>
          <p:cNvSpPr/>
          <p:nvPr/>
        </p:nvSpPr>
        <p:spPr>
          <a:xfrm>
            <a:off x="439748" y="969264"/>
            <a:ext cx="822960" cy="18288"/>
          </a:xfrm>
          <a:prstGeom prst="rect">
            <a:avLst/>
          </a:prstGeom>
          <a:solidFill>
            <a:srgbClr val="C8960A"/>
          </a:solidFill>
          <a:ln w="12700">
            <a:solidFill>
              <a:srgbClr val="C8960A"/>
            </a:solidFill>
            <a:prstDash val="solid"/>
          </a:ln>
        </p:spPr>
      </p:sp>
      <p:sp>
        <p:nvSpPr>
          <p:cNvPr id="14" name="Shape 12"/>
          <p:cNvSpPr/>
          <p:nvPr/>
        </p:nvSpPr>
        <p:spPr>
          <a:xfrm>
            <a:off x="311732"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1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715897" y="1024128"/>
            <a:ext cx="402336" cy="402336"/>
          </a:xfrm>
          <a:prstGeom prst="rect">
            <a:avLst/>
          </a:prstGeom>
        </p:spPr>
      </p:pic>
      <p:sp>
        <p:nvSpPr>
          <p:cNvPr id="16" name="Text 13"/>
          <p:cNvSpPr/>
          <p:nvPr/>
        </p:nvSpPr>
        <p:spPr>
          <a:xfrm>
            <a:off x="366596"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126</a:t>
            </a:r>
            <a:endParaRPr lang="en-US" sz="2400" dirty="0">
              <a:latin typeface="Felix Titling" panose="04060505060202020A04" pitchFamily="82" charset="0"/>
            </a:endParaRPr>
          </a:p>
        </p:txBody>
      </p:sp>
      <p:sp>
        <p:nvSpPr>
          <p:cNvPr id="17" name="Text 14"/>
          <p:cNvSpPr/>
          <p:nvPr/>
        </p:nvSpPr>
        <p:spPr>
          <a:xfrm>
            <a:off x="366596"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Training</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Programmes</a:t>
            </a:r>
            <a:endParaRPr lang="en-US" sz="850" dirty="0">
              <a:latin typeface="Felix Titling" panose="04060505060202020A04" pitchFamily="82" charset="0"/>
            </a:endParaRPr>
          </a:p>
        </p:txBody>
      </p:sp>
      <p:sp>
        <p:nvSpPr>
          <p:cNvPr id="18" name="Shape 15"/>
          <p:cNvSpPr/>
          <p:nvPr/>
        </p:nvSpPr>
        <p:spPr>
          <a:xfrm>
            <a:off x="1613838" y="914400"/>
            <a:ext cx="1210666" cy="1417320"/>
          </a:xfrm>
          <a:prstGeom prst="roundRect">
            <a:avLst>
              <a:gd name="adj" fmla="val 7553"/>
            </a:avLst>
          </a:prstGeom>
          <a:solidFill>
            <a:srgbClr val="007A7A"/>
          </a:solidFill>
          <a:ln w="12700">
            <a:solidFill>
              <a:srgbClr val="007A7A"/>
            </a:solidFill>
            <a:prstDash val="solid"/>
          </a:ln>
          <a:effectLst>
            <a:outerShdw blurRad="76200" dist="25400" dir="2700000" algn="bl" rotWithShape="0">
              <a:srgbClr val="000000">
                <a:alpha val="8000"/>
              </a:srgbClr>
            </a:outerShdw>
          </a:effectLst>
        </p:spPr>
      </p:sp>
      <p:pic>
        <p:nvPicPr>
          <p:cNvPr id="19"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2018002" y="1024128"/>
            <a:ext cx="402336" cy="402336"/>
          </a:xfrm>
          <a:prstGeom prst="rect">
            <a:avLst/>
          </a:prstGeom>
        </p:spPr>
      </p:pic>
      <p:sp>
        <p:nvSpPr>
          <p:cNvPr id="20" name="Text 16"/>
          <p:cNvSpPr/>
          <p:nvPr/>
        </p:nvSpPr>
        <p:spPr>
          <a:xfrm>
            <a:off x="1668702"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800+</a:t>
            </a:r>
            <a:endParaRPr lang="en-US" sz="2400" dirty="0">
              <a:latin typeface="Felix Titling" panose="04060505060202020A04" pitchFamily="82" charset="0"/>
            </a:endParaRPr>
          </a:p>
        </p:txBody>
      </p:sp>
      <p:sp>
        <p:nvSpPr>
          <p:cNvPr id="21" name="Text 17"/>
          <p:cNvSpPr/>
          <p:nvPr/>
        </p:nvSpPr>
        <p:spPr>
          <a:xfrm>
            <a:off x="1668702"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Participants</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Reached</a:t>
            </a:r>
            <a:endParaRPr lang="en-US" sz="850" dirty="0">
              <a:latin typeface="Felix Titling" panose="04060505060202020A04" pitchFamily="82" charset="0"/>
            </a:endParaRPr>
          </a:p>
        </p:txBody>
      </p:sp>
      <p:sp>
        <p:nvSpPr>
          <p:cNvPr id="22" name="Shape 18"/>
          <p:cNvSpPr/>
          <p:nvPr/>
        </p:nvSpPr>
        <p:spPr>
          <a:xfrm>
            <a:off x="2915943"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txBody>
          <a:bodyPr/>
          <a:lstStyle/>
          <a:p>
            <a:endParaRPr lang="en-IN" dirty="0"/>
          </a:p>
        </p:txBody>
      </p:sp>
      <p:pic>
        <p:nvPicPr>
          <p:cNvPr id="23" name="Image 2"/>
          <p:cNvPicPr>
            <a:picLocks noChangeAspect="1"/>
          </p:cNvPicPr>
          <p:nvPr/>
        </p:nvPicPr>
        <p:blipFill>
          <a:blip>
            <a:extLst>
              <a:ext uri="{96DAC541-7B7A-43D3-8B79-37D633B846F1}">
                <asvg:svgBlip xmlns:asvg="http://schemas.microsoft.com/office/drawing/2016/SVG/main" r:embed="rId5"/>
              </a:ext>
            </a:extLst>
          </a:blip>
          <a:srcRect/>
          <a:stretch/>
        </p:blipFill>
        <p:spPr>
          <a:xfrm>
            <a:off x="3320108" y="1024128"/>
            <a:ext cx="402336" cy="402336"/>
          </a:xfrm>
          <a:prstGeom prst="rect">
            <a:avLst/>
          </a:prstGeom>
        </p:spPr>
      </p:pic>
      <p:sp>
        <p:nvSpPr>
          <p:cNvPr id="24" name="Text 19"/>
          <p:cNvSpPr/>
          <p:nvPr/>
        </p:nvSpPr>
        <p:spPr>
          <a:xfrm>
            <a:off x="2970807"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 </a:t>
            </a:r>
          </a:p>
          <a:p>
            <a:pPr marL="0" indent="0" algn="ctr">
              <a:buNone/>
            </a:pPr>
            <a:r>
              <a:rPr lang="en-US" sz="1200" b="1" dirty="0">
                <a:solidFill>
                  <a:srgbClr val="FFFFFF"/>
                </a:solidFill>
                <a:latin typeface="Felix Titling" panose="04060505060202020A04" pitchFamily="82" charset="0"/>
                <a:ea typeface="Cambria" pitchFamily="34" charset="-122"/>
                <a:cs typeface="Cambria" pitchFamily="34" charset="-120"/>
              </a:rPr>
              <a:t>SHGs</a:t>
            </a:r>
            <a:endParaRPr lang="en-US" sz="1200" dirty="0">
              <a:latin typeface="Felix Titling" panose="04060505060202020A04" pitchFamily="82" charset="0"/>
            </a:endParaRPr>
          </a:p>
        </p:txBody>
      </p:sp>
      <p:sp>
        <p:nvSpPr>
          <p:cNvPr id="25" name="Text 20"/>
          <p:cNvSpPr/>
          <p:nvPr/>
        </p:nvSpPr>
        <p:spPr>
          <a:xfrm>
            <a:off x="2970807" y="2093976"/>
            <a:ext cx="1100938" cy="347472"/>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Strengthened</a:t>
            </a:r>
            <a:endParaRPr lang="en-US" sz="800" dirty="0">
              <a:latin typeface="Felix Titling" panose="04060505060202020A04" pitchFamily="82" charset="0"/>
            </a:endParaRPr>
          </a:p>
        </p:txBody>
      </p:sp>
      <p:sp>
        <p:nvSpPr>
          <p:cNvPr id="26" name="Shape 21"/>
          <p:cNvSpPr/>
          <p:nvPr/>
        </p:nvSpPr>
        <p:spPr>
          <a:xfrm>
            <a:off x="4218049" y="914400"/>
            <a:ext cx="1210666" cy="1417320"/>
          </a:xfrm>
          <a:prstGeom prst="roundRect">
            <a:avLst>
              <a:gd name="adj" fmla="val 7553"/>
            </a:avLst>
          </a:prstGeom>
          <a:solidFill>
            <a:srgbClr val="007A7A"/>
          </a:solidFill>
          <a:ln w="12700">
            <a:solidFill>
              <a:srgbClr val="007A7A"/>
            </a:solidFill>
            <a:prstDash val="solid"/>
          </a:ln>
          <a:effectLst>
            <a:outerShdw blurRad="76200" dist="25400" dir="2700000" algn="bl" rotWithShape="0">
              <a:srgbClr val="000000">
                <a:alpha val="8000"/>
              </a:srgbClr>
            </a:outerShdw>
          </a:effectLst>
        </p:spPr>
      </p:sp>
      <p:pic>
        <p:nvPicPr>
          <p:cNvPr id="27" name="Image 3" descr="preencoded.png"/>
          <p:cNvPicPr>
            <a:picLocks noChangeAspect="1"/>
          </p:cNvPicPr>
          <p:nvPr/>
        </p:nvPicPr>
        <p:blipFill>
          <a:blip r:embed="rId6">
            <a:duotone>
              <a:schemeClr val="accent4">
                <a:shade val="45000"/>
                <a:satMod val="135000"/>
              </a:schemeClr>
              <a:prstClr val="white"/>
            </a:duotone>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4622214" y="1024128"/>
            <a:ext cx="402336" cy="402336"/>
          </a:xfrm>
          <a:prstGeom prst="rect">
            <a:avLst/>
          </a:prstGeom>
        </p:spPr>
      </p:pic>
      <p:sp>
        <p:nvSpPr>
          <p:cNvPr id="28" name="Text 22"/>
          <p:cNvSpPr/>
          <p:nvPr/>
        </p:nvSpPr>
        <p:spPr>
          <a:xfrm>
            <a:off x="4272913"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300+</a:t>
            </a:r>
            <a:endParaRPr lang="en-US" sz="2400" dirty="0">
              <a:latin typeface="Felix Titling" panose="04060505060202020A04" pitchFamily="82" charset="0"/>
            </a:endParaRPr>
          </a:p>
        </p:txBody>
      </p:sp>
      <p:sp>
        <p:nvSpPr>
          <p:cNvPr id="29" name="Text 23"/>
          <p:cNvSpPr/>
          <p:nvPr/>
        </p:nvSpPr>
        <p:spPr>
          <a:xfrm>
            <a:off x="4272913"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Fishermen</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Sensitized</a:t>
            </a:r>
            <a:endParaRPr lang="en-US" sz="850" dirty="0">
              <a:latin typeface="Felix Titling" panose="04060505060202020A04" pitchFamily="82" charset="0"/>
            </a:endParaRPr>
          </a:p>
        </p:txBody>
      </p:sp>
      <p:sp>
        <p:nvSpPr>
          <p:cNvPr id="30" name="Shape 24"/>
          <p:cNvSpPr/>
          <p:nvPr/>
        </p:nvSpPr>
        <p:spPr>
          <a:xfrm>
            <a:off x="5520154"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31" name="Image 4" descr="preencoded.png"/>
          <p:cNvPicPr>
            <a:picLocks noChangeAspect="1"/>
          </p:cNvPicPr>
          <p:nvPr/>
        </p:nvPicPr>
        <p:blipFill>
          <a:blip r:embed="rId8">
            <a:duotone>
              <a:schemeClr val="accent4">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tretch>
            <a:fillRect/>
          </a:stretch>
        </p:blipFill>
        <p:spPr>
          <a:xfrm>
            <a:off x="5924319" y="1024128"/>
            <a:ext cx="402336" cy="402336"/>
          </a:xfrm>
          <a:prstGeom prst="rect">
            <a:avLst/>
          </a:prstGeom>
        </p:spPr>
      </p:pic>
      <p:sp>
        <p:nvSpPr>
          <p:cNvPr id="32" name="Text 25"/>
          <p:cNvSpPr/>
          <p:nvPr/>
        </p:nvSpPr>
        <p:spPr>
          <a:xfrm>
            <a:off x="5575018"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343</a:t>
            </a:r>
            <a:endParaRPr lang="en-US" sz="2400" dirty="0">
              <a:latin typeface="Felix Titling" panose="04060505060202020A04" pitchFamily="82" charset="0"/>
            </a:endParaRPr>
          </a:p>
        </p:txBody>
      </p:sp>
      <p:sp>
        <p:nvSpPr>
          <p:cNvPr id="33" name="Text 26"/>
          <p:cNvSpPr/>
          <p:nvPr/>
        </p:nvSpPr>
        <p:spPr>
          <a:xfrm>
            <a:off x="5575018"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Katkari Members</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Reached</a:t>
            </a:r>
            <a:endParaRPr lang="en-US" sz="850" dirty="0">
              <a:latin typeface="Felix Titling" panose="04060505060202020A04" pitchFamily="82" charset="0"/>
            </a:endParaRPr>
          </a:p>
        </p:txBody>
      </p:sp>
      <p:sp>
        <p:nvSpPr>
          <p:cNvPr id="34" name="Shape 27"/>
          <p:cNvSpPr/>
          <p:nvPr/>
        </p:nvSpPr>
        <p:spPr>
          <a:xfrm>
            <a:off x="164592" y="2468880"/>
            <a:ext cx="384048" cy="274320"/>
          </a:xfrm>
          <a:prstGeom prst="rect">
            <a:avLst/>
          </a:prstGeom>
          <a:solidFill>
            <a:srgbClr val="005F5F"/>
          </a:solidFill>
          <a:ln w="12700">
            <a:solidFill>
              <a:srgbClr val="005F5F"/>
            </a:solidFill>
            <a:prstDash val="solid"/>
          </a:ln>
        </p:spPr>
      </p:sp>
      <p:sp>
        <p:nvSpPr>
          <p:cNvPr id="35" name="Text 28"/>
          <p:cNvSpPr/>
          <p:nvPr/>
        </p:nvSpPr>
        <p:spPr>
          <a:xfrm>
            <a:off x="283464" y="2468880"/>
            <a:ext cx="192024"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t>
            </a:r>
            <a:endParaRPr lang="en-US" sz="1000" dirty="0">
              <a:latin typeface="Footlight MT Light" panose="0204060206030A020304" pitchFamily="18" charset="0"/>
            </a:endParaRPr>
          </a:p>
        </p:txBody>
      </p:sp>
      <p:sp>
        <p:nvSpPr>
          <p:cNvPr id="36" name="Shape 29"/>
          <p:cNvSpPr/>
          <p:nvPr/>
        </p:nvSpPr>
        <p:spPr>
          <a:xfrm>
            <a:off x="548640" y="2468880"/>
            <a:ext cx="1965960" cy="274320"/>
          </a:xfrm>
          <a:prstGeom prst="rect">
            <a:avLst/>
          </a:prstGeom>
          <a:solidFill>
            <a:srgbClr val="005F5F"/>
          </a:solidFill>
          <a:ln w="12700">
            <a:solidFill>
              <a:srgbClr val="005F5F"/>
            </a:solidFill>
            <a:prstDash val="solid"/>
          </a:ln>
        </p:spPr>
      </p:sp>
      <p:sp>
        <p:nvSpPr>
          <p:cNvPr id="37" name="Text 30"/>
          <p:cNvSpPr/>
          <p:nvPr/>
        </p:nvSpPr>
        <p:spPr>
          <a:xfrm>
            <a:off x="621792" y="2468880"/>
            <a:ext cx="181965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Programme</a:t>
            </a:r>
            <a:endParaRPr lang="en-US" sz="1000" dirty="0">
              <a:latin typeface="Footlight MT Light" panose="0204060206030A020304" pitchFamily="18" charset="0"/>
            </a:endParaRPr>
          </a:p>
        </p:txBody>
      </p:sp>
      <p:sp>
        <p:nvSpPr>
          <p:cNvPr id="38" name="Shape 31"/>
          <p:cNvSpPr/>
          <p:nvPr/>
        </p:nvSpPr>
        <p:spPr>
          <a:xfrm>
            <a:off x="2514600" y="2468880"/>
            <a:ext cx="1755648" cy="274320"/>
          </a:xfrm>
          <a:prstGeom prst="rect">
            <a:avLst/>
          </a:prstGeom>
          <a:solidFill>
            <a:srgbClr val="005F5F"/>
          </a:solidFill>
          <a:ln w="12700">
            <a:solidFill>
              <a:srgbClr val="005F5F"/>
            </a:solidFill>
            <a:prstDash val="solid"/>
          </a:ln>
        </p:spPr>
      </p:sp>
      <p:sp>
        <p:nvSpPr>
          <p:cNvPr id="39" name="Text 32"/>
          <p:cNvSpPr/>
          <p:nvPr/>
        </p:nvSpPr>
        <p:spPr>
          <a:xfrm>
            <a:off x="2587752" y="2468880"/>
            <a:ext cx="1609344"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Reach &amp; Scale</a:t>
            </a:r>
            <a:endParaRPr lang="en-US" sz="1000" dirty="0">
              <a:latin typeface="Footlight MT Light" panose="0204060206030A020304" pitchFamily="18" charset="0"/>
            </a:endParaRPr>
          </a:p>
        </p:txBody>
      </p:sp>
      <p:sp>
        <p:nvSpPr>
          <p:cNvPr id="42" name="Shape 35"/>
          <p:cNvSpPr/>
          <p:nvPr/>
        </p:nvSpPr>
        <p:spPr>
          <a:xfrm>
            <a:off x="164590" y="2743200"/>
            <a:ext cx="1008593" cy="604012"/>
          </a:xfrm>
          <a:prstGeom prst="rect">
            <a:avLst/>
          </a:prstGeom>
          <a:solidFill>
            <a:srgbClr val="FFFFFF"/>
          </a:solidFill>
          <a:ln w="12700">
            <a:solidFill>
              <a:srgbClr val="E5EDED"/>
            </a:solidFill>
            <a:prstDash val="solid"/>
          </a:ln>
        </p:spPr>
      </p:sp>
      <p:sp>
        <p:nvSpPr>
          <p:cNvPr id="40" name="Shape 33"/>
          <p:cNvSpPr/>
          <p:nvPr/>
        </p:nvSpPr>
        <p:spPr>
          <a:xfrm>
            <a:off x="4270248" y="2468880"/>
            <a:ext cx="2551176" cy="274320"/>
          </a:xfrm>
          <a:prstGeom prst="rect">
            <a:avLst/>
          </a:prstGeom>
          <a:solidFill>
            <a:srgbClr val="005F5F"/>
          </a:solidFill>
          <a:ln w="12700">
            <a:solidFill>
              <a:srgbClr val="005F5F"/>
            </a:solidFill>
            <a:prstDash val="solid"/>
          </a:ln>
        </p:spPr>
      </p:sp>
      <p:sp>
        <p:nvSpPr>
          <p:cNvPr id="41" name="Text 34"/>
          <p:cNvSpPr/>
          <p:nvPr/>
        </p:nvSpPr>
        <p:spPr>
          <a:xfrm>
            <a:off x="4343400" y="2468880"/>
            <a:ext cx="2404872"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Key Outcomes</a:t>
            </a:r>
            <a:endParaRPr lang="en-US" sz="1000" dirty="0">
              <a:latin typeface="Footlight MT Light" panose="0204060206030A020304" pitchFamily="18" charset="0"/>
            </a:endParaRPr>
          </a:p>
        </p:txBody>
      </p:sp>
      <p:sp>
        <p:nvSpPr>
          <p:cNvPr id="43" name="Text 36"/>
          <p:cNvSpPr/>
          <p:nvPr/>
        </p:nvSpPr>
        <p:spPr>
          <a:xfrm>
            <a:off x="283464" y="2788920"/>
            <a:ext cx="26517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44" name="Shape 37"/>
          <p:cNvSpPr/>
          <p:nvPr/>
        </p:nvSpPr>
        <p:spPr>
          <a:xfrm>
            <a:off x="510904" y="2743200"/>
            <a:ext cx="2003696" cy="604012"/>
          </a:xfrm>
          <a:prstGeom prst="rect">
            <a:avLst/>
          </a:prstGeom>
          <a:solidFill>
            <a:srgbClr val="FFFFFF"/>
          </a:solidFill>
          <a:ln w="12700">
            <a:solidFill>
              <a:srgbClr val="E5EDED"/>
            </a:solidFill>
            <a:prstDash val="solid"/>
          </a:ln>
        </p:spPr>
      </p:sp>
      <p:sp>
        <p:nvSpPr>
          <p:cNvPr id="45" name="Text 38"/>
          <p:cNvSpPr/>
          <p:nvPr/>
        </p:nvSpPr>
        <p:spPr>
          <a:xfrm>
            <a:off x="621792" y="2788920"/>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Awareness on Sustainable Fishing Practices</a:t>
            </a:r>
            <a:endParaRPr lang="en-US" sz="1000" dirty="0">
              <a:latin typeface="Footlight MT Light" panose="0204060206030A020304" pitchFamily="18" charset="0"/>
            </a:endParaRPr>
          </a:p>
        </p:txBody>
      </p:sp>
      <p:sp>
        <p:nvSpPr>
          <p:cNvPr id="46" name="Shape 39"/>
          <p:cNvSpPr/>
          <p:nvPr/>
        </p:nvSpPr>
        <p:spPr>
          <a:xfrm>
            <a:off x="2514600" y="2743200"/>
            <a:ext cx="1755648" cy="604012"/>
          </a:xfrm>
          <a:prstGeom prst="rect">
            <a:avLst/>
          </a:prstGeom>
          <a:solidFill>
            <a:srgbClr val="FFFFFF"/>
          </a:solidFill>
          <a:ln w="12700">
            <a:solidFill>
              <a:srgbClr val="E5EDED"/>
            </a:solidFill>
            <a:prstDash val="solid"/>
          </a:ln>
        </p:spPr>
      </p:sp>
      <p:sp>
        <p:nvSpPr>
          <p:cNvPr id="47" name="Text 40"/>
          <p:cNvSpPr/>
          <p:nvPr/>
        </p:nvSpPr>
        <p:spPr>
          <a:xfrm>
            <a:off x="2587752" y="2788920"/>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45 camps · 300+ fishermen &amp; Community Members 15 Tribal hamlets</a:t>
            </a:r>
            <a:endParaRPr lang="en-US" sz="1000" dirty="0">
              <a:latin typeface="Footlight MT Light" panose="0204060206030A020304" pitchFamily="18" charset="0"/>
            </a:endParaRPr>
          </a:p>
        </p:txBody>
      </p:sp>
      <p:sp>
        <p:nvSpPr>
          <p:cNvPr id="48" name="Shape 41"/>
          <p:cNvSpPr/>
          <p:nvPr/>
        </p:nvSpPr>
        <p:spPr>
          <a:xfrm>
            <a:off x="4270248" y="2743200"/>
            <a:ext cx="2551176" cy="604012"/>
          </a:xfrm>
          <a:prstGeom prst="rect">
            <a:avLst/>
          </a:prstGeom>
          <a:solidFill>
            <a:srgbClr val="FFFFFF"/>
          </a:solidFill>
          <a:ln w="12700">
            <a:solidFill>
              <a:srgbClr val="E5EDED"/>
            </a:solidFill>
            <a:prstDash val="solid"/>
          </a:ln>
        </p:spPr>
      </p:sp>
      <p:sp>
        <p:nvSpPr>
          <p:cNvPr id="49" name="Text 42"/>
          <p:cNvSpPr/>
          <p:nvPr/>
        </p:nvSpPr>
        <p:spPr>
          <a:xfrm>
            <a:off x="4343400" y="2788920"/>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Eco-friendly practices, compliance with seasonal bans, aquatic ecosystem conservation awareness.</a:t>
            </a:r>
            <a:endParaRPr lang="en-US" sz="1000" dirty="0">
              <a:latin typeface="Footlight MT Light" panose="0204060206030A020304" pitchFamily="18" charset="0"/>
            </a:endParaRPr>
          </a:p>
        </p:txBody>
      </p:sp>
      <p:sp>
        <p:nvSpPr>
          <p:cNvPr id="50" name="Shape 43"/>
          <p:cNvSpPr/>
          <p:nvPr/>
        </p:nvSpPr>
        <p:spPr>
          <a:xfrm>
            <a:off x="164592" y="3373628"/>
            <a:ext cx="384048" cy="604012"/>
          </a:xfrm>
          <a:prstGeom prst="rect">
            <a:avLst/>
          </a:prstGeom>
          <a:solidFill>
            <a:srgbClr val="F5FCFC"/>
          </a:solidFill>
          <a:ln w="12700">
            <a:solidFill>
              <a:srgbClr val="E5EDED"/>
            </a:solidFill>
            <a:prstDash val="solid"/>
          </a:ln>
        </p:spPr>
      </p:sp>
      <p:sp>
        <p:nvSpPr>
          <p:cNvPr id="51" name="Text 44"/>
          <p:cNvSpPr/>
          <p:nvPr/>
        </p:nvSpPr>
        <p:spPr>
          <a:xfrm>
            <a:off x="283464" y="3419348"/>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52" name="Shape 45"/>
          <p:cNvSpPr/>
          <p:nvPr/>
        </p:nvSpPr>
        <p:spPr>
          <a:xfrm>
            <a:off x="548640" y="3373628"/>
            <a:ext cx="1965960" cy="604012"/>
          </a:xfrm>
          <a:prstGeom prst="rect">
            <a:avLst/>
          </a:prstGeom>
          <a:solidFill>
            <a:srgbClr val="F5FCFC"/>
          </a:solidFill>
          <a:ln w="12700">
            <a:solidFill>
              <a:srgbClr val="E5EDED"/>
            </a:solidFill>
            <a:prstDash val="solid"/>
          </a:ln>
        </p:spPr>
      </p:sp>
      <p:sp>
        <p:nvSpPr>
          <p:cNvPr id="53" name="Text 46"/>
          <p:cNvSpPr/>
          <p:nvPr/>
        </p:nvSpPr>
        <p:spPr>
          <a:xfrm>
            <a:off x="621792" y="3419348"/>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Fishing Cooperative Member Training</a:t>
            </a:r>
            <a:endParaRPr lang="en-US" sz="1000" dirty="0">
              <a:latin typeface="Footlight MT Light" panose="0204060206030A020304" pitchFamily="18" charset="0"/>
            </a:endParaRPr>
          </a:p>
        </p:txBody>
      </p:sp>
      <p:sp>
        <p:nvSpPr>
          <p:cNvPr id="54" name="Shape 47"/>
          <p:cNvSpPr/>
          <p:nvPr/>
        </p:nvSpPr>
        <p:spPr>
          <a:xfrm>
            <a:off x="2514600" y="3373628"/>
            <a:ext cx="1755648" cy="604012"/>
          </a:xfrm>
          <a:prstGeom prst="rect">
            <a:avLst/>
          </a:prstGeom>
          <a:solidFill>
            <a:srgbClr val="F5FCFC"/>
          </a:solidFill>
          <a:ln w="12700">
            <a:solidFill>
              <a:srgbClr val="E5EDED"/>
            </a:solidFill>
            <a:prstDash val="solid"/>
          </a:ln>
        </p:spPr>
      </p:sp>
      <p:sp>
        <p:nvSpPr>
          <p:cNvPr id="55" name="Text 48"/>
          <p:cNvSpPr/>
          <p:nvPr/>
        </p:nvSpPr>
        <p:spPr>
          <a:xfrm>
            <a:off x="2587752" y="3419348"/>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12 programmes · 16 cooperative members trained</a:t>
            </a:r>
            <a:endParaRPr lang="en-US" sz="1000" dirty="0">
              <a:latin typeface="Footlight MT Light" panose="0204060206030A020304" pitchFamily="18" charset="0"/>
            </a:endParaRPr>
          </a:p>
        </p:txBody>
      </p:sp>
      <p:sp>
        <p:nvSpPr>
          <p:cNvPr id="56" name="Shape 49"/>
          <p:cNvSpPr/>
          <p:nvPr/>
        </p:nvSpPr>
        <p:spPr>
          <a:xfrm>
            <a:off x="4270248" y="3373628"/>
            <a:ext cx="2551176" cy="604012"/>
          </a:xfrm>
          <a:prstGeom prst="rect">
            <a:avLst/>
          </a:prstGeom>
          <a:solidFill>
            <a:srgbClr val="F5FCFC"/>
          </a:solidFill>
          <a:ln w="12700">
            <a:solidFill>
              <a:srgbClr val="E5EDED"/>
            </a:solidFill>
            <a:prstDash val="solid"/>
          </a:ln>
        </p:spPr>
      </p:sp>
      <p:sp>
        <p:nvSpPr>
          <p:cNvPr id="57" name="Text 50"/>
          <p:cNvSpPr/>
          <p:nvPr/>
        </p:nvSpPr>
        <p:spPr>
          <a:xfrm>
            <a:off x="4343400" y="3419348"/>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governance, financial management, leadership, and adoption of modern fishing techniques.</a:t>
            </a:r>
            <a:endParaRPr lang="en-US" sz="1000" dirty="0">
              <a:latin typeface="Footlight MT Light" panose="0204060206030A020304" pitchFamily="18" charset="0"/>
            </a:endParaRPr>
          </a:p>
        </p:txBody>
      </p:sp>
      <p:sp>
        <p:nvSpPr>
          <p:cNvPr id="58" name="Shape 51"/>
          <p:cNvSpPr/>
          <p:nvPr/>
        </p:nvSpPr>
        <p:spPr>
          <a:xfrm>
            <a:off x="164592" y="4000673"/>
            <a:ext cx="384048" cy="604012"/>
          </a:xfrm>
          <a:prstGeom prst="rect">
            <a:avLst/>
          </a:prstGeom>
          <a:solidFill>
            <a:srgbClr val="FFFFFF"/>
          </a:solidFill>
          <a:ln w="12700">
            <a:solidFill>
              <a:srgbClr val="E5EDED"/>
            </a:solidFill>
            <a:prstDash val="solid"/>
          </a:ln>
        </p:spPr>
      </p:sp>
      <p:sp>
        <p:nvSpPr>
          <p:cNvPr id="59" name="Text 52"/>
          <p:cNvSpPr/>
          <p:nvPr/>
        </p:nvSpPr>
        <p:spPr>
          <a:xfrm>
            <a:off x="283464" y="4046393"/>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60" name="Shape 53"/>
          <p:cNvSpPr/>
          <p:nvPr/>
        </p:nvSpPr>
        <p:spPr>
          <a:xfrm>
            <a:off x="548640" y="4000673"/>
            <a:ext cx="1965960" cy="604012"/>
          </a:xfrm>
          <a:prstGeom prst="rect">
            <a:avLst/>
          </a:prstGeom>
          <a:solidFill>
            <a:srgbClr val="FFFFFF"/>
          </a:solidFill>
          <a:ln w="12700">
            <a:solidFill>
              <a:srgbClr val="E5EDED"/>
            </a:solidFill>
            <a:prstDash val="solid"/>
          </a:ln>
        </p:spPr>
      </p:sp>
      <p:sp>
        <p:nvSpPr>
          <p:cNvPr id="61" name="Text 54"/>
          <p:cNvSpPr/>
          <p:nvPr/>
        </p:nvSpPr>
        <p:spPr>
          <a:xfrm>
            <a:off x="621792" y="4046393"/>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Micro-Credit Cooperative Member Training</a:t>
            </a:r>
            <a:endParaRPr lang="en-US" sz="1000" dirty="0">
              <a:latin typeface="Footlight MT Light" panose="0204060206030A020304" pitchFamily="18" charset="0"/>
            </a:endParaRPr>
          </a:p>
        </p:txBody>
      </p:sp>
      <p:sp>
        <p:nvSpPr>
          <p:cNvPr id="62" name="Shape 55"/>
          <p:cNvSpPr/>
          <p:nvPr/>
        </p:nvSpPr>
        <p:spPr>
          <a:xfrm>
            <a:off x="2514600" y="4000673"/>
            <a:ext cx="1755648" cy="604012"/>
          </a:xfrm>
          <a:prstGeom prst="rect">
            <a:avLst/>
          </a:prstGeom>
          <a:solidFill>
            <a:srgbClr val="FFFFFF"/>
          </a:solidFill>
          <a:ln w="12700">
            <a:solidFill>
              <a:srgbClr val="E5EDED"/>
            </a:solidFill>
            <a:prstDash val="solid"/>
          </a:ln>
        </p:spPr>
      </p:sp>
      <p:sp>
        <p:nvSpPr>
          <p:cNvPr id="63" name="Text 56"/>
          <p:cNvSpPr/>
          <p:nvPr/>
        </p:nvSpPr>
        <p:spPr>
          <a:xfrm>
            <a:off x="2587752" y="4046393"/>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12 programmes · 20 cooperative members trained</a:t>
            </a:r>
            <a:endParaRPr lang="en-US" sz="1000" dirty="0">
              <a:latin typeface="Footlight MT Light" panose="0204060206030A020304" pitchFamily="18" charset="0"/>
            </a:endParaRPr>
          </a:p>
        </p:txBody>
      </p:sp>
      <p:sp>
        <p:nvSpPr>
          <p:cNvPr id="64" name="Shape 57"/>
          <p:cNvSpPr/>
          <p:nvPr/>
        </p:nvSpPr>
        <p:spPr>
          <a:xfrm>
            <a:off x="4270248" y="4000673"/>
            <a:ext cx="2551176" cy="604012"/>
          </a:xfrm>
          <a:prstGeom prst="rect">
            <a:avLst/>
          </a:prstGeom>
          <a:solidFill>
            <a:srgbClr val="FFFFFF"/>
          </a:solidFill>
          <a:ln w="12700">
            <a:solidFill>
              <a:srgbClr val="E5EDED"/>
            </a:solidFill>
            <a:prstDash val="solid"/>
          </a:ln>
        </p:spPr>
      </p:sp>
      <p:sp>
        <p:nvSpPr>
          <p:cNvPr id="65" name="Text 58"/>
          <p:cNvSpPr/>
          <p:nvPr/>
        </p:nvSpPr>
        <p:spPr>
          <a:xfrm>
            <a:off x="4343400" y="4046393"/>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financial literacy, bookkeeping, credit management, and entrepreneurship skills.</a:t>
            </a:r>
            <a:endParaRPr lang="en-US" sz="1000" dirty="0">
              <a:latin typeface="Footlight MT Light" panose="0204060206030A020304" pitchFamily="18" charset="0"/>
            </a:endParaRPr>
          </a:p>
        </p:txBody>
      </p:sp>
      <p:sp>
        <p:nvSpPr>
          <p:cNvPr id="66" name="Shape 59"/>
          <p:cNvSpPr/>
          <p:nvPr/>
        </p:nvSpPr>
        <p:spPr>
          <a:xfrm>
            <a:off x="149984" y="4644644"/>
            <a:ext cx="384048" cy="604012"/>
          </a:xfrm>
          <a:prstGeom prst="rect">
            <a:avLst/>
          </a:prstGeom>
          <a:solidFill>
            <a:srgbClr val="F5FCFC"/>
          </a:solidFill>
          <a:ln w="12700">
            <a:solidFill>
              <a:srgbClr val="E5EDED"/>
            </a:solidFill>
            <a:prstDash val="solid"/>
          </a:ln>
        </p:spPr>
      </p:sp>
      <p:sp>
        <p:nvSpPr>
          <p:cNvPr id="67" name="Text 60"/>
          <p:cNvSpPr/>
          <p:nvPr/>
        </p:nvSpPr>
        <p:spPr>
          <a:xfrm>
            <a:off x="268856" y="4690364"/>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68" name="Shape 61"/>
          <p:cNvSpPr/>
          <p:nvPr/>
        </p:nvSpPr>
        <p:spPr>
          <a:xfrm>
            <a:off x="534032" y="4644644"/>
            <a:ext cx="1965960" cy="604012"/>
          </a:xfrm>
          <a:prstGeom prst="rect">
            <a:avLst/>
          </a:prstGeom>
          <a:solidFill>
            <a:srgbClr val="F5FCFC"/>
          </a:solidFill>
          <a:ln w="12700">
            <a:solidFill>
              <a:srgbClr val="E5EDED"/>
            </a:solidFill>
            <a:prstDash val="solid"/>
          </a:ln>
        </p:spPr>
      </p:sp>
      <p:sp>
        <p:nvSpPr>
          <p:cNvPr id="69" name="Text 62"/>
          <p:cNvSpPr/>
          <p:nvPr/>
        </p:nvSpPr>
        <p:spPr>
          <a:xfrm>
            <a:off x="607184" y="4690364"/>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SHG Capacity Building</a:t>
            </a:r>
            <a:endParaRPr lang="en-US" sz="1000" dirty="0">
              <a:latin typeface="Footlight MT Light" panose="0204060206030A020304" pitchFamily="18" charset="0"/>
            </a:endParaRPr>
          </a:p>
        </p:txBody>
      </p:sp>
      <p:sp>
        <p:nvSpPr>
          <p:cNvPr id="70" name="Shape 63"/>
          <p:cNvSpPr/>
          <p:nvPr/>
        </p:nvSpPr>
        <p:spPr>
          <a:xfrm>
            <a:off x="2499992" y="4644644"/>
            <a:ext cx="1755648" cy="604012"/>
          </a:xfrm>
          <a:prstGeom prst="rect">
            <a:avLst/>
          </a:prstGeom>
          <a:solidFill>
            <a:srgbClr val="F5FCFC"/>
          </a:solidFill>
          <a:ln w="12700">
            <a:solidFill>
              <a:srgbClr val="E5EDED"/>
            </a:solidFill>
            <a:prstDash val="solid"/>
          </a:ln>
        </p:spPr>
      </p:sp>
      <p:sp>
        <p:nvSpPr>
          <p:cNvPr id="71" name="Text 64"/>
          <p:cNvSpPr/>
          <p:nvPr/>
        </p:nvSpPr>
        <p:spPr>
          <a:xfrm>
            <a:off x="2573144" y="4690364"/>
            <a:ext cx="168249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 programmes · 89 participants · 15 SHGs strengthened (4 new + 4 revived)</a:t>
            </a:r>
            <a:endParaRPr lang="en-US" sz="1000" dirty="0">
              <a:latin typeface="Footlight MT Light" panose="0204060206030A020304" pitchFamily="18" charset="0"/>
            </a:endParaRPr>
          </a:p>
        </p:txBody>
      </p:sp>
      <p:sp>
        <p:nvSpPr>
          <p:cNvPr id="72" name="Shape 65"/>
          <p:cNvSpPr/>
          <p:nvPr/>
        </p:nvSpPr>
        <p:spPr>
          <a:xfrm>
            <a:off x="4255640" y="4644644"/>
            <a:ext cx="2551176" cy="604012"/>
          </a:xfrm>
          <a:prstGeom prst="rect">
            <a:avLst/>
          </a:prstGeom>
          <a:solidFill>
            <a:srgbClr val="F5FCFC"/>
          </a:solidFill>
          <a:ln w="12700">
            <a:solidFill>
              <a:srgbClr val="E5EDED"/>
            </a:solidFill>
            <a:prstDash val="solid"/>
          </a:ln>
        </p:spPr>
      </p:sp>
      <p:sp>
        <p:nvSpPr>
          <p:cNvPr id="73" name="Text 66"/>
          <p:cNvSpPr/>
          <p:nvPr/>
        </p:nvSpPr>
        <p:spPr>
          <a:xfrm>
            <a:off x="4328792" y="4690364"/>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credit access, government scheme linkages, and women's economic empowerment.</a:t>
            </a:r>
            <a:endParaRPr lang="en-US" sz="1000" dirty="0">
              <a:latin typeface="Footlight MT Light" panose="0204060206030A020304" pitchFamily="18" charset="0"/>
            </a:endParaRPr>
          </a:p>
        </p:txBody>
      </p:sp>
      <p:sp>
        <p:nvSpPr>
          <p:cNvPr id="74" name="Shape 67"/>
          <p:cNvSpPr/>
          <p:nvPr/>
        </p:nvSpPr>
        <p:spPr>
          <a:xfrm>
            <a:off x="149984" y="5294376"/>
            <a:ext cx="384048" cy="604012"/>
          </a:xfrm>
          <a:prstGeom prst="rect">
            <a:avLst/>
          </a:prstGeom>
          <a:solidFill>
            <a:srgbClr val="FFFFFF"/>
          </a:solidFill>
          <a:ln w="12700">
            <a:solidFill>
              <a:srgbClr val="E5EDED"/>
            </a:solidFill>
            <a:prstDash val="solid"/>
          </a:ln>
        </p:spPr>
      </p:sp>
      <p:sp>
        <p:nvSpPr>
          <p:cNvPr id="75" name="Text 68"/>
          <p:cNvSpPr/>
          <p:nvPr/>
        </p:nvSpPr>
        <p:spPr>
          <a:xfrm>
            <a:off x="268856" y="5340096"/>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76" name="Shape 69"/>
          <p:cNvSpPr/>
          <p:nvPr/>
        </p:nvSpPr>
        <p:spPr>
          <a:xfrm>
            <a:off x="534032" y="5294376"/>
            <a:ext cx="1965960" cy="604012"/>
          </a:xfrm>
          <a:prstGeom prst="rect">
            <a:avLst/>
          </a:prstGeom>
          <a:solidFill>
            <a:srgbClr val="FFFFFF"/>
          </a:solidFill>
          <a:ln w="12700">
            <a:solidFill>
              <a:srgbClr val="E5EDED"/>
            </a:solidFill>
            <a:prstDash val="solid"/>
          </a:ln>
        </p:spPr>
      </p:sp>
      <p:sp>
        <p:nvSpPr>
          <p:cNvPr id="77" name="Text 70"/>
          <p:cNvSpPr/>
          <p:nvPr/>
        </p:nvSpPr>
        <p:spPr>
          <a:xfrm>
            <a:off x="607184" y="5340096"/>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River Fishing Beneficiary Training</a:t>
            </a:r>
            <a:endParaRPr lang="en-US" sz="1000" dirty="0">
              <a:latin typeface="Footlight MT Light" panose="0204060206030A020304" pitchFamily="18" charset="0"/>
            </a:endParaRPr>
          </a:p>
        </p:txBody>
      </p:sp>
      <p:sp>
        <p:nvSpPr>
          <p:cNvPr id="78" name="Shape 71"/>
          <p:cNvSpPr/>
          <p:nvPr/>
        </p:nvSpPr>
        <p:spPr>
          <a:xfrm>
            <a:off x="2499992" y="5294376"/>
            <a:ext cx="1755648" cy="604012"/>
          </a:xfrm>
          <a:prstGeom prst="rect">
            <a:avLst/>
          </a:prstGeom>
          <a:solidFill>
            <a:srgbClr val="FFFFFF"/>
          </a:solidFill>
          <a:ln w="12700">
            <a:solidFill>
              <a:srgbClr val="E5EDED"/>
            </a:solidFill>
            <a:prstDash val="solid"/>
          </a:ln>
        </p:spPr>
      </p:sp>
      <p:sp>
        <p:nvSpPr>
          <p:cNvPr id="79" name="Text 72"/>
          <p:cNvSpPr/>
          <p:nvPr/>
        </p:nvSpPr>
        <p:spPr>
          <a:xfrm>
            <a:off x="2573144" y="5340096"/>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 programmes · 32 fishermen from 42 tribal wadis</a:t>
            </a:r>
            <a:endParaRPr lang="en-US" sz="1000" dirty="0">
              <a:latin typeface="Footlight MT Light" panose="0204060206030A020304" pitchFamily="18" charset="0"/>
            </a:endParaRPr>
          </a:p>
        </p:txBody>
      </p:sp>
      <p:sp>
        <p:nvSpPr>
          <p:cNvPr id="80" name="Shape 73"/>
          <p:cNvSpPr/>
          <p:nvPr/>
        </p:nvSpPr>
        <p:spPr>
          <a:xfrm>
            <a:off x="4255640" y="5294376"/>
            <a:ext cx="2551176" cy="604012"/>
          </a:xfrm>
          <a:prstGeom prst="rect">
            <a:avLst/>
          </a:prstGeom>
          <a:solidFill>
            <a:srgbClr val="FFFFFF"/>
          </a:solidFill>
          <a:ln w="12700">
            <a:solidFill>
              <a:srgbClr val="E5EDED"/>
            </a:solidFill>
            <a:prstDash val="solid"/>
          </a:ln>
        </p:spPr>
      </p:sp>
      <p:sp>
        <p:nvSpPr>
          <p:cNvPr id="81" name="Text 74"/>
          <p:cNvSpPr/>
          <p:nvPr/>
        </p:nvSpPr>
        <p:spPr>
          <a:xfrm>
            <a:off x="4328792" y="5340096"/>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fishing techniques, fish preservation, post-harvest management, river conservation.</a:t>
            </a:r>
            <a:endParaRPr lang="en-US" sz="1000" dirty="0">
              <a:latin typeface="Footlight MT Light" panose="0204060206030A020304" pitchFamily="18" charset="0"/>
            </a:endParaRPr>
          </a:p>
        </p:txBody>
      </p:sp>
      <p:sp>
        <p:nvSpPr>
          <p:cNvPr id="82" name="Shape 75"/>
          <p:cNvSpPr/>
          <p:nvPr/>
        </p:nvSpPr>
        <p:spPr>
          <a:xfrm>
            <a:off x="149984" y="5938347"/>
            <a:ext cx="384048" cy="604012"/>
          </a:xfrm>
          <a:prstGeom prst="rect">
            <a:avLst/>
          </a:prstGeom>
          <a:solidFill>
            <a:srgbClr val="F5FCFC"/>
          </a:solidFill>
          <a:ln w="12700">
            <a:solidFill>
              <a:srgbClr val="E5EDED"/>
            </a:solidFill>
            <a:prstDash val="solid"/>
          </a:ln>
        </p:spPr>
      </p:sp>
      <p:sp>
        <p:nvSpPr>
          <p:cNvPr id="83" name="Text 76"/>
          <p:cNvSpPr/>
          <p:nvPr/>
        </p:nvSpPr>
        <p:spPr>
          <a:xfrm>
            <a:off x="268856" y="5984067"/>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a:t>
            </a:r>
            <a:endParaRPr lang="en-US" sz="1000" dirty="0">
              <a:latin typeface="Footlight MT Light" panose="0204060206030A020304" pitchFamily="18" charset="0"/>
            </a:endParaRPr>
          </a:p>
        </p:txBody>
      </p:sp>
      <p:sp>
        <p:nvSpPr>
          <p:cNvPr id="84" name="Shape 77"/>
          <p:cNvSpPr/>
          <p:nvPr/>
        </p:nvSpPr>
        <p:spPr>
          <a:xfrm>
            <a:off x="534032" y="5938347"/>
            <a:ext cx="1965960" cy="604012"/>
          </a:xfrm>
          <a:prstGeom prst="rect">
            <a:avLst/>
          </a:prstGeom>
          <a:solidFill>
            <a:srgbClr val="F5FCFC"/>
          </a:solidFill>
          <a:ln w="12700">
            <a:solidFill>
              <a:srgbClr val="E5EDED"/>
            </a:solidFill>
            <a:prstDash val="solid"/>
          </a:ln>
        </p:spPr>
      </p:sp>
      <p:sp>
        <p:nvSpPr>
          <p:cNvPr id="85" name="Text 78"/>
          <p:cNvSpPr/>
          <p:nvPr/>
        </p:nvSpPr>
        <p:spPr>
          <a:xfrm>
            <a:off x="607184" y="5984067"/>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Fishing Cooperative EC Members</a:t>
            </a:r>
            <a:endParaRPr lang="en-US" sz="1000" dirty="0">
              <a:latin typeface="Footlight MT Light" panose="0204060206030A020304" pitchFamily="18" charset="0"/>
            </a:endParaRPr>
          </a:p>
        </p:txBody>
      </p:sp>
      <p:sp>
        <p:nvSpPr>
          <p:cNvPr id="86" name="Shape 79"/>
          <p:cNvSpPr/>
          <p:nvPr/>
        </p:nvSpPr>
        <p:spPr>
          <a:xfrm>
            <a:off x="2499992" y="5938347"/>
            <a:ext cx="1755648" cy="604012"/>
          </a:xfrm>
          <a:prstGeom prst="rect">
            <a:avLst/>
          </a:prstGeom>
          <a:solidFill>
            <a:srgbClr val="F5FCFC"/>
          </a:solidFill>
          <a:ln w="12700">
            <a:solidFill>
              <a:srgbClr val="E5EDED"/>
            </a:solidFill>
            <a:prstDash val="solid"/>
          </a:ln>
        </p:spPr>
      </p:sp>
      <p:sp>
        <p:nvSpPr>
          <p:cNvPr id="87" name="Text 80"/>
          <p:cNvSpPr/>
          <p:nvPr/>
        </p:nvSpPr>
        <p:spPr>
          <a:xfrm>
            <a:off x="2573144" y="5984067"/>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18 sessions · 11 EC members trained</a:t>
            </a:r>
            <a:endParaRPr lang="en-US" sz="1000" dirty="0">
              <a:latin typeface="Footlight MT Light" panose="0204060206030A020304" pitchFamily="18" charset="0"/>
            </a:endParaRPr>
          </a:p>
        </p:txBody>
      </p:sp>
      <p:sp>
        <p:nvSpPr>
          <p:cNvPr id="88" name="Shape 81"/>
          <p:cNvSpPr/>
          <p:nvPr/>
        </p:nvSpPr>
        <p:spPr>
          <a:xfrm>
            <a:off x="4255640" y="5938347"/>
            <a:ext cx="2551176" cy="604012"/>
          </a:xfrm>
          <a:prstGeom prst="rect">
            <a:avLst/>
          </a:prstGeom>
          <a:solidFill>
            <a:srgbClr val="F5FCFC"/>
          </a:solidFill>
          <a:ln w="12700">
            <a:solidFill>
              <a:srgbClr val="E5EDED"/>
            </a:solidFill>
            <a:prstDash val="solid"/>
          </a:ln>
        </p:spPr>
      </p:sp>
      <p:sp>
        <p:nvSpPr>
          <p:cNvPr id="89" name="Text 82"/>
          <p:cNvSpPr/>
          <p:nvPr/>
        </p:nvSpPr>
        <p:spPr>
          <a:xfrm>
            <a:off x="4328792" y="5984067"/>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Strengthened governance, financial oversight, fisheries management, and leadership.</a:t>
            </a:r>
            <a:endParaRPr lang="en-US" sz="1000" dirty="0">
              <a:latin typeface="Footlight MT Light" panose="0204060206030A020304" pitchFamily="18" charset="0"/>
            </a:endParaRPr>
          </a:p>
        </p:txBody>
      </p:sp>
      <p:sp>
        <p:nvSpPr>
          <p:cNvPr id="90" name="Shape 83"/>
          <p:cNvSpPr/>
          <p:nvPr/>
        </p:nvSpPr>
        <p:spPr>
          <a:xfrm>
            <a:off x="149984" y="6578773"/>
            <a:ext cx="384048" cy="604012"/>
          </a:xfrm>
          <a:prstGeom prst="rect">
            <a:avLst/>
          </a:prstGeom>
          <a:solidFill>
            <a:srgbClr val="FFFFFF"/>
          </a:solidFill>
          <a:ln w="12700">
            <a:solidFill>
              <a:srgbClr val="E5EDED"/>
            </a:solidFill>
            <a:prstDash val="solid"/>
          </a:ln>
        </p:spPr>
      </p:sp>
      <p:sp>
        <p:nvSpPr>
          <p:cNvPr id="91" name="Text 84"/>
          <p:cNvSpPr/>
          <p:nvPr/>
        </p:nvSpPr>
        <p:spPr>
          <a:xfrm>
            <a:off x="268856" y="6624493"/>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7</a:t>
            </a:r>
            <a:endParaRPr lang="en-US" sz="1000" dirty="0">
              <a:latin typeface="Footlight MT Light" panose="0204060206030A020304" pitchFamily="18" charset="0"/>
            </a:endParaRPr>
          </a:p>
        </p:txBody>
      </p:sp>
      <p:sp>
        <p:nvSpPr>
          <p:cNvPr id="92" name="Shape 85"/>
          <p:cNvSpPr/>
          <p:nvPr/>
        </p:nvSpPr>
        <p:spPr>
          <a:xfrm>
            <a:off x="534032" y="6578773"/>
            <a:ext cx="1965960" cy="604012"/>
          </a:xfrm>
          <a:prstGeom prst="rect">
            <a:avLst/>
          </a:prstGeom>
          <a:solidFill>
            <a:srgbClr val="FFFFFF"/>
          </a:solidFill>
          <a:ln w="12700">
            <a:solidFill>
              <a:srgbClr val="E5EDED"/>
            </a:solidFill>
            <a:prstDash val="solid"/>
          </a:ln>
        </p:spPr>
      </p:sp>
      <p:sp>
        <p:nvSpPr>
          <p:cNvPr id="93" name="Text 86"/>
          <p:cNvSpPr/>
          <p:nvPr/>
        </p:nvSpPr>
        <p:spPr>
          <a:xfrm>
            <a:off x="607184" y="6624493"/>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Micro-Credit Cooperative &amp; Village Leaders</a:t>
            </a:r>
            <a:endParaRPr lang="en-US" sz="1000" dirty="0">
              <a:latin typeface="Footlight MT Light" panose="0204060206030A020304" pitchFamily="18" charset="0"/>
            </a:endParaRPr>
          </a:p>
        </p:txBody>
      </p:sp>
      <p:sp>
        <p:nvSpPr>
          <p:cNvPr id="94" name="Shape 87"/>
          <p:cNvSpPr/>
          <p:nvPr/>
        </p:nvSpPr>
        <p:spPr>
          <a:xfrm>
            <a:off x="2499992" y="6578773"/>
            <a:ext cx="1755648" cy="604012"/>
          </a:xfrm>
          <a:prstGeom prst="rect">
            <a:avLst/>
          </a:prstGeom>
          <a:solidFill>
            <a:srgbClr val="FFFFFF"/>
          </a:solidFill>
          <a:ln w="12700">
            <a:solidFill>
              <a:srgbClr val="E5EDED"/>
            </a:solidFill>
            <a:prstDash val="solid"/>
          </a:ln>
        </p:spPr>
      </p:sp>
      <p:sp>
        <p:nvSpPr>
          <p:cNvPr id="95" name="Text 88"/>
          <p:cNvSpPr/>
          <p:nvPr/>
        </p:nvSpPr>
        <p:spPr>
          <a:xfrm>
            <a:off x="2573144" y="6624493"/>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18 sessions · 15 EC + 20 village leaders</a:t>
            </a:r>
            <a:endParaRPr lang="en-US" sz="1000" dirty="0">
              <a:latin typeface="Footlight MT Light" panose="0204060206030A020304" pitchFamily="18" charset="0"/>
            </a:endParaRPr>
          </a:p>
        </p:txBody>
      </p:sp>
      <p:sp>
        <p:nvSpPr>
          <p:cNvPr id="96" name="Shape 89"/>
          <p:cNvSpPr/>
          <p:nvPr/>
        </p:nvSpPr>
        <p:spPr>
          <a:xfrm>
            <a:off x="4255640" y="6578773"/>
            <a:ext cx="2551176" cy="604012"/>
          </a:xfrm>
          <a:prstGeom prst="rect">
            <a:avLst/>
          </a:prstGeom>
          <a:solidFill>
            <a:srgbClr val="FFFFFF"/>
          </a:solidFill>
          <a:ln w="12700">
            <a:solidFill>
              <a:srgbClr val="E5EDED"/>
            </a:solidFill>
            <a:prstDash val="solid"/>
          </a:ln>
        </p:spPr>
      </p:sp>
      <p:sp>
        <p:nvSpPr>
          <p:cNvPr id="97" name="Text 90"/>
          <p:cNvSpPr/>
          <p:nvPr/>
        </p:nvSpPr>
        <p:spPr>
          <a:xfrm>
            <a:off x="4328792" y="6624493"/>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decision-making, governance, financial management, and community mobilization.</a:t>
            </a:r>
            <a:endParaRPr lang="en-US" sz="1000" dirty="0">
              <a:latin typeface="Footlight MT Light" panose="0204060206030A020304" pitchFamily="18" charset="0"/>
            </a:endParaRPr>
          </a:p>
        </p:txBody>
      </p:sp>
      <p:sp>
        <p:nvSpPr>
          <p:cNvPr id="98" name="Shape 91"/>
          <p:cNvSpPr/>
          <p:nvPr/>
        </p:nvSpPr>
        <p:spPr>
          <a:xfrm>
            <a:off x="164592" y="7226882"/>
            <a:ext cx="369440" cy="604012"/>
          </a:xfrm>
          <a:prstGeom prst="rect">
            <a:avLst/>
          </a:prstGeom>
          <a:solidFill>
            <a:srgbClr val="F5FCFC"/>
          </a:solidFill>
          <a:ln w="12700">
            <a:solidFill>
              <a:srgbClr val="E5EDED"/>
            </a:solidFill>
            <a:prstDash val="solid"/>
          </a:ln>
        </p:spPr>
      </p:sp>
      <p:sp>
        <p:nvSpPr>
          <p:cNvPr id="99" name="Text 92"/>
          <p:cNvSpPr/>
          <p:nvPr/>
        </p:nvSpPr>
        <p:spPr>
          <a:xfrm>
            <a:off x="268856" y="7272602"/>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a:t>
            </a:r>
            <a:endParaRPr lang="en-US" sz="1000" dirty="0">
              <a:latin typeface="Footlight MT Light" panose="0204060206030A020304" pitchFamily="18" charset="0"/>
            </a:endParaRPr>
          </a:p>
        </p:txBody>
      </p:sp>
      <p:sp>
        <p:nvSpPr>
          <p:cNvPr id="100" name="Shape 93"/>
          <p:cNvSpPr/>
          <p:nvPr/>
        </p:nvSpPr>
        <p:spPr>
          <a:xfrm>
            <a:off x="534032" y="7226882"/>
            <a:ext cx="1965960" cy="604012"/>
          </a:xfrm>
          <a:prstGeom prst="rect">
            <a:avLst/>
          </a:prstGeom>
          <a:solidFill>
            <a:srgbClr val="F5FCFC"/>
          </a:solidFill>
          <a:ln w="12700">
            <a:solidFill>
              <a:srgbClr val="E5EDED"/>
            </a:solidFill>
            <a:prstDash val="solid"/>
          </a:ln>
        </p:spPr>
      </p:sp>
      <p:sp>
        <p:nvSpPr>
          <p:cNvPr id="101" name="Text 94"/>
          <p:cNvSpPr/>
          <p:nvPr/>
        </p:nvSpPr>
        <p:spPr>
          <a:xfrm>
            <a:off x="607184" y="7272602"/>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Katkari Adivasi Aadhaar Sanghatna (KAAS)</a:t>
            </a:r>
            <a:endParaRPr lang="en-US" sz="1000" dirty="0">
              <a:latin typeface="Footlight MT Light" panose="0204060206030A020304" pitchFamily="18" charset="0"/>
            </a:endParaRPr>
          </a:p>
        </p:txBody>
      </p:sp>
      <p:sp>
        <p:nvSpPr>
          <p:cNvPr id="102" name="Shape 95"/>
          <p:cNvSpPr/>
          <p:nvPr/>
        </p:nvSpPr>
        <p:spPr>
          <a:xfrm>
            <a:off x="2499992" y="7226882"/>
            <a:ext cx="1755648" cy="604012"/>
          </a:xfrm>
          <a:prstGeom prst="rect">
            <a:avLst/>
          </a:prstGeom>
          <a:solidFill>
            <a:srgbClr val="F5FCFC"/>
          </a:solidFill>
          <a:ln w="12700">
            <a:solidFill>
              <a:srgbClr val="E5EDED"/>
            </a:solidFill>
            <a:prstDash val="solid"/>
          </a:ln>
        </p:spPr>
      </p:sp>
      <p:sp>
        <p:nvSpPr>
          <p:cNvPr id="103" name="Text 96"/>
          <p:cNvSpPr/>
          <p:nvPr/>
        </p:nvSpPr>
        <p:spPr>
          <a:xfrm>
            <a:off x="2573144" y="7272602"/>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programmes · 32 KAAS + 343 community members</a:t>
            </a:r>
            <a:endParaRPr lang="en-US" sz="1000" dirty="0">
              <a:latin typeface="Footlight MT Light" panose="0204060206030A020304" pitchFamily="18" charset="0"/>
            </a:endParaRPr>
          </a:p>
        </p:txBody>
      </p:sp>
      <p:sp>
        <p:nvSpPr>
          <p:cNvPr id="104" name="Shape 97"/>
          <p:cNvSpPr/>
          <p:nvPr/>
        </p:nvSpPr>
        <p:spPr>
          <a:xfrm>
            <a:off x="4255640" y="7226882"/>
            <a:ext cx="2551176" cy="604012"/>
          </a:xfrm>
          <a:prstGeom prst="rect">
            <a:avLst/>
          </a:prstGeom>
          <a:solidFill>
            <a:srgbClr val="F5FCFC"/>
          </a:solidFill>
          <a:ln w="12700">
            <a:solidFill>
              <a:srgbClr val="E5EDED"/>
            </a:solidFill>
            <a:prstDash val="solid"/>
          </a:ln>
        </p:spPr>
      </p:sp>
      <p:sp>
        <p:nvSpPr>
          <p:cNvPr id="105" name="Text 98"/>
          <p:cNvSpPr/>
          <p:nvPr/>
        </p:nvSpPr>
        <p:spPr>
          <a:xfrm>
            <a:off x="4328792" y="7272602"/>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Tribal rights awareness, government welfare schemes, social entitlements, community leadership.</a:t>
            </a:r>
            <a:endParaRPr lang="en-US" sz="1000" dirty="0">
              <a:latin typeface="Footlight MT Light" panose="0204060206030A020304" pitchFamily="18" charset="0"/>
            </a:endParaRPr>
          </a:p>
        </p:txBody>
      </p:sp>
      <p:sp>
        <p:nvSpPr>
          <p:cNvPr id="106" name="Shape 99"/>
          <p:cNvSpPr/>
          <p:nvPr/>
        </p:nvSpPr>
        <p:spPr>
          <a:xfrm>
            <a:off x="0" y="7891272"/>
            <a:ext cx="6894241" cy="54864"/>
          </a:xfrm>
          <a:prstGeom prst="rect">
            <a:avLst/>
          </a:prstGeom>
          <a:solidFill>
            <a:srgbClr val="C8960A"/>
          </a:solidFill>
          <a:ln w="12700">
            <a:solidFill>
              <a:srgbClr val="C8960A"/>
            </a:solidFill>
            <a:prstDash val="solid"/>
          </a:ln>
        </p:spPr>
      </p:sp>
      <p:pic>
        <p:nvPicPr>
          <p:cNvPr id="107" name="Image 5" descr="/home/claude/rpt_imgs/training_1.jpg"/>
          <p:cNvPicPr>
            <a:picLocks noChangeAspect="1"/>
          </p:cNvPicPr>
          <p:nvPr/>
        </p:nvPicPr>
        <p:blipFill>
          <a:blip r:embed="rId10"/>
          <a:srcRect/>
          <a:stretch/>
        </p:blipFill>
        <p:spPr>
          <a:xfrm>
            <a:off x="0" y="7946136"/>
            <a:ext cx="1671187" cy="1042416"/>
          </a:xfrm>
          <a:prstGeom prst="rect">
            <a:avLst/>
          </a:prstGeom>
        </p:spPr>
      </p:pic>
      <p:pic>
        <p:nvPicPr>
          <p:cNvPr id="108" name="Image 6" descr="/home/claude/rpt_imgs/tribal_day_2.jpg"/>
          <p:cNvPicPr>
            <a:picLocks noChangeAspect="1"/>
          </p:cNvPicPr>
          <p:nvPr/>
        </p:nvPicPr>
        <p:blipFill>
          <a:blip r:embed="rId11"/>
          <a:srcRect/>
          <a:stretch/>
        </p:blipFill>
        <p:spPr>
          <a:xfrm>
            <a:off x="1305763" y="7946136"/>
            <a:ext cx="1671187" cy="1042416"/>
          </a:xfrm>
          <a:prstGeom prst="rect">
            <a:avLst/>
          </a:prstGeom>
        </p:spPr>
      </p:pic>
      <p:pic>
        <p:nvPicPr>
          <p:cNvPr id="109" name="Image 7" descr="/home/claude/rpt_imgs/training_3.jpg"/>
          <p:cNvPicPr>
            <a:picLocks noChangeAspect="1"/>
          </p:cNvPicPr>
          <p:nvPr/>
        </p:nvPicPr>
        <p:blipFill>
          <a:blip r:embed="rId12"/>
          <a:srcRect/>
          <a:stretch/>
        </p:blipFill>
        <p:spPr>
          <a:xfrm>
            <a:off x="2611526" y="7946136"/>
            <a:ext cx="1671187" cy="1042416"/>
          </a:xfrm>
          <a:prstGeom prst="rect">
            <a:avLst/>
          </a:prstGeom>
        </p:spPr>
      </p:pic>
      <p:pic>
        <p:nvPicPr>
          <p:cNvPr id="110" name="Image 8" descr="/home/claude/rpt_imgs/training_4.jpg"/>
          <p:cNvPicPr>
            <a:picLocks noChangeAspect="1"/>
          </p:cNvPicPr>
          <p:nvPr/>
        </p:nvPicPr>
        <p:blipFill>
          <a:blip r:embed="rId13"/>
          <a:srcRect/>
          <a:stretch/>
        </p:blipFill>
        <p:spPr>
          <a:xfrm>
            <a:off x="3917290" y="7946136"/>
            <a:ext cx="1671187" cy="1042416"/>
          </a:xfrm>
          <a:prstGeom prst="rect">
            <a:avLst/>
          </a:prstGeom>
        </p:spPr>
      </p:pic>
      <p:pic>
        <p:nvPicPr>
          <p:cNvPr id="111" name="Image 9" descr="/home/claude/rpt_imgs/training_6.jpg"/>
          <p:cNvPicPr>
            <a:picLocks noChangeAspect="1"/>
          </p:cNvPicPr>
          <p:nvPr/>
        </p:nvPicPr>
        <p:blipFill>
          <a:blip r:embed="rId14"/>
          <a:srcRect/>
          <a:stretch/>
        </p:blipFill>
        <p:spPr>
          <a:xfrm>
            <a:off x="5223053" y="7946136"/>
            <a:ext cx="1671187" cy="10424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Capacity Building Achievements &amp; Field Photos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Key Capacity Building Achievements at a Glance</a:t>
            </a:r>
            <a:endParaRPr lang="en-US" dirty="0">
              <a:latin typeface="Felix Titling" panose="04060505060202020A04" pitchFamily="82" charset="0"/>
            </a:endParaRPr>
          </a:p>
        </p:txBody>
      </p:sp>
      <p:sp>
        <p:nvSpPr>
          <p:cNvPr id="12" name="Shape 10"/>
          <p:cNvSpPr/>
          <p:nvPr/>
        </p:nvSpPr>
        <p:spPr>
          <a:xfrm>
            <a:off x="292608" y="768096"/>
            <a:ext cx="822960" cy="18288"/>
          </a:xfrm>
          <a:prstGeom prst="rect">
            <a:avLst/>
          </a:prstGeom>
          <a:solidFill>
            <a:srgbClr val="C8960A"/>
          </a:solidFill>
          <a:ln w="12700">
            <a:solidFill>
              <a:srgbClr val="C8960A"/>
            </a:solidFill>
            <a:prstDash val="solid"/>
          </a:ln>
        </p:spPr>
      </p:sp>
      <p:sp>
        <p:nvSpPr>
          <p:cNvPr id="13" name="Shape 11"/>
          <p:cNvSpPr/>
          <p:nvPr/>
        </p:nvSpPr>
        <p:spPr>
          <a:xfrm>
            <a:off x="256032" y="914400"/>
            <a:ext cx="6345936" cy="420624"/>
          </a:xfrm>
          <a:prstGeom prst="roundRect">
            <a:avLst>
              <a:gd name="adj" fmla="val 13043"/>
            </a:avLst>
          </a:prstGeom>
          <a:solidFill>
            <a:srgbClr val="FFFFFF"/>
          </a:solidFill>
          <a:ln w="12700">
            <a:solidFill>
              <a:srgbClr val="E5EDED"/>
            </a:solidFill>
            <a:prstDash val="solid"/>
          </a:ln>
        </p:spPr>
      </p:sp>
      <p:pic>
        <p:nvPicPr>
          <p:cNvPr id="14"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347472" y="1005840"/>
            <a:ext cx="256032" cy="256032"/>
          </a:xfrm>
          <a:prstGeom prst="rect">
            <a:avLst/>
          </a:prstGeom>
        </p:spPr>
      </p:pic>
      <p:sp>
        <p:nvSpPr>
          <p:cNvPr id="15" name="Text 12"/>
          <p:cNvSpPr/>
          <p:nvPr/>
        </p:nvSpPr>
        <p:spPr>
          <a:xfrm>
            <a:off x="694944" y="9601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126 training and awareness programmes conducted during the project period across all activity areas.</a:t>
            </a:r>
            <a:endParaRPr lang="en-US" sz="1100" dirty="0">
              <a:latin typeface="Footlight MT Light" panose="0204060206030A020304" pitchFamily="18" charset="0"/>
            </a:endParaRPr>
          </a:p>
        </p:txBody>
      </p:sp>
      <p:sp>
        <p:nvSpPr>
          <p:cNvPr id="16" name="Shape 13"/>
          <p:cNvSpPr/>
          <p:nvPr/>
        </p:nvSpPr>
        <p:spPr>
          <a:xfrm>
            <a:off x="256032" y="1371600"/>
            <a:ext cx="6345936" cy="420624"/>
          </a:xfrm>
          <a:prstGeom prst="roundRect">
            <a:avLst>
              <a:gd name="adj" fmla="val 13043"/>
            </a:avLst>
          </a:prstGeom>
          <a:solidFill>
            <a:srgbClr val="F5FCFC"/>
          </a:solidFill>
          <a:ln w="12700">
            <a:solidFill>
              <a:srgbClr val="E5EDED"/>
            </a:solidFill>
            <a:prstDash val="solid"/>
          </a:ln>
        </p:spPr>
      </p:sp>
      <p:pic>
        <p:nvPicPr>
          <p:cNvPr id="17"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347472" y="1463040"/>
            <a:ext cx="256032" cy="256032"/>
          </a:xfrm>
          <a:prstGeom prst="rect">
            <a:avLst/>
          </a:prstGeom>
        </p:spPr>
      </p:pic>
      <p:sp>
        <p:nvSpPr>
          <p:cNvPr id="18" name="Text 14"/>
          <p:cNvSpPr/>
          <p:nvPr/>
        </p:nvSpPr>
        <p:spPr>
          <a:xfrm>
            <a:off x="694944" y="14173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Over 800 participants reached through awareness camps, training programmes, and community meetings.</a:t>
            </a:r>
            <a:endParaRPr lang="en-US" sz="1100" dirty="0">
              <a:latin typeface="Footlight MT Light" panose="0204060206030A020304" pitchFamily="18" charset="0"/>
            </a:endParaRPr>
          </a:p>
        </p:txBody>
      </p:sp>
      <p:sp>
        <p:nvSpPr>
          <p:cNvPr id="19" name="Shape 15"/>
          <p:cNvSpPr/>
          <p:nvPr/>
        </p:nvSpPr>
        <p:spPr>
          <a:xfrm>
            <a:off x="256032" y="1828800"/>
            <a:ext cx="6345936" cy="420624"/>
          </a:xfrm>
          <a:prstGeom prst="roundRect">
            <a:avLst>
              <a:gd name="adj" fmla="val 13043"/>
            </a:avLst>
          </a:prstGeom>
          <a:solidFill>
            <a:srgbClr val="FFFFFF"/>
          </a:solidFill>
          <a:ln w="12700">
            <a:solidFill>
              <a:srgbClr val="E5EDED"/>
            </a:solidFill>
            <a:prstDash val="solid"/>
          </a:ln>
        </p:spPr>
      </p:sp>
      <p:pic>
        <p:nvPicPr>
          <p:cNvPr id="20" name="Image 2" descr="preencoded.png"/>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347472" y="1920240"/>
            <a:ext cx="256032" cy="256032"/>
          </a:xfrm>
          <a:prstGeom prst="rect">
            <a:avLst/>
          </a:prstGeom>
        </p:spPr>
      </p:pic>
      <p:sp>
        <p:nvSpPr>
          <p:cNvPr id="21" name="Text 16"/>
          <p:cNvSpPr/>
          <p:nvPr/>
        </p:nvSpPr>
        <p:spPr>
          <a:xfrm>
            <a:off x="694944" y="18745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15 SHGs strengthened, including 4 newly formed SHGs and 4 revived inactive groups across tribal hamlets.</a:t>
            </a:r>
            <a:endParaRPr lang="en-US" sz="1100" dirty="0">
              <a:latin typeface="Footlight MT Light" panose="0204060206030A020304" pitchFamily="18" charset="0"/>
            </a:endParaRPr>
          </a:p>
        </p:txBody>
      </p:sp>
      <p:sp>
        <p:nvSpPr>
          <p:cNvPr id="22" name="Shape 17"/>
          <p:cNvSpPr/>
          <p:nvPr/>
        </p:nvSpPr>
        <p:spPr>
          <a:xfrm>
            <a:off x="256032" y="2286000"/>
            <a:ext cx="6345936" cy="420624"/>
          </a:xfrm>
          <a:prstGeom prst="roundRect">
            <a:avLst>
              <a:gd name="adj" fmla="val 13043"/>
            </a:avLst>
          </a:prstGeom>
          <a:solidFill>
            <a:srgbClr val="F5FCFC"/>
          </a:solidFill>
          <a:ln w="12700">
            <a:solidFill>
              <a:srgbClr val="E5EDED"/>
            </a:solidFill>
            <a:prstDash val="solid"/>
          </a:ln>
        </p:spPr>
      </p:sp>
      <p:pic>
        <p:nvPicPr>
          <p:cNvPr id="23" name="Image 3" descr="preencoded.png"/>
          <p:cNvPicPr>
            <a:picLocks noChangeAspect="1"/>
          </p:cNvPicPr>
          <p:nvPr/>
        </p:nvPicPr>
        <p:blipFill>
          <a:blip r:embed="rId7">
            <a:duotone>
              <a:schemeClr val="accent4">
                <a:shade val="45000"/>
                <a:satMod val="135000"/>
              </a:schemeClr>
              <a:prstClr val="white"/>
            </a:duotone>
          </a:blip>
          <a:stretch>
            <a:fillRect/>
          </a:stretch>
        </p:blipFill>
        <p:spPr>
          <a:xfrm>
            <a:off x="347472" y="2377440"/>
            <a:ext cx="256032" cy="256032"/>
          </a:xfrm>
          <a:prstGeom prst="rect">
            <a:avLst/>
          </a:prstGeom>
        </p:spPr>
      </p:pic>
      <p:sp>
        <p:nvSpPr>
          <p:cNvPr id="24" name="Text 18"/>
          <p:cNvSpPr/>
          <p:nvPr/>
        </p:nvSpPr>
        <p:spPr>
          <a:xfrm>
            <a:off x="694944" y="23317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16 fishing cooperative members, 20 micro-credit cooperative members, 11 fisheries cooperative EC members trained.</a:t>
            </a:r>
            <a:endParaRPr lang="en-US" sz="1100" dirty="0">
              <a:latin typeface="Footlight MT Light" panose="0204060206030A020304" pitchFamily="18" charset="0"/>
            </a:endParaRPr>
          </a:p>
        </p:txBody>
      </p:sp>
      <p:sp>
        <p:nvSpPr>
          <p:cNvPr id="25" name="Shape 19"/>
          <p:cNvSpPr/>
          <p:nvPr/>
        </p:nvSpPr>
        <p:spPr>
          <a:xfrm>
            <a:off x="256032" y="2743200"/>
            <a:ext cx="6345936" cy="420624"/>
          </a:xfrm>
          <a:prstGeom prst="roundRect">
            <a:avLst>
              <a:gd name="adj" fmla="val 13043"/>
            </a:avLst>
          </a:prstGeom>
          <a:solidFill>
            <a:srgbClr val="FFFFFF"/>
          </a:solidFill>
          <a:ln w="12700">
            <a:solidFill>
              <a:srgbClr val="E5EDED"/>
            </a:solidFill>
            <a:prstDash val="solid"/>
          </a:ln>
        </p:spPr>
      </p:sp>
      <p:pic>
        <p:nvPicPr>
          <p:cNvPr id="26" name="Image 4" descr="preencoded.png"/>
          <p:cNvPicPr>
            <a:picLocks noChangeAspect="1"/>
          </p:cNvPicPr>
          <p:nvPr/>
        </p:nvPicPr>
        <p:blipFill>
          <a:blip r:embed="rId8">
            <a:duotone>
              <a:schemeClr val="accent4">
                <a:shade val="45000"/>
                <a:satMod val="135000"/>
              </a:schemeClr>
              <a:prstClr val="white"/>
            </a:duotone>
          </a:blip>
          <a:stretch>
            <a:fillRect/>
          </a:stretch>
        </p:blipFill>
        <p:spPr>
          <a:xfrm>
            <a:off x="347472" y="2834640"/>
            <a:ext cx="256032" cy="256032"/>
          </a:xfrm>
          <a:prstGeom prst="rect">
            <a:avLst/>
          </a:prstGeom>
        </p:spPr>
      </p:pic>
      <p:sp>
        <p:nvSpPr>
          <p:cNvPr id="27" name="Text 20"/>
          <p:cNvSpPr/>
          <p:nvPr/>
        </p:nvSpPr>
        <p:spPr>
          <a:xfrm>
            <a:off x="694944" y="27889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15 micro-credit EC members, 20 village leaders, 32 river fishing beneficiaries, and 32 KAAS members directly trained.</a:t>
            </a:r>
            <a:endParaRPr lang="en-US" sz="1100" dirty="0">
              <a:latin typeface="Footlight MT Light" panose="0204060206030A020304" pitchFamily="18" charset="0"/>
            </a:endParaRPr>
          </a:p>
        </p:txBody>
      </p:sp>
      <p:sp>
        <p:nvSpPr>
          <p:cNvPr id="28" name="Shape 21"/>
          <p:cNvSpPr/>
          <p:nvPr/>
        </p:nvSpPr>
        <p:spPr>
          <a:xfrm>
            <a:off x="256032" y="3200400"/>
            <a:ext cx="6345936" cy="420624"/>
          </a:xfrm>
          <a:prstGeom prst="roundRect">
            <a:avLst>
              <a:gd name="adj" fmla="val 13043"/>
            </a:avLst>
          </a:prstGeom>
          <a:solidFill>
            <a:srgbClr val="F5FCFC"/>
          </a:solidFill>
          <a:ln w="12700">
            <a:solidFill>
              <a:srgbClr val="E5EDED"/>
            </a:solidFill>
            <a:prstDash val="solid"/>
          </a:ln>
        </p:spPr>
      </p:sp>
      <p:pic>
        <p:nvPicPr>
          <p:cNvPr id="29" name="Image 5" descr="preencoded.png"/>
          <p:cNvPicPr>
            <a:picLocks noChangeAspect="1"/>
          </p:cNvPicPr>
          <p:nvPr/>
        </p:nvPicPr>
        <p:blipFill>
          <a:blip r:embed="rId9">
            <a:duotone>
              <a:schemeClr val="accent4">
                <a:shade val="45000"/>
                <a:satMod val="135000"/>
              </a:schemeClr>
              <a:prstClr val="white"/>
            </a:duotone>
          </a:blip>
          <a:stretch>
            <a:fillRect/>
          </a:stretch>
        </p:blipFill>
        <p:spPr>
          <a:xfrm>
            <a:off x="347472" y="3291840"/>
            <a:ext cx="256032" cy="256032"/>
          </a:xfrm>
          <a:prstGeom prst="rect">
            <a:avLst/>
          </a:prstGeom>
        </p:spPr>
      </p:pic>
      <p:sp>
        <p:nvSpPr>
          <p:cNvPr id="30" name="Text 22"/>
          <p:cNvSpPr/>
          <p:nvPr/>
        </p:nvSpPr>
        <p:spPr>
          <a:xfrm>
            <a:off x="694944" y="32461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300+ fishermen sensitized on sustainable fishing practices, seasonal restrictions, and resource conservation.</a:t>
            </a:r>
            <a:endParaRPr lang="en-US" sz="1100" dirty="0">
              <a:latin typeface="Footlight MT Light" panose="0204060206030A020304" pitchFamily="18" charset="0"/>
            </a:endParaRPr>
          </a:p>
        </p:txBody>
      </p:sp>
      <p:sp>
        <p:nvSpPr>
          <p:cNvPr id="31" name="Shape 23"/>
          <p:cNvSpPr/>
          <p:nvPr/>
        </p:nvSpPr>
        <p:spPr>
          <a:xfrm>
            <a:off x="256032" y="3657600"/>
            <a:ext cx="6345936" cy="420624"/>
          </a:xfrm>
          <a:prstGeom prst="roundRect">
            <a:avLst>
              <a:gd name="adj" fmla="val 13043"/>
            </a:avLst>
          </a:prstGeom>
          <a:solidFill>
            <a:srgbClr val="FFFFFF"/>
          </a:solidFill>
          <a:ln w="12700">
            <a:solidFill>
              <a:srgbClr val="E5EDED"/>
            </a:solidFill>
            <a:prstDash val="solid"/>
          </a:ln>
        </p:spPr>
      </p:sp>
      <p:pic>
        <p:nvPicPr>
          <p:cNvPr id="32" name="Image 6" descr="preencoded.png"/>
          <p:cNvPicPr>
            <a:picLocks noChangeAspect="1"/>
          </p:cNvPicPr>
          <p:nvPr/>
        </p:nvPicPr>
        <p:blipFill>
          <a:blip r:embed="rId10">
            <a:extLst>
              <a:ext uri="{BEBA8EAE-BF5A-486C-A8C5-ECC9F3942E4B}">
                <a14:imgProps xmlns:a14="http://schemas.microsoft.com/office/drawing/2010/main">
                  <a14:imgLayer r:embed="rId11">
                    <a14:imgEffect>
                      <a14:brightnessContrast bright="20000" contrast="40000"/>
                    </a14:imgEffect>
                  </a14:imgLayer>
                </a14:imgProps>
              </a:ext>
            </a:extLst>
          </a:blip>
          <a:stretch>
            <a:fillRect/>
          </a:stretch>
        </p:blipFill>
        <p:spPr>
          <a:xfrm>
            <a:off x="347472" y="3749040"/>
            <a:ext cx="256032" cy="256032"/>
          </a:xfrm>
          <a:prstGeom prst="rect">
            <a:avLst/>
          </a:prstGeom>
        </p:spPr>
      </p:pic>
      <p:sp>
        <p:nvSpPr>
          <p:cNvPr id="33" name="Text 24"/>
          <p:cNvSpPr/>
          <p:nvPr/>
        </p:nvSpPr>
        <p:spPr>
          <a:xfrm>
            <a:off x="694944" y="37033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343 Katkari community members engaged through KAAS strengthening and rights-based awareness initiatives.</a:t>
            </a:r>
            <a:endParaRPr lang="en-US" sz="1100" dirty="0">
              <a:latin typeface="Footlight MT Light" panose="0204060206030A020304" pitchFamily="18" charset="0"/>
            </a:endParaRPr>
          </a:p>
        </p:txBody>
      </p:sp>
      <p:sp>
        <p:nvSpPr>
          <p:cNvPr id="34" name="Text 25"/>
          <p:cNvSpPr/>
          <p:nvPr/>
        </p:nvSpPr>
        <p:spPr>
          <a:xfrm>
            <a:off x="292608" y="4206240"/>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Glimpses of Training Activities</a:t>
            </a:r>
            <a:endParaRPr lang="en-US" dirty="0">
              <a:latin typeface="Felix Titling" panose="04060505060202020A04" pitchFamily="82" charset="0"/>
            </a:endParaRPr>
          </a:p>
        </p:txBody>
      </p:sp>
      <p:sp>
        <p:nvSpPr>
          <p:cNvPr id="35" name="Text 26"/>
          <p:cNvSpPr/>
          <p:nvPr/>
        </p:nvSpPr>
        <p:spPr>
          <a:xfrm>
            <a:off x="292608" y="4553712"/>
            <a:ext cx="6272784" cy="201168"/>
          </a:xfrm>
          <a:prstGeom prst="rect">
            <a:avLst/>
          </a:prstGeom>
          <a:noFill/>
          <a:ln/>
        </p:spPr>
        <p:txBody>
          <a:bodyPr wrap="square" lIns="0" tIns="0" rIns="0" bIns="0" rtlCol="0" anchor="t"/>
          <a:lstStyle/>
          <a:p>
            <a:pPr marL="0" indent="0" algn="l">
              <a:buNone/>
            </a:pPr>
            <a:r>
              <a:rPr lang="en-US" sz="1000" i="1" dirty="0">
                <a:solidFill>
                  <a:srgbClr val="5E7070"/>
                </a:solidFill>
                <a:latin typeface="Footlight MT Light" panose="0204060206030A020304" pitchFamily="18" charset="0"/>
                <a:ea typeface="Calibri" pitchFamily="34" charset="-122"/>
                <a:cs typeface="Calibri" pitchFamily="34" charset="-120"/>
              </a:rPr>
              <a:t>Baseline survey, awareness camps, SHG meetings, and capacity building sessions</a:t>
            </a:r>
            <a:endParaRPr lang="en-US" sz="1000" dirty="0">
              <a:latin typeface="Footlight MT Light" panose="0204060206030A020304" pitchFamily="18" charset="0"/>
            </a:endParaRPr>
          </a:p>
        </p:txBody>
      </p:sp>
      <p:pic>
        <p:nvPicPr>
          <p:cNvPr id="52" name="Image 12" descr="/home/claude/rpt_imgs/shg_2.jpg"/>
          <p:cNvPicPr>
            <a:picLocks noChangeAspect="1"/>
          </p:cNvPicPr>
          <p:nvPr/>
        </p:nvPicPr>
        <p:blipFill>
          <a:blip r:embed="rId12"/>
          <a:srcRect/>
          <a:stretch/>
        </p:blipFill>
        <p:spPr>
          <a:xfrm>
            <a:off x="1341882" y="6182950"/>
            <a:ext cx="2157984" cy="1324274"/>
          </a:xfrm>
          <a:prstGeom prst="rect">
            <a:avLst/>
          </a:prstGeom>
        </p:spPr>
      </p:pic>
      <p:pic>
        <p:nvPicPr>
          <p:cNvPr id="49" name="Image 11" descr="/home/claude/rpt_imgs/shg_1.jpg"/>
          <p:cNvPicPr>
            <a:picLocks noChangeAspect="1"/>
          </p:cNvPicPr>
          <p:nvPr/>
        </p:nvPicPr>
        <p:blipFill>
          <a:blip r:embed="rId13"/>
          <a:srcRect/>
          <a:stretch/>
        </p:blipFill>
        <p:spPr>
          <a:xfrm>
            <a:off x="-73340" y="6186830"/>
            <a:ext cx="1779740" cy="1274673"/>
          </a:xfrm>
          <a:prstGeom prst="rect">
            <a:avLst/>
          </a:prstGeom>
        </p:spPr>
      </p:pic>
      <p:sp>
        <p:nvSpPr>
          <p:cNvPr id="50" name="Shape 36"/>
          <p:cNvSpPr/>
          <p:nvPr/>
        </p:nvSpPr>
        <p:spPr>
          <a:xfrm>
            <a:off x="0" y="7461504"/>
            <a:ext cx="2016252" cy="237744"/>
          </a:xfrm>
          <a:prstGeom prst="rect">
            <a:avLst/>
          </a:prstGeom>
          <a:solidFill>
            <a:srgbClr val="2A3535"/>
          </a:solidFill>
          <a:ln w="12700">
            <a:solidFill>
              <a:srgbClr val="2A3535"/>
            </a:solidFill>
            <a:prstDash val="solid"/>
          </a:ln>
        </p:spPr>
      </p:sp>
      <p:sp>
        <p:nvSpPr>
          <p:cNvPr id="51" name="Text 37"/>
          <p:cNvSpPr/>
          <p:nvPr/>
        </p:nvSpPr>
        <p:spPr>
          <a:xfrm>
            <a:off x="92483"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SHG Capacity Building</a:t>
            </a:r>
            <a:endParaRPr lang="en-US" sz="750" dirty="0">
              <a:latin typeface="Footlight MT Light" panose="0204060206030A020304" pitchFamily="18" charset="0"/>
            </a:endParaRPr>
          </a:p>
        </p:txBody>
      </p:sp>
      <p:sp>
        <p:nvSpPr>
          <p:cNvPr id="53" name="Shape 38"/>
          <p:cNvSpPr/>
          <p:nvPr/>
        </p:nvSpPr>
        <p:spPr>
          <a:xfrm>
            <a:off x="1613916" y="7461504"/>
            <a:ext cx="2016252" cy="237744"/>
          </a:xfrm>
          <a:prstGeom prst="rect">
            <a:avLst/>
          </a:prstGeom>
          <a:solidFill>
            <a:srgbClr val="2A3535"/>
          </a:solidFill>
          <a:ln w="12700">
            <a:solidFill>
              <a:srgbClr val="2A3535"/>
            </a:solidFill>
            <a:prstDash val="solid"/>
          </a:ln>
        </p:spPr>
      </p:sp>
      <p:sp>
        <p:nvSpPr>
          <p:cNvPr id="54" name="Text 39"/>
          <p:cNvSpPr/>
          <p:nvPr/>
        </p:nvSpPr>
        <p:spPr>
          <a:xfrm>
            <a:off x="1706399"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Women's Meeting</a:t>
            </a:r>
            <a:endParaRPr lang="en-US" sz="750" dirty="0">
              <a:latin typeface="Footlight MT Light" panose="0204060206030A020304" pitchFamily="18" charset="0"/>
            </a:endParaRPr>
          </a:p>
        </p:txBody>
      </p:sp>
      <p:pic>
        <p:nvPicPr>
          <p:cNvPr id="55" name="Image 13" descr="/home/claude/rpt_imgs/capacity_1.jpg"/>
          <p:cNvPicPr>
            <a:picLocks noChangeAspect="1"/>
          </p:cNvPicPr>
          <p:nvPr/>
        </p:nvPicPr>
        <p:blipFill>
          <a:blip r:embed="rId14"/>
          <a:srcRect l="16562"/>
          <a:stretch>
            <a:fillRect/>
          </a:stretch>
        </p:blipFill>
        <p:spPr>
          <a:xfrm>
            <a:off x="3216921" y="6186831"/>
            <a:ext cx="1909288" cy="1298448"/>
          </a:xfrm>
          <a:prstGeom prst="rect">
            <a:avLst/>
          </a:prstGeom>
        </p:spPr>
      </p:pic>
      <p:sp>
        <p:nvSpPr>
          <p:cNvPr id="56" name="Shape 40"/>
          <p:cNvSpPr/>
          <p:nvPr/>
        </p:nvSpPr>
        <p:spPr>
          <a:xfrm>
            <a:off x="3227832" y="7461504"/>
            <a:ext cx="2016252" cy="237744"/>
          </a:xfrm>
          <a:prstGeom prst="rect">
            <a:avLst/>
          </a:prstGeom>
          <a:solidFill>
            <a:srgbClr val="2A3535"/>
          </a:solidFill>
          <a:ln w="12700">
            <a:solidFill>
              <a:srgbClr val="2A3535"/>
            </a:solidFill>
            <a:prstDash val="solid"/>
          </a:ln>
        </p:spPr>
      </p:sp>
      <p:sp>
        <p:nvSpPr>
          <p:cNvPr id="57" name="Text 41"/>
          <p:cNvSpPr/>
          <p:nvPr/>
        </p:nvSpPr>
        <p:spPr>
          <a:xfrm>
            <a:off x="3320315"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Expert Training</a:t>
            </a:r>
            <a:endParaRPr lang="en-US" sz="750" dirty="0">
              <a:latin typeface="Footlight MT Light" panose="0204060206030A020304" pitchFamily="18" charset="0"/>
            </a:endParaRPr>
          </a:p>
        </p:txBody>
      </p:sp>
      <p:pic>
        <p:nvPicPr>
          <p:cNvPr id="58" name="Image 14" descr="/home/claude/rpt_imgs/training_5.jpg"/>
          <p:cNvPicPr>
            <a:picLocks noChangeAspect="1"/>
          </p:cNvPicPr>
          <p:nvPr/>
        </p:nvPicPr>
        <p:blipFill>
          <a:blip r:embed="rId15"/>
          <a:srcRect/>
          <a:stretch/>
        </p:blipFill>
        <p:spPr>
          <a:xfrm>
            <a:off x="4841748" y="6163056"/>
            <a:ext cx="2016252" cy="1298448"/>
          </a:xfrm>
          <a:prstGeom prst="rect">
            <a:avLst/>
          </a:prstGeom>
        </p:spPr>
      </p:pic>
      <p:sp>
        <p:nvSpPr>
          <p:cNvPr id="36" name="Shape 27"/>
          <p:cNvSpPr/>
          <p:nvPr/>
        </p:nvSpPr>
        <p:spPr>
          <a:xfrm>
            <a:off x="183869" y="4791456"/>
            <a:ext cx="1089865" cy="18288"/>
          </a:xfrm>
          <a:prstGeom prst="rect">
            <a:avLst/>
          </a:prstGeom>
          <a:solidFill>
            <a:srgbClr val="C8960A"/>
          </a:solidFill>
          <a:ln w="12700">
            <a:solidFill>
              <a:srgbClr val="C8960A"/>
            </a:solidFill>
            <a:prstDash val="solid"/>
          </a:ln>
        </p:spPr>
      </p:sp>
      <p:sp>
        <p:nvSpPr>
          <p:cNvPr id="38" name="Shape 28"/>
          <p:cNvSpPr/>
          <p:nvPr/>
        </p:nvSpPr>
        <p:spPr>
          <a:xfrm>
            <a:off x="0" y="6035040"/>
            <a:ext cx="2016252" cy="237744"/>
          </a:xfrm>
          <a:prstGeom prst="rect">
            <a:avLst/>
          </a:prstGeom>
          <a:solidFill>
            <a:srgbClr val="2A3535"/>
          </a:solidFill>
          <a:ln w="12700">
            <a:solidFill>
              <a:srgbClr val="2A3535"/>
            </a:solidFill>
            <a:prstDash val="solid"/>
          </a:ln>
        </p:spPr>
      </p:sp>
      <p:sp>
        <p:nvSpPr>
          <p:cNvPr id="39" name="Text 29"/>
          <p:cNvSpPr/>
          <p:nvPr/>
        </p:nvSpPr>
        <p:spPr>
          <a:xfrm>
            <a:off x="92483"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Baseline Survey</a:t>
            </a:r>
            <a:endParaRPr lang="en-US" sz="750" dirty="0">
              <a:latin typeface="Footlight MT Light" panose="0204060206030A020304" pitchFamily="18" charset="0"/>
            </a:endParaRPr>
          </a:p>
        </p:txBody>
      </p:sp>
      <p:pic>
        <p:nvPicPr>
          <p:cNvPr id="40" name="Image 8" descr="/home/claude/rpt_imgs/awareness_1.jpg"/>
          <p:cNvPicPr>
            <a:picLocks noChangeAspect="1"/>
          </p:cNvPicPr>
          <p:nvPr/>
        </p:nvPicPr>
        <p:blipFill>
          <a:blip r:embed="rId16"/>
          <a:srcRect/>
          <a:stretch/>
        </p:blipFill>
        <p:spPr>
          <a:xfrm>
            <a:off x="1341882" y="4736592"/>
            <a:ext cx="2016252" cy="1298448"/>
          </a:xfrm>
          <a:prstGeom prst="rect">
            <a:avLst/>
          </a:prstGeom>
        </p:spPr>
      </p:pic>
      <p:sp>
        <p:nvSpPr>
          <p:cNvPr id="41" name="Shape 30"/>
          <p:cNvSpPr/>
          <p:nvPr/>
        </p:nvSpPr>
        <p:spPr>
          <a:xfrm>
            <a:off x="1613916" y="6035040"/>
            <a:ext cx="2016252" cy="237744"/>
          </a:xfrm>
          <a:prstGeom prst="rect">
            <a:avLst/>
          </a:prstGeom>
          <a:solidFill>
            <a:srgbClr val="2A3535"/>
          </a:solidFill>
          <a:ln w="12700">
            <a:solidFill>
              <a:srgbClr val="2A3535"/>
            </a:solidFill>
            <a:prstDash val="solid"/>
          </a:ln>
        </p:spPr>
      </p:sp>
      <p:sp>
        <p:nvSpPr>
          <p:cNvPr id="42" name="Text 31"/>
          <p:cNvSpPr/>
          <p:nvPr/>
        </p:nvSpPr>
        <p:spPr>
          <a:xfrm>
            <a:off x="1706399"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Awareness Camp</a:t>
            </a:r>
            <a:endParaRPr lang="en-US" sz="750" dirty="0">
              <a:latin typeface="Footlight MT Light" panose="0204060206030A020304" pitchFamily="18" charset="0"/>
            </a:endParaRPr>
          </a:p>
        </p:txBody>
      </p:sp>
      <p:pic>
        <p:nvPicPr>
          <p:cNvPr id="43" name="Image 9" descr="/home/claude/rpt_imgs/awareness_2.jpg"/>
          <p:cNvPicPr>
            <a:picLocks noChangeAspect="1"/>
          </p:cNvPicPr>
          <p:nvPr/>
        </p:nvPicPr>
        <p:blipFill>
          <a:blip r:embed="rId17"/>
          <a:srcRect/>
          <a:stretch/>
        </p:blipFill>
        <p:spPr>
          <a:xfrm>
            <a:off x="3227832" y="4736592"/>
            <a:ext cx="2016252" cy="1298448"/>
          </a:xfrm>
          <a:prstGeom prst="rect">
            <a:avLst/>
          </a:prstGeom>
        </p:spPr>
      </p:pic>
      <p:sp>
        <p:nvSpPr>
          <p:cNvPr id="44" name="Shape 32"/>
          <p:cNvSpPr/>
          <p:nvPr/>
        </p:nvSpPr>
        <p:spPr>
          <a:xfrm>
            <a:off x="3227832" y="6035040"/>
            <a:ext cx="2016252" cy="237744"/>
          </a:xfrm>
          <a:prstGeom prst="rect">
            <a:avLst/>
          </a:prstGeom>
          <a:solidFill>
            <a:srgbClr val="2A3535"/>
          </a:solidFill>
          <a:ln w="12700">
            <a:solidFill>
              <a:srgbClr val="2A3535"/>
            </a:solidFill>
            <a:prstDash val="solid"/>
          </a:ln>
        </p:spPr>
      </p:sp>
      <p:sp>
        <p:nvSpPr>
          <p:cNvPr id="45" name="Text 33"/>
          <p:cNvSpPr/>
          <p:nvPr/>
        </p:nvSpPr>
        <p:spPr>
          <a:xfrm>
            <a:off x="3320315"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Meeting</a:t>
            </a:r>
            <a:endParaRPr lang="en-US" sz="750" dirty="0">
              <a:latin typeface="Footlight MT Light" panose="0204060206030A020304" pitchFamily="18" charset="0"/>
            </a:endParaRPr>
          </a:p>
        </p:txBody>
      </p:sp>
      <p:pic>
        <p:nvPicPr>
          <p:cNvPr id="46" name="Image 10" descr="/home/claude/rpt_imgs/awareness_3.jpg"/>
          <p:cNvPicPr>
            <a:picLocks noChangeAspect="1"/>
          </p:cNvPicPr>
          <p:nvPr/>
        </p:nvPicPr>
        <p:blipFill>
          <a:blip r:embed="rId18"/>
          <a:srcRect/>
          <a:stretch/>
        </p:blipFill>
        <p:spPr>
          <a:xfrm>
            <a:off x="4841748" y="4736592"/>
            <a:ext cx="2016252" cy="1298448"/>
          </a:xfrm>
          <a:prstGeom prst="rect">
            <a:avLst/>
          </a:prstGeom>
        </p:spPr>
      </p:pic>
      <p:sp>
        <p:nvSpPr>
          <p:cNvPr id="47" name="Shape 34"/>
          <p:cNvSpPr/>
          <p:nvPr/>
        </p:nvSpPr>
        <p:spPr>
          <a:xfrm>
            <a:off x="4841748" y="6035040"/>
            <a:ext cx="2016252" cy="237744"/>
          </a:xfrm>
          <a:prstGeom prst="rect">
            <a:avLst/>
          </a:prstGeom>
          <a:solidFill>
            <a:srgbClr val="2A3535"/>
          </a:solidFill>
          <a:ln w="12700">
            <a:solidFill>
              <a:srgbClr val="2A3535"/>
            </a:solidFill>
            <a:prstDash val="solid"/>
          </a:ln>
        </p:spPr>
      </p:sp>
      <p:sp>
        <p:nvSpPr>
          <p:cNvPr id="48" name="Text 35"/>
          <p:cNvSpPr/>
          <p:nvPr/>
        </p:nvSpPr>
        <p:spPr>
          <a:xfrm>
            <a:off x="4934231"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Training Session</a:t>
            </a:r>
            <a:endParaRPr lang="en-US" sz="750" dirty="0">
              <a:latin typeface="Footlight MT Light" panose="0204060206030A020304" pitchFamily="18" charset="0"/>
            </a:endParaRPr>
          </a:p>
        </p:txBody>
      </p:sp>
      <p:sp>
        <p:nvSpPr>
          <p:cNvPr id="59" name="Shape 42"/>
          <p:cNvSpPr/>
          <p:nvPr/>
        </p:nvSpPr>
        <p:spPr>
          <a:xfrm>
            <a:off x="4841748" y="7461504"/>
            <a:ext cx="2016252" cy="237744"/>
          </a:xfrm>
          <a:prstGeom prst="rect">
            <a:avLst/>
          </a:prstGeom>
          <a:solidFill>
            <a:srgbClr val="2A3535"/>
          </a:solidFill>
          <a:ln w="12700">
            <a:solidFill>
              <a:srgbClr val="2A3535"/>
            </a:solidFill>
            <a:prstDash val="solid"/>
          </a:ln>
        </p:spPr>
      </p:sp>
      <p:sp>
        <p:nvSpPr>
          <p:cNvPr id="60" name="Text 43"/>
          <p:cNvSpPr/>
          <p:nvPr/>
        </p:nvSpPr>
        <p:spPr>
          <a:xfrm>
            <a:off x="4934231"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Fisheries Training</a:t>
            </a:r>
            <a:endParaRPr lang="en-US" sz="750" dirty="0">
              <a:latin typeface="Footlight MT Light" panose="0204060206030A020304" pitchFamily="18" charset="0"/>
            </a:endParaRPr>
          </a:p>
        </p:txBody>
      </p:sp>
      <p:pic>
        <p:nvPicPr>
          <p:cNvPr id="61" name="Image 15" descr="/home/claude/rpt_imgs/health_camp.jpg"/>
          <p:cNvPicPr>
            <a:picLocks noChangeAspect="1"/>
          </p:cNvPicPr>
          <p:nvPr/>
        </p:nvPicPr>
        <p:blipFill>
          <a:blip r:embed="rId19"/>
          <a:srcRect/>
          <a:stretch/>
        </p:blipFill>
        <p:spPr>
          <a:xfrm>
            <a:off x="-71082" y="7700854"/>
            <a:ext cx="2151888" cy="1280160"/>
          </a:xfrm>
          <a:prstGeom prst="rect">
            <a:avLst/>
          </a:prstGeom>
        </p:spPr>
      </p:pic>
      <p:sp>
        <p:nvSpPr>
          <p:cNvPr id="62" name="Shape 44"/>
          <p:cNvSpPr/>
          <p:nvPr/>
        </p:nvSpPr>
        <p:spPr>
          <a:xfrm>
            <a:off x="-71083" y="8981014"/>
            <a:ext cx="2728701" cy="237744"/>
          </a:xfrm>
          <a:prstGeom prst="rect">
            <a:avLst/>
          </a:prstGeom>
          <a:solidFill>
            <a:srgbClr val="2A3535"/>
          </a:solidFill>
          <a:ln w="12700">
            <a:solidFill>
              <a:srgbClr val="2A3535"/>
            </a:solidFill>
            <a:prstDash val="solid"/>
          </a:ln>
        </p:spPr>
      </p:sp>
      <p:sp>
        <p:nvSpPr>
          <p:cNvPr id="63" name="Text 45"/>
          <p:cNvSpPr/>
          <p:nvPr/>
        </p:nvSpPr>
        <p:spPr>
          <a:xfrm>
            <a:off x="21400"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Health Check-up Camp</a:t>
            </a:r>
            <a:endParaRPr lang="en-US" sz="750" dirty="0">
              <a:latin typeface="Footlight MT Light" panose="0204060206030A020304" pitchFamily="18" charset="0"/>
            </a:endParaRPr>
          </a:p>
        </p:txBody>
      </p:sp>
      <p:pic>
        <p:nvPicPr>
          <p:cNvPr id="64" name="Image 16" descr="/home/claude/rpt_imgs/capacity_2.jpg"/>
          <p:cNvPicPr>
            <a:picLocks noChangeAspect="1"/>
          </p:cNvPicPr>
          <p:nvPr/>
        </p:nvPicPr>
        <p:blipFill>
          <a:blip r:embed="rId20"/>
          <a:srcRect/>
          <a:stretch/>
        </p:blipFill>
        <p:spPr>
          <a:xfrm>
            <a:off x="2080806" y="7700854"/>
            <a:ext cx="2253158" cy="1280160"/>
          </a:xfrm>
          <a:prstGeom prst="rect">
            <a:avLst/>
          </a:prstGeom>
        </p:spPr>
      </p:pic>
      <p:sp>
        <p:nvSpPr>
          <p:cNvPr id="65" name="Shape 46"/>
          <p:cNvSpPr/>
          <p:nvPr/>
        </p:nvSpPr>
        <p:spPr>
          <a:xfrm>
            <a:off x="2080805" y="8981014"/>
            <a:ext cx="2728701" cy="237744"/>
          </a:xfrm>
          <a:prstGeom prst="rect">
            <a:avLst/>
          </a:prstGeom>
          <a:solidFill>
            <a:srgbClr val="2A3535"/>
          </a:solidFill>
          <a:ln w="12700">
            <a:solidFill>
              <a:srgbClr val="2A3535"/>
            </a:solidFill>
            <a:prstDash val="solid"/>
          </a:ln>
        </p:spPr>
      </p:sp>
      <p:sp>
        <p:nvSpPr>
          <p:cNvPr id="66" name="Text 47"/>
          <p:cNvSpPr/>
          <p:nvPr/>
        </p:nvSpPr>
        <p:spPr>
          <a:xfrm>
            <a:off x="2173288"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Expert Capacity Building</a:t>
            </a:r>
            <a:endParaRPr lang="en-US" sz="750" dirty="0">
              <a:latin typeface="Footlight MT Light" panose="0204060206030A020304" pitchFamily="18" charset="0"/>
            </a:endParaRPr>
          </a:p>
        </p:txBody>
      </p:sp>
      <p:pic>
        <p:nvPicPr>
          <p:cNvPr id="67" name="Image 17" descr="/home/claude/rpt_imgs/capacity_3.jpg"/>
          <p:cNvPicPr>
            <a:picLocks noChangeAspect="1"/>
          </p:cNvPicPr>
          <p:nvPr/>
        </p:nvPicPr>
        <p:blipFill>
          <a:blip r:embed="rId21"/>
          <a:srcRect/>
          <a:stretch/>
        </p:blipFill>
        <p:spPr>
          <a:xfrm>
            <a:off x="4232693" y="7700854"/>
            <a:ext cx="2728701" cy="1280160"/>
          </a:xfrm>
          <a:prstGeom prst="rect">
            <a:avLst/>
          </a:prstGeom>
        </p:spPr>
      </p:pic>
      <p:sp>
        <p:nvSpPr>
          <p:cNvPr id="68" name="Shape 48"/>
          <p:cNvSpPr/>
          <p:nvPr/>
        </p:nvSpPr>
        <p:spPr>
          <a:xfrm>
            <a:off x="4232693" y="8981014"/>
            <a:ext cx="2728701" cy="237744"/>
          </a:xfrm>
          <a:prstGeom prst="rect">
            <a:avLst/>
          </a:prstGeom>
          <a:solidFill>
            <a:srgbClr val="2A3535"/>
          </a:solidFill>
          <a:ln w="12700">
            <a:solidFill>
              <a:srgbClr val="2A3535"/>
            </a:solidFill>
            <a:prstDash val="solid"/>
          </a:ln>
        </p:spPr>
      </p:sp>
      <p:sp>
        <p:nvSpPr>
          <p:cNvPr id="69" name="Text 49"/>
          <p:cNvSpPr/>
          <p:nvPr/>
        </p:nvSpPr>
        <p:spPr>
          <a:xfrm>
            <a:off x="4325176"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Leader Training</a:t>
            </a:r>
            <a:endParaRPr lang="en-US" sz="750" dirty="0">
              <a:latin typeface="Footlight MT Light" panose="0204060206030A020304" pitchFamily="18" charset="0"/>
            </a:endParaRPr>
          </a:p>
        </p:txBody>
      </p:sp>
      <p:pic>
        <p:nvPicPr>
          <p:cNvPr id="37" name="Image 7" descr="/home/claude/rpt_imgs/baseline_1.jpg"/>
          <p:cNvPicPr>
            <a:picLocks noChangeAspect="1"/>
          </p:cNvPicPr>
          <p:nvPr/>
        </p:nvPicPr>
        <p:blipFill>
          <a:blip r:embed="rId22"/>
          <a:srcRect r="-15596"/>
          <a:stretch>
            <a:fillRect/>
          </a:stretch>
        </p:blipFill>
        <p:spPr>
          <a:xfrm>
            <a:off x="0" y="4736592"/>
            <a:ext cx="2016252" cy="12984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Major Achievements Summary</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Major Achievement of Project - Summary Table</a:t>
            </a:r>
            <a:endParaRPr lang="en-US" dirty="0">
              <a:latin typeface="Felix Titling" panose="04060505060202020A04" pitchFamily="82" charset="0"/>
            </a:endParaRPr>
          </a:p>
        </p:txBody>
      </p:sp>
      <p:sp>
        <p:nvSpPr>
          <p:cNvPr id="12" name="Text 10"/>
          <p:cNvSpPr/>
          <p:nvPr/>
        </p:nvSpPr>
        <p:spPr>
          <a:xfrm>
            <a:off x="292608" y="676656"/>
            <a:ext cx="6272784" cy="201168"/>
          </a:xfrm>
          <a:prstGeom prst="rect">
            <a:avLst/>
          </a:prstGeom>
          <a:noFill/>
          <a:ln/>
        </p:spPr>
        <p:txBody>
          <a:bodyPr wrap="square" lIns="0" tIns="0" rIns="0" bIns="0" rtlCol="0" anchor="t"/>
          <a:lstStyle/>
          <a:p>
            <a:pPr marL="0" indent="0" algn="l">
              <a:buNone/>
            </a:pPr>
            <a:r>
              <a:rPr lang="en-US" sz="1050" i="1" dirty="0">
                <a:solidFill>
                  <a:srgbClr val="5E7070"/>
                </a:solidFill>
                <a:latin typeface="Footlight MT Light" panose="0204060206030A020304" pitchFamily="18" charset="0"/>
                <a:ea typeface="Calibri" pitchFamily="34" charset="-122"/>
                <a:cs typeface="Calibri" pitchFamily="34" charset="-120"/>
              </a:rPr>
              <a:t>Ten key milestones achieved during May 2023 to April 2026</a:t>
            </a:r>
            <a:endParaRPr lang="en-US" sz="1050" dirty="0">
              <a:latin typeface="Footlight MT Light" panose="0204060206030A020304" pitchFamily="18" charset="0"/>
            </a:endParaRPr>
          </a:p>
        </p:txBody>
      </p:sp>
      <p:sp>
        <p:nvSpPr>
          <p:cNvPr id="13" name="Shape 11"/>
          <p:cNvSpPr/>
          <p:nvPr/>
        </p:nvSpPr>
        <p:spPr>
          <a:xfrm>
            <a:off x="292608" y="969263"/>
            <a:ext cx="822960" cy="45719"/>
          </a:xfrm>
          <a:prstGeom prst="rect">
            <a:avLst/>
          </a:prstGeom>
          <a:solidFill>
            <a:srgbClr val="C8960A"/>
          </a:solidFill>
          <a:ln w="12700">
            <a:solidFill>
              <a:srgbClr val="C8960A"/>
            </a:solidFill>
            <a:prstDash val="solid"/>
          </a:ln>
        </p:spPr>
      </p:sp>
      <p:sp>
        <p:nvSpPr>
          <p:cNvPr id="14" name="Shape 12"/>
          <p:cNvSpPr/>
          <p:nvPr/>
        </p:nvSpPr>
        <p:spPr>
          <a:xfrm>
            <a:off x="256032" y="877824"/>
            <a:ext cx="292608" cy="188392"/>
          </a:xfrm>
          <a:prstGeom prst="rect">
            <a:avLst/>
          </a:prstGeom>
          <a:solidFill>
            <a:srgbClr val="005F5F"/>
          </a:solidFill>
          <a:ln w="12700">
            <a:solidFill>
              <a:srgbClr val="005F5F"/>
            </a:solidFill>
            <a:prstDash val="solid"/>
          </a:ln>
        </p:spPr>
      </p:sp>
      <p:sp>
        <p:nvSpPr>
          <p:cNvPr id="15" name="Text 13"/>
          <p:cNvSpPr/>
          <p:nvPr/>
        </p:nvSpPr>
        <p:spPr>
          <a:xfrm>
            <a:off x="329184" y="877824"/>
            <a:ext cx="146304"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t>
            </a:r>
            <a:endParaRPr lang="en-US" sz="1000" dirty="0">
              <a:latin typeface="Footlight MT Light" panose="0204060206030A020304" pitchFamily="18" charset="0"/>
            </a:endParaRPr>
          </a:p>
        </p:txBody>
      </p:sp>
      <p:sp>
        <p:nvSpPr>
          <p:cNvPr id="16" name="Shape 14"/>
          <p:cNvSpPr/>
          <p:nvPr/>
        </p:nvSpPr>
        <p:spPr>
          <a:xfrm>
            <a:off x="548640" y="877824"/>
            <a:ext cx="1417320" cy="188392"/>
          </a:xfrm>
          <a:prstGeom prst="rect">
            <a:avLst/>
          </a:prstGeom>
          <a:solidFill>
            <a:srgbClr val="005F5F"/>
          </a:solidFill>
          <a:ln w="12700">
            <a:solidFill>
              <a:srgbClr val="005F5F"/>
            </a:solidFill>
            <a:prstDash val="solid"/>
          </a:ln>
        </p:spPr>
      </p:sp>
      <p:sp>
        <p:nvSpPr>
          <p:cNvPr id="17" name="Text 15"/>
          <p:cNvSpPr/>
          <p:nvPr/>
        </p:nvSpPr>
        <p:spPr>
          <a:xfrm>
            <a:off x="621792" y="877824"/>
            <a:ext cx="1271016"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Activity</a:t>
            </a:r>
            <a:endParaRPr lang="en-US" sz="1000" dirty="0">
              <a:latin typeface="Footlight MT Light" panose="0204060206030A020304" pitchFamily="18" charset="0"/>
            </a:endParaRPr>
          </a:p>
        </p:txBody>
      </p:sp>
      <p:sp>
        <p:nvSpPr>
          <p:cNvPr id="18" name="Shape 16"/>
          <p:cNvSpPr/>
          <p:nvPr/>
        </p:nvSpPr>
        <p:spPr>
          <a:xfrm>
            <a:off x="1965960" y="877824"/>
            <a:ext cx="1719072" cy="188392"/>
          </a:xfrm>
          <a:prstGeom prst="rect">
            <a:avLst/>
          </a:prstGeom>
          <a:solidFill>
            <a:srgbClr val="005F5F"/>
          </a:solidFill>
          <a:ln w="12700">
            <a:solidFill>
              <a:srgbClr val="005F5F"/>
            </a:solidFill>
            <a:prstDash val="solid"/>
          </a:ln>
        </p:spPr>
      </p:sp>
      <p:sp>
        <p:nvSpPr>
          <p:cNvPr id="19" name="Text 17"/>
          <p:cNvSpPr/>
          <p:nvPr/>
        </p:nvSpPr>
        <p:spPr>
          <a:xfrm>
            <a:off x="2039112" y="877824"/>
            <a:ext cx="1572768"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Major Milestone</a:t>
            </a:r>
            <a:endParaRPr lang="en-US" sz="1000" dirty="0">
              <a:latin typeface="Footlight MT Light" panose="0204060206030A020304" pitchFamily="18" charset="0"/>
            </a:endParaRPr>
          </a:p>
        </p:txBody>
      </p:sp>
      <p:sp>
        <p:nvSpPr>
          <p:cNvPr id="20" name="Shape 18"/>
          <p:cNvSpPr/>
          <p:nvPr/>
        </p:nvSpPr>
        <p:spPr>
          <a:xfrm>
            <a:off x="3685032" y="877824"/>
            <a:ext cx="3136392" cy="188392"/>
          </a:xfrm>
          <a:prstGeom prst="rect">
            <a:avLst/>
          </a:prstGeom>
          <a:solidFill>
            <a:srgbClr val="005F5F"/>
          </a:solidFill>
          <a:ln w="12700">
            <a:solidFill>
              <a:srgbClr val="005F5F"/>
            </a:solidFill>
            <a:prstDash val="solid"/>
          </a:ln>
        </p:spPr>
      </p:sp>
      <p:sp>
        <p:nvSpPr>
          <p:cNvPr id="21" name="Text 19"/>
          <p:cNvSpPr/>
          <p:nvPr/>
        </p:nvSpPr>
        <p:spPr>
          <a:xfrm>
            <a:off x="3758184" y="877824"/>
            <a:ext cx="2990088"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Key Outcome</a:t>
            </a:r>
            <a:endParaRPr lang="en-US" sz="1000" dirty="0">
              <a:latin typeface="Footlight MT Light" panose="0204060206030A020304" pitchFamily="18" charset="0"/>
            </a:endParaRPr>
          </a:p>
        </p:txBody>
      </p:sp>
      <p:sp>
        <p:nvSpPr>
          <p:cNvPr id="22" name="Shape 20"/>
          <p:cNvSpPr/>
          <p:nvPr/>
        </p:nvSpPr>
        <p:spPr>
          <a:xfrm>
            <a:off x="256032" y="1152144"/>
            <a:ext cx="292608" cy="502378"/>
          </a:xfrm>
          <a:prstGeom prst="rect">
            <a:avLst/>
          </a:prstGeom>
          <a:solidFill>
            <a:srgbClr val="FFFFFF"/>
          </a:solidFill>
          <a:ln w="12700">
            <a:solidFill>
              <a:srgbClr val="E5EDED"/>
            </a:solidFill>
            <a:prstDash val="solid"/>
          </a:ln>
        </p:spPr>
      </p:sp>
      <p:sp>
        <p:nvSpPr>
          <p:cNvPr id="23" name="Text 21"/>
          <p:cNvSpPr/>
          <p:nvPr/>
        </p:nvSpPr>
        <p:spPr>
          <a:xfrm>
            <a:off x="329184" y="1197864"/>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24" name="Shape 22"/>
          <p:cNvSpPr/>
          <p:nvPr/>
        </p:nvSpPr>
        <p:spPr>
          <a:xfrm>
            <a:off x="548640" y="1152144"/>
            <a:ext cx="1417320" cy="502378"/>
          </a:xfrm>
          <a:prstGeom prst="rect">
            <a:avLst/>
          </a:prstGeom>
          <a:solidFill>
            <a:srgbClr val="FFFFFF"/>
          </a:solidFill>
          <a:ln w="12700">
            <a:solidFill>
              <a:srgbClr val="E5EDED"/>
            </a:solidFill>
            <a:prstDash val="solid"/>
          </a:ln>
        </p:spPr>
      </p:sp>
      <p:sp>
        <p:nvSpPr>
          <p:cNvPr id="25" name="Text 23"/>
          <p:cNvSpPr/>
          <p:nvPr/>
        </p:nvSpPr>
        <p:spPr>
          <a:xfrm>
            <a:off x="621792" y="1197864"/>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Baseline Survey</a:t>
            </a:r>
            <a:endParaRPr lang="en-US" sz="1000" dirty="0">
              <a:latin typeface="Footlight MT Light" panose="0204060206030A020304" pitchFamily="18" charset="0"/>
            </a:endParaRPr>
          </a:p>
        </p:txBody>
      </p:sp>
      <p:sp>
        <p:nvSpPr>
          <p:cNvPr id="26" name="Shape 24"/>
          <p:cNvSpPr/>
          <p:nvPr/>
        </p:nvSpPr>
        <p:spPr>
          <a:xfrm>
            <a:off x="1965960" y="1152144"/>
            <a:ext cx="1719072" cy="502378"/>
          </a:xfrm>
          <a:prstGeom prst="rect">
            <a:avLst/>
          </a:prstGeom>
          <a:solidFill>
            <a:srgbClr val="FFFFFF"/>
          </a:solidFill>
          <a:ln w="12700">
            <a:solidFill>
              <a:srgbClr val="E5EDED"/>
            </a:solidFill>
            <a:prstDash val="solid"/>
          </a:ln>
        </p:spPr>
      </p:sp>
      <p:sp>
        <p:nvSpPr>
          <p:cNvPr id="27" name="Text 25"/>
          <p:cNvSpPr/>
          <p:nvPr/>
        </p:nvSpPr>
        <p:spPr>
          <a:xfrm>
            <a:off x="2039112" y="1197864"/>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368 HH surveyed across 15 wadis</a:t>
            </a:r>
            <a:endParaRPr lang="en-US" sz="1000" dirty="0">
              <a:latin typeface="Footlight MT Light" panose="0204060206030A020304" pitchFamily="18" charset="0"/>
            </a:endParaRPr>
          </a:p>
        </p:txBody>
      </p:sp>
      <p:sp>
        <p:nvSpPr>
          <p:cNvPr id="28" name="Shape 26"/>
          <p:cNvSpPr/>
          <p:nvPr/>
        </p:nvSpPr>
        <p:spPr>
          <a:xfrm>
            <a:off x="3685032" y="1152144"/>
            <a:ext cx="3136392" cy="502378"/>
          </a:xfrm>
          <a:prstGeom prst="rect">
            <a:avLst/>
          </a:prstGeom>
          <a:solidFill>
            <a:srgbClr val="FFFFFF"/>
          </a:solidFill>
          <a:ln w="12700">
            <a:solidFill>
              <a:srgbClr val="E5EDED"/>
            </a:solidFill>
            <a:prstDash val="solid"/>
          </a:ln>
        </p:spPr>
      </p:sp>
      <p:sp>
        <p:nvSpPr>
          <p:cNvPr id="29" name="Text 27"/>
          <p:cNvSpPr/>
          <p:nvPr/>
        </p:nvSpPr>
        <p:spPr>
          <a:xfrm>
            <a:off x="3758184" y="1197864"/>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Household profiles created, documentation gaps identified, and support for accessing government schemes.</a:t>
            </a:r>
            <a:endParaRPr lang="en-US" sz="1000" dirty="0">
              <a:latin typeface="Footlight MT Light" panose="0204060206030A020304" pitchFamily="18" charset="0"/>
            </a:endParaRPr>
          </a:p>
        </p:txBody>
      </p:sp>
      <p:sp>
        <p:nvSpPr>
          <p:cNvPr id="30" name="Shape 28"/>
          <p:cNvSpPr/>
          <p:nvPr/>
        </p:nvSpPr>
        <p:spPr>
          <a:xfrm>
            <a:off x="256032" y="1694730"/>
            <a:ext cx="292608" cy="502378"/>
          </a:xfrm>
          <a:prstGeom prst="rect">
            <a:avLst/>
          </a:prstGeom>
          <a:solidFill>
            <a:srgbClr val="F5FCFC"/>
          </a:solidFill>
          <a:ln w="12700">
            <a:solidFill>
              <a:srgbClr val="E5EDED"/>
            </a:solidFill>
            <a:prstDash val="solid"/>
          </a:ln>
        </p:spPr>
      </p:sp>
      <p:sp>
        <p:nvSpPr>
          <p:cNvPr id="31" name="Text 29"/>
          <p:cNvSpPr/>
          <p:nvPr/>
        </p:nvSpPr>
        <p:spPr>
          <a:xfrm>
            <a:off x="329184" y="1740450"/>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32" name="Shape 30"/>
          <p:cNvSpPr/>
          <p:nvPr/>
        </p:nvSpPr>
        <p:spPr>
          <a:xfrm>
            <a:off x="548640" y="1694730"/>
            <a:ext cx="1417320" cy="502378"/>
          </a:xfrm>
          <a:prstGeom prst="rect">
            <a:avLst/>
          </a:prstGeom>
          <a:solidFill>
            <a:srgbClr val="F5FCFC"/>
          </a:solidFill>
          <a:ln w="12700">
            <a:solidFill>
              <a:srgbClr val="E5EDED"/>
            </a:solidFill>
            <a:prstDash val="solid"/>
          </a:ln>
        </p:spPr>
      </p:sp>
      <p:sp>
        <p:nvSpPr>
          <p:cNvPr id="33" name="Text 31"/>
          <p:cNvSpPr/>
          <p:nvPr/>
        </p:nvSpPr>
        <p:spPr>
          <a:xfrm>
            <a:off x="621792" y="1740450"/>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Dam Fishing Nets</a:t>
            </a:r>
            <a:endParaRPr lang="en-US" sz="1000" dirty="0">
              <a:latin typeface="Footlight MT Light" panose="0204060206030A020304" pitchFamily="18" charset="0"/>
            </a:endParaRPr>
          </a:p>
        </p:txBody>
      </p:sp>
      <p:sp>
        <p:nvSpPr>
          <p:cNvPr id="34" name="Shape 32"/>
          <p:cNvSpPr/>
          <p:nvPr/>
        </p:nvSpPr>
        <p:spPr>
          <a:xfrm>
            <a:off x="1965960" y="1694730"/>
            <a:ext cx="1719072" cy="502378"/>
          </a:xfrm>
          <a:prstGeom prst="rect">
            <a:avLst/>
          </a:prstGeom>
          <a:solidFill>
            <a:srgbClr val="F5FCFC"/>
          </a:solidFill>
          <a:ln w="12700">
            <a:solidFill>
              <a:srgbClr val="E5EDED"/>
            </a:solidFill>
            <a:prstDash val="solid"/>
          </a:ln>
        </p:spPr>
      </p:sp>
      <p:sp>
        <p:nvSpPr>
          <p:cNvPr id="35" name="Text 33"/>
          <p:cNvSpPr/>
          <p:nvPr/>
        </p:nvSpPr>
        <p:spPr>
          <a:xfrm>
            <a:off x="2039112" y="1740450"/>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83 fishermen supported</a:t>
            </a:r>
            <a:endParaRPr lang="en-US" sz="1000" dirty="0">
              <a:latin typeface="Footlight MT Light" panose="0204060206030A020304" pitchFamily="18" charset="0"/>
            </a:endParaRPr>
          </a:p>
        </p:txBody>
      </p:sp>
      <p:sp>
        <p:nvSpPr>
          <p:cNvPr id="36" name="Shape 34"/>
          <p:cNvSpPr/>
          <p:nvPr/>
        </p:nvSpPr>
        <p:spPr>
          <a:xfrm>
            <a:off x="3685032" y="1694730"/>
            <a:ext cx="3136392" cy="502378"/>
          </a:xfrm>
          <a:prstGeom prst="rect">
            <a:avLst/>
          </a:prstGeom>
          <a:solidFill>
            <a:srgbClr val="F5FCFC"/>
          </a:solidFill>
          <a:ln w="12700">
            <a:solidFill>
              <a:srgbClr val="E5EDED"/>
            </a:solidFill>
            <a:prstDash val="solid"/>
          </a:ln>
        </p:spPr>
      </p:sp>
      <p:sp>
        <p:nvSpPr>
          <p:cNvPr id="37" name="Text 35"/>
          <p:cNvSpPr/>
          <p:nvPr/>
        </p:nvSpPr>
        <p:spPr>
          <a:xfrm>
            <a:off x="3758184" y="1740450"/>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Increased fish catch, improved fishing efficiency, and enhanced income generation.</a:t>
            </a:r>
            <a:endParaRPr lang="en-US" sz="1000" dirty="0">
              <a:latin typeface="Footlight MT Light" panose="0204060206030A020304" pitchFamily="18" charset="0"/>
            </a:endParaRPr>
          </a:p>
        </p:txBody>
      </p:sp>
      <p:sp>
        <p:nvSpPr>
          <p:cNvPr id="38" name="Shape 36"/>
          <p:cNvSpPr/>
          <p:nvPr/>
        </p:nvSpPr>
        <p:spPr>
          <a:xfrm>
            <a:off x="256032" y="2240487"/>
            <a:ext cx="292608" cy="502378"/>
          </a:xfrm>
          <a:prstGeom prst="rect">
            <a:avLst/>
          </a:prstGeom>
          <a:solidFill>
            <a:srgbClr val="FFFFFF"/>
          </a:solidFill>
          <a:ln w="12700">
            <a:solidFill>
              <a:srgbClr val="E5EDED"/>
            </a:solidFill>
            <a:prstDash val="solid"/>
          </a:ln>
        </p:spPr>
      </p:sp>
      <p:sp>
        <p:nvSpPr>
          <p:cNvPr id="39" name="Text 37"/>
          <p:cNvSpPr/>
          <p:nvPr/>
        </p:nvSpPr>
        <p:spPr>
          <a:xfrm>
            <a:off x="329184" y="228620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40" name="Shape 38"/>
          <p:cNvSpPr/>
          <p:nvPr/>
        </p:nvSpPr>
        <p:spPr>
          <a:xfrm>
            <a:off x="548640" y="2240487"/>
            <a:ext cx="1417320" cy="502378"/>
          </a:xfrm>
          <a:prstGeom prst="rect">
            <a:avLst/>
          </a:prstGeom>
          <a:solidFill>
            <a:srgbClr val="FFFFFF"/>
          </a:solidFill>
          <a:ln w="12700">
            <a:solidFill>
              <a:srgbClr val="E5EDED"/>
            </a:solidFill>
            <a:prstDash val="solid"/>
          </a:ln>
        </p:spPr>
      </p:sp>
      <p:sp>
        <p:nvSpPr>
          <p:cNvPr id="41" name="Text 39"/>
          <p:cNvSpPr/>
          <p:nvPr/>
        </p:nvSpPr>
        <p:spPr>
          <a:xfrm>
            <a:off x="621792" y="228620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River Fishing Nets</a:t>
            </a:r>
            <a:endParaRPr lang="en-US" sz="1000" dirty="0">
              <a:latin typeface="Footlight MT Light" panose="0204060206030A020304" pitchFamily="18" charset="0"/>
            </a:endParaRPr>
          </a:p>
        </p:txBody>
      </p:sp>
      <p:sp>
        <p:nvSpPr>
          <p:cNvPr id="42" name="Shape 40"/>
          <p:cNvSpPr/>
          <p:nvPr/>
        </p:nvSpPr>
        <p:spPr>
          <a:xfrm>
            <a:off x="1965960" y="2240487"/>
            <a:ext cx="1719072" cy="502378"/>
          </a:xfrm>
          <a:prstGeom prst="rect">
            <a:avLst/>
          </a:prstGeom>
          <a:solidFill>
            <a:srgbClr val="FFFFFF"/>
          </a:solidFill>
          <a:ln w="12700">
            <a:solidFill>
              <a:srgbClr val="E5EDED"/>
            </a:solidFill>
            <a:prstDash val="solid"/>
          </a:ln>
        </p:spPr>
      </p:sp>
      <p:sp>
        <p:nvSpPr>
          <p:cNvPr id="43" name="Text 41"/>
          <p:cNvSpPr/>
          <p:nvPr/>
        </p:nvSpPr>
        <p:spPr>
          <a:xfrm>
            <a:off x="2039112" y="228620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213 fishermen supported</a:t>
            </a:r>
            <a:endParaRPr lang="en-US" sz="1000" dirty="0">
              <a:latin typeface="Footlight MT Light" panose="0204060206030A020304" pitchFamily="18" charset="0"/>
            </a:endParaRPr>
          </a:p>
        </p:txBody>
      </p:sp>
      <p:sp>
        <p:nvSpPr>
          <p:cNvPr id="44" name="Shape 42"/>
          <p:cNvSpPr/>
          <p:nvPr/>
        </p:nvSpPr>
        <p:spPr>
          <a:xfrm>
            <a:off x="3685032" y="2240487"/>
            <a:ext cx="3136392" cy="502378"/>
          </a:xfrm>
          <a:prstGeom prst="rect">
            <a:avLst/>
          </a:prstGeom>
          <a:solidFill>
            <a:srgbClr val="FFFFFF"/>
          </a:solidFill>
          <a:ln w="12700">
            <a:solidFill>
              <a:srgbClr val="E5EDED"/>
            </a:solidFill>
            <a:prstDash val="solid"/>
          </a:ln>
        </p:spPr>
      </p:sp>
      <p:sp>
        <p:nvSpPr>
          <p:cNvPr id="45" name="Text 43"/>
          <p:cNvSpPr/>
          <p:nvPr/>
        </p:nvSpPr>
        <p:spPr>
          <a:xfrm>
            <a:off x="3758184" y="228620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Expanded fishing coverage, reduced operational costs, and improved livelihoods.</a:t>
            </a:r>
            <a:endParaRPr lang="en-US" sz="1000" dirty="0">
              <a:latin typeface="Footlight MT Light" panose="0204060206030A020304" pitchFamily="18" charset="0"/>
            </a:endParaRPr>
          </a:p>
        </p:txBody>
      </p:sp>
      <p:sp>
        <p:nvSpPr>
          <p:cNvPr id="46" name="Shape 44"/>
          <p:cNvSpPr/>
          <p:nvPr/>
        </p:nvSpPr>
        <p:spPr>
          <a:xfrm>
            <a:off x="256032" y="2788585"/>
            <a:ext cx="292608" cy="502378"/>
          </a:xfrm>
          <a:prstGeom prst="rect">
            <a:avLst/>
          </a:prstGeom>
          <a:solidFill>
            <a:srgbClr val="F5FCFC"/>
          </a:solidFill>
          <a:ln w="12700">
            <a:solidFill>
              <a:srgbClr val="E5EDED"/>
            </a:solidFill>
            <a:prstDash val="solid"/>
          </a:ln>
        </p:spPr>
      </p:sp>
      <p:sp>
        <p:nvSpPr>
          <p:cNvPr id="47" name="Text 45"/>
          <p:cNvSpPr/>
          <p:nvPr/>
        </p:nvSpPr>
        <p:spPr>
          <a:xfrm>
            <a:off x="329184" y="2834305"/>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48" name="Shape 46"/>
          <p:cNvSpPr/>
          <p:nvPr/>
        </p:nvSpPr>
        <p:spPr>
          <a:xfrm>
            <a:off x="548640" y="2788585"/>
            <a:ext cx="1417320" cy="502378"/>
          </a:xfrm>
          <a:prstGeom prst="rect">
            <a:avLst/>
          </a:prstGeom>
          <a:solidFill>
            <a:srgbClr val="F5FCFC"/>
          </a:solidFill>
          <a:ln w="12700">
            <a:solidFill>
              <a:srgbClr val="E5EDED"/>
            </a:solidFill>
            <a:prstDash val="solid"/>
          </a:ln>
        </p:spPr>
      </p:sp>
      <p:sp>
        <p:nvSpPr>
          <p:cNvPr id="49" name="Text 47"/>
          <p:cNvSpPr/>
          <p:nvPr/>
        </p:nvSpPr>
        <p:spPr>
          <a:xfrm>
            <a:off x="621792" y="2834305"/>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Cage Culture Units</a:t>
            </a:r>
            <a:endParaRPr lang="en-US" sz="1000" dirty="0">
              <a:latin typeface="Footlight MT Light" panose="0204060206030A020304" pitchFamily="18" charset="0"/>
            </a:endParaRPr>
          </a:p>
        </p:txBody>
      </p:sp>
      <p:sp>
        <p:nvSpPr>
          <p:cNvPr id="50" name="Shape 48"/>
          <p:cNvSpPr/>
          <p:nvPr/>
        </p:nvSpPr>
        <p:spPr>
          <a:xfrm>
            <a:off x="1965960" y="2788585"/>
            <a:ext cx="1719072" cy="502378"/>
          </a:xfrm>
          <a:prstGeom prst="rect">
            <a:avLst/>
          </a:prstGeom>
          <a:solidFill>
            <a:srgbClr val="F5FCFC"/>
          </a:solidFill>
          <a:ln w="12700">
            <a:solidFill>
              <a:srgbClr val="E5EDED"/>
            </a:solidFill>
            <a:prstDash val="solid"/>
          </a:ln>
        </p:spPr>
      </p:sp>
      <p:sp>
        <p:nvSpPr>
          <p:cNvPr id="51" name="Text 49"/>
          <p:cNvSpPr/>
          <p:nvPr/>
        </p:nvSpPr>
        <p:spPr>
          <a:xfrm>
            <a:off x="2039112" y="2834305"/>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 cage culture units installed</a:t>
            </a:r>
            <a:endParaRPr lang="en-US" sz="1000" dirty="0">
              <a:latin typeface="Footlight MT Light" panose="0204060206030A020304" pitchFamily="18" charset="0"/>
            </a:endParaRPr>
          </a:p>
        </p:txBody>
      </p:sp>
      <p:sp>
        <p:nvSpPr>
          <p:cNvPr id="52" name="Shape 50"/>
          <p:cNvSpPr/>
          <p:nvPr/>
        </p:nvSpPr>
        <p:spPr>
          <a:xfrm>
            <a:off x="3685032" y="2788585"/>
            <a:ext cx="3136392" cy="502378"/>
          </a:xfrm>
          <a:prstGeom prst="rect">
            <a:avLst/>
          </a:prstGeom>
          <a:solidFill>
            <a:srgbClr val="F5FCFC"/>
          </a:solidFill>
          <a:ln w="12700">
            <a:solidFill>
              <a:srgbClr val="E5EDED"/>
            </a:solidFill>
            <a:prstDash val="solid"/>
          </a:ln>
        </p:spPr>
      </p:sp>
      <p:sp>
        <p:nvSpPr>
          <p:cNvPr id="53" name="Text 51"/>
          <p:cNvSpPr/>
          <p:nvPr/>
        </p:nvSpPr>
        <p:spPr>
          <a:xfrm>
            <a:off x="3758184" y="2834305"/>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Promoted aquaculture, ensured year-round fish production, and created a sustainable income source.</a:t>
            </a:r>
            <a:endParaRPr lang="en-US" sz="1000" dirty="0">
              <a:latin typeface="Footlight MT Light" panose="0204060206030A020304" pitchFamily="18" charset="0"/>
            </a:endParaRPr>
          </a:p>
        </p:txBody>
      </p:sp>
      <p:sp>
        <p:nvSpPr>
          <p:cNvPr id="54" name="Shape 52"/>
          <p:cNvSpPr/>
          <p:nvPr/>
        </p:nvSpPr>
        <p:spPr>
          <a:xfrm>
            <a:off x="256032" y="3335050"/>
            <a:ext cx="292608" cy="502378"/>
          </a:xfrm>
          <a:prstGeom prst="rect">
            <a:avLst/>
          </a:prstGeom>
          <a:solidFill>
            <a:srgbClr val="FFFFFF"/>
          </a:solidFill>
          <a:ln w="12700">
            <a:solidFill>
              <a:srgbClr val="E5EDED"/>
            </a:solidFill>
            <a:prstDash val="solid"/>
          </a:ln>
        </p:spPr>
      </p:sp>
      <p:sp>
        <p:nvSpPr>
          <p:cNvPr id="55" name="Text 53"/>
          <p:cNvSpPr/>
          <p:nvPr/>
        </p:nvSpPr>
        <p:spPr>
          <a:xfrm>
            <a:off x="329184" y="3380770"/>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56" name="Shape 54"/>
          <p:cNvSpPr/>
          <p:nvPr/>
        </p:nvSpPr>
        <p:spPr>
          <a:xfrm>
            <a:off x="548640" y="3335050"/>
            <a:ext cx="1417320" cy="502378"/>
          </a:xfrm>
          <a:prstGeom prst="rect">
            <a:avLst/>
          </a:prstGeom>
          <a:solidFill>
            <a:srgbClr val="FFFFFF"/>
          </a:solidFill>
          <a:ln w="12700">
            <a:solidFill>
              <a:srgbClr val="E5EDED"/>
            </a:solidFill>
            <a:prstDash val="solid"/>
          </a:ln>
        </p:spPr>
      </p:sp>
      <p:sp>
        <p:nvSpPr>
          <p:cNvPr id="57" name="Text 55"/>
          <p:cNvSpPr/>
          <p:nvPr/>
        </p:nvSpPr>
        <p:spPr>
          <a:xfrm>
            <a:off x="621792" y="3380770"/>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Ice Boxes</a:t>
            </a:r>
            <a:endParaRPr lang="en-US" sz="1000" dirty="0">
              <a:latin typeface="Footlight MT Light" panose="0204060206030A020304" pitchFamily="18" charset="0"/>
            </a:endParaRPr>
          </a:p>
        </p:txBody>
      </p:sp>
      <p:sp>
        <p:nvSpPr>
          <p:cNvPr id="58" name="Shape 56"/>
          <p:cNvSpPr/>
          <p:nvPr/>
        </p:nvSpPr>
        <p:spPr>
          <a:xfrm>
            <a:off x="1965960" y="3335050"/>
            <a:ext cx="1719072" cy="502378"/>
          </a:xfrm>
          <a:prstGeom prst="rect">
            <a:avLst/>
          </a:prstGeom>
          <a:solidFill>
            <a:srgbClr val="FFFFFF"/>
          </a:solidFill>
          <a:ln w="12700">
            <a:solidFill>
              <a:srgbClr val="E5EDED"/>
            </a:solidFill>
            <a:prstDash val="solid"/>
          </a:ln>
        </p:spPr>
      </p:sp>
      <p:sp>
        <p:nvSpPr>
          <p:cNvPr id="59" name="Text 57"/>
          <p:cNvSpPr/>
          <p:nvPr/>
        </p:nvSpPr>
        <p:spPr>
          <a:xfrm>
            <a:off x="2039112" y="3380770"/>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25 SHG members supported</a:t>
            </a:r>
            <a:endParaRPr lang="en-US" sz="1000" dirty="0">
              <a:latin typeface="Footlight MT Light" panose="0204060206030A020304" pitchFamily="18" charset="0"/>
            </a:endParaRPr>
          </a:p>
        </p:txBody>
      </p:sp>
      <p:sp>
        <p:nvSpPr>
          <p:cNvPr id="60" name="Shape 58"/>
          <p:cNvSpPr/>
          <p:nvPr/>
        </p:nvSpPr>
        <p:spPr>
          <a:xfrm>
            <a:off x="3685032" y="3335050"/>
            <a:ext cx="3136392" cy="502378"/>
          </a:xfrm>
          <a:prstGeom prst="rect">
            <a:avLst/>
          </a:prstGeom>
          <a:solidFill>
            <a:srgbClr val="FFFFFF"/>
          </a:solidFill>
          <a:ln w="12700">
            <a:solidFill>
              <a:srgbClr val="E5EDED"/>
            </a:solidFill>
            <a:prstDash val="solid"/>
          </a:ln>
        </p:spPr>
      </p:sp>
      <p:sp>
        <p:nvSpPr>
          <p:cNvPr id="61" name="Text 59"/>
          <p:cNvSpPr/>
          <p:nvPr/>
        </p:nvSpPr>
        <p:spPr>
          <a:xfrm>
            <a:off x="3758184" y="3380770"/>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Reduced post-harvest losses, improved fish quality, and increased market value.</a:t>
            </a:r>
            <a:endParaRPr lang="en-US" sz="1000" dirty="0">
              <a:latin typeface="Footlight MT Light" panose="0204060206030A020304" pitchFamily="18" charset="0"/>
            </a:endParaRPr>
          </a:p>
        </p:txBody>
      </p:sp>
      <p:sp>
        <p:nvSpPr>
          <p:cNvPr id="62" name="Shape 60"/>
          <p:cNvSpPr/>
          <p:nvPr/>
        </p:nvSpPr>
        <p:spPr>
          <a:xfrm>
            <a:off x="256032" y="3886407"/>
            <a:ext cx="292608" cy="502378"/>
          </a:xfrm>
          <a:prstGeom prst="rect">
            <a:avLst/>
          </a:prstGeom>
          <a:solidFill>
            <a:srgbClr val="F5FCFC"/>
          </a:solidFill>
          <a:ln w="12700">
            <a:solidFill>
              <a:srgbClr val="E5EDED"/>
            </a:solidFill>
            <a:prstDash val="solid"/>
          </a:ln>
        </p:spPr>
      </p:sp>
      <p:sp>
        <p:nvSpPr>
          <p:cNvPr id="63" name="Text 61"/>
          <p:cNvSpPr/>
          <p:nvPr/>
        </p:nvSpPr>
        <p:spPr>
          <a:xfrm>
            <a:off x="329184" y="393212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a:t>
            </a:r>
            <a:endParaRPr lang="en-US" sz="1000" dirty="0">
              <a:latin typeface="Footlight MT Light" panose="0204060206030A020304" pitchFamily="18" charset="0"/>
            </a:endParaRPr>
          </a:p>
        </p:txBody>
      </p:sp>
      <p:sp>
        <p:nvSpPr>
          <p:cNvPr id="64" name="Shape 62"/>
          <p:cNvSpPr/>
          <p:nvPr/>
        </p:nvSpPr>
        <p:spPr>
          <a:xfrm>
            <a:off x="548640" y="3886407"/>
            <a:ext cx="1417320" cy="502378"/>
          </a:xfrm>
          <a:prstGeom prst="rect">
            <a:avLst/>
          </a:prstGeom>
          <a:solidFill>
            <a:srgbClr val="F5FCFC"/>
          </a:solidFill>
          <a:ln w="12700">
            <a:solidFill>
              <a:srgbClr val="E5EDED"/>
            </a:solidFill>
            <a:prstDash val="solid"/>
          </a:ln>
        </p:spPr>
      </p:sp>
      <p:sp>
        <p:nvSpPr>
          <p:cNvPr id="65" name="Text 63"/>
          <p:cNvSpPr/>
          <p:nvPr/>
        </p:nvSpPr>
        <p:spPr>
          <a:xfrm>
            <a:off x="621792" y="393212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Marketing Accessory Kits</a:t>
            </a:r>
            <a:endParaRPr lang="en-US" sz="1000" dirty="0">
              <a:latin typeface="Footlight MT Light" panose="0204060206030A020304" pitchFamily="18" charset="0"/>
            </a:endParaRPr>
          </a:p>
        </p:txBody>
      </p:sp>
      <p:sp>
        <p:nvSpPr>
          <p:cNvPr id="66" name="Shape 64"/>
          <p:cNvSpPr/>
          <p:nvPr/>
        </p:nvSpPr>
        <p:spPr>
          <a:xfrm>
            <a:off x="1965960" y="3886407"/>
            <a:ext cx="1719072" cy="502378"/>
          </a:xfrm>
          <a:prstGeom prst="rect">
            <a:avLst/>
          </a:prstGeom>
          <a:solidFill>
            <a:srgbClr val="F5FCFC"/>
          </a:solidFill>
          <a:ln w="12700">
            <a:solidFill>
              <a:srgbClr val="E5EDED"/>
            </a:solidFill>
            <a:prstDash val="solid"/>
          </a:ln>
        </p:spPr>
      </p:sp>
      <p:sp>
        <p:nvSpPr>
          <p:cNvPr id="67" name="Text 65"/>
          <p:cNvSpPr/>
          <p:nvPr/>
        </p:nvSpPr>
        <p:spPr>
          <a:xfrm>
            <a:off x="2039112" y="393212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25 kits distributed</a:t>
            </a:r>
            <a:endParaRPr lang="en-US" sz="1000" dirty="0">
              <a:latin typeface="Footlight MT Light" panose="0204060206030A020304" pitchFamily="18" charset="0"/>
            </a:endParaRPr>
          </a:p>
        </p:txBody>
      </p:sp>
      <p:sp>
        <p:nvSpPr>
          <p:cNvPr id="68" name="Shape 66"/>
          <p:cNvSpPr/>
          <p:nvPr/>
        </p:nvSpPr>
        <p:spPr>
          <a:xfrm>
            <a:off x="3685032" y="3886407"/>
            <a:ext cx="3136392" cy="502378"/>
          </a:xfrm>
          <a:prstGeom prst="rect">
            <a:avLst/>
          </a:prstGeom>
          <a:solidFill>
            <a:srgbClr val="F5FCFC"/>
          </a:solidFill>
          <a:ln w="12700">
            <a:solidFill>
              <a:srgbClr val="E5EDED"/>
            </a:solidFill>
            <a:prstDash val="solid"/>
          </a:ln>
        </p:spPr>
      </p:sp>
      <p:sp>
        <p:nvSpPr>
          <p:cNvPr id="69" name="Text 67"/>
          <p:cNvSpPr/>
          <p:nvPr/>
        </p:nvSpPr>
        <p:spPr>
          <a:xfrm>
            <a:off x="3758184" y="393212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 handling, hygiene, weighing accuracy, and marketing efficiency.</a:t>
            </a:r>
            <a:endParaRPr lang="en-US" sz="1000" dirty="0">
              <a:latin typeface="Footlight MT Light" panose="0204060206030A020304" pitchFamily="18" charset="0"/>
            </a:endParaRPr>
          </a:p>
        </p:txBody>
      </p:sp>
      <p:sp>
        <p:nvSpPr>
          <p:cNvPr id="70" name="Shape 68"/>
          <p:cNvSpPr/>
          <p:nvPr/>
        </p:nvSpPr>
        <p:spPr>
          <a:xfrm>
            <a:off x="256032" y="4427758"/>
            <a:ext cx="292608" cy="502378"/>
          </a:xfrm>
          <a:prstGeom prst="rect">
            <a:avLst/>
          </a:prstGeom>
          <a:solidFill>
            <a:srgbClr val="FFFFFF"/>
          </a:solidFill>
          <a:ln w="12700">
            <a:solidFill>
              <a:srgbClr val="E5EDED"/>
            </a:solidFill>
            <a:prstDash val="solid"/>
          </a:ln>
        </p:spPr>
      </p:sp>
      <p:sp>
        <p:nvSpPr>
          <p:cNvPr id="71" name="Text 69"/>
          <p:cNvSpPr/>
          <p:nvPr/>
        </p:nvSpPr>
        <p:spPr>
          <a:xfrm>
            <a:off x="329184" y="4473478"/>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7</a:t>
            </a:r>
            <a:endParaRPr lang="en-US" sz="1000" dirty="0">
              <a:latin typeface="Footlight MT Light" panose="0204060206030A020304" pitchFamily="18" charset="0"/>
            </a:endParaRPr>
          </a:p>
        </p:txBody>
      </p:sp>
      <p:sp>
        <p:nvSpPr>
          <p:cNvPr id="72" name="Shape 70"/>
          <p:cNvSpPr/>
          <p:nvPr/>
        </p:nvSpPr>
        <p:spPr>
          <a:xfrm>
            <a:off x="548640" y="4427758"/>
            <a:ext cx="1417320" cy="502378"/>
          </a:xfrm>
          <a:prstGeom prst="rect">
            <a:avLst/>
          </a:prstGeom>
          <a:solidFill>
            <a:srgbClr val="FFFFFF"/>
          </a:solidFill>
          <a:ln w="12700">
            <a:solidFill>
              <a:srgbClr val="E5EDED"/>
            </a:solidFill>
            <a:prstDash val="solid"/>
          </a:ln>
        </p:spPr>
      </p:sp>
      <p:sp>
        <p:nvSpPr>
          <p:cNvPr id="73" name="Text 71"/>
          <p:cNvSpPr/>
          <p:nvPr/>
        </p:nvSpPr>
        <p:spPr>
          <a:xfrm>
            <a:off x="621792" y="4473478"/>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Brood Stock Procurement</a:t>
            </a:r>
            <a:endParaRPr lang="en-US" sz="1000" dirty="0">
              <a:latin typeface="Footlight MT Light" panose="0204060206030A020304" pitchFamily="18" charset="0"/>
            </a:endParaRPr>
          </a:p>
        </p:txBody>
      </p:sp>
      <p:sp>
        <p:nvSpPr>
          <p:cNvPr id="74" name="Shape 72"/>
          <p:cNvSpPr/>
          <p:nvPr/>
        </p:nvSpPr>
        <p:spPr>
          <a:xfrm>
            <a:off x="1965960" y="4427758"/>
            <a:ext cx="1719072" cy="502378"/>
          </a:xfrm>
          <a:prstGeom prst="rect">
            <a:avLst/>
          </a:prstGeom>
          <a:solidFill>
            <a:srgbClr val="FFFFFF"/>
          </a:solidFill>
          <a:ln w="12700">
            <a:solidFill>
              <a:srgbClr val="E5EDED"/>
            </a:solidFill>
            <a:prstDash val="solid"/>
          </a:ln>
        </p:spPr>
      </p:sp>
      <p:sp>
        <p:nvSpPr>
          <p:cNvPr id="75" name="Text 73"/>
          <p:cNvSpPr/>
          <p:nvPr/>
        </p:nvSpPr>
        <p:spPr>
          <a:xfrm>
            <a:off x="2039112" y="4473478"/>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1,000 kg brood stock procured</a:t>
            </a:r>
            <a:endParaRPr lang="en-US" sz="1000" dirty="0">
              <a:latin typeface="Footlight MT Light" panose="0204060206030A020304" pitchFamily="18" charset="0"/>
            </a:endParaRPr>
          </a:p>
        </p:txBody>
      </p:sp>
      <p:sp>
        <p:nvSpPr>
          <p:cNvPr id="76" name="Shape 74"/>
          <p:cNvSpPr/>
          <p:nvPr/>
        </p:nvSpPr>
        <p:spPr>
          <a:xfrm>
            <a:off x="3685032" y="4427758"/>
            <a:ext cx="3136392" cy="502378"/>
          </a:xfrm>
          <a:prstGeom prst="rect">
            <a:avLst/>
          </a:prstGeom>
          <a:solidFill>
            <a:srgbClr val="FFFFFF"/>
          </a:solidFill>
          <a:ln w="12700">
            <a:solidFill>
              <a:srgbClr val="E5EDED"/>
            </a:solidFill>
            <a:prstDash val="solid"/>
          </a:ln>
        </p:spPr>
      </p:sp>
      <p:sp>
        <p:nvSpPr>
          <p:cNvPr id="77" name="Text 75"/>
          <p:cNvSpPr/>
          <p:nvPr/>
        </p:nvSpPr>
        <p:spPr>
          <a:xfrm>
            <a:off x="3758184" y="4473478"/>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Strengthened fish breeding, seed production, and long-term fish stock sustainability.</a:t>
            </a:r>
            <a:endParaRPr lang="en-US" sz="1000" dirty="0">
              <a:latin typeface="Footlight MT Light" panose="0204060206030A020304" pitchFamily="18" charset="0"/>
            </a:endParaRPr>
          </a:p>
        </p:txBody>
      </p:sp>
      <p:sp>
        <p:nvSpPr>
          <p:cNvPr id="78" name="Shape 76"/>
          <p:cNvSpPr/>
          <p:nvPr/>
        </p:nvSpPr>
        <p:spPr>
          <a:xfrm>
            <a:off x="256032" y="4973922"/>
            <a:ext cx="292608" cy="502378"/>
          </a:xfrm>
          <a:prstGeom prst="rect">
            <a:avLst/>
          </a:prstGeom>
          <a:solidFill>
            <a:srgbClr val="F5FCFC"/>
          </a:solidFill>
          <a:ln w="12700">
            <a:solidFill>
              <a:srgbClr val="E5EDED"/>
            </a:solidFill>
            <a:prstDash val="solid"/>
          </a:ln>
        </p:spPr>
      </p:sp>
      <p:sp>
        <p:nvSpPr>
          <p:cNvPr id="79" name="Text 77"/>
          <p:cNvSpPr/>
          <p:nvPr/>
        </p:nvSpPr>
        <p:spPr>
          <a:xfrm>
            <a:off x="329184" y="5019642"/>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a:t>
            </a:r>
            <a:endParaRPr lang="en-US" sz="1000" dirty="0">
              <a:latin typeface="Footlight MT Light" panose="0204060206030A020304" pitchFamily="18" charset="0"/>
            </a:endParaRPr>
          </a:p>
        </p:txBody>
      </p:sp>
      <p:sp>
        <p:nvSpPr>
          <p:cNvPr id="80" name="Shape 78"/>
          <p:cNvSpPr/>
          <p:nvPr/>
        </p:nvSpPr>
        <p:spPr>
          <a:xfrm>
            <a:off x="548640" y="4973922"/>
            <a:ext cx="1417320" cy="502378"/>
          </a:xfrm>
          <a:prstGeom prst="rect">
            <a:avLst/>
          </a:prstGeom>
          <a:solidFill>
            <a:srgbClr val="F5FCFC"/>
          </a:solidFill>
          <a:ln w="12700">
            <a:solidFill>
              <a:srgbClr val="E5EDED"/>
            </a:solidFill>
            <a:prstDash val="solid"/>
          </a:ln>
        </p:spPr>
      </p:sp>
      <p:sp>
        <p:nvSpPr>
          <p:cNvPr id="81" name="Text 79"/>
          <p:cNvSpPr/>
          <p:nvPr/>
        </p:nvSpPr>
        <p:spPr>
          <a:xfrm>
            <a:off x="621792" y="5019642"/>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Fingerling Stocking</a:t>
            </a:r>
            <a:endParaRPr lang="en-US" sz="1000" dirty="0">
              <a:latin typeface="Footlight MT Light" panose="0204060206030A020304" pitchFamily="18" charset="0"/>
            </a:endParaRPr>
          </a:p>
        </p:txBody>
      </p:sp>
      <p:sp>
        <p:nvSpPr>
          <p:cNvPr id="82" name="Shape 80"/>
          <p:cNvSpPr/>
          <p:nvPr/>
        </p:nvSpPr>
        <p:spPr>
          <a:xfrm>
            <a:off x="1965960" y="4973922"/>
            <a:ext cx="1719072" cy="502378"/>
          </a:xfrm>
          <a:prstGeom prst="rect">
            <a:avLst/>
          </a:prstGeom>
          <a:solidFill>
            <a:srgbClr val="F5FCFC"/>
          </a:solidFill>
          <a:ln w="12700">
            <a:solidFill>
              <a:srgbClr val="E5EDED"/>
            </a:solidFill>
            <a:prstDash val="solid"/>
          </a:ln>
        </p:spPr>
      </p:sp>
      <p:sp>
        <p:nvSpPr>
          <p:cNvPr id="83" name="Text 81"/>
          <p:cNvSpPr/>
          <p:nvPr/>
        </p:nvSpPr>
        <p:spPr>
          <a:xfrm>
            <a:off x="2039112" y="5019642"/>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21.5 lakh in 5 reservoirs (242 ha) over 3 years</a:t>
            </a:r>
            <a:endParaRPr lang="en-US" sz="1000" dirty="0">
              <a:latin typeface="Footlight MT Light" panose="0204060206030A020304" pitchFamily="18" charset="0"/>
            </a:endParaRPr>
          </a:p>
        </p:txBody>
      </p:sp>
      <p:sp>
        <p:nvSpPr>
          <p:cNvPr id="84" name="Shape 82"/>
          <p:cNvSpPr/>
          <p:nvPr/>
        </p:nvSpPr>
        <p:spPr>
          <a:xfrm>
            <a:off x="3685032" y="4973922"/>
            <a:ext cx="3136392" cy="502378"/>
          </a:xfrm>
          <a:prstGeom prst="rect">
            <a:avLst/>
          </a:prstGeom>
          <a:solidFill>
            <a:srgbClr val="F5FCFC"/>
          </a:solidFill>
          <a:ln w="12700">
            <a:solidFill>
              <a:srgbClr val="E5EDED"/>
            </a:solidFill>
            <a:prstDash val="solid"/>
          </a:ln>
        </p:spPr>
      </p:sp>
      <p:sp>
        <p:nvSpPr>
          <p:cNvPr id="85" name="Text 83"/>
          <p:cNvSpPr/>
          <p:nvPr/>
        </p:nvSpPr>
        <p:spPr>
          <a:xfrm>
            <a:off x="3758184" y="5019642"/>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fish population, improved biodiversity, and increased fisher incomes.</a:t>
            </a:r>
            <a:endParaRPr lang="en-US" sz="1000" dirty="0">
              <a:latin typeface="Footlight MT Light" panose="0204060206030A020304" pitchFamily="18" charset="0"/>
            </a:endParaRPr>
          </a:p>
        </p:txBody>
      </p:sp>
      <p:sp>
        <p:nvSpPr>
          <p:cNvPr id="86" name="Shape 84"/>
          <p:cNvSpPr/>
          <p:nvPr/>
        </p:nvSpPr>
        <p:spPr>
          <a:xfrm>
            <a:off x="256032" y="5515377"/>
            <a:ext cx="292608" cy="502378"/>
          </a:xfrm>
          <a:prstGeom prst="rect">
            <a:avLst/>
          </a:prstGeom>
          <a:solidFill>
            <a:srgbClr val="FFFFFF"/>
          </a:solidFill>
          <a:ln w="12700">
            <a:solidFill>
              <a:srgbClr val="E5EDED"/>
            </a:solidFill>
            <a:prstDash val="solid"/>
          </a:ln>
        </p:spPr>
      </p:sp>
      <p:sp>
        <p:nvSpPr>
          <p:cNvPr id="87" name="Text 85"/>
          <p:cNvSpPr/>
          <p:nvPr/>
        </p:nvSpPr>
        <p:spPr>
          <a:xfrm>
            <a:off x="329184" y="556109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a:t>
            </a:r>
            <a:endParaRPr lang="en-US" sz="1000" dirty="0">
              <a:latin typeface="Footlight MT Light" panose="0204060206030A020304" pitchFamily="18" charset="0"/>
            </a:endParaRPr>
          </a:p>
        </p:txBody>
      </p:sp>
      <p:sp>
        <p:nvSpPr>
          <p:cNvPr id="88" name="Shape 86"/>
          <p:cNvSpPr/>
          <p:nvPr/>
        </p:nvSpPr>
        <p:spPr>
          <a:xfrm>
            <a:off x="548640" y="5515377"/>
            <a:ext cx="1417320" cy="502378"/>
          </a:xfrm>
          <a:prstGeom prst="rect">
            <a:avLst/>
          </a:prstGeom>
          <a:solidFill>
            <a:srgbClr val="FFFFFF"/>
          </a:solidFill>
          <a:ln w="12700">
            <a:solidFill>
              <a:srgbClr val="E5EDED"/>
            </a:solidFill>
            <a:prstDash val="solid"/>
          </a:ln>
        </p:spPr>
      </p:sp>
      <p:sp>
        <p:nvSpPr>
          <p:cNvPr id="89" name="Text 87"/>
          <p:cNvSpPr/>
          <p:nvPr/>
        </p:nvSpPr>
        <p:spPr>
          <a:xfrm>
            <a:off x="621792" y="556109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Brood Stock Feed</a:t>
            </a:r>
            <a:endParaRPr lang="en-US" sz="1000" dirty="0">
              <a:latin typeface="Footlight MT Light" panose="0204060206030A020304" pitchFamily="18" charset="0"/>
            </a:endParaRPr>
          </a:p>
        </p:txBody>
      </p:sp>
      <p:sp>
        <p:nvSpPr>
          <p:cNvPr id="90" name="Shape 88"/>
          <p:cNvSpPr/>
          <p:nvPr/>
        </p:nvSpPr>
        <p:spPr>
          <a:xfrm>
            <a:off x="1965960" y="5515377"/>
            <a:ext cx="1719072" cy="502378"/>
          </a:xfrm>
          <a:prstGeom prst="rect">
            <a:avLst/>
          </a:prstGeom>
          <a:solidFill>
            <a:srgbClr val="FFFFFF"/>
          </a:solidFill>
          <a:ln w="12700">
            <a:solidFill>
              <a:srgbClr val="E5EDED"/>
            </a:solidFill>
            <a:prstDash val="solid"/>
          </a:ln>
        </p:spPr>
      </p:sp>
      <p:sp>
        <p:nvSpPr>
          <p:cNvPr id="91" name="Text 89"/>
          <p:cNvSpPr/>
          <p:nvPr/>
        </p:nvSpPr>
        <p:spPr>
          <a:xfrm>
            <a:off x="2039112" y="556109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Feed provided for 12 months</a:t>
            </a:r>
            <a:endParaRPr lang="en-US" sz="1000" dirty="0">
              <a:latin typeface="Footlight MT Light" panose="0204060206030A020304" pitchFamily="18" charset="0"/>
            </a:endParaRPr>
          </a:p>
        </p:txBody>
      </p:sp>
      <p:sp>
        <p:nvSpPr>
          <p:cNvPr id="92" name="Shape 90"/>
          <p:cNvSpPr/>
          <p:nvPr/>
        </p:nvSpPr>
        <p:spPr>
          <a:xfrm>
            <a:off x="3685032" y="5515377"/>
            <a:ext cx="3136392" cy="502378"/>
          </a:xfrm>
          <a:prstGeom prst="rect">
            <a:avLst/>
          </a:prstGeom>
          <a:solidFill>
            <a:srgbClr val="FFFFFF"/>
          </a:solidFill>
          <a:ln w="12700">
            <a:solidFill>
              <a:srgbClr val="E5EDED"/>
            </a:solidFill>
            <a:prstDash val="solid"/>
          </a:ln>
        </p:spPr>
      </p:sp>
      <p:sp>
        <p:nvSpPr>
          <p:cNvPr id="93" name="Text 91"/>
          <p:cNvSpPr/>
          <p:nvPr/>
        </p:nvSpPr>
        <p:spPr>
          <a:xfrm>
            <a:off x="3758184" y="556109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 growth, breeding performance, and hatchery productivity.</a:t>
            </a:r>
            <a:endParaRPr lang="en-US" sz="1000" dirty="0">
              <a:latin typeface="Footlight MT Light" panose="0204060206030A020304" pitchFamily="18" charset="0"/>
            </a:endParaRPr>
          </a:p>
        </p:txBody>
      </p:sp>
      <p:sp>
        <p:nvSpPr>
          <p:cNvPr id="94" name="Shape 92"/>
          <p:cNvSpPr/>
          <p:nvPr/>
        </p:nvSpPr>
        <p:spPr>
          <a:xfrm>
            <a:off x="256032" y="6067458"/>
            <a:ext cx="292608" cy="502378"/>
          </a:xfrm>
          <a:prstGeom prst="rect">
            <a:avLst/>
          </a:prstGeom>
          <a:solidFill>
            <a:srgbClr val="F5FCFC"/>
          </a:solidFill>
          <a:ln w="12700">
            <a:solidFill>
              <a:srgbClr val="E5EDED"/>
            </a:solidFill>
            <a:prstDash val="solid"/>
          </a:ln>
        </p:spPr>
      </p:sp>
      <p:sp>
        <p:nvSpPr>
          <p:cNvPr id="95" name="Text 93"/>
          <p:cNvSpPr/>
          <p:nvPr/>
        </p:nvSpPr>
        <p:spPr>
          <a:xfrm>
            <a:off x="329184" y="6113178"/>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10</a:t>
            </a:r>
            <a:endParaRPr lang="en-US" sz="1000" dirty="0">
              <a:latin typeface="Footlight MT Light" panose="0204060206030A020304" pitchFamily="18" charset="0"/>
            </a:endParaRPr>
          </a:p>
        </p:txBody>
      </p:sp>
      <p:sp>
        <p:nvSpPr>
          <p:cNvPr id="96" name="Shape 94"/>
          <p:cNvSpPr/>
          <p:nvPr/>
        </p:nvSpPr>
        <p:spPr>
          <a:xfrm>
            <a:off x="548640" y="6067458"/>
            <a:ext cx="1417320" cy="502378"/>
          </a:xfrm>
          <a:prstGeom prst="rect">
            <a:avLst/>
          </a:prstGeom>
          <a:solidFill>
            <a:srgbClr val="F5FCFC"/>
          </a:solidFill>
          <a:ln w="12700">
            <a:solidFill>
              <a:srgbClr val="E5EDED"/>
            </a:solidFill>
            <a:prstDash val="solid"/>
          </a:ln>
        </p:spPr>
      </p:sp>
      <p:sp>
        <p:nvSpPr>
          <p:cNvPr id="97" name="Text 95"/>
          <p:cNvSpPr/>
          <p:nvPr/>
        </p:nvSpPr>
        <p:spPr>
          <a:xfrm>
            <a:off x="621792" y="6113178"/>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Hatchery Rearing Support</a:t>
            </a:r>
            <a:endParaRPr lang="en-US" sz="1000" dirty="0">
              <a:latin typeface="Footlight MT Light" panose="0204060206030A020304" pitchFamily="18" charset="0"/>
            </a:endParaRPr>
          </a:p>
        </p:txBody>
      </p:sp>
      <p:sp>
        <p:nvSpPr>
          <p:cNvPr id="98" name="Shape 96"/>
          <p:cNvSpPr/>
          <p:nvPr/>
        </p:nvSpPr>
        <p:spPr>
          <a:xfrm>
            <a:off x="1965960" y="6067458"/>
            <a:ext cx="1719072" cy="502378"/>
          </a:xfrm>
          <a:prstGeom prst="rect">
            <a:avLst/>
          </a:prstGeom>
          <a:solidFill>
            <a:srgbClr val="F5FCFC"/>
          </a:solidFill>
          <a:ln w="12700">
            <a:solidFill>
              <a:srgbClr val="E5EDED"/>
            </a:solidFill>
            <a:prstDash val="solid"/>
          </a:ln>
        </p:spPr>
      </p:sp>
      <p:sp>
        <p:nvSpPr>
          <p:cNvPr id="99" name="Text 97"/>
          <p:cNvSpPr/>
          <p:nvPr/>
        </p:nvSpPr>
        <p:spPr>
          <a:xfrm>
            <a:off x="2039112" y="6113178"/>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Nets, haps, feed, medicines, equipment provided</a:t>
            </a:r>
            <a:endParaRPr lang="en-US" sz="1000" dirty="0">
              <a:latin typeface="Footlight MT Light" panose="0204060206030A020304" pitchFamily="18" charset="0"/>
            </a:endParaRPr>
          </a:p>
        </p:txBody>
      </p:sp>
      <p:sp>
        <p:nvSpPr>
          <p:cNvPr id="100" name="Shape 98"/>
          <p:cNvSpPr/>
          <p:nvPr/>
        </p:nvSpPr>
        <p:spPr>
          <a:xfrm>
            <a:off x="3685032" y="6067458"/>
            <a:ext cx="3136392" cy="502378"/>
          </a:xfrm>
          <a:prstGeom prst="rect">
            <a:avLst/>
          </a:prstGeom>
          <a:solidFill>
            <a:srgbClr val="F5FCFC"/>
          </a:solidFill>
          <a:ln w="12700">
            <a:solidFill>
              <a:srgbClr val="E5EDED"/>
            </a:solidFill>
            <a:prstDash val="solid"/>
          </a:ln>
        </p:spPr>
      </p:sp>
      <p:sp>
        <p:nvSpPr>
          <p:cNvPr id="101" name="Text 99"/>
          <p:cNvSpPr/>
          <p:nvPr/>
        </p:nvSpPr>
        <p:spPr>
          <a:xfrm>
            <a:off x="3758184" y="6113178"/>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Increased fish seed production, reduced mortality, and strengthened hatchery operations.</a:t>
            </a:r>
            <a:endParaRPr lang="en-US" sz="1000" dirty="0">
              <a:latin typeface="Footlight MT Light" panose="0204060206030A020304" pitchFamily="18" charset="0"/>
            </a:endParaRPr>
          </a:p>
        </p:txBody>
      </p:sp>
      <p:sp>
        <p:nvSpPr>
          <p:cNvPr id="102" name="Shape 100"/>
          <p:cNvSpPr/>
          <p:nvPr/>
        </p:nvSpPr>
        <p:spPr>
          <a:xfrm>
            <a:off x="250460" y="6676109"/>
            <a:ext cx="6541138" cy="560617"/>
          </a:xfrm>
          <a:prstGeom prst="roundRect">
            <a:avLst>
              <a:gd name="adj" fmla="val 13333"/>
            </a:avLst>
          </a:prstGeom>
          <a:solidFill>
            <a:srgbClr val="FFF8E6"/>
          </a:solidFill>
          <a:ln w="12700">
            <a:solidFill>
              <a:srgbClr val="C8960A"/>
            </a:solidFill>
            <a:prstDash val="solid"/>
          </a:ln>
        </p:spPr>
      </p:sp>
      <p:sp>
        <p:nvSpPr>
          <p:cNvPr id="103" name="Shape 101"/>
          <p:cNvSpPr/>
          <p:nvPr/>
        </p:nvSpPr>
        <p:spPr>
          <a:xfrm>
            <a:off x="250459" y="6676109"/>
            <a:ext cx="46535" cy="560617"/>
          </a:xfrm>
          <a:prstGeom prst="rect">
            <a:avLst/>
          </a:prstGeom>
          <a:solidFill>
            <a:srgbClr val="C8960A"/>
          </a:solidFill>
          <a:ln w="12700">
            <a:solidFill>
              <a:srgbClr val="C8960A"/>
            </a:solidFill>
            <a:prstDash val="solid"/>
          </a:ln>
        </p:spPr>
      </p:sp>
      <p:sp>
        <p:nvSpPr>
          <p:cNvPr id="104" name="Text 102"/>
          <p:cNvSpPr/>
          <p:nvPr/>
        </p:nvSpPr>
        <p:spPr>
          <a:xfrm>
            <a:off x="433340" y="6769653"/>
            <a:ext cx="6314932" cy="411119"/>
          </a:xfrm>
          <a:prstGeom prst="rect">
            <a:avLst/>
          </a:prstGeom>
          <a:noFill/>
          <a:ln/>
        </p:spPr>
        <p:txBody>
          <a:bodyPr wrap="square" lIns="0" tIns="0" rIns="0" bIns="0" rtlCol="0" anchor="ctr"/>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Overall: These fishery livelihood interventions significantly strengthened tribal fishing communities - improving fish production, reducing post-harvest losses, and contributing to greater income and economic resilience.</a:t>
            </a:r>
            <a:endParaRPr lang="en-US" sz="950" dirty="0">
              <a:latin typeface="Felix Titling" panose="04060505060202020A04" pitchFamily="8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pic>
        <p:nvPicPr>
          <p:cNvPr id="93" name="Image 10"/>
          <p:cNvPicPr>
            <a:picLocks noChangeAspect="1"/>
          </p:cNvPicPr>
          <p:nvPr/>
        </p:nvPicPr>
        <p:blipFill>
          <a:blip r:embed="rId3"/>
          <a:srcRect/>
          <a:stretch/>
        </p:blipFill>
        <p:spPr>
          <a:xfrm rot="10800000" flipV="1">
            <a:off x="3918070" y="7667224"/>
            <a:ext cx="2132486" cy="1679868"/>
          </a:xfrm>
          <a:prstGeom prst="rect">
            <a:avLst/>
          </a:prstGeom>
        </p:spPr>
      </p:pic>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Impact on Fisheries-Based Livelihoods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11" name="Shape 9"/>
          <p:cNvSpPr/>
          <p:nvPr/>
        </p:nvSpPr>
        <p:spPr>
          <a:xfrm>
            <a:off x="0" y="320040"/>
            <a:ext cx="6858000" cy="2240280"/>
          </a:xfrm>
          <a:prstGeom prst="rect">
            <a:avLst/>
          </a:prstGeom>
          <a:solidFill>
            <a:srgbClr val="005F5F"/>
          </a:solidFill>
          <a:ln w="12700">
            <a:solidFill>
              <a:srgbClr val="005F5F"/>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sp>
        <p:nvSpPr>
          <p:cNvPr id="13" name="Text 11"/>
          <p:cNvSpPr/>
          <p:nvPr/>
        </p:nvSpPr>
        <p:spPr>
          <a:xfrm>
            <a:off x="292608" y="475488"/>
            <a:ext cx="6272784" cy="347472"/>
          </a:xfrm>
          <a:prstGeom prst="rect">
            <a:avLst/>
          </a:prstGeom>
          <a:noFill/>
          <a:ln/>
        </p:spPr>
        <p:txBody>
          <a:bodyPr wrap="square" lIns="0" tIns="0" rIns="0" bIns="0" rtlCol="0" anchor="t"/>
          <a:lstStyle/>
          <a:p>
            <a:pPr marL="0" indent="0" algn="l">
              <a:buNone/>
            </a:pPr>
            <a:r>
              <a:rPr lang="en-US" b="1" dirty="0">
                <a:solidFill>
                  <a:srgbClr val="FFFFFF"/>
                </a:solidFill>
                <a:latin typeface="Felix Titling" panose="04060505060202020A04" pitchFamily="82" charset="0"/>
                <a:ea typeface="Cambria" pitchFamily="34" charset="-122"/>
                <a:cs typeface="Cambria" pitchFamily="34" charset="-120"/>
              </a:rPr>
              <a:t>Impact on Fisheries-Based Livelihoods</a:t>
            </a:r>
            <a:endParaRPr lang="en-US" dirty="0">
              <a:latin typeface="Felix Titling" panose="04060505060202020A04" pitchFamily="82" charset="0"/>
            </a:endParaRPr>
          </a:p>
        </p:txBody>
      </p:sp>
      <p:sp>
        <p:nvSpPr>
          <p:cNvPr id="14" name="Text 12"/>
          <p:cNvSpPr/>
          <p:nvPr/>
        </p:nvSpPr>
        <p:spPr>
          <a:xfrm>
            <a:off x="292608" y="859536"/>
            <a:ext cx="6272784" cy="402336"/>
          </a:xfrm>
          <a:prstGeom prst="rect">
            <a:avLst/>
          </a:prstGeom>
          <a:noFill/>
          <a:ln/>
        </p:spPr>
        <p:txBody>
          <a:bodyPr wrap="square" lIns="0" tIns="0" rIns="0" bIns="0" rtlCol="0" anchor="t"/>
          <a:lstStyle/>
          <a:p>
            <a:pPr marL="0" indent="0" algn="l">
              <a:buNone/>
            </a:pPr>
            <a:r>
              <a:rPr lang="en-US" sz="1050" dirty="0">
                <a:solidFill>
                  <a:srgbClr val="E0F2F2"/>
                </a:solidFill>
                <a:latin typeface="Footlight MT Light" panose="0204060206030A020304" pitchFamily="18" charset="0"/>
                <a:ea typeface="Calibri" pitchFamily="34" charset="-122"/>
                <a:cs typeface="Calibri" pitchFamily="34" charset="-120"/>
              </a:rPr>
              <a:t>During the three-year project period (2023–2026), a total of 270 fishermen directly benefited from fisheries-based livelihood interventions. Together, they harvested 1,20,552 kg of fish, generating a cumulative income of ₹1.89 Crore.</a:t>
            </a:r>
            <a:endParaRPr lang="en-US" sz="1050" dirty="0">
              <a:latin typeface="Footlight MT Light" panose="0204060206030A020304" pitchFamily="18" charset="0"/>
            </a:endParaRPr>
          </a:p>
        </p:txBody>
      </p:sp>
      <p:sp>
        <p:nvSpPr>
          <p:cNvPr id="15" name="Shape 13"/>
          <p:cNvSpPr/>
          <p:nvPr/>
        </p:nvSpPr>
        <p:spPr>
          <a:xfrm>
            <a:off x="201168" y="1470154"/>
            <a:ext cx="2060448" cy="950976"/>
          </a:xfrm>
          <a:prstGeom prst="roundRect">
            <a:avLst>
              <a:gd name="adj" fmla="val 7692"/>
            </a:avLst>
          </a:prstGeom>
          <a:solidFill>
            <a:srgbClr val="FFFFFF"/>
          </a:solidFill>
          <a:ln w="12700">
            <a:solidFill>
              <a:srgbClr val="C5DADA"/>
            </a:solidFill>
            <a:prstDash val="solid"/>
          </a:ln>
        </p:spPr>
      </p:sp>
      <p:pic>
        <p:nvPicPr>
          <p:cNvPr id="16" name="Image 0" descr="preencoded.png"/>
          <p:cNvPicPr>
            <a:picLocks noChangeAspect="1"/>
          </p:cNvPicPr>
          <p:nvPr/>
        </p:nvPicPr>
        <p:blipFill>
          <a:blip r:embed="rId4">
            <a:duotone>
              <a:schemeClr val="accent4">
                <a:shade val="45000"/>
                <a:satMod val="135000"/>
              </a:schemeClr>
              <a:prstClr val="white"/>
            </a:duotone>
          </a:blip>
          <a:stretch>
            <a:fillRect/>
          </a:stretch>
        </p:blipFill>
        <p:spPr>
          <a:xfrm>
            <a:off x="1782911" y="1962743"/>
            <a:ext cx="414697" cy="414697"/>
          </a:xfrm>
          <a:prstGeom prst="rect">
            <a:avLst/>
          </a:prstGeom>
        </p:spPr>
      </p:pic>
      <p:sp>
        <p:nvSpPr>
          <p:cNvPr id="17" name="Text 14"/>
          <p:cNvSpPr/>
          <p:nvPr/>
        </p:nvSpPr>
        <p:spPr>
          <a:xfrm>
            <a:off x="347472" y="1389888"/>
            <a:ext cx="2097024" cy="621792"/>
          </a:xfrm>
          <a:prstGeom prst="rect">
            <a:avLst/>
          </a:prstGeom>
          <a:noFill/>
          <a:ln/>
        </p:spPr>
        <p:txBody>
          <a:bodyPr wrap="square" lIns="0" tIns="0" rIns="0" bIns="0" rtlCol="0" anchor="ctr"/>
          <a:lstStyle/>
          <a:p>
            <a:pPr marL="0" indent="0" algn="l">
              <a:buNone/>
            </a:pPr>
            <a:r>
              <a:rPr lang="en-US" sz="3200" b="1" dirty="0">
                <a:solidFill>
                  <a:srgbClr val="005F5F"/>
                </a:solidFill>
                <a:latin typeface="Felix Titling" panose="04060505060202020A04" pitchFamily="82" charset="0"/>
                <a:ea typeface="Cambria" pitchFamily="34" charset="-122"/>
                <a:cs typeface="Cambria" pitchFamily="34" charset="-120"/>
              </a:rPr>
              <a:t>270</a:t>
            </a:r>
            <a:endParaRPr lang="en-US" sz="3200" dirty="0">
              <a:latin typeface="Felix Titling" panose="04060505060202020A04" pitchFamily="82" charset="0"/>
            </a:endParaRPr>
          </a:p>
        </p:txBody>
      </p:sp>
      <p:sp>
        <p:nvSpPr>
          <p:cNvPr id="18" name="Text 15"/>
          <p:cNvSpPr/>
          <p:nvPr/>
        </p:nvSpPr>
        <p:spPr>
          <a:xfrm>
            <a:off x="434898"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Direct</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Beneficiaries</a:t>
            </a:r>
            <a:endParaRPr lang="en-US" sz="1100" dirty="0">
              <a:latin typeface="Felix Titling" panose="04060505060202020A04" pitchFamily="82" charset="0"/>
            </a:endParaRPr>
          </a:p>
        </p:txBody>
      </p:sp>
      <p:sp>
        <p:nvSpPr>
          <p:cNvPr id="19" name="Shape 16"/>
          <p:cNvSpPr/>
          <p:nvPr/>
        </p:nvSpPr>
        <p:spPr>
          <a:xfrm>
            <a:off x="2353056" y="1463040"/>
            <a:ext cx="2060448" cy="950976"/>
          </a:xfrm>
          <a:prstGeom prst="roundRect">
            <a:avLst>
              <a:gd name="adj" fmla="val 7692"/>
            </a:avLst>
          </a:prstGeom>
          <a:solidFill>
            <a:srgbClr val="E0F2F2"/>
          </a:solidFill>
          <a:ln w="12700">
            <a:solidFill>
              <a:srgbClr val="C5DADA"/>
            </a:solidFill>
            <a:prstDash val="solid"/>
          </a:ln>
        </p:spPr>
      </p:sp>
      <p:pic>
        <p:nvPicPr>
          <p:cNvPr id="20" name="Image 1" descr="preencoded.png"/>
          <p:cNvPicPr>
            <a:picLocks noChangeAspect="1"/>
          </p:cNvPicPr>
          <p:nvPr/>
        </p:nvPicPr>
        <p:blipFill>
          <a:blip r:embed="rId5">
            <a:duotone>
              <a:schemeClr val="accent4">
                <a:shade val="45000"/>
                <a:satMod val="135000"/>
              </a:schemeClr>
              <a:prstClr val="white"/>
            </a:duotone>
          </a:blip>
          <a:stretch>
            <a:fillRect/>
          </a:stretch>
        </p:blipFill>
        <p:spPr>
          <a:xfrm>
            <a:off x="3918072" y="1958684"/>
            <a:ext cx="414697" cy="414697"/>
          </a:xfrm>
          <a:prstGeom prst="rect">
            <a:avLst/>
          </a:prstGeom>
        </p:spPr>
      </p:pic>
      <p:sp>
        <p:nvSpPr>
          <p:cNvPr id="21" name="Text 17"/>
          <p:cNvSpPr/>
          <p:nvPr/>
        </p:nvSpPr>
        <p:spPr>
          <a:xfrm>
            <a:off x="2499360" y="1389888"/>
            <a:ext cx="2097024" cy="621792"/>
          </a:xfrm>
          <a:prstGeom prst="rect">
            <a:avLst/>
          </a:prstGeom>
          <a:noFill/>
          <a:ln/>
        </p:spPr>
        <p:txBody>
          <a:bodyPr wrap="square" lIns="0" tIns="0" rIns="0" bIns="0" rtlCol="0" anchor="ctr"/>
          <a:lstStyle/>
          <a:p>
            <a:pPr marL="0" indent="0" algn="l">
              <a:buNone/>
            </a:pPr>
            <a:r>
              <a:rPr lang="en-US" sz="3200" b="1" dirty="0">
                <a:solidFill>
                  <a:srgbClr val="005F5F"/>
                </a:solidFill>
                <a:latin typeface="Felix Titling" panose="04060505060202020A04" pitchFamily="82" charset="0"/>
                <a:ea typeface="Cambria" pitchFamily="34" charset="-122"/>
                <a:cs typeface="Cambria" pitchFamily="34" charset="-120"/>
              </a:rPr>
              <a:t>1,20,552 </a:t>
            </a:r>
            <a:r>
              <a:rPr lang="en-US" sz="1600" b="1" dirty="0">
                <a:solidFill>
                  <a:srgbClr val="005F5F"/>
                </a:solidFill>
                <a:latin typeface="Felix Titling" panose="04060505060202020A04" pitchFamily="82" charset="0"/>
                <a:ea typeface="Cambria" pitchFamily="34" charset="-122"/>
                <a:cs typeface="Cambria" pitchFamily="34" charset="-120"/>
              </a:rPr>
              <a:t>kg</a:t>
            </a:r>
            <a:endParaRPr lang="en-US" sz="3200" dirty="0">
              <a:latin typeface="Felix Titling" panose="04060505060202020A04" pitchFamily="82" charset="0"/>
            </a:endParaRPr>
          </a:p>
        </p:txBody>
      </p:sp>
      <p:sp>
        <p:nvSpPr>
          <p:cNvPr id="22" name="Text 18"/>
          <p:cNvSpPr/>
          <p:nvPr/>
        </p:nvSpPr>
        <p:spPr>
          <a:xfrm>
            <a:off x="2586786"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Total Fish</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Production</a:t>
            </a:r>
            <a:endParaRPr lang="en-US" sz="1100" dirty="0">
              <a:latin typeface="Felix Titling" panose="04060505060202020A04" pitchFamily="82" charset="0"/>
            </a:endParaRPr>
          </a:p>
        </p:txBody>
      </p:sp>
      <p:sp>
        <p:nvSpPr>
          <p:cNvPr id="23" name="Shape 19"/>
          <p:cNvSpPr/>
          <p:nvPr/>
        </p:nvSpPr>
        <p:spPr>
          <a:xfrm>
            <a:off x="4504944" y="1463040"/>
            <a:ext cx="2060448" cy="950976"/>
          </a:xfrm>
          <a:prstGeom prst="roundRect">
            <a:avLst>
              <a:gd name="adj" fmla="val 7692"/>
            </a:avLst>
          </a:prstGeom>
          <a:solidFill>
            <a:srgbClr val="FFF8E6"/>
          </a:solidFill>
          <a:ln w="12700">
            <a:solidFill>
              <a:srgbClr val="C5DADA"/>
            </a:solidFill>
            <a:prstDash val="solid"/>
          </a:ln>
        </p:spPr>
      </p:sp>
      <p:pic>
        <p:nvPicPr>
          <p:cNvPr id="24" name="Image 2" descr="preencoded.png"/>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Lst>
          </a:blip>
          <a:stretch>
            <a:fillRect/>
          </a:stretch>
        </p:blipFill>
        <p:spPr>
          <a:xfrm>
            <a:off x="6050557" y="1944455"/>
            <a:ext cx="414697" cy="414697"/>
          </a:xfrm>
          <a:prstGeom prst="rect">
            <a:avLst/>
          </a:prstGeom>
        </p:spPr>
      </p:pic>
      <p:sp>
        <p:nvSpPr>
          <p:cNvPr id="25" name="Text 20"/>
          <p:cNvSpPr/>
          <p:nvPr/>
        </p:nvSpPr>
        <p:spPr>
          <a:xfrm>
            <a:off x="4651248" y="1389888"/>
            <a:ext cx="2097024" cy="621792"/>
          </a:xfrm>
          <a:prstGeom prst="rect">
            <a:avLst/>
          </a:prstGeom>
          <a:noFill/>
          <a:ln/>
        </p:spPr>
        <p:txBody>
          <a:bodyPr wrap="square" lIns="0" tIns="0" rIns="0" bIns="0" rtlCol="0" anchor="ctr"/>
          <a:lstStyle/>
          <a:p>
            <a:pPr marL="0" indent="0" algn="l">
              <a:buNone/>
            </a:pPr>
            <a:r>
              <a:rPr lang="en-US" sz="3200" b="1" dirty="0">
                <a:solidFill>
                  <a:srgbClr val="A67C00"/>
                </a:solidFill>
                <a:latin typeface="Felix Titling" panose="04060505060202020A04" pitchFamily="82" charset="0"/>
                <a:ea typeface="Cambria" pitchFamily="34" charset="-122"/>
                <a:cs typeface="Cambria" pitchFamily="34" charset="-120"/>
              </a:rPr>
              <a:t>₹1.89 </a:t>
            </a:r>
            <a:r>
              <a:rPr lang="en-US" sz="1600" b="1" dirty="0">
                <a:solidFill>
                  <a:srgbClr val="A67C00"/>
                </a:solidFill>
                <a:latin typeface="Felix Titling" panose="04060505060202020A04" pitchFamily="82" charset="0"/>
                <a:ea typeface="Cambria" pitchFamily="34" charset="-122"/>
                <a:cs typeface="Cambria" pitchFamily="34" charset="-120"/>
              </a:rPr>
              <a:t>Crore</a:t>
            </a:r>
            <a:endParaRPr lang="en-US" sz="3200" dirty="0">
              <a:latin typeface="Felix Titling" panose="04060505060202020A04" pitchFamily="82" charset="0"/>
            </a:endParaRPr>
          </a:p>
        </p:txBody>
      </p:sp>
      <p:sp>
        <p:nvSpPr>
          <p:cNvPr id="26" name="Text 21"/>
          <p:cNvSpPr/>
          <p:nvPr/>
        </p:nvSpPr>
        <p:spPr>
          <a:xfrm>
            <a:off x="4738674"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Total Income</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Generated</a:t>
            </a:r>
            <a:endParaRPr lang="en-US" sz="1100" dirty="0">
              <a:latin typeface="Felix Titling" panose="04060505060202020A04" pitchFamily="82" charset="0"/>
            </a:endParaRPr>
          </a:p>
        </p:txBody>
      </p:sp>
      <p:sp>
        <p:nvSpPr>
          <p:cNvPr id="27" name="Text 22"/>
          <p:cNvSpPr/>
          <p:nvPr/>
        </p:nvSpPr>
        <p:spPr>
          <a:xfrm>
            <a:off x="280613" y="2695726"/>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Fisheries Income Generated During the Project</a:t>
            </a:r>
            <a:endParaRPr lang="en-US" dirty="0">
              <a:latin typeface="Felix Titling" panose="04060505060202020A04" pitchFamily="82" charset="0"/>
            </a:endParaRPr>
          </a:p>
        </p:txBody>
      </p:sp>
      <p:sp>
        <p:nvSpPr>
          <p:cNvPr id="28" name="Text 23"/>
          <p:cNvSpPr/>
          <p:nvPr/>
        </p:nvSpPr>
        <p:spPr>
          <a:xfrm>
            <a:off x="280613" y="2942614"/>
            <a:ext cx="6272784" cy="201168"/>
          </a:xfrm>
          <a:prstGeom prst="rect">
            <a:avLst/>
          </a:prstGeom>
          <a:noFill/>
          <a:ln/>
        </p:spPr>
        <p:txBody>
          <a:bodyPr wrap="square" lIns="0" tIns="0" rIns="0" bIns="0" rtlCol="0" anchor="t"/>
          <a:lstStyle/>
          <a:p>
            <a:pPr marL="0" indent="0">
              <a:buNone/>
            </a:pPr>
            <a:r>
              <a:rPr lang="en-US" sz="1100" i="1" dirty="0">
                <a:solidFill>
                  <a:srgbClr val="5E7070"/>
                </a:solidFill>
                <a:latin typeface="Footlight MT Light" panose="0204060206030A020304" pitchFamily="18" charset="0"/>
                <a:ea typeface="Calibri" pitchFamily="34" charset="-122"/>
                <a:cs typeface="Calibri" pitchFamily="34" charset="-120"/>
              </a:rPr>
              <a:t>Category-wise breakdown of fish production and income earned</a:t>
            </a:r>
            <a:endParaRPr lang="en-US" sz="1100" dirty="0">
              <a:latin typeface="Footlight MT Light" panose="0204060206030A020304" pitchFamily="18" charset="0"/>
            </a:endParaRPr>
          </a:p>
        </p:txBody>
      </p:sp>
      <p:sp>
        <p:nvSpPr>
          <p:cNvPr id="29" name="Shape 24"/>
          <p:cNvSpPr/>
          <p:nvPr/>
        </p:nvSpPr>
        <p:spPr>
          <a:xfrm>
            <a:off x="292608" y="3355244"/>
            <a:ext cx="822960" cy="45719"/>
          </a:xfrm>
          <a:prstGeom prst="rect">
            <a:avLst/>
          </a:prstGeom>
          <a:solidFill>
            <a:srgbClr val="C8960A"/>
          </a:solidFill>
          <a:ln w="12700">
            <a:solidFill>
              <a:srgbClr val="C8960A"/>
            </a:solidFill>
            <a:prstDash val="solid"/>
          </a:ln>
        </p:spPr>
      </p:sp>
      <p:sp>
        <p:nvSpPr>
          <p:cNvPr id="30" name="Shape 25"/>
          <p:cNvSpPr/>
          <p:nvPr/>
        </p:nvSpPr>
        <p:spPr>
          <a:xfrm>
            <a:off x="256032" y="3227229"/>
            <a:ext cx="1828800" cy="274320"/>
          </a:xfrm>
          <a:prstGeom prst="rect">
            <a:avLst/>
          </a:prstGeom>
          <a:solidFill>
            <a:srgbClr val="005F5F"/>
          </a:solidFill>
          <a:ln w="12700">
            <a:solidFill>
              <a:srgbClr val="005F5F"/>
            </a:solidFill>
            <a:prstDash val="solid"/>
          </a:ln>
        </p:spPr>
      </p:sp>
      <p:sp>
        <p:nvSpPr>
          <p:cNvPr id="31" name="Text 26"/>
          <p:cNvSpPr/>
          <p:nvPr/>
        </p:nvSpPr>
        <p:spPr>
          <a:xfrm>
            <a:off x="329184" y="3227229"/>
            <a:ext cx="168249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Category</a:t>
            </a:r>
            <a:endParaRPr lang="en-US" sz="1200" dirty="0">
              <a:latin typeface="Footlight MT Light" panose="0204060206030A020304" pitchFamily="18" charset="0"/>
            </a:endParaRPr>
          </a:p>
        </p:txBody>
      </p:sp>
      <p:sp>
        <p:nvSpPr>
          <p:cNvPr id="32" name="Shape 27"/>
          <p:cNvSpPr/>
          <p:nvPr/>
        </p:nvSpPr>
        <p:spPr>
          <a:xfrm>
            <a:off x="2084832" y="3227229"/>
            <a:ext cx="1005840" cy="274320"/>
          </a:xfrm>
          <a:prstGeom prst="rect">
            <a:avLst/>
          </a:prstGeom>
          <a:solidFill>
            <a:srgbClr val="005F5F"/>
          </a:solidFill>
          <a:ln w="12700">
            <a:solidFill>
              <a:srgbClr val="005F5F"/>
            </a:solidFill>
            <a:prstDash val="solid"/>
          </a:ln>
        </p:spPr>
      </p:sp>
      <p:sp>
        <p:nvSpPr>
          <p:cNvPr id="33" name="Text 28"/>
          <p:cNvSpPr/>
          <p:nvPr/>
        </p:nvSpPr>
        <p:spPr>
          <a:xfrm>
            <a:off x="2157984" y="3227229"/>
            <a:ext cx="85953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Beneficiaries</a:t>
            </a:r>
            <a:endParaRPr lang="en-US" sz="1200" dirty="0">
              <a:latin typeface="Footlight MT Light" panose="0204060206030A020304" pitchFamily="18" charset="0"/>
            </a:endParaRPr>
          </a:p>
        </p:txBody>
      </p:sp>
      <p:sp>
        <p:nvSpPr>
          <p:cNvPr id="34" name="Shape 29"/>
          <p:cNvSpPr/>
          <p:nvPr/>
        </p:nvSpPr>
        <p:spPr>
          <a:xfrm>
            <a:off x="3090672" y="3227229"/>
            <a:ext cx="1298448" cy="274320"/>
          </a:xfrm>
          <a:prstGeom prst="rect">
            <a:avLst/>
          </a:prstGeom>
          <a:solidFill>
            <a:srgbClr val="005F5F"/>
          </a:solidFill>
          <a:ln w="12700">
            <a:solidFill>
              <a:srgbClr val="005F5F"/>
            </a:solidFill>
            <a:prstDash val="solid"/>
          </a:ln>
        </p:spPr>
      </p:sp>
      <p:sp>
        <p:nvSpPr>
          <p:cNvPr id="35" name="Text 30"/>
          <p:cNvSpPr/>
          <p:nvPr/>
        </p:nvSpPr>
        <p:spPr>
          <a:xfrm>
            <a:off x="3163824" y="3227229"/>
            <a:ext cx="115214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Fish Production</a:t>
            </a:r>
            <a:endParaRPr lang="en-US" sz="1200" dirty="0">
              <a:latin typeface="Footlight MT Light" panose="0204060206030A020304" pitchFamily="18" charset="0"/>
            </a:endParaRPr>
          </a:p>
        </p:txBody>
      </p:sp>
      <p:sp>
        <p:nvSpPr>
          <p:cNvPr id="36" name="Shape 31"/>
          <p:cNvSpPr/>
          <p:nvPr/>
        </p:nvSpPr>
        <p:spPr>
          <a:xfrm>
            <a:off x="4389120" y="3227229"/>
            <a:ext cx="896112" cy="274320"/>
          </a:xfrm>
          <a:prstGeom prst="rect">
            <a:avLst/>
          </a:prstGeom>
          <a:solidFill>
            <a:srgbClr val="005F5F"/>
          </a:solidFill>
          <a:ln w="12700">
            <a:solidFill>
              <a:srgbClr val="005F5F"/>
            </a:solidFill>
            <a:prstDash val="solid"/>
          </a:ln>
        </p:spPr>
      </p:sp>
      <p:sp>
        <p:nvSpPr>
          <p:cNvPr id="37" name="Text 32"/>
          <p:cNvSpPr/>
          <p:nvPr/>
        </p:nvSpPr>
        <p:spPr>
          <a:xfrm>
            <a:off x="4462272" y="3227229"/>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Avg. Rate</a:t>
            </a:r>
            <a:endParaRPr lang="en-US" sz="1200" dirty="0">
              <a:latin typeface="Footlight MT Light" panose="0204060206030A020304" pitchFamily="18" charset="0"/>
            </a:endParaRPr>
          </a:p>
        </p:txBody>
      </p:sp>
      <p:sp>
        <p:nvSpPr>
          <p:cNvPr id="38" name="Shape 33"/>
          <p:cNvSpPr/>
          <p:nvPr/>
        </p:nvSpPr>
        <p:spPr>
          <a:xfrm>
            <a:off x="5285232" y="3227229"/>
            <a:ext cx="1536192" cy="274320"/>
          </a:xfrm>
          <a:prstGeom prst="rect">
            <a:avLst/>
          </a:prstGeom>
          <a:solidFill>
            <a:srgbClr val="005F5F"/>
          </a:solidFill>
          <a:ln w="12700">
            <a:solidFill>
              <a:srgbClr val="005F5F"/>
            </a:solidFill>
            <a:prstDash val="solid"/>
          </a:ln>
        </p:spPr>
      </p:sp>
      <p:sp>
        <p:nvSpPr>
          <p:cNvPr id="39" name="Text 34"/>
          <p:cNvSpPr/>
          <p:nvPr/>
        </p:nvSpPr>
        <p:spPr>
          <a:xfrm>
            <a:off x="5358384" y="3227229"/>
            <a:ext cx="138988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Income Generated</a:t>
            </a:r>
            <a:endParaRPr lang="en-US" sz="1200" dirty="0">
              <a:latin typeface="Footlight MT Light" panose="0204060206030A020304" pitchFamily="18" charset="0"/>
            </a:endParaRPr>
          </a:p>
        </p:txBody>
      </p:sp>
      <p:sp>
        <p:nvSpPr>
          <p:cNvPr id="40" name="Shape 35"/>
          <p:cNvSpPr/>
          <p:nvPr/>
        </p:nvSpPr>
        <p:spPr>
          <a:xfrm>
            <a:off x="256032" y="3501549"/>
            <a:ext cx="1828800" cy="317183"/>
          </a:xfrm>
          <a:prstGeom prst="rect">
            <a:avLst/>
          </a:prstGeom>
          <a:solidFill>
            <a:srgbClr val="FFFFFF"/>
          </a:solidFill>
          <a:ln w="12700">
            <a:solidFill>
              <a:srgbClr val="E5EDED"/>
            </a:solidFill>
            <a:prstDash val="solid"/>
          </a:ln>
        </p:spPr>
      </p:sp>
      <p:sp>
        <p:nvSpPr>
          <p:cNvPr id="41" name="Text 36"/>
          <p:cNvSpPr/>
          <p:nvPr/>
        </p:nvSpPr>
        <p:spPr>
          <a:xfrm>
            <a:off x="329184" y="3547269"/>
            <a:ext cx="168249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River Fishing Beneficiaries</a:t>
            </a:r>
            <a:endParaRPr lang="en-US" sz="1200" dirty="0">
              <a:latin typeface="Footlight MT Light" panose="0204060206030A020304" pitchFamily="18" charset="0"/>
            </a:endParaRPr>
          </a:p>
        </p:txBody>
      </p:sp>
      <p:sp>
        <p:nvSpPr>
          <p:cNvPr id="42" name="Shape 37"/>
          <p:cNvSpPr/>
          <p:nvPr/>
        </p:nvSpPr>
        <p:spPr>
          <a:xfrm>
            <a:off x="2084832" y="3501549"/>
            <a:ext cx="1005840" cy="317183"/>
          </a:xfrm>
          <a:prstGeom prst="rect">
            <a:avLst/>
          </a:prstGeom>
          <a:solidFill>
            <a:srgbClr val="FFFFFF"/>
          </a:solidFill>
          <a:ln w="12700">
            <a:solidFill>
              <a:srgbClr val="E5EDED"/>
            </a:solidFill>
            <a:prstDash val="solid"/>
          </a:ln>
        </p:spPr>
      </p:sp>
      <p:sp>
        <p:nvSpPr>
          <p:cNvPr id="43" name="Text 38"/>
          <p:cNvSpPr/>
          <p:nvPr/>
        </p:nvSpPr>
        <p:spPr>
          <a:xfrm>
            <a:off x="2157984" y="3547269"/>
            <a:ext cx="85953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198</a:t>
            </a:r>
            <a:endParaRPr lang="en-US" sz="1200" dirty="0">
              <a:latin typeface="Footlight MT Light" panose="0204060206030A020304" pitchFamily="18" charset="0"/>
            </a:endParaRPr>
          </a:p>
        </p:txBody>
      </p:sp>
      <p:sp>
        <p:nvSpPr>
          <p:cNvPr id="44" name="Shape 39"/>
          <p:cNvSpPr/>
          <p:nvPr/>
        </p:nvSpPr>
        <p:spPr>
          <a:xfrm>
            <a:off x="3090672" y="3501549"/>
            <a:ext cx="1298448" cy="317183"/>
          </a:xfrm>
          <a:prstGeom prst="rect">
            <a:avLst/>
          </a:prstGeom>
          <a:solidFill>
            <a:srgbClr val="FFFFFF"/>
          </a:solidFill>
          <a:ln w="12700">
            <a:solidFill>
              <a:srgbClr val="E5EDED"/>
            </a:solidFill>
            <a:prstDash val="solid"/>
          </a:ln>
        </p:spPr>
      </p:sp>
      <p:sp>
        <p:nvSpPr>
          <p:cNvPr id="45" name="Text 40"/>
          <p:cNvSpPr/>
          <p:nvPr/>
        </p:nvSpPr>
        <p:spPr>
          <a:xfrm>
            <a:off x="3163824" y="3547269"/>
            <a:ext cx="1152144"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68,406 kg</a:t>
            </a:r>
            <a:endParaRPr lang="en-US" sz="1200" dirty="0">
              <a:latin typeface="Footlight MT Light" panose="0204060206030A020304" pitchFamily="18" charset="0"/>
            </a:endParaRPr>
          </a:p>
        </p:txBody>
      </p:sp>
      <p:sp>
        <p:nvSpPr>
          <p:cNvPr id="46" name="Shape 41"/>
          <p:cNvSpPr/>
          <p:nvPr/>
        </p:nvSpPr>
        <p:spPr>
          <a:xfrm>
            <a:off x="4389120" y="3501549"/>
            <a:ext cx="896112" cy="317183"/>
          </a:xfrm>
          <a:prstGeom prst="rect">
            <a:avLst/>
          </a:prstGeom>
          <a:solidFill>
            <a:srgbClr val="FFFFFF"/>
          </a:solidFill>
          <a:ln w="12700">
            <a:solidFill>
              <a:srgbClr val="E5EDED"/>
            </a:solidFill>
            <a:prstDash val="solid"/>
          </a:ln>
        </p:spPr>
      </p:sp>
      <p:sp>
        <p:nvSpPr>
          <p:cNvPr id="47" name="Text 42"/>
          <p:cNvSpPr/>
          <p:nvPr/>
        </p:nvSpPr>
        <p:spPr>
          <a:xfrm>
            <a:off x="4462272" y="3547269"/>
            <a:ext cx="74980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₹155/kg</a:t>
            </a:r>
            <a:endParaRPr lang="en-US" sz="1200" dirty="0">
              <a:latin typeface="Footlight MT Light" panose="0204060206030A020304" pitchFamily="18" charset="0"/>
            </a:endParaRPr>
          </a:p>
        </p:txBody>
      </p:sp>
      <p:sp>
        <p:nvSpPr>
          <p:cNvPr id="48" name="Shape 43"/>
          <p:cNvSpPr/>
          <p:nvPr/>
        </p:nvSpPr>
        <p:spPr>
          <a:xfrm>
            <a:off x="5285232" y="3501549"/>
            <a:ext cx="1536192" cy="317183"/>
          </a:xfrm>
          <a:prstGeom prst="rect">
            <a:avLst/>
          </a:prstGeom>
          <a:solidFill>
            <a:srgbClr val="FFFFFF"/>
          </a:solidFill>
          <a:ln w="12700">
            <a:solidFill>
              <a:srgbClr val="E5EDED"/>
            </a:solidFill>
            <a:prstDash val="solid"/>
          </a:ln>
        </p:spPr>
      </p:sp>
      <p:sp>
        <p:nvSpPr>
          <p:cNvPr id="49" name="Text 44"/>
          <p:cNvSpPr/>
          <p:nvPr/>
        </p:nvSpPr>
        <p:spPr>
          <a:xfrm>
            <a:off x="5358384" y="3547269"/>
            <a:ext cx="138988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₹1,06,02,930</a:t>
            </a:r>
            <a:endParaRPr lang="en-US" sz="1200" dirty="0">
              <a:latin typeface="Footlight MT Light" panose="0204060206030A020304" pitchFamily="18" charset="0"/>
            </a:endParaRPr>
          </a:p>
        </p:txBody>
      </p:sp>
      <p:sp>
        <p:nvSpPr>
          <p:cNvPr id="50" name="Shape 45"/>
          <p:cNvSpPr/>
          <p:nvPr/>
        </p:nvSpPr>
        <p:spPr>
          <a:xfrm>
            <a:off x="256032" y="3857073"/>
            <a:ext cx="1828800" cy="317183"/>
          </a:xfrm>
          <a:prstGeom prst="rect">
            <a:avLst/>
          </a:prstGeom>
          <a:solidFill>
            <a:srgbClr val="F5FCFC"/>
          </a:solidFill>
          <a:ln w="12700">
            <a:solidFill>
              <a:srgbClr val="E5EDED"/>
            </a:solidFill>
            <a:prstDash val="solid"/>
          </a:ln>
        </p:spPr>
      </p:sp>
      <p:sp>
        <p:nvSpPr>
          <p:cNvPr id="51" name="Text 46"/>
          <p:cNvSpPr/>
          <p:nvPr/>
        </p:nvSpPr>
        <p:spPr>
          <a:xfrm>
            <a:off x="329184" y="3902793"/>
            <a:ext cx="168249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Dam Fishing Beneficiaries</a:t>
            </a:r>
            <a:endParaRPr lang="en-US" sz="1200" dirty="0">
              <a:latin typeface="Footlight MT Light" panose="0204060206030A020304" pitchFamily="18" charset="0"/>
            </a:endParaRPr>
          </a:p>
        </p:txBody>
      </p:sp>
      <p:sp>
        <p:nvSpPr>
          <p:cNvPr id="52" name="Shape 47"/>
          <p:cNvSpPr/>
          <p:nvPr/>
        </p:nvSpPr>
        <p:spPr>
          <a:xfrm>
            <a:off x="2084832" y="3857073"/>
            <a:ext cx="1005840" cy="317183"/>
          </a:xfrm>
          <a:prstGeom prst="rect">
            <a:avLst/>
          </a:prstGeom>
          <a:solidFill>
            <a:srgbClr val="F5FCFC"/>
          </a:solidFill>
          <a:ln w="12700">
            <a:solidFill>
              <a:srgbClr val="E5EDED"/>
            </a:solidFill>
            <a:prstDash val="solid"/>
          </a:ln>
        </p:spPr>
      </p:sp>
      <p:sp>
        <p:nvSpPr>
          <p:cNvPr id="53" name="Text 48"/>
          <p:cNvSpPr/>
          <p:nvPr/>
        </p:nvSpPr>
        <p:spPr>
          <a:xfrm>
            <a:off x="2157984" y="3902793"/>
            <a:ext cx="85953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72</a:t>
            </a:r>
            <a:endParaRPr lang="en-US" sz="1200" dirty="0">
              <a:latin typeface="Footlight MT Light" panose="0204060206030A020304" pitchFamily="18" charset="0"/>
            </a:endParaRPr>
          </a:p>
        </p:txBody>
      </p:sp>
      <p:sp>
        <p:nvSpPr>
          <p:cNvPr id="54" name="Shape 49"/>
          <p:cNvSpPr/>
          <p:nvPr/>
        </p:nvSpPr>
        <p:spPr>
          <a:xfrm>
            <a:off x="3090672" y="3857073"/>
            <a:ext cx="1298448" cy="317183"/>
          </a:xfrm>
          <a:prstGeom prst="rect">
            <a:avLst/>
          </a:prstGeom>
          <a:solidFill>
            <a:srgbClr val="F5FCFC"/>
          </a:solidFill>
          <a:ln w="12700">
            <a:solidFill>
              <a:srgbClr val="E5EDED"/>
            </a:solidFill>
            <a:prstDash val="solid"/>
          </a:ln>
        </p:spPr>
      </p:sp>
      <p:sp>
        <p:nvSpPr>
          <p:cNvPr id="55" name="Text 50"/>
          <p:cNvSpPr/>
          <p:nvPr/>
        </p:nvSpPr>
        <p:spPr>
          <a:xfrm>
            <a:off x="3163824" y="3902793"/>
            <a:ext cx="1152144"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52,146 kg</a:t>
            </a:r>
            <a:endParaRPr lang="en-US" sz="1200" dirty="0">
              <a:latin typeface="Footlight MT Light" panose="0204060206030A020304" pitchFamily="18" charset="0"/>
            </a:endParaRPr>
          </a:p>
        </p:txBody>
      </p:sp>
      <p:sp>
        <p:nvSpPr>
          <p:cNvPr id="56" name="Shape 51"/>
          <p:cNvSpPr/>
          <p:nvPr/>
        </p:nvSpPr>
        <p:spPr>
          <a:xfrm>
            <a:off x="4389120" y="3857073"/>
            <a:ext cx="896112" cy="317183"/>
          </a:xfrm>
          <a:prstGeom prst="rect">
            <a:avLst/>
          </a:prstGeom>
          <a:solidFill>
            <a:srgbClr val="F5FCFC"/>
          </a:solidFill>
          <a:ln w="12700">
            <a:solidFill>
              <a:srgbClr val="E5EDED"/>
            </a:solidFill>
            <a:prstDash val="solid"/>
          </a:ln>
        </p:spPr>
      </p:sp>
      <p:sp>
        <p:nvSpPr>
          <p:cNvPr id="57" name="Text 52"/>
          <p:cNvSpPr/>
          <p:nvPr/>
        </p:nvSpPr>
        <p:spPr>
          <a:xfrm>
            <a:off x="4462272" y="3902793"/>
            <a:ext cx="74980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₹160/kg</a:t>
            </a:r>
            <a:endParaRPr lang="en-US" sz="1200" dirty="0">
              <a:latin typeface="Footlight MT Light" panose="0204060206030A020304" pitchFamily="18" charset="0"/>
            </a:endParaRPr>
          </a:p>
        </p:txBody>
      </p:sp>
      <p:sp>
        <p:nvSpPr>
          <p:cNvPr id="58" name="Shape 53"/>
          <p:cNvSpPr/>
          <p:nvPr/>
        </p:nvSpPr>
        <p:spPr>
          <a:xfrm>
            <a:off x="5285232" y="3857073"/>
            <a:ext cx="1536192" cy="317183"/>
          </a:xfrm>
          <a:prstGeom prst="rect">
            <a:avLst/>
          </a:prstGeom>
          <a:solidFill>
            <a:srgbClr val="F5FCFC"/>
          </a:solidFill>
          <a:ln w="12700">
            <a:solidFill>
              <a:srgbClr val="E5EDED"/>
            </a:solidFill>
            <a:prstDash val="solid"/>
          </a:ln>
        </p:spPr>
      </p:sp>
      <p:sp>
        <p:nvSpPr>
          <p:cNvPr id="59" name="Text 54"/>
          <p:cNvSpPr/>
          <p:nvPr/>
        </p:nvSpPr>
        <p:spPr>
          <a:xfrm>
            <a:off x="5358384" y="3902793"/>
            <a:ext cx="138988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₹83,43,360</a:t>
            </a:r>
            <a:endParaRPr lang="en-US" sz="1200" dirty="0">
              <a:latin typeface="Footlight MT Light" panose="0204060206030A020304" pitchFamily="18" charset="0"/>
            </a:endParaRPr>
          </a:p>
        </p:txBody>
      </p:sp>
      <p:sp>
        <p:nvSpPr>
          <p:cNvPr id="60" name="Shape 55"/>
          <p:cNvSpPr/>
          <p:nvPr/>
        </p:nvSpPr>
        <p:spPr>
          <a:xfrm>
            <a:off x="249936" y="4213354"/>
            <a:ext cx="1828800" cy="317183"/>
          </a:xfrm>
          <a:prstGeom prst="rect">
            <a:avLst/>
          </a:prstGeom>
          <a:solidFill>
            <a:srgbClr val="FFFFFF"/>
          </a:solidFill>
          <a:ln w="12700">
            <a:solidFill>
              <a:srgbClr val="E5EDED"/>
            </a:solidFill>
            <a:prstDash val="solid"/>
          </a:ln>
        </p:spPr>
      </p:sp>
      <p:sp>
        <p:nvSpPr>
          <p:cNvPr id="61" name="Text 56"/>
          <p:cNvSpPr/>
          <p:nvPr/>
        </p:nvSpPr>
        <p:spPr>
          <a:xfrm>
            <a:off x="323088" y="4259074"/>
            <a:ext cx="1682496"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TOTAL</a:t>
            </a:r>
            <a:endParaRPr lang="en-US" sz="1200" b="1" dirty="0">
              <a:latin typeface="Footlight MT Light" panose="0204060206030A020304" pitchFamily="18" charset="0"/>
            </a:endParaRPr>
          </a:p>
        </p:txBody>
      </p:sp>
      <p:sp>
        <p:nvSpPr>
          <p:cNvPr id="62" name="Shape 57"/>
          <p:cNvSpPr/>
          <p:nvPr/>
        </p:nvSpPr>
        <p:spPr>
          <a:xfrm>
            <a:off x="2078736" y="4213354"/>
            <a:ext cx="1005840" cy="317183"/>
          </a:xfrm>
          <a:prstGeom prst="rect">
            <a:avLst/>
          </a:prstGeom>
          <a:solidFill>
            <a:srgbClr val="FFFFFF"/>
          </a:solidFill>
          <a:ln w="12700">
            <a:solidFill>
              <a:srgbClr val="E5EDED"/>
            </a:solidFill>
            <a:prstDash val="solid"/>
          </a:ln>
        </p:spPr>
      </p:sp>
      <p:sp>
        <p:nvSpPr>
          <p:cNvPr id="63" name="Text 58"/>
          <p:cNvSpPr/>
          <p:nvPr/>
        </p:nvSpPr>
        <p:spPr>
          <a:xfrm>
            <a:off x="2151888" y="4259074"/>
            <a:ext cx="859536"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270</a:t>
            </a:r>
            <a:endParaRPr lang="en-US" sz="1200" b="1" dirty="0">
              <a:latin typeface="Footlight MT Light" panose="0204060206030A020304" pitchFamily="18" charset="0"/>
            </a:endParaRPr>
          </a:p>
        </p:txBody>
      </p:sp>
      <p:sp>
        <p:nvSpPr>
          <p:cNvPr id="64" name="Shape 59"/>
          <p:cNvSpPr/>
          <p:nvPr/>
        </p:nvSpPr>
        <p:spPr>
          <a:xfrm>
            <a:off x="3084576" y="4213354"/>
            <a:ext cx="1298448" cy="317183"/>
          </a:xfrm>
          <a:prstGeom prst="rect">
            <a:avLst/>
          </a:prstGeom>
          <a:solidFill>
            <a:srgbClr val="FFFFFF"/>
          </a:solidFill>
          <a:ln w="12700">
            <a:solidFill>
              <a:srgbClr val="E5EDED"/>
            </a:solidFill>
            <a:prstDash val="solid"/>
          </a:ln>
        </p:spPr>
      </p:sp>
      <p:sp>
        <p:nvSpPr>
          <p:cNvPr id="65" name="Text 60"/>
          <p:cNvSpPr/>
          <p:nvPr/>
        </p:nvSpPr>
        <p:spPr>
          <a:xfrm>
            <a:off x="3157728" y="4259074"/>
            <a:ext cx="1152144"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1,20,552 kg</a:t>
            </a:r>
            <a:endParaRPr lang="en-US" sz="1200" b="1" dirty="0">
              <a:latin typeface="Footlight MT Light" panose="0204060206030A020304" pitchFamily="18" charset="0"/>
            </a:endParaRPr>
          </a:p>
        </p:txBody>
      </p:sp>
      <p:sp>
        <p:nvSpPr>
          <p:cNvPr id="66" name="Shape 61"/>
          <p:cNvSpPr/>
          <p:nvPr/>
        </p:nvSpPr>
        <p:spPr>
          <a:xfrm>
            <a:off x="4383024" y="4213354"/>
            <a:ext cx="896112" cy="317183"/>
          </a:xfrm>
          <a:prstGeom prst="rect">
            <a:avLst/>
          </a:prstGeom>
          <a:solidFill>
            <a:srgbClr val="FFFFFF"/>
          </a:solidFill>
          <a:ln w="12700">
            <a:solidFill>
              <a:srgbClr val="E5EDED"/>
            </a:solidFill>
            <a:prstDash val="solid"/>
          </a:ln>
        </p:spPr>
      </p:sp>
      <p:sp>
        <p:nvSpPr>
          <p:cNvPr id="67" name="Text 62"/>
          <p:cNvSpPr/>
          <p:nvPr/>
        </p:nvSpPr>
        <p:spPr>
          <a:xfrm>
            <a:off x="4456176" y="4259074"/>
            <a:ext cx="749808"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a:t>
            </a:r>
            <a:endParaRPr lang="en-US" sz="1200" b="1" dirty="0">
              <a:latin typeface="Footlight MT Light" panose="0204060206030A020304" pitchFamily="18" charset="0"/>
            </a:endParaRPr>
          </a:p>
        </p:txBody>
      </p:sp>
      <p:sp>
        <p:nvSpPr>
          <p:cNvPr id="68" name="Shape 63"/>
          <p:cNvSpPr/>
          <p:nvPr/>
        </p:nvSpPr>
        <p:spPr>
          <a:xfrm>
            <a:off x="5279136" y="4213354"/>
            <a:ext cx="1536192" cy="317183"/>
          </a:xfrm>
          <a:prstGeom prst="rect">
            <a:avLst/>
          </a:prstGeom>
          <a:solidFill>
            <a:srgbClr val="FFFFFF"/>
          </a:solidFill>
          <a:ln w="12700">
            <a:solidFill>
              <a:srgbClr val="E5EDED"/>
            </a:solidFill>
            <a:prstDash val="solid"/>
          </a:ln>
        </p:spPr>
      </p:sp>
      <p:sp>
        <p:nvSpPr>
          <p:cNvPr id="69" name="Text 64"/>
          <p:cNvSpPr/>
          <p:nvPr/>
        </p:nvSpPr>
        <p:spPr>
          <a:xfrm>
            <a:off x="5352288" y="4259074"/>
            <a:ext cx="1389888"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₹1,89,46,290</a:t>
            </a:r>
            <a:endParaRPr lang="en-US" sz="1200" b="1" dirty="0">
              <a:latin typeface="Footlight MT Light" panose="0204060206030A020304" pitchFamily="18" charset="0"/>
            </a:endParaRPr>
          </a:p>
        </p:txBody>
      </p:sp>
      <p:sp>
        <p:nvSpPr>
          <p:cNvPr id="70" name="Text 65"/>
          <p:cNvSpPr/>
          <p:nvPr/>
        </p:nvSpPr>
        <p:spPr>
          <a:xfrm>
            <a:off x="274320" y="4686395"/>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Key Impact Achieved</a:t>
            </a:r>
            <a:endParaRPr lang="en-US" dirty="0">
              <a:latin typeface="Felix Titling" panose="04060505060202020A04" pitchFamily="82" charset="0"/>
            </a:endParaRPr>
          </a:p>
        </p:txBody>
      </p:sp>
      <p:sp>
        <p:nvSpPr>
          <p:cNvPr id="71" name="Shape 66"/>
          <p:cNvSpPr/>
          <p:nvPr/>
        </p:nvSpPr>
        <p:spPr>
          <a:xfrm>
            <a:off x="304800" y="4972696"/>
            <a:ext cx="822960" cy="45719"/>
          </a:xfrm>
          <a:prstGeom prst="rect">
            <a:avLst/>
          </a:prstGeom>
          <a:solidFill>
            <a:srgbClr val="C8960A"/>
          </a:solidFill>
          <a:ln w="12700">
            <a:solidFill>
              <a:srgbClr val="C8960A"/>
            </a:solidFill>
            <a:prstDash val="solid"/>
          </a:ln>
        </p:spPr>
      </p:sp>
      <p:sp>
        <p:nvSpPr>
          <p:cNvPr id="72" name="Shape 67"/>
          <p:cNvSpPr/>
          <p:nvPr/>
        </p:nvSpPr>
        <p:spPr>
          <a:xfrm>
            <a:off x="274320" y="5067407"/>
            <a:ext cx="6345936" cy="384048"/>
          </a:xfrm>
          <a:prstGeom prst="roundRect">
            <a:avLst>
              <a:gd name="adj" fmla="val 14286"/>
            </a:avLst>
          </a:prstGeom>
          <a:solidFill>
            <a:srgbClr val="FFFFFF"/>
          </a:solidFill>
          <a:ln w="12700">
            <a:solidFill>
              <a:srgbClr val="E5EDED"/>
            </a:solidFill>
            <a:prstDash val="solid"/>
          </a:ln>
        </p:spPr>
      </p:sp>
      <p:pic>
        <p:nvPicPr>
          <p:cNvPr id="73" name="Image 3" descr="preencoded.png"/>
          <p:cNvPicPr>
            <a:picLocks noChangeAspect="1"/>
          </p:cNvPicPr>
          <p:nvPr/>
        </p:nvPicPr>
        <p:blipFill>
          <a:blip r:embed="rId8"/>
          <a:stretch>
            <a:fillRect/>
          </a:stretch>
        </p:blipFill>
        <p:spPr>
          <a:xfrm>
            <a:off x="365760" y="5140559"/>
            <a:ext cx="237744" cy="237744"/>
          </a:xfrm>
          <a:prstGeom prst="rect">
            <a:avLst/>
          </a:prstGeom>
        </p:spPr>
      </p:pic>
      <p:sp>
        <p:nvSpPr>
          <p:cNvPr id="74" name="Text 68"/>
          <p:cNvSpPr/>
          <p:nvPr/>
        </p:nvSpPr>
        <p:spPr>
          <a:xfrm>
            <a:off x="676656" y="5113127"/>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270 tribal fishermen secured sustainable livelihood opportunities through project interventions.</a:t>
            </a:r>
            <a:endParaRPr lang="en-US" sz="1200" dirty="0">
              <a:latin typeface="Footlight MT Light" panose="0204060206030A020304" pitchFamily="18" charset="0"/>
            </a:endParaRPr>
          </a:p>
        </p:txBody>
      </p:sp>
      <p:sp>
        <p:nvSpPr>
          <p:cNvPr id="75" name="Shape 69"/>
          <p:cNvSpPr/>
          <p:nvPr/>
        </p:nvSpPr>
        <p:spPr>
          <a:xfrm>
            <a:off x="274320" y="5497175"/>
            <a:ext cx="6345936" cy="384048"/>
          </a:xfrm>
          <a:prstGeom prst="roundRect">
            <a:avLst>
              <a:gd name="adj" fmla="val 14286"/>
            </a:avLst>
          </a:prstGeom>
          <a:solidFill>
            <a:srgbClr val="F5FCFC"/>
          </a:solidFill>
          <a:ln w="12700">
            <a:solidFill>
              <a:srgbClr val="E5EDED"/>
            </a:solidFill>
            <a:prstDash val="solid"/>
          </a:ln>
        </p:spPr>
      </p:sp>
      <p:pic>
        <p:nvPicPr>
          <p:cNvPr id="76" name="Image 4" descr="preencoded.png"/>
          <p:cNvPicPr>
            <a:picLocks noChangeAspect="1"/>
          </p:cNvPicPr>
          <p:nvPr/>
        </p:nvPicPr>
        <p:blipFill>
          <a:blip r:embed="rId8"/>
          <a:stretch>
            <a:fillRect/>
          </a:stretch>
        </p:blipFill>
        <p:spPr>
          <a:xfrm>
            <a:off x="365760" y="5570327"/>
            <a:ext cx="237744" cy="237744"/>
          </a:xfrm>
          <a:prstGeom prst="rect">
            <a:avLst/>
          </a:prstGeom>
        </p:spPr>
      </p:pic>
      <p:sp>
        <p:nvSpPr>
          <p:cNvPr id="77" name="Text 70"/>
          <p:cNvSpPr/>
          <p:nvPr/>
        </p:nvSpPr>
        <p:spPr>
          <a:xfrm>
            <a:off x="676656" y="5542895"/>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1.20 lakh kg of fish production achieved during the project period across 5 reservoirs.</a:t>
            </a:r>
            <a:endParaRPr lang="en-US" sz="1200" dirty="0">
              <a:latin typeface="Footlight MT Light" panose="0204060206030A020304" pitchFamily="18" charset="0"/>
            </a:endParaRPr>
          </a:p>
        </p:txBody>
      </p:sp>
      <p:sp>
        <p:nvSpPr>
          <p:cNvPr id="78" name="Shape 71"/>
          <p:cNvSpPr/>
          <p:nvPr/>
        </p:nvSpPr>
        <p:spPr>
          <a:xfrm>
            <a:off x="274320" y="5926943"/>
            <a:ext cx="6345936" cy="384048"/>
          </a:xfrm>
          <a:prstGeom prst="roundRect">
            <a:avLst>
              <a:gd name="adj" fmla="val 14286"/>
            </a:avLst>
          </a:prstGeom>
          <a:solidFill>
            <a:srgbClr val="FFFFFF"/>
          </a:solidFill>
          <a:ln w="12700">
            <a:solidFill>
              <a:srgbClr val="E5EDED"/>
            </a:solidFill>
            <a:prstDash val="solid"/>
          </a:ln>
        </p:spPr>
      </p:sp>
      <p:pic>
        <p:nvPicPr>
          <p:cNvPr id="79" name="Image 5" descr="preencoded.png"/>
          <p:cNvPicPr>
            <a:picLocks noChangeAspect="1"/>
          </p:cNvPicPr>
          <p:nvPr/>
        </p:nvPicPr>
        <p:blipFill>
          <a:blip r:embed="rId8"/>
          <a:stretch>
            <a:fillRect/>
          </a:stretch>
        </p:blipFill>
        <p:spPr>
          <a:xfrm>
            <a:off x="365760" y="6000095"/>
            <a:ext cx="237744" cy="237744"/>
          </a:xfrm>
          <a:prstGeom prst="rect">
            <a:avLst/>
          </a:prstGeom>
        </p:spPr>
      </p:pic>
      <p:sp>
        <p:nvSpPr>
          <p:cNvPr id="80" name="Text 72"/>
          <p:cNvSpPr/>
          <p:nvPr/>
        </p:nvSpPr>
        <p:spPr>
          <a:xfrm>
            <a:off x="676656" y="5972663"/>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Total income of ₹1.89 Crore generated - ₹1.06 Cr from river fishing + ₹83.4 L from dam fishing.</a:t>
            </a:r>
            <a:endParaRPr lang="en-US" sz="1200" dirty="0">
              <a:latin typeface="Footlight MT Light" panose="0204060206030A020304" pitchFamily="18" charset="0"/>
            </a:endParaRPr>
          </a:p>
        </p:txBody>
      </p:sp>
      <p:sp>
        <p:nvSpPr>
          <p:cNvPr id="81" name="Shape 73"/>
          <p:cNvSpPr/>
          <p:nvPr/>
        </p:nvSpPr>
        <p:spPr>
          <a:xfrm>
            <a:off x="274320" y="6356711"/>
            <a:ext cx="6345936" cy="384048"/>
          </a:xfrm>
          <a:prstGeom prst="roundRect">
            <a:avLst>
              <a:gd name="adj" fmla="val 14286"/>
            </a:avLst>
          </a:prstGeom>
          <a:solidFill>
            <a:srgbClr val="F5FCFC"/>
          </a:solidFill>
          <a:ln w="12700">
            <a:solidFill>
              <a:srgbClr val="E5EDED"/>
            </a:solidFill>
            <a:prstDash val="solid"/>
          </a:ln>
        </p:spPr>
      </p:sp>
      <p:pic>
        <p:nvPicPr>
          <p:cNvPr id="82" name="Image 6" descr="preencoded.png"/>
          <p:cNvPicPr>
            <a:picLocks noChangeAspect="1"/>
          </p:cNvPicPr>
          <p:nvPr/>
        </p:nvPicPr>
        <p:blipFill>
          <a:blip r:embed="rId8"/>
          <a:stretch>
            <a:fillRect/>
          </a:stretch>
        </p:blipFill>
        <p:spPr>
          <a:xfrm>
            <a:off x="365760" y="6429863"/>
            <a:ext cx="237744" cy="237744"/>
          </a:xfrm>
          <a:prstGeom prst="rect">
            <a:avLst/>
          </a:prstGeom>
        </p:spPr>
      </p:pic>
      <p:sp>
        <p:nvSpPr>
          <p:cNvPr id="83" name="Text 74"/>
          <p:cNvSpPr/>
          <p:nvPr/>
        </p:nvSpPr>
        <p:spPr>
          <a:xfrm>
            <a:off x="676656" y="6402431"/>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Improved fishing equipment, stocking, and training enhanced productivity and catch efficiency.</a:t>
            </a:r>
            <a:endParaRPr lang="en-US" sz="1200" dirty="0">
              <a:latin typeface="Footlight MT Light" panose="0204060206030A020304" pitchFamily="18" charset="0"/>
            </a:endParaRPr>
          </a:p>
        </p:txBody>
      </p:sp>
      <p:sp>
        <p:nvSpPr>
          <p:cNvPr id="84" name="Shape 75"/>
          <p:cNvSpPr/>
          <p:nvPr/>
        </p:nvSpPr>
        <p:spPr>
          <a:xfrm>
            <a:off x="274320" y="6786479"/>
            <a:ext cx="6345936" cy="384048"/>
          </a:xfrm>
          <a:prstGeom prst="roundRect">
            <a:avLst>
              <a:gd name="adj" fmla="val 14286"/>
            </a:avLst>
          </a:prstGeom>
          <a:solidFill>
            <a:srgbClr val="FFFFFF"/>
          </a:solidFill>
          <a:ln w="12700">
            <a:solidFill>
              <a:srgbClr val="E5EDED"/>
            </a:solidFill>
            <a:prstDash val="solid"/>
          </a:ln>
        </p:spPr>
      </p:sp>
      <p:pic>
        <p:nvPicPr>
          <p:cNvPr id="85" name="Image 7" descr="preencoded.png"/>
          <p:cNvPicPr>
            <a:picLocks noChangeAspect="1"/>
          </p:cNvPicPr>
          <p:nvPr/>
        </p:nvPicPr>
        <p:blipFill>
          <a:blip r:embed="rId8"/>
          <a:stretch>
            <a:fillRect/>
          </a:stretch>
        </p:blipFill>
        <p:spPr>
          <a:xfrm>
            <a:off x="365760" y="6859631"/>
            <a:ext cx="237744" cy="237744"/>
          </a:xfrm>
          <a:prstGeom prst="rect">
            <a:avLst/>
          </a:prstGeom>
        </p:spPr>
      </p:pic>
      <p:sp>
        <p:nvSpPr>
          <p:cNvPr id="86" name="Text 76"/>
          <p:cNvSpPr/>
          <p:nvPr/>
        </p:nvSpPr>
        <p:spPr>
          <a:xfrm>
            <a:off x="676656" y="6832199"/>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Increased fish availability strengthened local markets and improved household food security.</a:t>
            </a:r>
            <a:endParaRPr lang="en-US" sz="1200" dirty="0">
              <a:latin typeface="Footlight MT Light" panose="0204060206030A020304" pitchFamily="18" charset="0"/>
            </a:endParaRPr>
          </a:p>
        </p:txBody>
      </p:sp>
      <p:sp>
        <p:nvSpPr>
          <p:cNvPr id="87" name="Shape 77"/>
          <p:cNvSpPr/>
          <p:nvPr/>
        </p:nvSpPr>
        <p:spPr>
          <a:xfrm>
            <a:off x="274320" y="7216247"/>
            <a:ext cx="6345936" cy="384048"/>
          </a:xfrm>
          <a:prstGeom prst="roundRect">
            <a:avLst>
              <a:gd name="adj" fmla="val 14286"/>
            </a:avLst>
          </a:prstGeom>
          <a:solidFill>
            <a:srgbClr val="F5FCFC"/>
          </a:solidFill>
          <a:ln w="12700">
            <a:solidFill>
              <a:srgbClr val="E5EDED"/>
            </a:solidFill>
            <a:prstDash val="solid"/>
          </a:ln>
        </p:spPr>
      </p:sp>
      <p:pic>
        <p:nvPicPr>
          <p:cNvPr id="88" name="Image 8" descr="preencoded.png"/>
          <p:cNvPicPr>
            <a:picLocks noChangeAspect="1"/>
          </p:cNvPicPr>
          <p:nvPr/>
        </p:nvPicPr>
        <p:blipFill>
          <a:blip r:embed="rId8"/>
          <a:stretch>
            <a:fillRect/>
          </a:stretch>
        </p:blipFill>
        <p:spPr>
          <a:xfrm>
            <a:off x="365760" y="7289399"/>
            <a:ext cx="237744" cy="237744"/>
          </a:xfrm>
          <a:prstGeom prst="rect">
            <a:avLst/>
          </a:prstGeom>
        </p:spPr>
      </p:pic>
      <p:sp>
        <p:nvSpPr>
          <p:cNvPr id="89" name="Text 78"/>
          <p:cNvSpPr/>
          <p:nvPr/>
        </p:nvSpPr>
        <p:spPr>
          <a:xfrm>
            <a:off x="676656" y="7261967"/>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Project contributed to greater economic resilience and improved living standards among tribal families.</a:t>
            </a:r>
            <a:endParaRPr lang="en-US" sz="1200" dirty="0">
              <a:latin typeface="Footlight MT Light" panose="0204060206030A020304" pitchFamily="18" charset="0"/>
            </a:endParaRPr>
          </a:p>
        </p:txBody>
      </p:sp>
      <p:pic>
        <p:nvPicPr>
          <p:cNvPr id="90" name="Image 9" descr="/home/claude/rpt_imgs/fisherman_river.jpg"/>
          <p:cNvPicPr>
            <a:picLocks noChangeAspect="1"/>
          </p:cNvPicPr>
          <p:nvPr/>
        </p:nvPicPr>
        <p:blipFill>
          <a:blip r:embed="rId9"/>
          <a:srcRect/>
          <a:stretch/>
        </p:blipFill>
        <p:spPr>
          <a:xfrm>
            <a:off x="690240" y="7667224"/>
            <a:ext cx="2134612" cy="1679868"/>
          </a:xfrm>
          <a:prstGeom prst="rect">
            <a:avLst/>
          </a:prstGeom>
        </p:spPr>
      </p:pic>
      <p:sp>
        <p:nvSpPr>
          <p:cNvPr id="91" name="Shape 79"/>
          <p:cNvSpPr/>
          <p:nvPr/>
        </p:nvSpPr>
        <p:spPr>
          <a:xfrm>
            <a:off x="690240" y="9226297"/>
            <a:ext cx="2134613" cy="247904"/>
          </a:xfrm>
          <a:prstGeom prst="rect">
            <a:avLst/>
          </a:prstGeom>
          <a:solidFill>
            <a:srgbClr val="2A3535"/>
          </a:solidFill>
          <a:ln w="12700">
            <a:solidFill>
              <a:srgbClr val="2A3535"/>
            </a:solidFill>
            <a:prstDash val="solid"/>
          </a:ln>
        </p:spPr>
      </p:sp>
      <p:sp>
        <p:nvSpPr>
          <p:cNvPr id="92" name="Text 80"/>
          <p:cNvSpPr/>
          <p:nvPr/>
        </p:nvSpPr>
        <p:spPr>
          <a:xfrm>
            <a:off x="740712" y="9286928"/>
            <a:ext cx="2035616" cy="171626"/>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Fisherman in Active Fishing - River Catch</a:t>
            </a:r>
            <a:endParaRPr lang="en-US" sz="900" dirty="0">
              <a:latin typeface="Footlight MT Light" panose="0204060206030A020304" pitchFamily="18" charset="0"/>
            </a:endParaRPr>
          </a:p>
        </p:txBody>
      </p:sp>
      <p:sp>
        <p:nvSpPr>
          <p:cNvPr id="94" name="Shape 81"/>
          <p:cNvSpPr/>
          <p:nvPr/>
        </p:nvSpPr>
        <p:spPr>
          <a:xfrm>
            <a:off x="3918072" y="9226297"/>
            <a:ext cx="2134613" cy="247904"/>
          </a:xfrm>
          <a:prstGeom prst="rect">
            <a:avLst/>
          </a:prstGeom>
          <a:solidFill>
            <a:srgbClr val="2A3535"/>
          </a:solidFill>
          <a:ln w="12700">
            <a:solidFill>
              <a:srgbClr val="2A3535"/>
            </a:solidFill>
            <a:prstDash val="solid"/>
          </a:ln>
        </p:spPr>
      </p:sp>
      <p:sp>
        <p:nvSpPr>
          <p:cNvPr id="95" name="Text 82"/>
          <p:cNvSpPr/>
          <p:nvPr/>
        </p:nvSpPr>
        <p:spPr>
          <a:xfrm>
            <a:off x="3968544" y="9286928"/>
            <a:ext cx="2035616" cy="171626"/>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Fish Catch at Market - Post-Harvest</a:t>
            </a:r>
            <a:endParaRPr lang="en-US" sz="900" dirty="0">
              <a:latin typeface="Footlight MT Light" panose="0204060206030A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5F5F"/>
        </a:solidFill>
        <a:effectLst/>
      </p:bgPr>
    </p:bg>
    <p:spTree>
      <p:nvGrpSpPr>
        <p:cNvPr id="1" name=""/>
        <p:cNvGrpSpPr/>
        <p:nvPr/>
      </p:nvGrpSpPr>
      <p:grpSpPr>
        <a:xfrm>
          <a:off x="0" y="0"/>
          <a:ext cx="0" cy="0"/>
          <a:chOff x="0" y="0"/>
          <a:chExt cx="0" cy="0"/>
        </a:xfrm>
      </p:grpSpPr>
      <p:pic>
        <p:nvPicPr>
          <p:cNvPr id="2" name="Image 0" descr="/home/claude/rpt_imgs/awareness_5.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pic>
        <p:nvPicPr>
          <p:cNvPr id="15" name="Picture 14">
            <a:extLst>
              <a:ext uri="{FF2B5EF4-FFF2-40B4-BE49-F238E27FC236}">
                <a16:creationId xmlns:a16="http://schemas.microsoft.com/office/drawing/2014/main" id="{BACDA367-5782-9FD2-2986-C430C411AB8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a14:imgEffect>
                  </a14:imgLayer>
                </a14:imgProps>
              </a:ext>
            </a:extLst>
          </a:blip>
          <a:srcRect l="21560" r="29543"/>
          <a:stretch>
            <a:fillRect/>
          </a:stretch>
        </p:blipFill>
        <p:spPr>
          <a:xfrm>
            <a:off x="0" y="0"/>
            <a:ext cx="6858000"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03</a:t>
            </a:r>
            <a:endParaRPr lang="en-US" sz="1000" dirty="0"/>
          </a:p>
        </p:txBody>
      </p:sp>
      <p:sp>
        <p:nvSpPr>
          <p:cNvPr id="7" name="Text 4"/>
          <p:cNvSpPr/>
          <p:nvPr/>
        </p:nvSpPr>
        <p:spPr>
          <a:xfrm>
            <a:off x="457200" y="822960"/>
            <a:ext cx="5943600" cy="1101533"/>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Poladpur Block</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Deep Dive</a:t>
            </a:r>
            <a:endParaRPr lang="en-US" sz="3400" dirty="0">
              <a:latin typeface="Felix Titling" panose="04060505060202020A04" pitchFamily="82" charset="0"/>
            </a:endParaRPr>
          </a:p>
        </p:txBody>
      </p:sp>
      <p:sp>
        <p:nvSpPr>
          <p:cNvPr id="8" name="Shape 5"/>
          <p:cNvSpPr/>
          <p:nvPr/>
        </p:nvSpPr>
        <p:spPr>
          <a:xfrm>
            <a:off x="457200" y="1931723"/>
            <a:ext cx="1371600" cy="45719"/>
          </a:xfrm>
          <a:prstGeom prst="rect">
            <a:avLst/>
          </a:prstGeom>
          <a:solidFill>
            <a:srgbClr val="C8960A"/>
          </a:solidFill>
          <a:ln w="12700">
            <a:solidFill>
              <a:srgbClr val="C8960A"/>
            </a:solidFill>
            <a:prstDash val="solid"/>
          </a:ln>
        </p:spPr>
      </p:sp>
      <p:sp>
        <p:nvSpPr>
          <p:cNvPr id="9" name="Text 6"/>
          <p:cNvSpPr/>
          <p:nvPr/>
        </p:nvSpPr>
        <p:spPr>
          <a:xfrm>
            <a:off x="457200" y="2068884"/>
            <a:ext cx="5943600" cy="703663"/>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Comprehensive coverage of interventions, capacity building, government scheme access, and community transformation specifically in Poladpur block - the primary project area.</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Poladpur Block - Interventions &amp; Outcomes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Poladpur Block - Project Footprint &amp; Outcomes</a:t>
            </a:r>
            <a:endParaRPr lang="en-US" dirty="0">
              <a:latin typeface="Felix Titling" panose="04060505060202020A04" pitchFamily="82" charset="0"/>
            </a:endParaRPr>
          </a:p>
        </p:txBody>
      </p:sp>
      <p:sp>
        <p:nvSpPr>
          <p:cNvPr id="12" name="Text 10"/>
          <p:cNvSpPr/>
          <p:nvPr/>
        </p:nvSpPr>
        <p:spPr>
          <a:xfrm>
            <a:off x="292608" y="667512"/>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Primary project block · 15 tribal hamlets · Raigad district, Maharashtra</a:t>
            </a:r>
            <a:endParaRPr lang="en-US" sz="90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Shape 12"/>
          <p:cNvSpPr/>
          <p:nvPr/>
        </p:nvSpPr>
        <p:spPr>
          <a:xfrm>
            <a:off x="164592" y="914400"/>
            <a:ext cx="1210666" cy="804672"/>
          </a:xfrm>
          <a:prstGeom prst="roundRect">
            <a:avLst>
              <a:gd name="adj" fmla="val 9091"/>
            </a:avLst>
          </a:prstGeom>
          <a:solidFill>
            <a:srgbClr val="005F5F"/>
          </a:solidFill>
          <a:ln w="12700">
            <a:solidFill>
              <a:srgbClr val="005F5F"/>
            </a:solidFill>
            <a:prstDash val="solid"/>
          </a:ln>
        </p:spPr>
      </p:sp>
      <p:sp>
        <p:nvSpPr>
          <p:cNvPr id="15" name="Text 13"/>
          <p:cNvSpPr/>
          <p:nvPr/>
        </p:nvSpPr>
        <p:spPr>
          <a:xfrm>
            <a:off x="164592"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a:t>
            </a:r>
            <a:endParaRPr lang="en-US" sz="2400" dirty="0">
              <a:latin typeface="Felix Titling" panose="04060505060202020A04" pitchFamily="82" charset="0"/>
            </a:endParaRPr>
          </a:p>
        </p:txBody>
      </p:sp>
      <p:sp>
        <p:nvSpPr>
          <p:cNvPr id="16" name="Text 14"/>
          <p:cNvSpPr/>
          <p:nvPr/>
        </p:nvSpPr>
        <p:spPr>
          <a:xfrm>
            <a:off x="164592"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Hamlets</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Covered</a:t>
            </a:r>
            <a:endParaRPr lang="en-US" sz="1000" dirty="0">
              <a:latin typeface="Felix Titling" panose="04060505060202020A04" pitchFamily="82" charset="0"/>
            </a:endParaRPr>
          </a:p>
        </p:txBody>
      </p:sp>
      <p:sp>
        <p:nvSpPr>
          <p:cNvPr id="17" name="Shape 15"/>
          <p:cNvSpPr/>
          <p:nvPr/>
        </p:nvSpPr>
        <p:spPr>
          <a:xfrm>
            <a:off x="1466698" y="914400"/>
            <a:ext cx="1210666" cy="804672"/>
          </a:xfrm>
          <a:prstGeom prst="roundRect">
            <a:avLst>
              <a:gd name="adj" fmla="val 9091"/>
            </a:avLst>
          </a:prstGeom>
          <a:solidFill>
            <a:srgbClr val="005F5F"/>
          </a:solidFill>
          <a:ln w="12700">
            <a:solidFill>
              <a:srgbClr val="005F5F"/>
            </a:solidFill>
            <a:prstDash val="solid"/>
          </a:ln>
        </p:spPr>
      </p:sp>
      <p:sp>
        <p:nvSpPr>
          <p:cNvPr id="18" name="Text 16"/>
          <p:cNvSpPr/>
          <p:nvPr/>
        </p:nvSpPr>
        <p:spPr>
          <a:xfrm>
            <a:off x="1466698"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213</a:t>
            </a:r>
            <a:endParaRPr lang="en-US" sz="2400" dirty="0">
              <a:latin typeface="Felix Titling" panose="04060505060202020A04" pitchFamily="82" charset="0"/>
            </a:endParaRPr>
          </a:p>
        </p:txBody>
      </p:sp>
      <p:sp>
        <p:nvSpPr>
          <p:cNvPr id="19" name="Text 17"/>
          <p:cNvSpPr/>
          <p:nvPr/>
        </p:nvSpPr>
        <p:spPr>
          <a:xfrm>
            <a:off x="1466698"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River Net</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0" name="Shape 18"/>
          <p:cNvSpPr/>
          <p:nvPr/>
        </p:nvSpPr>
        <p:spPr>
          <a:xfrm>
            <a:off x="2768803" y="914400"/>
            <a:ext cx="1210666" cy="804672"/>
          </a:xfrm>
          <a:prstGeom prst="roundRect">
            <a:avLst>
              <a:gd name="adj" fmla="val 9091"/>
            </a:avLst>
          </a:prstGeom>
          <a:solidFill>
            <a:srgbClr val="A67C00"/>
          </a:solidFill>
          <a:ln w="12700">
            <a:solidFill>
              <a:srgbClr val="A67C00"/>
            </a:solidFill>
            <a:prstDash val="solid"/>
          </a:ln>
        </p:spPr>
      </p:sp>
      <p:sp>
        <p:nvSpPr>
          <p:cNvPr id="21" name="Text 19"/>
          <p:cNvSpPr/>
          <p:nvPr/>
        </p:nvSpPr>
        <p:spPr>
          <a:xfrm>
            <a:off x="2768803"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83</a:t>
            </a:r>
            <a:endParaRPr lang="en-US" sz="2400" dirty="0">
              <a:latin typeface="Felix Titling" panose="04060505060202020A04" pitchFamily="82" charset="0"/>
            </a:endParaRPr>
          </a:p>
        </p:txBody>
      </p:sp>
      <p:sp>
        <p:nvSpPr>
          <p:cNvPr id="22" name="Text 20"/>
          <p:cNvSpPr/>
          <p:nvPr/>
        </p:nvSpPr>
        <p:spPr>
          <a:xfrm>
            <a:off x="2768803"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Dam Net</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3" name="Shape 21"/>
          <p:cNvSpPr/>
          <p:nvPr/>
        </p:nvSpPr>
        <p:spPr>
          <a:xfrm>
            <a:off x="4070909" y="914400"/>
            <a:ext cx="1210666" cy="804672"/>
          </a:xfrm>
          <a:prstGeom prst="roundRect">
            <a:avLst>
              <a:gd name="adj" fmla="val 9091"/>
            </a:avLst>
          </a:prstGeom>
          <a:solidFill>
            <a:srgbClr val="A67C00"/>
          </a:solidFill>
          <a:ln w="12700">
            <a:solidFill>
              <a:srgbClr val="A67C00"/>
            </a:solidFill>
            <a:prstDash val="solid"/>
          </a:ln>
        </p:spPr>
      </p:sp>
      <p:sp>
        <p:nvSpPr>
          <p:cNvPr id="24" name="Text 22"/>
          <p:cNvSpPr/>
          <p:nvPr/>
        </p:nvSpPr>
        <p:spPr>
          <a:xfrm>
            <a:off x="4070909"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485</a:t>
            </a:r>
            <a:endParaRPr lang="en-US" sz="2400" dirty="0">
              <a:latin typeface="Felix Titling" panose="04060505060202020A04" pitchFamily="82" charset="0"/>
            </a:endParaRPr>
          </a:p>
        </p:txBody>
      </p:sp>
      <p:sp>
        <p:nvSpPr>
          <p:cNvPr id="25" name="Text 23"/>
          <p:cNvSpPr/>
          <p:nvPr/>
        </p:nvSpPr>
        <p:spPr>
          <a:xfrm>
            <a:off x="4070909"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Govt. 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6" name="Shape 24"/>
          <p:cNvSpPr/>
          <p:nvPr/>
        </p:nvSpPr>
        <p:spPr>
          <a:xfrm>
            <a:off x="5373014" y="914400"/>
            <a:ext cx="1210666" cy="804672"/>
          </a:xfrm>
          <a:prstGeom prst="roundRect">
            <a:avLst>
              <a:gd name="adj" fmla="val 9091"/>
            </a:avLst>
          </a:prstGeom>
          <a:solidFill>
            <a:srgbClr val="A67C00"/>
          </a:solidFill>
          <a:ln w="12700">
            <a:solidFill>
              <a:srgbClr val="A67C00"/>
            </a:solidFill>
            <a:prstDash val="solid"/>
          </a:ln>
        </p:spPr>
      </p:sp>
      <p:sp>
        <p:nvSpPr>
          <p:cNvPr id="27" name="Text 25"/>
          <p:cNvSpPr/>
          <p:nvPr/>
        </p:nvSpPr>
        <p:spPr>
          <a:xfrm>
            <a:off x="5373014"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₹3.05 </a:t>
            </a:r>
            <a:r>
              <a:rPr lang="en-US" sz="1200" b="1" dirty="0">
                <a:solidFill>
                  <a:srgbClr val="FFFFFF"/>
                </a:solidFill>
                <a:latin typeface="Felix Titling" panose="04060505060202020A04" pitchFamily="82" charset="0"/>
                <a:ea typeface="Cambria" pitchFamily="34" charset="-122"/>
                <a:cs typeface="Cambria" pitchFamily="34" charset="-120"/>
              </a:rPr>
              <a:t>Cr</a:t>
            </a:r>
            <a:endParaRPr lang="en-US" sz="2400" dirty="0">
              <a:latin typeface="Felix Titling" panose="04060505060202020A04" pitchFamily="82" charset="0"/>
            </a:endParaRPr>
          </a:p>
        </p:txBody>
      </p:sp>
      <p:sp>
        <p:nvSpPr>
          <p:cNvPr id="28" name="Text 26"/>
          <p:cNvSpPr/>
          <p:nvPr/>
        </p:nvSpPr>
        <p:spPr>
          <a:xfrm>
            <a:off x="5373014"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Benefits</a:t>
            </a:r>
            <a:endParaRPr lang="en-US" sz="1000" dirty="0">
              <a:latin typeface="Felix Titling" panose="04060505060202020A04" pitchFamily="82" charset="0"/>
            </a:endParaRPr>
          </a:p>
        </p:txBody>
      </p:sp>
      <p:sp>
        <p:nvSpPr>
          <p:cNvPr id="29" name="Text 27"/>
          <p:cNvSpPr/>
          <p:nvPr/>
        </p:nvSpPr>
        <p:spPr>
          <a:xfrm>
            <a:off x="256032" y="1883664"/>
            <a:ext cx="3145536" cy="237744"/>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mbria" pitchFamily="34" charset="-122"/>
                <a:cs typeface="Cambria" pitchFamily="34" charset="-120"/>
              </a:rPr>
              <a:t>Interventions in Poladpur Block</a:t>
            </a:r>
            <a:endParaRPr lang="en-US" sz="1200" dirty="0">
              <a:latin typeface="Felix Titling" panose="04060505060202020A04" pitchFamily="82" charset="0"/>
            </a:endParaRPr>
          </a:p>
        </p:txBody>
      </p:sp>
      <p:sp>
        <p:nvSpPr>
          <p:cNvPr id="30" name="Shape 28"/>
          <p:cNvSpPr/>
          <p:nvPr/>
        </p:nvSpPr>
        <p:spPr>
          <a:xfrm>
            <a:off x="256032" y="2139696"/>
            <a:ext cx="640080" cy="16459"/>
          </a:xfrm>
          <a:prstGeom prst="rect">
            <a:avLst/>
          </a:prstGeom>
          <a:solidFill>
            <a:srgbClr val="C8960A"/>
          </a:solidFill>
          <a:ln w="12700">
            <a:solidFill>
              <a:srgbClr val="C8960A"/>
            </a:solidFill>
            <a:prstDash val="solid"/>
          </a:ln>
        </p:spPr>
      </p:sp>
      <p:sp>
        <p:nvSpPr>
          <p:cNvPr id="31" name="Shape 29"/>
          <p:cNvSpPr/>
          <p:nvPr/>
        </p:nvSpPr>
        <p:spPr>
          <a:xfrm>
            <a:off x="256032" y="2267712"/>
            <a:ext cx="3145536" cy="722376"/>
          </a:xfrm>
          <a:prstGeom prst="roundRect">
            <a:avLst>
              <a:gd name="adj" fmla="val 6863"/>
            </a:avLst>
          </a:prstGeom>
          <a:solidFill>
            <a:srgbClr val="FFFFFF"/>
          </a:solidFill>
          <a:ln w="12700">
            <a:solidFill>
              <a:srgbClr val="E5EDED"/>
            </a:solidFill>
            <a:prstDash val="solid"/>
          </a:ln>
        </p:spPr>
      </p:sp>
      <p:sp>
        <p:nvSpPr>
          <p:cNvPr id="32" name="Shape 30"/>
          <p:cNvSpPr/>
          <p:nvPr/>
        </p:nvSpPr>
        <p:spPr>
          <a:xfrm>
            <a:off x="347472" y="2377440"/>
            <a:ext cx="219456" cy="169971"/>
          </a:xfrm>
          <a:prstGeom prst="ellipse">
            <a:avLst/>
          </a:prstGeom>
          <a:solidFill>
            <a:srgbClr val="005F5F"/>
          </a:solidFill>
          <a:ln w="12700">
            <a:solidFill>
              <a:srgbClr val="005F5F"/>
            </a:solidFill>
            <a:prstDash val="solid"/>
          </a:ln>
        </p:spPr>
      </p:sp>
      <p:sp>
        <p:nvSpPr>
          <p:cNvPr id="33" name="Text 31"/>
          <p:cNvSpPr/>
          <p:nvPr/>
        </p:nvSpPr>
        <p:spPr>
          <a:xfrm>
            <a:off x="347472" y="2377440"/>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a:t>
            </a:r>
            <a:endParaRPr lang="en-US" sz="900" dirty="0">
              <a:latin typeface="Century Gothic" panose="020B0502020202090204" pitchFamily="34" charset="0"/>
            </a:endParaRPr>
          </a:p>
        </p:txBody>
      </p:sp>
      <p:sp>
        <p:nvSpPr>
          <p:cNvPr id="34" name="Text 32"/>
          <p:cNvSpPr/>
          <p:nvPr/>
        </p:nvSpPr>
        <p:spPr>
          <a:xfrm>
            <a:off x="640080" y="2340864"/>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Fishing Net Distribution</a:t>
            </a:r>
            <a:endParaRPr lang="en-US" sz="1000" dirty="0">
              <a:latin typeface="Century Gothic" panose="020B0502020202090204" pitchFamily="34" charset="0"/>
            </a:endParaRPr>
          </a:p>
        </p:txBody>
      </p:sp>
      <p:sp>
        <p:nvSpPr>
          <p:cNvPr id="35" name="Text 33"/>
          <p:cNvSpPr/>
          <p:nvPr/>
        </p:nvSpPr>
        <p:spPr>
          <a:xfrm>
            <a:off x="640080" y="2560320"/>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Dam nets for 83 fishermen; river nets for 213 fishermen from 15 tribal wadis. Training on proper usage and sustainable practices.</a:t>
            </a:r>
            <a:endParaRPr lang="en-US" sz="900" dirty="0">
              <a:latin typeface="Century Gothic" panose="020B0502020202090204" pitchFamily="34" charset="0"/>
            </a:endParaRPr>
          </a:p>
        </p:txBody>
      </p:sp>
      <p:sp>
        <p:nvSpPr>
          <p:cNvPr id="36" name="Shape 34"/>
          <p:cNvSpPr/>
          <p:nvPr/>
        </p:nvSpPr>
        <p:spPr>
          <a:xfrm>
            <a:off x="244145" y="3053020"/>
            <a:ext cx="3145536" cy="722376"/>
          </a:xfrm>
          <a:prstGeom prst="roundRect">
            <a:avLst>
              <a:gd name="adj" fmla="val 6863"/>
            </a:avLst>
          </a:prstGeom>
          <a:solidFill>
            <a:srgbClr val="F5FCFC"/>
          </a:solidFill>
          <a:ln w="12700">
            <a:solidFill>
              <a:srgbClr val="E5EDED"/>
            </a:solidFill>
            <a:prstDash val="solid"/>
          </a:ln>
        </p:spPr>
      </p:sp>
      <p:sp>
        <p:nvSpPr>
          <p:cNvPr id="37" name="Shape 35"/>
          <p:cNvSpPr/>
          <p:nvPr/>
        </p:nvSpPr>
        <p:spPr>
          <a:xfrm>
            <a:off x="335585" y="3162748"/>
            <a:ext cx="219456" cy="169971"/>
          </a:xfrm>
          <a:prstGeom prst="ellipse">
            <a:avLst/>
          </a:prstGeom>
          <a:solidFill>
            <a:srgbClr val="005F5F"/>
          </a:solidFill>
          <a:ln w="12700">
            <a:solidFill>
              <a:srgbClr val="005F5F"/>
            </a:solidFill>
            <a:prstDash val="solid"/>
          </a:ln>
        </p:spPr>
      </p:sp>
      <p:sp>
        <p:nvSpPr>
          <p:cNvPr id="38" name="Text 36"/>
          <p:cNvSpPr/>
          <p:nvPr/>
        </p:nvSpPr>
        <p:spPr>
          <a:xfrm>
            <a:off x="335585" y="3162748"/>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a:t>
            </a:r>
            <a:endParaRPr lang="en-US" sz="900" dirty="0">
              <a:latin typeface="Century Gothic" panose="020B0502020202090204" pitchFamily="34" charset="0"/>
            </a:endParaRPr>
          </a:p>
        </p:txBody>
      </p:sp>
      <p:sp>
        <p:nvSpPr>
          <p:cNvPr id="39" name="Text 37"/>
          <p:cNvSpPr/>
          <p:nvPr/>
        </p:nvSpPr>
        <p:spPr>
          <a:xfrm>
            <a:off x="628193" y="3126172"/>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Fingerling Stocking</a:t>
            </a:r>
            <a:endParaRPr lang="en-US" sz="1000" dirty="0">
              <a:latin typeface="Century Gothic" panose="020B0502020202090204" pitchFamily="34" charset="0"/>
            </a:endParaRPr>
          </a:p>
        </p:txBody>
      </p:sp>
      <p:sp>
        <p:nvSpPr>
          <p:cNvPr id="40" name="Text 38"/>
          <p:cNvSpPr/>
          <p:nvPr/>
        </p:nvSpPr>
        <p:spPr>
          <a:xfrm>
            <a:off x="628193" y="3345628"/>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21.5 lakh fingerlings stocked across 5 reservoirs (242 ha) - Poladpur being the primary area. Good survival rates documented.</a:t>
            </a:r>
            <a:endParaRPr lang="en-US" sz="900" dirty="0">
              <a:latin typeface="Century Gothic" panose="020B0502020202090204" pitchFamily="34" charset="0"/>
            </a:endParaRPr>
          </a:p>
        </p:txBody>
      </p:sp>
      <p:sp>
        <p:nvSpPr>
          <p:cNvPr id="51" name="Shape 49"/>
          <p:cNvSpPr/>
          <p:nvPr/>
        </p:nvSpPr>
        <p:spPr>
          <a:xfrm>
            <a:off x="267918" y="3838334"/>
            <a:ext cx="3145536" cy="722376"/>
          </a:xfrm>
          <a:prstGeom prst="roundRect">
            <a:avLst>
              <a:gd name="adj" fmla="val 6863"/>
            </a:avLst>
          </a:prstGeom>
          <a:solidFill>
            <a:srgbClr val="FFFFFF"/>
          </a:solidFill>
          <a:ln w="12700">
            <a:solidFill>
              <a:srgbClr val="E5EDED"/>
            </a:solidFill>
            <a:prstDash val="solid"/>
          </a:ln>
        </p:spPr>
      </p:sp>
      <p:sp>
        <p:nvSpPr>
          <p:cNvPr id="52" name="Shape 50"/>
          <p:cNvSpPr/>
          <p:nvPr/>
        </p:nvSpPr>
        <p:spPr>
          <a:xfrm>
            <a:off x="359358" y="3948062"/>
            <a:ext cx="219456" cy="169971"/>
          </a:xfrm>
          <a:prstGeom prst="ellipse">
            <a:avLst/>
          </a:prstGeom>
          <a:solidFill>
            <a:srgbClr val="005F5F"/>
          </a:solidFill>
          <a:ln w="12700">
            <a:solidFill>
              <a:srgbClr val="005F5F"/>
            </a:solidFill>
            <a:prstDash val="solid"/>
          </a:ln>
        </p:spPr>
      </p:sp>
      <p:sp>
        <p:nvSpPr>
          <p:cNvPr id="53" name="Text 51"/>
          <p:cNvSpPr/>
          <p:nvPr/>
        </p:nvSpPr>
        <p:spPr>
          <a:xfrm>
            <a:off x="359358" y="3948062"/>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54" name="Text 52"/>
          <p:cNvSpPr/>
          <p:nvPr/>
        </p:nvSpPr>
        <p:spPr>
          <a:xfrm>
            <a:off x="651966" y="3911486"/>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Ice Boxes &amp; Marketing</a:t>
            </a:r>
            <a:endParaRPr lang="en-US" sz="1000" dirty="0">
              <a:latin typeface="Century Gothic" panose="020B0502020202090204" pitchFamily="34" charset="0"/>
            </a:endParaRPr>
          </a:p>
        </p:txBody>
      </p:sp>
      <p:sp>
        <p:nvSpPr>
          <p:cNvPr id="55" name="Text 53"/>
          <p:cNvSpPr/>
          <p:nvPr/>
        </p:nvSpPr>
        <p:spPr>
          <a:xfrm>
            <a:off x="651966" y="4130942"/>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25 ice boxes to SHG members; 25 marketing kits distributed. Post-harvest losses reduced significantly.</a:t>
            </a:r>
            <a:endParaRPr lang="en-US" sz="900" dirty="0">
              <a:latin typeface="Century Gothic" panose="020B0502020202090204" pitchFamily="34" charset="0"/>
            </a:endParaRPr>
          </a:p>
        </p:txBody>
      </p:sp>
      <p:sp>
        <p:nvSpPr>
          <p:cNvPr id="56" name="Shape 54"/>
          <p:cNvSpPr/>
          <p:nvPr/>
        </p:nvSpPr>
        <p:spPr>
          <a:xfrm>
            <a:off x="256031" y="4640042"/>
            <a:ext cx="3145536" cy="722376"/>
          </a:xfrm>
          <a:prstGeom prst="roundRect">
            <a:avLst>
              <a:gd name="adj" fmla="val 6863"/>
            </a:avLst>
          </a:prstGeom>
          <a:solidFill>
            <a:srgbClr val="F5FCFC"/>
          </a:solidFill>
          <a:ln w="12700">
            <a:solidFill>
              <a:srgbClr val="E5EDED"/>
            </a:solidFill>
            <a:prstDash val="solid"/>
          </a:ln>
        </p:spPr>
      </p:sp>
      <p:sp>
        <p:nvSpPr>
          <p:cNvPr id="57" name="Shape 55"/>
          <p:cNvSpPr/>
          <p:nvPr/>
        </p:nvSpPr>
        <p:spPr>
          <a:xfrm>
            <a:off x="347471" y="4749770"/>
            <a:ext cx="219456" cy="169971"/>
          </a:xfrm>
          <a:prstGeom prst="ellipse">
            <a:avLst/>
          </a:prstGeom>
          <a:solidFill>
            <a:srgbClr val="005F5F"/>
          </a:solidFill>
          <a:ln w="12700">
            <a:solidFill>
              <a:srgbClr val="005F5F"/>
            </a:solidFill>
            <a:prstDash val="solid"/>
          </a:ln>
        </p:spPr>
      </p:sp>
      <p:sp>
        <p:nvSpPr>
          <p:cNvPr id="58" name="Text 56"/>
          <p:cNvSpPr/>
          <p:nvPr/>
        </p:nvSpPr>
        <p:spPr>
          <a:xfrm>
            <a:off x="347471" y="4749770"/>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4</a:t>
            </a:r>
            <a:endParaRPr lang="en-US" sz="900" dirty="0">
              <a:latin typeface="Century Gothic" panose="020B0502020202090204" pitchFamily="34" charset="0"/>
            </a:endParaRPr>
          </a:p>
        </p:txBody>
      </p:sp>
      <p:sp>
        <p:nvSpPr>
          <p:cNvPr id="59" name="Text 57"/>
          <p:cNvSpPr/>
          <p:nvPr/>
        </p:nvSpPr>
        <p:spPr>
          <a:xfrm>
            <a:off x="640079" y="4713194"/>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Health Camp</a:t>
            </a:r>
            <a:endParaRPr lang="en-US" sz="1000" dirty="0">
              <a:latin typeface="Century Gothic" panose="020B0502020202090204" pitchFamily="34" charset="0"/>
            </a:endParaRPr>
          </a:p>
        </p:txBody>
      </p:sp>
      <p:sp>
        <p:nvSpPr>
          <p:cNvPr id="60" name="Text 58"/>
          <p:cNvSpPr/>
          <p:nvPr/>
        </p:nvSpPr>
        <p:spPr>
          <a:xfrm>
            <a:off x="640079" y="4932650"/>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Health check-up camps conducted for tribal fishing families - benefiting community wellbeing.</a:t>
            </a:r>
            <a:endParaRPr lang="en-US" sz="900" dirty="0">
              <a:latin typeface="Century Gothic" panose="020B0502020202090204" pitchFamily="34" charset="0"/>
            </a:endParaRPr>
          </a:p>
        </p:txBody>
      </p:sp>
      <p:pic>
        <p:nvPicPr>
          <p:cNvPr id="61" name="Image 0"/>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rcRect/>
          <a:stretch/>
        </p:blipFill>
        <p:spPr>
          <a:xfrm>
            <a:off x="3673979" y="1934443"/>
            <a:ext cx="3215191" cy="1507120"/>
          </a:xfrm>
          <a:prstGeom prst="rect">
            <a:avLst/>
          </a:prstGeom>
        </p:spPr>
      </p:pic>
      <p:pic>
        <p:nvPicPr>
          <p:cNvPr id="64" name="Image 1" descr="/home/claude/rpt_imgs/stocking_1.jpg"/>
          <p:cNvPicPr>
            <a:picLocks noChangeAspect="1"/>
          </p:cNvPicPr>
          <p:nvPr/>
        </p:nvPicPr>
        <p:blipFill>
          <a:blip r:embed="rId5">
            <a:extLst>
              <a:ext uri="{BEBA8EAE-BF5A-486C-A8C5-ECC9F3942E4B}">
                <a14:imgProps xmlns:a14="http://schemas.microsoft.com/office/drawing/2010/main">
                  <a14:imgLayer r:embed="rId6">
                    <a14:imgEffect>
                      <a14:brightnessContrast contrast="20000"/>
                    </a14:imgEffect>
                  </a14:imgLayer>
                </a14:imgProps>
              </a:ext>
            </a:extLst>
          </a:blip>
          <a:srcRect/>
          <a:stretch/>
        </p:blipFill>
        <p:spPr>
          <a:xfrm>
            <a:off x="3677557" y="3048723"/>
            <a:ext cx="3215191" cy="1293912"/>
          </a:xfrm>
          <a:prstGeom prst="rect">
            <a:avLst/>
          </a:prstGeom>
        </p:spPr>
      </p:pic>
      <p:sp>
        <p:nvSpPr>
          <p:cNvPr id="66" name="Text 62"/>
          <p:cNvSpPr/>
          <p:nvPr/>
        </p:nvSpPr>
        <p:spPr>
          <a:xfrm>
            <a:off x="3711655" y="4025539"/>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Fish Stocking Activity</a:t>
            </a:r>
            <a:endParaRPr lang="en-US" sz="800" dirty="0">
              <a:solidFill>
                <a:srgbClr val="FFFF00"/>
              </a:solidFill>
              <a:latin typeface="Footlight MT Light" panose="0204060206030A020304" pitchFamily="18" charset="0"/>
            </a:endParaRPr>
          </a:p>
        </p:txBody>
      </p:sp>
      <p:pic>
        <p:nvPicPr>
          <p:cNvPr id="70" name="Image 3" descr="/home/claude/rpt_imgs/health_camp.jpg"/>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t="-1" b="37654"/>
          <a:stretch>
            <a:fillRect/>
          </a:stretch>
        </p:blipFill>
        <p:spPr>
          <a:xfrm>
            <a:off x="3673979" y="4350312"/>
            <a:ext cx="3227832" cy="1405821"/>
          </a:xfrm>
          <a:prstGeom prst="rect">
            <a:avLst/>
          </a:prstGeom>
        </p:spPr>
      </p:pic>
      <p:sp>
        <p:nvSpPr>
          <p:cNvPr id="72" name="Text 66"/>
          <p:cNvSpPr/>
          <p:nvPr/>
        </p:nvSpPr>
        <p:spPr>
          <a:xfrm>
            <a:off x="3771900" y="5571700"/>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Health Camp</a:t>
            </a:r>
            <a:endParaRPr lang="en-US" sz="800" dirty="0">
              <a:solidFill>
                <a:srgbClr val="FFFF00"/>
              </a:solidFill>
              <a:latin typeface="Footlight MT Light" panose="0204060206030A020304" pitchFamily="18" charset="0"/>
            </a:endParaRPr>
          </a:p>
        </p:txBody>
      </p:sp>
      <p:sp>
        <p:nvSpPr>
          <p:cNvPr id="73" name="Shape 67"/>
          <p:cNvSpPr/>
          <p:nvPr/>
        </p:nvSpPr>
        <p:spPr>
          <a:xfrm>
            <a:off x="244145" y="5856370"/>
            <a:ext cx="6464812" cy="799675"/>
          </a:xfrm>
          <a:prstGeom prst="roundRect">
            <a:avLst>
              <a:gd name="adj" fmla="val 11765"/>
            </a:avLst>
          </a:prstGeom>
          <a:solidFill>
            <a:srgbClr val="FFF8E6"/>
          </a:solidFill>
          <a:ln w="12700">
            <a:solidFill>
              <a:srgbClr val="C8960A"/>
            </a:solidFill>
            <a:prstDash val="solid"/>
          </a:ln>
        </p:spPr>
      </p:sp>
      <p:sp>
        <p:nvSpPr>
          <p:cNvPr id="74" name="Shape 68"/>
          <p:cNvSpPr/>
          <p:nvPr/>
        </p:nvSpPr>
        <p:spPr>
          <a:xfrm>
            <a:off x="244145" y="5856370"/>
            <a:ext cx="46508" cy="799675"/>
          </a:xfrm>
          <a:prstGeom prst="rect">
            <a:avLst/>
          </a:prstGeom>
          <a:solidFill>
            <a:srgbClr val="C8960A"/>
          </a:solidFill>
          <a:ln w="12700">
            <a:solidFill>
              <a:srgbClr val="C8960A"/>
            </a:solidFill>
            <a:prstDash val="solid"/>
          </a:ln>
        </p:spPr>
      </p:sp>
      <p:sp>
        <p:nvSpPr>
          <p:cNvPr id="75" name="Text 69"/>
          <p:cNvSpPr/>
          <p:nvPr/>
        </p:nvSpPr>
        <p:spPr>
          <a:xfrm>
            <a:off x="427026" y="5929522"/>
            <a:ext cx="6390399" cy="611516"/>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Government Scheme Access - Poladpur Block: 485 beneficiaries · ₹3.05 Crore in benefits · Includes PMAY housing (116 families), Shabari Awas Yojana (18 families), 257 caste certificates, MSRLM revolving funds.</a:t>
            </a:r>
            <a:endParaRPr lang="en-US" sz="1000" dirty="0">
              <a:latin typeface="Felix Titling" panose="04060505060202020A04" pitchFamily="82" charset="0"/>
            </a:endParaRPr>
          </a:p>
        </p:txBody>
      </p:sp>
      <p:pic>
        <p:nvPicPr>
          <p:cNvPr id="76" name="Image 4" descr="/home/claude/rpt_imgs/distribution_3.jpg"/>
          <p:cNvPicPr>
            <a:picLocks noChangeAspect="1"/>
          </p:cNvPicPr>
          <p:nvPr/>
        </p:nvPicPr>
        <p:blipFill>
          <a:blip r:embed="rId9"/>
          <a:srcRect/>
          <a:stretch/>
        </p:blipFill>
        <p:spPr>
          <a:xfrm>
            <a:off x="256032" y="6775161"/>
            <a:ext cx="3081528" cy="1341229"/>
          </a:xfrm>
          <a:prstGeom prst="rect">
            <a:avLst/>
          </a:prstGeom>
        </p:spPr>
      </p:pic>
      <p:sp>
        <p:nvSpPr>
          <p:cNvPr id="77" name="Shape 70"/>
          <p:cNvSpPr/>
          <p:nvPr/>
        </p:nvSpPr>
        <p:spPr>
          <a:xfrm>
            <a:off x="256032" y="8116390"/>
            <a:ext cx="3081528" cy="237744"/>
          </a:xfrm>
          <a:prstGeom prst="rect">
            <a:avLst/>
          </a:prstGeom>
          <a:solidFill>
            <a:srgbClr val="2A3535"/>
          </a:solidFill>
          <a:ln w="12700">
            <a:solidFill>
              <a:srgbClr val="2A3535"/>
            </a:solidFill>
            <a:prstDash val="solid"/>
          </a:ln>
        </p:spPr>
      </p:sp>
      <p:sp>
        <p:nvSpPr>
          <p:cNvPr id="80" name="Shape 72"/>
          <p:cNvSpPr/>
          <p:nvPr/>
        </p:nvSpPr>
        <p:spPr>
          <a:xfrm>
            <a:off x="3520440" y="8116390"/>
            <a:ext cx="3081528" cy="237744"/>
          </a:xfrm>
          <a:prstGeom prst="rect">
            <a:avLst/>
          </a:prstGeom>
          <a:solidFill>
            <a:srgbClr val="2A3535"/>
          </a:solidFill>
          <a:ln w="12700">
            <a:solidFill>
              <a:srgbClr val="2A3535"/>
            </a:solidFill>
            <a:prstDash val="solid"/>
          </a:ln>
        </p:spPr>
      </p:sp>
      <p:sp>
        <p:nvSpPr>
          <p:cNvPr id="78" name="Text 71"/>
          <p:cNvSpPr/>
          <p:nvPr/>
        </p:nvSpPr>
        <p:spPr>
          <a:xfrm>
            <a:off x="329184" y="8152966"/>
            <a:ext cx="2935224"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Distribution of Fishing Equipment - Poladpur</a:t>
            </a:r>
            <a:endParaRPr lang="en-US" sz="900" dirty="0">
              <a:latin typeface="Footlight MT Light" panose="0204060206030A020304" pitchFamily="18" charset="0"/>
            </a:endParaRPr>
          </a:p>
        </p:txBody>
      </p:sp>
      <p:pic>
        <p:nvPicPr>
          <p:cNvPr id="79" name="Image 5" descr="/home/claude/rpt_imgs/stocking_3.jpg"/>
          <p:cNvPicPr>
            <a:picLocks noChangeAspect="1"/>
          </p:cNvPicPr>
          <p:nvPr/>
        </p:nvPicPr>
        <p:blipFill>
          <a:blip r:embed="rId10"/>
          <a:srcRect/>
          <a:stretch/>
        </p:blipFill>
        <p:spPr>
          <a:xfrm>
            <a:off x="3520440" y="6770393"/>
            <a:ext cx="3081528" cy="1345997"/>
          </a:xfrm>
          <a:prstGeom prst="rect">
            <a:avLst/>
          </a:prstGeom>
        </p:spPr>
      </p:pic>
      <p:sp>
        <p:nvSpPr>
          <p:cNvPr id="81" name="Text 73"/>
          <p:cNvSpPr/>
          <p:nvPr/>
        </p:nvSpPr>
        <p:spPr>
          <a:xfrm>
            <a:off x="3593592" y="8152966"/>
            <a:ext cx="2935224"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Fingerling Transportation for Stocking</a:t>
            </a:r>
            <a:endParaRPr lang="en-US" sz="900" dirty="0">
              <a:latin typeface="Footlight MT Light" panose="0204060206030A020304" pitchFamily="18" charset="0"/>
            </a:endParaRPr>
          </a:p>
        </p:txBody>
      </p:sp>
      <p:sp>
        <p:nvSpPr>
          <p:cNvPr id="63" name="Text 60"/>
          <p:cNvSpPr/>
          <p:nvPr/>
        </p:nvSpPr>
        <p:spPr>
          <a:xfrm>
            <a:off x="3689604" y="2803684"/>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Net Distribution Event</a:t>
            </a:r>
            <a:endParaRPr lang="en-US" sz="800" dirty="0">
              <a:solidFill>
                <a:srgbClr val="FFFF00"/>
              </a:solidFill>
              <a:latin typeface="Footlight MT Light" panose="0204060206030A020304" pitchFamily="18" charset="0"/>
            </a:endParaRPr>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aining_2.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sp>
        <p:nvSpPr>
          <p:cNvPr id="4" name="Shape 1"/>
          <p:cNvSpPr/>
          <p:nvPr/>
        </p:nvSpPr>
        <p:spPr>
          <a:xfrm>
            <a:off x="0" y="0"/>
            <a:ext cx="6858000" cy="9720072"/>
          </a:xfrm>
          <a:prstGeom prst="rect">
            <a:avLst/>
          </a:prstGeom>
          <a:solidFill>
            <a:srgbClr val="005F5F">
              <a:alpha val="65000"/>
            </a:srgbClr>
          </a:solidFill>
          <a:ln w="12700">
            <a:solidFill>
              <a:srgbClr val="005F5F"/>
            </a:solidFill>
            <a:prstDash val="solid"/>
          </a:ln>
        </p:spPr>
      </p:sp>
      <p:pic>
        <p:nvPicPr>
          <p:cNvPr id="13" name="Picture 12">
            <a:extLst>
              <a:ext uri="{FF2B5EF4-FFF2-40B4-BE49-F238E27FC236}">
                <a16:creationId xmlns:a16="http://schemas.microsoft.com/office/drawing/2014/main" id="{E13CC280-F7A8-041F-3EAF-977FB36376A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rcRect t="11706" b="11706"/>
          <a:stretch/>
        </p:blipFill>
        <p:spPr>
          <a:xfrm>
            <a:off x="-1035121" y="0"/>
            <a:ext cx="9518721"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04</a:t>
            </a:r>
            <a:endParaRPr lang="en-US" sz="1000" dirty="0"/>
          </a:p>
        </p:txBody>
      </p:sp>
      <p:sp>
        <p:nvSpPr>
          <p:cNvPr id="7" name="Text 4"/>
          <p:cNvSpPr/>
          <p:nvPr/>
        </p:nvSpPr>
        <p:spPr>
          <a:xfrm>
            <a:off x="457200" y="822960"/>
            <a:ext cx="5943600" cy="1245711"/>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Mahad Block</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Deep Dive</a:t>
            </a:r>
            <a:endParaRPr lang="en-US" sz="3400" dirty="0">
              <a:latin typeface="Felix Titling" panose="04060505060202020A04" pitchFamily="82" charset="0"/>
            </a:endParaRPr>
          </a:p>
        </p:txBody>
      </p:sp>
      <p:sp>
        <p:nvSpPr>
          <p:cNvPr id="8" name="Shape 5"/>
          <p:cNvSpPr/>
          <p:nvPr/>
        </p:nvSpPr>
        <p:spPr>
          <a:xfrm>
            <a:off x="457200" y="1931510"/>
            <a:ext cx="1371600" cy="45719"/>
          </a:xfrm>
          <a:prstGeom prst="rect">
            <a:avLst/>
          </a:prstGeom>
          <a:solidFill>
            <a:srgbClr val="C8960A"/>
          </a:solidFill>
          <a:ln w="12700">
            <a:solidFill>
              <a:srgbClr val="C8960A"/>
            </a:solidFill>
            <a:prstDash val="solid"/>
          </a:ln>
        </p:spPr>
      </p:sp>
      <p:sp>
        <p:nvSpPr>
          <p:cNvPr id="9" name="Text 6"/>
          <p:cNvSpPr/>
          <p:nvPr/>
        </p:nvSpPr>
        <p:spPr>
          <a:xfrm>
            <a:off x="457200" y="2068671"/>
            <a:ext cx="5943600" cy="612223"/>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Community interventions, capacity building, and government scheme access in Mahad Block - the Next project area extending the project's reach to additional tribal communities.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Mahad Block - Interventions &amp; Outcomes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Footlight MT Light" panose="0204060206030A020304" pitchFamily="18" charset="0"/>
                <a:ea typeface="Calibri" pitchFamily="34" charset="-122"/>
                <a:cs typeface="Calibri" pitchFamily="34" charset="-120"/>
              </a:rPr>
              <a:t>Project Completion Report · Inland Fishery Based Livelihood Improvement · Poladpur &amp; Mahad, Raigad</a:t>
            </a:r>
            <a:endParaRPr lang="en-US" sz="700" dirty="0">
              <a:latin typeface="Footlight MT Light" panose="0204060206030A020304" pitchFamily="18" charset="0"/>
            </a:endParaRPr>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Mahad Block - Project Footprint &amp; Outcomes</a:t>
            </a:r>
            <a:endParaRPr lang="en-US" dirty="0">
              <a:latin typeface="Felix Titling" panose="04060505060202020A04" pitchFamily="82" charset="0"/>
            </a:endParaRPr>
          </a:p>
        </p:txBody>
      </p:sp>
      <p:sp>
        <p:nvSpPr>
          <p:cNvPr id="12" name="Text 10"/>
          <p:cNvSpPr/>
          <p:nvPr/>
        </p:nvSpPr>
        <p:spPr>
          <a:xfrm>
            <a:off x="292608" y="667512"/>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Next project block · Raigad district, Maharashtra</a:t>
            </a:r>
            <a:endParaRPr lang="en-US" sz="900" dirty="0">
              <a:latin typeface="Footlight MT Light" panose="0204060206030A020304" pitchFamily="18" charset="0"/>
            </a:endParaRPr>
          </a:p>
        </p:txBody>
      </p:sp>
      <p:sp>
        <p:nvSpPr>
          <p:cNvPr id="13" name="Shape 11"/>
          <p:cNvSpPr/>
          <p:nvPr/>
        </p:nvSpPr>
        <p:spPr>
          <a:xfrm>
            <a:off x="292608" y="830275"/>
            <a:ext cx="822960" cy="18288"/>
          </a:xfrm>
          <a:prstGeom prst="rect">
            <a:avLst/>
          </a:prstGeom>
          <a:solidFill>
            <a:srgbClr val="C8960A"/>
          </a:solidFill>
          <a:ln w="12700">
            <a:solidFill>
              <a:srgbClr val="C8960A"/>
            </a:solidFill>
            <a:prstDash val="solid"/>
          </a:ln>
        </p:spPr>
      </p:sp>
      <p:sp>
        <p:nvSpPr>
          <p:cNvPr id="14" name="Shape 12"/>
          <p:cNvSpPr/>
          <p:nvPr/>
        </p:nvSpPr>
        <p:spPr>
          <a:xfrm>
            <a:off x="164592" y="914400"/>
            <a:ext cx="1210666" cy="804672"/>
          </a:xfrm>
          <a:prstGeom prst="roundRect">
            <a:avLst>
              <a:gd name="adj" fmla="val 9091"/>
            </a:avLst>
          </a:prstGeom>
          <a:solidFill>
            <a:srgbClr val="A67C00"/>
          </a:solidFill>
          <a:ln w="12700">
            <a:solidFill>
              <a:srgbClr val="A67C00"/>
            </a:solidFill>
            <a:prstDash val="solid"/>
          </a:ln>
        </p:spPr>
      </p:sp>
      <p:sp>
        <p:nvSpPr>
          <p:cNvPr id="15" name="Text 13"/>
          <p:cNvSpPr/>
          <p:nvPr/>
        </p:nvSpPr>
        <p:spPr>
          <a:xfrm>
            <a:off x="164592"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235</a:t>
            </a:r>
            <a:endParaRPr lang="en-US" sz="2400" dirty="0">
              <a:latin typeface="Felix Titling" panose="04060505060202020A04" pitchFamily="82" charset="0"/>
            </a:endParaRPr>
          </a:p>
        </p:txBody>
      </p:sp>
      <p:sp>
        <p:nvSpPr>
          <p:cNvPr id="16" name="Text 14"/>
          <p:cNvSpPr/>
          <p:nvPr/>
        </p:nvSpPr>
        <p:spPr>
          <a:xfrm>
            <a:off x="164592"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Govt. 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17" name="Shape 15"/>
          <p:cNvSpPr/>
          <p:nvPr/>
        </p:nvSpPr>
        <p:spPr>
          <a:xfrm>
            <a:off x="1466698" y="914400"/>
            <a:ext cx="1210666" cy="804672"/>
          </a:xfrm>
          <a:prstGeom prst="roundRect">
            <a:avLst>
              <a:gd name="adj" fmla="val 9091"/>
            </a:avLst>
          </a:prstGeom>
          <a:solidFill>
            <a:srgbClr val="A67C00"/>
          </a:solidFill>
          <a:ln w="12700">
            <a:solidFill>
              <a:srgbClr val="A67C00"/>
            </a:solidFill>
            <a:prstDash val="solid"/>
          </a:ln>
        </p:spPr>
      </p:sp>
      <p:sp>
        <p:nvSpPr>
          <p:cNvPr id="18" name="Text 16"/>
          <p:cNvSpPr/>
          <p:nvPr/>
        </p:nvSpPr>
        <p:spPr>
          <a:xfrm>
            <a:off x="1466698"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₹1.78 </a:t>
            </a:r>
            <a:r>
              <a:rPr lang="en-US" sz="1200" b="1" dirty="0">
                <a:solidFill>
                  <a:srgbClr val="FFFFFF"/>
                </a:solidFill>
                <a:latin typeface="Felix Titling" panose="04060505060202020A04" pitchFamily="82" charset="0"/>
                <a:ea typeface="Cambria" pitchFamily="34" charset="-122"/>
                <a:cs typeface="Cambria" pitchFamily="34" charset="-120"/>
              </a:rPr>
              <a:t>Cr</a:t>
            </a:r>
            <a:endParaRPr lang="en-US" sz="2400" dirty="0">
              <a:latin typeface="Felix Titling" panose="04060505060202020A04" pitchFamily="82" charset="0"/>
            </a:endParaRPr>
          </a:p>
        </p:txBody>
      </p:sp>
      <p:sp>
        <p:nvSpPr>
          <p:cNvPr id="19" name="Text 17"/>
          <p:cNvSpPr/>
          <p:nvPr/>
        </p:nvSpPr>
        <p:spPr>
          <a:xfrm>
            <a:off x="1466698"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Benefits</a:t>
            </a:r>
            <a:endParaRPr lang="en-US" sz="1000" dirty="0">
              <a:latin typeface="Felix Titling" panose="04060505060202020A04" pitchFamily="82" charset="0"/>
            </a:endParaRPr>
          </a:p>
        </p:txBody>
      </p:sp>
      <p:sp>
        <p:nvSpPr>
          <p:cNvPr id="20" name="Shape 18"/>
          <p:cNvSpPr/>
          <p:nvPr/>
        </p:nvSpPr>
        <p:spPr>
          <a:xfrm>
            <a:off x="2768803" y="914400"/>
            <a:ext cx="1210666" cy="804672"/>
          </a:xfrm>
          <a:prstGeom prst="roundRect">
            <a:avLst>
              <a:gd name="adj" fmla="val 9091"/>
            </a:avLst>
          </a:prstGeom>
          <a:solidFill>
            <a:srgbClr val="005F5F"/>
          </a:solidFill>
          <a:ln w="12700">
            <a:solidFill>
              <a:srgbClr val="005F5F"/>
            </a:solidFill>
            <a:prstDash val="solid"/>
          </a:ln>
        </p:spPr>
      </p:sp>
      <p:sp>
        <p:nvSpPr>
          <p:cNvPr id="21" name="Text 19"/>
          <p:cNvSpPr/>
          <p:nvPr/>
        </p:nvSpPr>
        <p:spPr>
          <a:xfrm>
            <a:off x="2768803"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62</a:t>
            </a:r>
            <a:endParaRPr lang="en-US" sz="2400" dirty="0">
              <a:latin typeface="Felix Titling" panose="04060505060202020A04" pitchFamily="82" charset="0"/>
            </a:endParaRPr>
          </a:p>
        </p:txBody>
      </p:sp>
      <p:sp>
        <p:nvSpPr>
          <p:cNvPr id="22" name="Text 20"/>
          <p:cNvSpPr/>
          <p:nvPr/>
        </p:nvSpPr>
        <p:spPr>
          <a:xfrm>
            <a:off x="2768803"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PMAY Housing</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Families</a:t>
            </a:r>
            <a:endParaRPr lang="en-US" sz="1000" dirty="0">
              <a:latin typeface="Felix Titling" panose="04060505060202020A04" pitchFamily="82" charset="0"/>
            </a:endParaRPr>
          </a:p>
        </p:txBody>
      </p:sp>
      <p:sp>
        <p:nvSpPr>
          <p:cNvPr id="23" name="Shape 21"/>
          <p:cNvSpPr/>
          <p:nvPr/>
        </p:nvSpPr>
        <p:spPr>
          <a:xfrm>
            <a:off x="4070909" y="914400"/>
            <a:ext cx="1210666" cy="804672"/>
          </a:xfrm>
          <a:prstGeom prst="roundRect">
            <a:avLst>
              <a:gd name="adj" fmla="val 9091"/>
            </a:avLst>
          </a:prstGeom>
          <a:solidFill>
            <a:srgbClr val="005F5F"/>
          </a:solidFill>
          <a:ln w="12700">
            <a:solidFill>
              <a:srgbClr val="005F5F"/>
            </a:solidFill>
            <a:prstDash val="solid"/>
          </a:ln>
        </p:spPr>
      </p:sp>
      <p:sp>
        <p:nvSpPr>
          <p:cNvPr id="24" name="Text 22"/>
          <p:cNvSpPr/>
          <p:nvPr/>
        </p:nvSpPr>
        <p:spPr>
          <a:xfrm>
            <a:off x="4070909"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22</a:t>
            </a:r>
            <a:endParaRPr lang="en-US" sz="2400" dirty="0">
              <a:latin typeface="Felix Titling" panose="04060505060202020A04" pitchFamily="82" charset="0"/>
            </a:endParaRPr>
          </a:p>
        </p:txBody>
      </p:sp>
      <p:sp>
        <p:nvSpPr>
          <p:cNvPr id="25" name="Text 23"/>
          <p:cNvSpPr/>
          <p:nvPr/>
        </p:nvSpPr>
        <p:spPr>
          <a:xfrm>
            <a:off x="4070909"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Shabari Awas</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Families</a:t>
            </a:r>
            <a:endParaRPr lang="en-US" sz="1000" dirty="0">
              <a:latin typeface="Felix Titling" panose="04060505060202020A04" pitchFamily="82" charset="0"/>
            </a:endParaRPr>
          </a:p>
        </p:txBody>
      </p:sp>
      <p:sp>
        <p:nvSpPr>
          <p:cNvPr id="26" name="Shape 24"/>
          <p:cNvSpPr/>
          <p:nvPr/>
        </p:nvSpPr>
        <p:spPr>
          <a:xfrm>
            <a:off x="5373014" y="914400"/>
            <a:ext cx="1210666" cy="804672"/>
          </a:xfrm>
          <a:prstGeom prst="roundRect">
            <a:avLst>
              <a:gd name="adj" fmla="val 9091"/>
            </a:avLst>
          </a:prstGeom>
          <a:solidFill>
            <a:srgbClr val="005F5F"/>
          </a:solidFill>
          <a:ln w="12700">
            <a:solidFill>
              <a:srgbClr val="005F5F"/>
            </a:solidFill>
            <a:prstDash val="solid"/>
          </a:ln>
        </p:spPr>
      </p:sp>
      <p:sp>
        <p:nvSpPr>
          <p:cNvPr id="27" name="Text 25"/>
          <p:cNvSpPr/>
          <p:nvPr/>
        </p:nvSpPr>
        <p:spPr>
          <a:xfrm>
            <a:off x="5373014"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300+</a:t>
            </a:r>
            <a:endParaRPr lang="en-US" sz="2400" dirty="0">
              <a:latin typeface="Felix Titling" panose="04060505060202020A04" pitchFamily="82" charset="0"/>
            </a:endParaRPr>
          </a:p>
        </p:txBody>
      </p:sp>
      <p:sp>
        <p:nvSpPr>
          <p:cNvPr id="28" name="Text 26"/>
          <p:cNvSpPr/>
          <p:nvPr/>
        </p:nvSpPr>
        <p:spPr>
          <a:xfrm>
            <a:off x="5373014"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Fishermen</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Sensitized</a:t>
            </a:r>
            <a:endParaRPr lang="en-US" sz="1000" dirty="0">
              <a:latin typeface="Felix Titling" panose="04060505060202020A04" pitchFamily="82" charset="0"/>
            </a:endParaRPr>
          </a:p>
        </p:txBody>
      </p:sp>
      <p:sp>
        <p:nvSpPr>
          <p:cNvPr id="29" name="Text 27"/>
          <p:cNvSpPr/>
          <p:nvPr/>
        </p:nvSpPr>
        <p:spPr>
          <a:xfrm>
            <a:off x="256032" y="1970048"/>
            <a:ext cx="3515868" cy="289326"/>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mbria" pitchFamily="34" charset="-122"/>
                <a:cs typeface="Cambria" pitchFamily="34" charset="-120"/>
              </a:rPr>
              <a:t>Interventions &amp; Activities in Mahad Block</a:t>
            </a:r>
            <a:endParaRPr lang="en-US" sz="1100" dirty="0">
              <a:latin typeface="Felix Titling" panose="04060505060202020A04" pitchFamily="82" charset="0"/>
            </a:endParaRPr>
          </a:p>
        </p:txBody>
      </p:sp>
      <p:sp>
        <p:nvSpPr>
          <p:cNvPr id="30" name="Shape 28"/>
          <p:cNvSpPr/>
          <p:nvPr/>
        </p:nvSpPr>
        <p:spPr>
          <a:xfrm>
            <a:off x="256032" y="2157984"/>
            <a:ext cx="640080" cy="16459"/>
          </a:xfrm>
          <a:prstGeom prst="rect">
            <a:avLst/>
          </a:prstGeom>
          <a:solidFill>
            <a:srgbClr val="C8960A"/>
          </a:solidFill>
          <a:ln w="12700">
            <a:solidFill>
              <a:srgbClr val="C8960A"/>
            </a:solidFill>
            <a:prstDash val="solid"/>
          </a:ln>
        </p:spPr>
      </p:sp>
      <p:sp>
        <p:nvSpPr>
          <p:cNvPr id="31" name="Text 29"/>
          <p:cNvSpPr/>
          <p:nvPr/>
        </p:nvSpPr>
        <p:spPr>
          <a:xfrm>
            <a:off x="256032" y="2286000"/>
            <a:ext cx="3145536" cy="978408"/>
          </a:xfrm>
          <a:prstGeom prst="rect">
            <a:avLst/>
          </a:prstGeom>
          <a:noFill/>
          <a:ln/>
        </p:spPr>
        <p:txBody>
          <a:bodyPr wrap="square" lIns="0" tIns="0" rIns="0" bIns="0" rtlCol="0" anchor="t"/>
          <a:lstStyle/>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The Mahad Block was covered as the Next project area, extending the reach of the fisheries livelihood intervention to additional tribal communities. Key activities included awareness campaigns, training for fishermen and SHG members, capacity building of village leaders, and facilitation of access to government welfare schemes.</a:t>
            </a:r>
            <a:endParaRPr lang="en-US" sz="1000" dirty="0">
              <a:latin typeface="Footlight MT Light" panose="0204060206030A020304" pitchFamily="18" charset="0"/>
            </a:endParaRPr>
          </a:p>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Through continuous awareness campaigns and handholding support by SJSM, 235 beneficiaries from Mahad Block accessed government welfare schemes worth ₹1.78 Crore during the project period.</a:t>
            </a:r>
            <a:endParaRPr lang="en-US" sz="1000" dirty="0">
              <a:latin typeface="Footlight MT Light" panose="0204060206030A020304" pitchFamily="18" charset="0"/>
            </a:endParaRPr>
          </a:p>
        </p:txBody>
      </p:sp>
      <p:sp>
        <p:nvSpPr>
          <p:cNvPr id="32" name="Text 30"/>
          <p:cNvSpPr/>
          <p:nvPr/>
        </p:nvSpPr>
        <p:spPr>
          <a:xfrm>
            <a:off x="283464" y="3962159"/>
            <a:ext cx="3488436" cy="193223"/>
          </a:xfrm>
          <a:prstGeom prst="rect">
            <a:avLst/>
          </a:prstGeom>
          <a:noFill/>
          <a:ln/>
        </p:spPr>
        <p:txBody>
          <a:bodyPr wrap="square" lIns="0" tIns="0" rIns="0" bIns="0" rtlCol="0" anchor="t"/>
          <a:lstStyle/>
          <a:p>
            <a:pPr marL="0" indent="0" algn="l">
              <a:buNone/>
            </a:pPr>
            <a:r>
              <a:rPr lang="en-US" sz="1100" b="1" dirty="0">
                <a:solidFill>
                  <a:srgbClr val="A67C00"/>
                </a:solidFill>
                <a:latin typeface="Felix Titling" panose="04060505060202020A04" pitchFamily="82" charset="0"/>
                <a:ea typeface="Cambria" pitchFamily="34" charset="-122"/>
                <a:cs typeface="Cambria" pitchFamily="34" charset="-120"/>
              </a:rPr>
              <a:t>Government Scheme Access - Mahad Block</a:t>
            </a:r>
            <a:endParaRPr lang="en-US" sz="1100" dirty="0">
              <a:latin typeface="Felix Titling" panose="04060505060202020A04" pitchFamily="82" charset="0"/>
            </a:endParaRPr>
          </a:p>
        </p:txBody>
      </p:sp>
      <p:sp>
        <p:nvSpPr>
          <p:cNvPr id="33" name="Shape 31"/>
          <p:cNvSpPr/>
          <p:nvPr/>
        </p:nvSpPr>
        <p:spPr>
          <a:xfrm>
            <a:off x="256032" y="4133365"/>
            <a:ext cx="640080" cy="16459"/>
          </a:xfrm>
          <a:prstGeom prst="rect">
            <a:avLst/>
          </a:prstGeom>
          <a:solidFill>
            <a:srgbClr val="C8960A"/>
          </a:solidFill>
          <a:ln w="12700">
            <a:solidFill>
              <a:srgbClr val="C8960A"/>
            </a:solidFill>
            <a:prstDash val="solid"/>
          </a:ln>
        </p:spPr>
      </p:sp>
      <p:sp>
        <p:nvSpPr>
          <p:cNvPr id="34" name="Shape 32"/>
          <p:cNvSpPr/>
          <p:nvPr/>
        </p:nvSpPr>
        <p:spPr>
          <a:xfrm>
            <a:off x="266542" y="4192656"/>
            <a:ext cx="3264408" cy="495066"/>
          </a:xfrm>
          <a:prstGeom prst="roundRect">
            <a:avLst>
              <a:gd name="adj" fmla="val 9677"/>
            </a:avLst>
          </a:prstGeom>
          <a:solidFill>
            <a:srgbClr val="FFF8E6"/>
          </a:solidFill>
          <a:ln w="12700">
            <a:solidFill>
              <a:srgbClr val="E5EDED"/>
            </a:solidFill>
            <a:prstDash val="solid"/>
          </a:ln>
        </p:spPr>
      </p:sp>
      <p:pic>
        <p:nvPicPr>
          <p:cNvPr id="35" name="Image 0" descr="preencoded.png"/>
          <p:cNvPicPr>
            <a:picLocks noChangeAspect="1"/>
          </p:cNvPicPr>
          <p:nvPr/>
        </p:nvPicPr>
        <p:blipFill>
          <a:blip r:embed="rId3"/>
          <a:stretch>
            <a:fillRect/>
          </a:stretch>
        </p:blipFill>
        <p:spPr>
          <a:xfrm>
            <a:off x="357981" y="4304558"/>
            <a:ext cx="246729" cy="226831"/>
          </a:xfrm>
          <a:prstGeom prst="rect">
            <a:avLst/>
          </a:prstGeom>
        </p:spPr>
      </p:pic>
      <p:pic>
        <p:nvPicPr>
          <p:cNvPr id="36" name="Image 1" descr="preencoded.png"/>
          <p:cNvPicPr>
            <a:picLocks noChangeAspect="1"/>
          </p:cNvPicPr>
          <p:nvPr/>
        </p:nvPicPr>
        <p:blipFill>
          <a:blip r:embed="rId4"/>
          <a:stretch>
            <a:fillRect/>
          </a:stretch>
        </p:blipFill>
        <p:spPr>
          <a:xfrm>
            <a:off x="357981" y="4304558"/>
            <a:ext cx="246729" cy="226831"/>
          </a:xfrm>
          <a:prstGeom prst="rect">
            <a:avLst/>
          </a:prstGeom>
        </p:spPr>
      </p:pic>
      <p:sp>
        <p:nvSpPr>
          <p:cNvPr id="37" name="Text 33"/>
          <p:cNvSpPr/>
          <p:nvPr/>
        </p:nvSpPr>
        <p:spPr>
          <a:xfrm>
            <a:off x="668877" y="4221839"/>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PMAY Housing</a:t>
            </a:r>
            <a:endParaRPr lang="en-US" sz="950" dirty="0">
              <a:latin typeface="Felix Titling" panose="04060505060202020A04" pitchFamily="82" charset="0"/>
            </a:endParaRPr>
          </a:p>
        </p:txBody>
      </p:sp>
      <p:sp>
        <p:nvSpPr>
          <p:cNvPr id="38" name="Text 34"/>
          <p:cNvSpPr/>
          <p:nvPr/>
        </p:nvSpPr>
        <p:spPr>
          <a:xfrm>
            <a:off x="668878" y="4363262"/>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62 families received housing support under Pradhan Mantri Awas Yojana</a:t>
            </a:r>
            <a:endParaRPr lang="en-US" sz="850" dirty="0">
              <a:latin typeface="Felix Titling" panose="04060505060202020A04" pitchFamily="82" charset="0"/>
            </a:endParaRPr>
          </a:p>
        </p:txBody>
      </p:sp>
      <p:sp>
        <p:nvSpPr>
          <p:cNvPr id="39" name="Shape 35"/>
          <p:cNvSpPr/>
          <p:nvPr/>
        </p:nvSpPr>
        <p:spPr>
          <a:xfrm>
            <a:off x="266542" y="4755744"/>
            <a:ext cx="3264408" cy="495066"/>
          </a:xfrm>
          <a:prstGeom prst="roundRect">
            <a:avLst>
              <a:gd name="adj" fmla="val 9677"/>
            </a:avLst>
          </a:prstGeom>
          <a:solidFill>
            <a:srgbClr val="FFFFFF"/>
          </a:solidFill>
          <a:ln w="12700">
            <a:solidFill>
              <a:srgbClr val="E5EDED"/>
            </a:solidFill>
            <a:prstDash val="solid"/>
          </a:ln>
        </p:spPr>
      </p:sp>
      <p:pic>
        <p:nvPicPr>
          <p:cNvPr id="40" name="Image 2" descr="preencoded.png"/>
          <p:cNvPicPr>
            <a:picLocks noChangeAspect="1"/>
          </p:cNvPicPr>
          <p:nvPr/>
        </p:nvPicPr>
        <p:blipFill>
          <a:blip r:embed="rId3"/>
          <a:stretch>
            <a:fillRect/>
          </a:stretch>
        </p:blipFill>
        <p:spPr>
          <a:xfrm>
            <a:off x="357981" y="4867646"/>
            <a:ext cx="246729" cy="226831"/>
          </a:xfrm>
          <a:prstGeom prst="rect">
            <a:avLst/>
          </a:prstGeom>
        </p:spPr>
      </p:pic>
      <p:pic>
        <p:nvPicPr>
          <p:cNvPr id="41" name="Image 3" descr="preencoded.png"/>
          <p:cNvPicPr>
            <a:picLocks noChangeAspect="1"/>
          </p:cNvPicPr>
          <p:nvPr/>
        </p:nvPicPr>
        <p:blipFill>
          <a:blip r:embed="rId4"/>
          <a:stretch>
            <a:fillRect/>
          </a:stretch>
        </p:blipFill>
        <p:spPr>
          <a:xfrm>
            <a:off x="357981" y="4867646"/>
            <a:ext cx="246729" cy="226831"/>
          </a:xfrm>
          <a:prstGeom prst="rect">
            <a:avLst/>
          </a:prstGeom>
        </p:spPr>
      </p:pic>
      <p:sp>
        <p:nvSpPr>
          <p:cNvPr id="42" name="Text 36"/>
          <p:cNvSpPr/>
          <p:nvPr/>
        </p:nvSpPr>
        <p:spPr>
          <a:xfrm>
            <a:off x="668877" y="4764050"/>
            <a:ext cx="1711210" cy="252631"/>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Shabari Awas Yojana</a:t>
            </a:r>
            <a:endParaRPr lang="en-US" sz="950" dirty="0">
              <a:latin typeface="Felix Titling" panose="04060505060202020A04" pitchFamily="82" charset="0"/>
            </a:endParaRPr>
          </a:p>
        </p:txBody>
      </p:sp>
      <p:sp>
        <p:nvSpPr>
          <p:cNvPr id="43" name="Text 37"/>
          <p:cNvSpPr/>
          <p:nvPr/>
        </p:nvSpPr>
        <p:spPr>
          <a:xfrm>
            <a:off x="668878" y="4926350"/>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22 families benefited from this tribal housing scheme</a:t>
            </a:r>
            <a:endParaRPr lang="en-US" sz="850" dirty="0">
              <a:latin typeface="Felix Titling" panose="04060505060202020A04" pitchFamily="82" charset="0"/>
            </a:endParaRPr>
          </a:p>
        </p:txBody>
      </p:sp>
      <p:sp>
        <p:nvSpPr>
          <p:cNvPr id="44" name="Shape 38"/>
          <p:cNvSpPr/>
          <p:nvPr/>
        </p:nvSpPr>
        <p:spPr>
          <a:xfrm>
            <a:off x="266542" y="5328274"/>
            <a:ext cx="3264408" cy="495066"/>
          </a:xfrm>
          <a:prstGeom prst="roundRect">
            <a:avLst>
              <a:gd name="adj" fmla="val 9677"/>
            </a:avLst>
          </a:prstGeom>
          <a:solidFill>
            <a:srgbClr val="FFF8E6"/>
          </a:solidFill>
          <a:ln w="12700">
            <a:solidFill>
              <a:srgbClr val="E5EDED"/>
            </a:solidFill>
            <a:prstDash val="solid"/>
          </a:ln>
        </p:spPr>
      </p:sp>
      <p:pic>
        <p:nvPicPr>
          <p:cNvPr id="45" name="Image 4" descr="preencoded.png"/>
          <p:cNvPicPr>
            <a:picLocks noChangeAspect="1"/>
          </p:cNvPicPr>
          <p:nvPr/>
        </p:nvPicPr>
        <p:blipFill>
          <a:blip r:embed="rId3"/>
          <a:stretch>
            <a:fillRect/>
          </a:stretch>
        </p:blipFill>
        <p:spPr>
          <a:xfrm>
            <a:off x="357981" y="5440176"/>
            <a:ext cx="246729" cy="226831"/>
          </a:xfrm>
          <a:prstGeom prst="rect">
            <a:avLst/>
          </a:prstGeom>
        </p:spPr>
      </p:pic>
      <p:pic>
        <p:nvPicPr>
          <p:cNvPr id="46" name="Image 5" descr="preencoded.png"/>
          <p:cNvPicPr>
            <a:picLocks noChangeAspect="1"/>
          </p:cNvPicPr>
          <p:nvPr/>
        </p:nvPicPr>
        <p:blipFill>
          <a:blip r:embed="rId4"/>
          <a:stretch>
            <a:fillRect/>
          </a:stretch>
        </p:blipFill>
        <p:spPr>
          <a:xfrm>
            <a:off x="357981" y="5440176"/>
            <a:ext cx="246729" cy="226831"/>
          </a:xfrm>
          <a:prstGeom prst="rect">
            <a:avLst/>
          </a:prstGeom>
        </p:spPr>
      </p:pic>
      <p:sp>
        <p:nvSpPr>
          <p:cNvPr id="47" name="Text 39"/>
          <p:cNvSpPr/>
          <p:nvPr/>
        </p:nvSpPr>
        <p:spPr>
          <a:xfrm>
            <a:off x="655182" y="5342015"/>
            <a:ext cx="1711209" cy="183633"/>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Caste Certificates</a:t>
            </a:r>
            <a:endParaRPr lang="en-US" sz="950" dirty="0">
              <a:latin typeface="Felix Titling" panose="04060505060202020A04" pitchFamily="82" charset="0"/>
            </a:endParaRPr>
          </a:p>
        </p:txBody>
      </p:sp>
      <p:sp>
        <p:nvSpPr>
          <p:cNvPr id="48" name="Text 40"/>
          <p:cNvSpPr/>
          <p:nvPr/>
        </p:nvSpPr>
        <p:spPr>
          <a:xfrm>
            <a:off x="668878" y="5498880"/>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Beneficiaries supported to obtain caste certificates and ration cards</a:t>
            </a:r>
            <a:endParaRPr lang="en-US" sz="850" dirty="0">
              <a:latin typeface="Felix Titling" panose="04060505060202020A04" pitchFamily="82" charset="0"/>
            </a:endParaRPr>
          </a:p>
        </p:txBody>
      </p:sp>
      <p:sp>
        <p:nvSpPr>
          <p:cNvPr id="49" name="Shape 41"/>
          <p:cNvSpPr/>
          <p:nvPr/>
        </p:nvSpPr>
        <p:spPr>
          <a:xfrm>
            <a:off x="257478" y="5883163"/>
            <a:ext cx="3264408" cy="495066"/>
          </a:xfrm>
          <a:prstGeom prst="roundRect">
            <a:avLst>
              <a:gd name="adj" fmla="val 9677"/>
            </a:avLst>
          </a:prstGeom>
          <a:solidFill>
            <a:srgbClr val="FFFFFF"/>
          </a:solidFill>
          <a:ln w="12700">
            <a:solidFill>
              <a:srgbClr val="E5EDED"/>
            </a:solidFill>
            <a:prstDash val="solid"/>
          </a:ln>
        </p:spPr>
      </p:sp>
      <p:pic>
        <p:nvPicPr>
          <p:cNvPr id="50" name="Image 6" descr="preencoded.png"/>
          <p:cNvPicPr>
            <a:picLocks noChangeAspect="1"/>
          </p:cNvPicPr>
          <p:nvPr/>
        </p:nvPicPr>
        <p:blipFill>
          <a:blip r:embed="rId3"/>
          <a:stretch>
            <a:fillRect/>
          </a:stretch>
        </p:blipFill>
        <p:spPr>
          <a:xfrm>
            <a:off x="348917" y="5995065"/>
            <a:ext cx="246729" cy="226831"/>
          </a:xfrm>
          <a:prstGeom prst="rect">
            <a:avLst/>
          </a:prstGeom>
        </p:spPr>
      </p:pic>
      <p:pic>
        <p:nvPicPr>
          <p:cNvPr id="51" name="Image 7" descr="preencoded.png"/>
          <p:cNvPicPr>
            <a:picLocks noChangeAspect="1"/>
          </p:cNvPicPr>
          <p:nvPr/>
        </p:nvPicPr>
        <p:blipFill>
          <a:blip r:embed="rId4"/>
          <a:stretch>
            <a:fillRect/>
          </a:stretch>
        </p:blipFill>
        <p:spPr>
          <a:xfrm>
            <a:off x="348917" y="5995065"/>
            <a:ext cx="246729" cy="226831"/>
          </a:xfrm>
          <a:prstGeom prst="rect">
            <a:avLst/>
          </a:prstGeom>
        </p:spPr>
      </p:pic>
      <p:sp>
        <p:nvSpPr>
          <p:cNvPr id="52" name="Text 42"/>
          <p:cNvSpPr/>
          <p:nvPr/>
        </p:nvSpPr>
        <p:spPr>
          <a:xfrm>
            <a:off x="659813" y="5902691"/>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Poultry Units</a:t>
            </a:r>
            <a:endParaRPr lang="en-US" sz="950" dirty="0">
              <a:latin typeface="Felix Titling" panose="04060505060202020A04" pitchFamily="82" charset="0"/>
            </a:endParaRPr>
          </a:p>
        </p:txBody>
      </p:sp>
      <p:sp>
        <p:nvSpPr>
          <p:cNvPr id="53" name="Text 43"/>
          <p:cNvSpPr/>
          <p:nvPr/>
        </p:nvSpPr>
        <p:spPr>
          <a:xfrm>
            <a:off x="659814" y="6053769"/>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Poultry units provided to beneficiaries for income diversification</a:t>
            </a:r>
            <a:endParaRPr lang="en-US" sz="850" dirty="0">
              <a:latin typeface="Felix Titling" panose="04060505060202020A04" pitchFamily="82" charset="0"/>
            </a:endParaRPr>
          </a:p>
        </p:txBody>
      </p:sp>
      <p:sp>
        <p:nvSpPr>
          <p:cNvPr id="54" name="Shape 44"/>
          <p:cNvSpPr/>
          <p:nvPr/>
        </p:nvSpPr>
        <p:spPr>
          <a:xfrm>
            <a:off x="266542" y="6426919"/>
            <a:ext cx="3264408" cy="495066"/>
          </a:xfrm>
          <a:prstGeom prst="roundRect">
            <a:avLst>
              <a:gd name="adj" fmla="val 9677"/>
            </a:avLst>
          </a:prstGeom>
          <a:solidFill>
            <a:srgbClr val="FFF8E6"/>
          </a:solidFill>
          <a:ln w="12700">
            <a:solidFill>
              <a:srgbClr val="E5EDED"/>
            </a:solidFill>
            <a:prstDash val="solid"/>
          </a:ln>
        </p:spPr>
      </p:sp>
      <p:pic>
        <p:nvPicPr>
          <p:cNvPr id="55" name="Image 8" descr="preencoded.png"/>
          <p:cNvPicPr>
            <a:picLocks noChangeAspect="1"/>
          </p:cNvPicPr>
          <p:nvPr/>
        </p:nvPicPr>
        <p:blipFill>
          <a:blip r:embed="rId3"/>
          <a:stretch>
            <a:fillRect/>
          </a:stretch>
        </p:blipFill>
        <p:spPr>
          <a:xfrm>
            <a:off x="357981" y="6538821"/>
            <a:ext cx="246729" cy="226831"/>
          </a:xfrm>
          <a:prstGeom prst="rect">
            <a:avLst/>
          </a:prstGeom>
        </p:spPr>
      </p:pic>
      <p:pic>
        <p:nvPicPr>
          <p:cNvPr id="56" name="Image 9" descr="preencoded.png"/>
          <p:cNvPicPr>
            <a:picLocks noChangeAspect="1"/>
          </p:cNvPicPr>
          <p:nvPr/>
        </p:nvPicPr>
        <p:blipFill>
          <a:blip r:embed="rId4"/>
          <a:stretch>
            <a:fillRect/>
          </a:stretch>
        </p:blipFill>
        <p:spPr>
          <a:xfrm>
            <a:off x="357981" y="6538821"/>
            <a:ext cx="246729" cy="226831"/>
          </a:xfrm>
          <a:prstGeom prst="rect">
            <a:avLst/>
          </a:prstGeom>
        </p:spPr>
      </p:pic>
      <p:sp>
        <p:nvSpPr>
          <p:cNvPr id="57" name="Text 45"/>
          <p:cNvSpPr/>
          <p:nvPr/>
        </p:nvSpPr>
        <p:spPr>
          <a:xfrm>
            <a:off x="668877" y="6434839"/>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Ujjwala Gas</a:t>
            </a:r>
            <a:endParaRPr lang="en-US" sz="950" dirty="0">
              <a:latin typeface="Felix Titling" panose="04060505060202020A04" pitchFamily="82" charset="0"/>
            </a:endParaRPr>
          </a:p>
        </p:txBody>
      </p:sp>
      <p:sp>
        <p:nvSpPr>
          <p:cNvPr id="58" name="Text 46"/>
          <p:cNvSpPr/>
          <p:nvPr/>
        </p:nvSpPr>
        <p:spPr>
          <a:xfrm>
            <a:off x="668878" y="6597525"/>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Ujjwala LPG Gas Connections extended to eligible beneficiaries</a:t>
            </a:r>
            <a:endParaRPr lang="en-US" sz="850" dirty="0">
              <a:latin typeface="Felix Titling" panose="04060505060202020A04" pitchFamily="82" charset="0"/>
            </a:endParaRPr>
          </a:p>
        </p:txBody>
      </p:sp>
      <p:sp>
        <p:nvSpPr>
          <p:cNvPr id="59" name="Shape 47"/>
          <p:cNvSpPr/>
          <p:nvPr/>
        </p:nvSpPr>
        <p:spPr>
          <a:xfrm>
            <a:off x="266542" y="6990436"/>
            <a:ext cx="3264408" cy="495066"/>
          </a:xfrm>
          <a:prstGeom prst="roundRect">
            <a:avLst>
              <a:gd name="adj" fmla="val 9677"/>
            </a:avLst>
          </a:prstGeom>
          <a:solidFill>
            <a:srgbClr val="FFFFFF"/>
          </a:solidFill>
          <a:ln w="12700">
            <a:solidFill>
              <a:srgbClr val="E5EDED"/>
            </a:solidFill>
            <a:prstDash val="solid"/>
          </a:ln>
        </p:spPr>
      </p:sp>
      <p:pic>
        <p:nvPicPr>
          <p:cNvPr id="60" name="Image 10" descr="preencoded.png"/>
          <p:cNvPicPr>
            <a:picLocks noChangeAspect="1"/>
          </p:cNvPicPr>
          <p:nvPr/>
        </p:nvPicPr>
        <p:blipFill>
          <a:blip r:embed="rId3"/>
          <a:stretch>
            <a:fillRect/>
          </a:stretch>
        </p:blipFill>
        <p:spPr>
          <a:xfrm>
            <a:off x="357981" y="7102338"/>
            <a:ext cx="246729" cy="226831"/>
          </a:xfrm>
          <a:prstGeom prst="rect">
            <a:avLst/>
          </a:prstGeom>
        </p:spPr>
      </p:pic>
      <p:pic>
        <p:nvPicPr>
          <p:cNvPr id="61" name="Image 11" descr="preencoded.png"/>
          <p:cNvPicPr>
            <a:picLocks noChangeAspect="1"/>
          </p:cNvPicPr>
          <p:nvPr/>
        </p:nvPicPr>
        <p:blipFill>
          <a:blip r:embed="rId4"/>
          <a:stretch>
            <a:fillRect/>
          </a:stretch>
        </p:blipFill>
        <p:spPr>
          <a:xfrm>
            <a:off x="357981" y="7102338"/>
            <a:ext cx="246729" cy="226831"/>
          </a:xfrm>
          <a:prstGeom prst="rect">
            <a:avLst/>
          </a:prstGeom>
        </p:spPr>
      </p:pic>
      <p:sp>
        <p:nvSpPr>
          <p:cNvPr id="62" name="Text 48"/>
          <p:cNvSpPr/>
          <p:nvPr/>
        </p:nvSpPr>
        <p:spPr>
          <a:xfrm>
            <a:off x="668877" y="7001398"/>
            <a:ext cx="2095295" cy="207609"/>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Community Infrastructure</a:t>
            </a:r>
            <a:endParaRPr lang="en-US" sz="950" dirty="0">
              <a:latin typeface="Felix Titling" panose="04060505060202020A04" pitchFamily="82" charset="0"/>
            </a:endParaRPr>
          </a:p>
        </p:txBody>
      </p:sp>
      <p:sp>
        <p:nvSpPr>
          <p:cNvPr id="63" name="Text 49"/>
          <p:cNvSpPr/>
          <p:nvPr/>
        </p:nvSpPr>
        <p:spPr>
          <a:xfrm>
            <a:off x="668878" y="7161042"/>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Support for community infrastructure and sanitation improvement</a:t>
            </a:r>
            <a:endParaRPr lang="en-US" sz="850" dirty="0">
              <a:latin typeface="Felix Titling" panose="04060505060202020A04" pitchFamily="82" charset="0"/>
            </a:endParaRPr>
          </a:p>
        </p:txBody>
      </p:sp>
      <p:pic>
        <p:nvPicPr>
          <p:cNvPr id="64" name="Image 12" descr="/home/claude/rpt_imgs/event_1.jpg"/>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20000"/>
                    </a14:imgEffect>
                  </a14:imgLayer>
                </a14:imgProps>
              </a:ext>
            </a:extLst>
          </a:blip>
          <a:srcRect/>
          <a:stretch/>
        </p:blipFill>
        <p:spPr>
          <a:xfrm>
            <a:off x="3879477" y="1925726"/>
            <a:ext cx="2987073" cy="1378916"/>
          </a:xfrm>
          <a:prstGeom prst="rect">
            <a:avLst/>
          </a:prstGeom>
        </p:spPr>
      </p:pic>
      <p:sp>
        <p:nvSpPr>
          <p:cNvPr id="66" name="Text 51"/>
          <p:cNvSpPr/>
          <p:nvPr/>
        </p:nvSpPr>
        <p:spPr>
          <a:xfrm>
            <a:off x="3946979" y="3105924"/>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Community Gathering - Mahad</a:t>
            </a:r>
            <a:endParaRPr lang="en-US" sz="750" dirty="0">
              <a:solidFill>
                <a:srgbClr val="FFFF00"/>
              </a:solidFill>
              <a:latin typeface="Footlight MT Light" panose="0204060206030A020304" pitchFamily="18" charset="0"/>
            </a:endParaRPr>
          </a:p>
        </p:txBody>
      </p:sp>
      <p:pic>
        <p:nvPicPr>
          <p:cNvPr id="67" name="Image 13" descr="/home/claude/rpt_imgs/awareness_1.jpg"/>
          <p:cNvPicPr>
            <a:picLocks noChangeAspect="1"/>
          </p:cNvPicPr>
          <p:nvPr/>
        </p:nvPicPr>
        <p:blipFill>
          <a:blip r:embed="rId7">
            <a:extLst>
              <a:ext uri="{BEBA8EAE-BF5A-486C-A8C5-ECC9F3942E4B}">
                <a14:imgProps xmlns:a14="http://schemas.microsoft.com/office/drawing/2010/main">
                  <a14:imgLayer r:embed="rId8">
                    <a14:imgEffect>
                      <a14:brightnessContrast bright="-20000"/>
                    </a14:imgEffect>
                  </a14:imgLayer>
                </a14:imgProps>
              </a:ext>
            </a:extLst>
          </a:blip>
          <a:srcRect/>
          <a:stretch/>
        </p:blipFill>
        <p:spPr>
          <a:xfrm>
            <a:off x="3877531" y="3281489"/>
            <a:ext cx="2978523" cy="1383157"/>
          </a:xfrm>
          <a:prstGeom prst="rect">
            <a:avLst/>
          </a:prstGeom>
        </p:spPr>
      </p:pic>
      <p:sp>
        <p:nvSpPr>
          <p:cNvPr id="69" name="Text 53"/>
          <p:cNvSpPr/>
          <p:nvPr/>
        </p:nvSpPr>
        <p:spPr>
          <a:xfrm>
            <a:off x="3922775" y="4498848"/>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Awareness Camp - Mahad Block</a:t>
            </a:r>
            <a:endParaRPr lang="en-US" sz="750" dirty="0">
              <a:solidFill>
                <a:srgbClr val="FFFF00"/>
              </a:solidFill>
              <a:latin typeface="Footlight MT Light" panose="0204060206030A020304" pitchFamily="18" charset="0"/>
            </a:endParaRPr>
          </a:p>
        </p:txBody>
      </p:sp>
      <p:pic>
        <p:nvPicPr>
          <p:cNvPr id="70" name="Image 14" descr="/home/claude/rpt_imgs/shg_2.jpg"/>
          <p:cNvPicPr>
            <a:picLocks noChangeAspect="1"/>
          </p:cNvPicPr>
          <p:nvPr/>
        </p:nvPicPr>
        <p:blipFill>
          <a:blip r:embed="rId9">
            <a:extLst>
              <a:ext uri="{BEBA8EAE-BF5A-486C-A8C5-ECC9F3942E4B}">
                <a14:imgProps xmlns:a14="http://schemas.microsoft.com/office/drawing/2010/main">
                  <a14:imgLayer r:embed="rId10">
                    <a14:imgEffect>
                      <a14:brightnessContrast contrast="20000"/>
                    </a14:imgEffect>
                  </a14:imgLayer>
                </a14:imgProps>
              </a:ext>
            </a:extLst>
          </a:blip>
          <a:srcRect/>
          <a:stretch/>
        </p:blipFill>
        <p:spPr>
          <a:xfrm>
            <a:off x="3877531" y="4664646"/>
            <a:ext cx="2991788" cy="1378916"/>
          </a:xfrm>
          <a:prstGeom prst="rect">
            <a:avLst/>
          </a:prstGeom>
        </p:spPr>
      </p:pic>
      <p:sp>
        <p:nvSpPr>
          <p:cNvPr id="72" name="Text 55"/>
          <p:cNvSpPr/>
          <p:nvPr/>
        </p:nvSpPr>
        <p:spPr>
          <a:xfrm>
            <a:off x="3946979" y="5883542"/>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SHG Meeting in Mahad Block</a:t>
            </a:r>
            <a:endParaRPr lang="en-US" sz="750" dirty="0">
              <a:solidFill>
                <a:srgbClr val="FFFF00"/>
              </a:solidFill>
              <a:latin typeface="Footlight MT Light" panose="0204060206030A020304" pitchFamily="18" charset="0"/>
            </a:endParaRPr>
          </a:p>
        </p:txBody>
      </p:sp>
      <p:pic>
        <p:nvPicPr>
          <p:cNvPr id="73" name="Image 15" descr="/home/claude/rpt_imgs/capacity_4.jpg"/>
          <p:cNvPicPr>
            <a:picLocks noChangeAspect="1"/>
          </p:cNvPicPr>
          <p:nvPr/>
        </p:nvPicPr>
        <p:blipFill>
          <a:blip r:embed="rId11">
            <a:extLst>
              <a:ext uri="{BEBA8EAE-BF5A-486C-A8C5-ECC9F3942E4B}">
                <a14:imgProps xmlns:a14="http://schemas.microsoft.com/office/drawing/2010/main">
                  <a14:imgLayer r:embed="rId12">
                    <a14:imgEffect>
                      <a14:brightnessContrast bright="-40000" contrast="20000"/>
                    </a14:imgEffect>
                  </a14:imgLayer>
                </a14:imgProps>
              </a:ext>
            </a:extLst>
          </a:blip>
          <a:srcRect/>
          <a:stretch/>
        </p:blipFill>
        <p:spPr>
          <a:xfrm>
            <a:off x="3877531" y="6031345"/>
            <a:ext cx="2997259" cy="1352690"/>
          </a:xfrm>
          <a:prstGeom prst="rect">
            <a:avLst/>
          </a:prstGeom>
        </p:spPr>
      </p:pic>
      <p:sp>
        <p:nvSpPr>
          <p:cNvPr id="75" name="Text 57"/>
          <p:cNvSpPr/>
          <p:nvPr/>
        </p:nvSpPr>
        <p:spPr>
          <a:xfrm>
            <a:off x="3909975" y="7187184"/>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Capacity Building - Mahad</a:t>
            </a:r>
            <a:endParaRPr lang="en-US" sz="750" dirty="0">
              <a:solidFill>
                <a:srgbClr val="FFFF00"/>
              </a:solidFill>
              <a:latin typeface="Footlight MT Light" panose="0204060206030A020304" pitchFamily="18" charset="0"/>
            </a:endParaRPr>
          </a:p>
        </p:txBody>
      </p:sp>
      <p:sp>
        <p:nvSpPr>
          <p:cNvPr id="76" name="Shape 58"/>
          <p:cNvSpPr/>
          <p:nvPr/>
        </p:nvSpPr>
        <p:spPr>
          <a:xfrm>
            <a:off x="274321" y="7654813"/>
            <a:ext cx="6464808" cy="512064"/>
          </a:xfrm>
          <a:prstGeom prst="roundRect">
            <a:avLst>
              <a:gd name="adj" fmla="val 14286"/>
            </a:avLst>
          </a:prstGeom>
          <a:solidFill>
            <a:srgbClr val="FFF8E6"/>
          </a:solidFill>
          <a:ln w="12700">
            <a:solidFill>
              <a:srgbClr val="C8960A"/>
            </a:solidFill>
            <a:prstDash val="solid"/>
          </a:ln>
        </p:spPr>
      </p:sp>
      <p:sp>
        <p:nvSpPr>
          <p:cNvPr id="77" name="Shape 59"/>
          <p:cNvSpPr/>
          <p:nvPr/>
        </p:nvSpPr>
        <p:spPr>
          <a:xfrm>
            <a:off x="274320" y="7654813"/>
            <a:ext cx="45719" cy="512064"/>
          </a:xfrm>
          <a:prstGeom prst="rect">
            <a:avLst/>
          </a:prstGeom>
          <a:solidFill>
            <a:srgbClr val="C8960A"/>
          </a:solidFill>
          <a:ln w="12700">
            <a:solidFill>
              <a:srgbClr val="C8960A"/>
            </a:solidFill>
            <a:prstDash val="solid"/>
          </a:ln>
        </p:spPr>
      </p:sp>
      <p:sp>
        <p:nvSpPr>
          <p:cNvPr id="78" name="Text 60"/>
          <p:cNvSpPr/>
          <p:nvPr/>
        </p:nvSpPr>
        <p:spPr>
          <a:xfrm>
            <a:off x="457200" y="7727965"/>
            <a:ext cx="6241241" cy="365760"/>
          </a:xfrm>
          <a:prstGeom prst="rect">
            <a:avLst/>
          </a:prstGeom>
          <a:noFill/>
          <a:ln/>
        </p:spPr>
        <p:txBody>
          <a:bodyPr wrap="square" lIns="0" tIns="0" rIns="0" bIns="0" rtlCol="0" anchor="ctr"/>
          <a:lstStyle/>
          <a:p>
            <a:pPr marL="0" indent="0" algn="l">
              <a:buNone/>
            </a:pPr>
            <a:r>
              <a:rPr lang="en-US" sz="1050" b="1" dirty="0">
                <a:solidFill>
                  <a:srgbClr val="A67C00"/>
                </a:solidFill>
                <a:latin typeface="Felix Titling" panose="04060505060202020A04" pitchFamily="82" charset="0"/>
                <a:ea typeface="Calibri" pitchFamily="34" charset="-122"/>
                <a:cs typeface="Calibri" pitchFamily="34" charset="-120"/>
              </a:rPr>
              <a:t>Mahad Block Impact: 235 beneficiaries accessed government schemes worth ₹1.78 Crore - including housing, livelihood assets, LPG connections, and caste certificates.</a:t>
            </a:r>
            <a:endParaRPr lang="en-US" sz="1050" dirty="0">
              <a:latin typeface="Felix Titling" panose="04060505060202020A04" pitchFamily="82" charset="0"/>
            </a:endParaRPr>
          </a:p>
        </p:txBody>
      </p:sp>
      <p:pic>
        <p:nvPicPr>
          <p:cNvPr id="79" name="Image 16" descr="/home/claude/rpt_imgs/govt_erickshaw.jpg"/>
          <p:cNvPicPr>
            <a:picLocks noChangeAspect="1"/>
          </p:cNvPicPr>
          <p:nvPr/>
        </p:nvPicPr>
        <p:blipFill>
          <a:blip r:embed="rId13"/>
          <a:srcRect/>
          <a:stretch/>
        </p:blipFill>
        <p:spPr>
          <a:xfrm>
            <a:off x="256032" y="8201899"/>
            <a:ext cx="3081528" cy="1463309"/>
          </a:xfrm>
          <a:prstGeom prst="rect">
            <a:avLst/>
          </a:prstGeom>
        </p:spPr>
      </p:pic>
      <p:sp>
        <p:nvSpPr>
          <p:cNvPr id="80" name="Shape 61"/>
          <p:cNvSpPr/>
          <p:nvPr/>
        </p:nvSpPr>
        <p:spPr>
          <a:xfrm>
            <a:off x="256032" y="9436608"/>
            <a:ext cx="3081528" cy="237744"/>
          </a:xfrm>
          <a:prstGeom prst="rect">
            <a:avLst/>
          </a:prstGeom>
          <a:solidFill>
            <a:srgbClr val="2A3535"/>
          </a:solidFill>
          <a:ln w="12700">
            <a:solidFill>
              <a:srgbClr val="2A3535"/>
            </a:solidFill>
            <a:prstDash val="solid"/>
          </a:ln>
        </p:spPr>
      </p:sp>
      <p:sp>
        <p:nvSpPr>
          <p:cNvPr id="81" name="Text 62"/>
          <p:cNvSpPr/>
          <p:nvPr/>
        </p:nvSpPr>
        <p:spPr>
          <a:xfrm>
            <a:off x="329184" y="9473184"/>
            <a:ext cx="2935224"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E-Rickshaw Distribution - Govt. Scheme</a:t>
            </a:r>
            <a:endParaRPr lang="en-US" sz="750" dirty="0">
              <a:latin typeface="Footlight MT Light" panose="0204060206030A020304" pitchFamily="18" charset="0"/>
            </a:endParaRPr>
          </a:p>
        </p:txBody>
      </p:sp>
      <p:pic>
        <p:nvPicPr>
          <p:cNvPr id="82" name="Image 17" descr="/home/claude/rpt_imgs/govt_dist_3.jpg"/>
          <p:cNvPicPr>
            <a:picLocks noChangeAspect="1"/>
          </p:cNvPicPr>
          <p:nvPr/>
        </p:nvPicPr>
        <p:blipFill>
          <a:blip r:embed="rId14"/>
          <a:srcRect/>
          <a:stretch/>
        </p:blipFill>
        <p:spPr>
          <a:xfrm>
            <a:off x="3520440" y="8199920"/>
            <a:ext cx="3081528" cy="1474432"/>
          </a:xfrm>
          <a:prstGeom prst="rect">
            <a:avLst/>
          </a:prstGeom>
        </p:spPr>
      </p:pic>
      <p:sp>
        <p:nvSpPr>
          <p:cNvPr id="83" name="Shape 63"/>
          <p:cNvSpPr/>
          <p:nvPr/>
        </p:nvSpPr>
        <p:spPr>
          <a:xfrm>
            <a:off x="3520440" y="9436608"/>
            <a:ext cx="3081528" cy="237744"/>
          </a:xfrm>
          <a:prstGeom prst="rect">
            <a:avLst/>
          </a:prstGeom>
          <a:solidFill>
            <a:srgbClr val="2A3535"/>
          </a:solidFill>
          <a:ln w="12700">
            <a:solidFill>
              <a:srgbClr val="2A3535"/>
            </a:solidFill>
            <a:prstDash val="solid"/>
          </a:ln>
        </p:spPr>
      </p:sp>
      <p:sp>
        <p:nvSpPr>
          <p:cNvPr id="84" name="Text 64"/>
          <p:cNvSpPr/>
          <p:nvPr/>
        </p:nvSpPr>
        <p:spPr>
          <a:xfrm>
            <a:off x="3593592" y="9473184"/>
            <a:ext cx="2935224" cy="164592"/>
          </a:xfrm>
          <a:prstGeom prst="rect">
            <a:avLst/>
          </a:prstGeom>
          <a:noFill/>
          <a:ln/>
        </p:spPr>
        <p:txBody>
          <a:bodyPr wrap="square" lIns="0" tIns="0" rIns="0" bIns="0" rtlCol="0" anchor="t"/>
          <a:lstStyle/>
          <a:p>
            <a:pPr marL="0" indent="0" algn="l">
              <a:buNone/>
            </a:pPr>
            <a:r>
              <a:rPr lang="en-US" sz="750" dirty="0">
                <a:solidFill>
                  <a:srgbClr val="FFFFFF"/>
                </a:solidFill>
                <a:latin typeface="Calibri" pitchFamily="34" charset="0"/>
                <a:ea typeface="Calibri" pitchFamily="34" charset="-122"/>
                <a:cs typeface="Calibri" pitchFamily="34" charset="-120"/>
              </a:rPr>
              <a:t>Solar Panel Distribution - Mahad</a:t>
            </a:r>
            <a:endParaRPr lang="en-US" sz="75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Government Scheme Access - Poladpur Block</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98216"/>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11" name="Text 9"/>
          <p:cNvSpPr/>
          <p:nvPr/>
        </p:nvSpPr>
        <p:spPr>
          <a:xfrm>
            <a:off x="292608" y="384048"/>
            <a:ext cx="645566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Government Scheme Access &amp; Social Entitlements - Poladpur Block</a:t>
            </a:r>
            <a:endParaRPr lang="en-US" dirty="0">
              <a:latin typeface="Felix Titling" panose="04060505060202020A04" pitchFamily="82" charset="0"/>
            </a:endParaRPr>
          </a:p>
        </p:txBody>
      </p:sp>
      <p:sp>
        <p:nvSpPr>
          <p:cNvPr id="12" name="Text 10"/>
          <p:cNvSpPr/>
          <p:nvPr/>
        </p:nvSpPr>
        <p:spPr>
          <a:xfrm>
            <a:off x="292608" y="1058937"/>
            <a:ext cx="6272784" cy="201168"/>
          </a:xfrm>
          <a:prstGeom prst="rect">
            <a:avLst/>
          </a:prstGeom>
          <a:noFill/>
          <a:ln/>
        </p:spPr>
        <p:txBody>
          <a:bodyPr wrap="square" lIns="0" tIns="0" rIns="0" bIns="0" rtlCol="0" anchor="t"/>
          <a:lstStyle/>
          <a:p>
            <a:pPr marL="0" indent="0" algn="l">
              <a:buNone/>
            </a:pPr>
            <a:r>
              <a:rPr lang="en-US" sz="1000" i="1" dirty="0">
                <a:solidFill>
                  <a:srgbClr val="5E7070"/>
                </a:solidFill>
                <a:latin typeface="Footlight MT Light" panose="0204060206030A020304" pitchFamily="18" charset="0"/>
                <a:ea typeface="Calibri" pitchFamily="34" charset="-122"/>
                <a:cs typeface="Calibri" pitchFamily="34" charset="-120"/>
              </a:rPr>
              <a:t>485 beneficiaries · </a:t>
            </a:r>
            <a:r>
              <a:rPr lang="en-US" sz="1000" b="1" i="1" dirty="0">
                <a:solidFill>
                  <a:srgbClr val="5E7070"/>
                </a:solidFill>
                <a:latin typeface="Footlight MT Light" panose="0204060206030A020304" pitchFamily="18" charset="0"/>
                <a:ea typeface="Calibri" pitchFamily="34" charset="-122"/>
                <a:cs typeface="Calibri" pitchFamily="34" charset="-120"/>
              </a:rPr>
              <a:t>Schemes worth ₹3.05 Crore</a:t>
            </a:r>
            <a:r>
              <a:rPr lang="en-US" sz="1000" i="1" dirty="0">
                <a:solidFill>
                  <a:srgbClr val="5E7070"/>
                </a:solidFill>
                <a:latin typeface="Footlight MT Light" panose="0204060206030A020304" pitchFamily="18" charset="0"/>
                <a:ea typeface="Calibri" pitchFamily="34" charset="-122"/>
                <a:cs typeface="Calibri" pitchFamily="34" charset="-120"/>
              </a:rPr>
              <a:t> · 2023–2026</a:t>
            </a:r>
            <a:endParaRPr lang="en-US" sz="100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Text 12"/>
          <p:cNvSpPr/>
          <p:nvPr/>
        </p:nvSpPr>
        <p:spPr>
          <a:xfrm>
            <a:off x="329184" y="1278394"/>
            <a:ext cx="6345936" cy="658368"/>
          </a:xfrm>
          <a:prstGeom prst="rect">
            <a:avLst/>
          </a:prstGeom>
          <a:noFill/>
          <a:ln/>
        </p:spPr>
        <p:txBody>
          <a:bodyPr wrap="square" lIns="0" tIns="0" rIns="0" bIns="0" rtlCol="0" anchor="t"/>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One of the most significant outcomes of the project was the increased awareness among tribal communities regarding their rights, government welfare schemes, and the importance of possessing essential documents. Through continuous awareness campaigns, training programmes, community meetings, and handholding support provided by SJSM, beneficiaries were able to access a range of government welfare schemes and social security benefits.</a:t>
            </a:r>
            <a:endParaRPr lang="en-US" sz="1000" dirty="0">
              <a:latin typeface="Footlight MT Light" panose="0204060206030A020304" pitchFamily="18" charset="0"/>
            </a:endParaRPr>
          </a:p>
        </p:txBody>
      </p:sp>
      <p:sp>
        <p:nvSpPr>
          <p:cNvPr id="15" name="Shape 13"/>
          <p:cNvSpPr/>
          <p:nvPr/>
        </p:nvSpPr>
        <p:spPr>
          <a:xfrm>
            <a:off x="201168" y="2430348"/>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6" name="Image 0" descr="preencoded.png"/>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338328" y="2567508"/>
            <a:ext cx="365760" cy="300016"/>
          </a:xfrm>
          <a:prstGeom prst="rect">
            <a:avLst/>
          </a:prstGeom>
        </p:spPr>
      </p:pic>
      <p:sp>
        <p:nvSpPr>
          <p:cNvPr id="17" name="Text 14"/>
          <p:cNvSpPr/>
          <p:nvPr/>
        </p:nvSpPr>
        <p:spPr>
          <a:xfrm>
            <a:off x="768096" y="2567508"/>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116</a:t>
            </a:r>
            <a:endParaRPr lang="en-US" sz="4400" dirty="0">
              <a:latin typeface="Felix Titling" panose="04060505060202020A04" pitchFamily="82" charset="0"/>
            </a:endParaRPr>
          </a:p>
        </p:txBody>
      </p:sp>
      <p:sp>
        <p:nvSpPr>
          <p:cNvPr id="18" name="Text 15"/>
          <p:cNvSpPr/>
          <p:nvPr/>
        </p:nvSpPr>
        <p:spPr>
          <a:xfrm>
            <a:off x="338328" y="3024708"/>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PMAY Housing Support</a:t>
            </a:r>
            <a:endParaRPr lang="en-US" sz="1200" dirty="0">
              <a:latin typeface="Felix Titling" panose="04060505060202020A04" pitchFamily="82" charset="0"/>
            </a:endParaRPr>
          </a:p>
        </p:txBody>
      </p:sp>
      <p:sp>
        <p:nvSpPr>
          <p:cNvPr id="19" name="Shape 16"/>
          <p:cNvSpPr/>
          <p:nvPr/>
        </p:nvSpPr>
        <p:spPr>
          <a:xfrm>
            <a:off x="338328" y="3280739"/>
            <a:ext cx="2862072" cy="45719"/>
          </a:xfrm>
          <a:prstGeom prst="rect">
            <a:avLst/>
          </a:prstGeom>
          <a:solidFill>
            <a:srgbClr val="E5EDED"/>
          </a:solidFill>
          <a:ln w="12700">
            <a:solidFill>
              <a:srgbClr val="E5EDED"/>
            </a:solidFill>
            <a:prstDash val="solid"/>
          </a:ln>
        </p:spPr>
      </p:sp>
      <p:sp>
        <p:nvSpPr>
          <p:cNvPr id="20" name="Text 17"/>
          <p:cNvSpPr/>
          <p:nvPr/>
        </p:nvSpPr>
        <p:spPr>
          <a:xfrm>
            <a:off x="338328" y="3363036"/>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116 families from tribal hamlets received housing support under Pradhan Mantri Awas Yojana (PMAY). This transformative intervention provided concrete homes to families previously living in kutcha structures.</a:t>
            </a:r>
            <a:endParaRPr lang="en-US" sz="750" dirty="0">
              <a:latin typeface="Felix Titling" panose="04060505060202020A04" pitchFamily="82" charset="0"/>
            </a:endParaRPr>
          </a:p>
        </p:txBody>
      </p:sp>
      <p:sp>
        <p:nvSpPr>
          <p:cNvPr id="21" name="Shape 18"/>
          <p:cNvSpPr/>
          <p:nvPr/>
        </p:nvSpPr>
        <p:spPr>
          <a:xfrm>
            <a:off x="3429000" y="2430348"/>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2" name="Image 1" descr="preencoded.png"/>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3566160" y="2567508"/>
            <a:ext cx="365760" cy="300016"/>
          </a:xfrm>
          <a:prstGeom prst="rect">
            <a:avLst/>
          </a:prstGeom>
        </p:spPr>
      </p:pic>
      <p:sp>
        <p:nvSpPr>
          <p:cNvPr id="23" name="Text 19"/>
          <p:cNvSpPr/>
          <p:nvPr/>
        </p:nvSpPr>
        <p:spPr>
          <a:xfrm>
            <a:off x="3995928" y="2567508"/>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18</a:t>
            </a:r>
            <a:endParaRPr lang="en-US" sz="4400" dirty="0">
              <a:latin typeface="Felix Titling" panose="04060505060202020A04" pitchFamily="82" charset="0"/>
            </a:endParaRPr>
          </a:p>
        </p:txBody>
      </p:sp>
      <p:sp>
        <p:nvSpPr>
          <p:cNvPr id="24" name="Text 20"/>
          <p:cNvSpPr/>
          <p:nvPr/>
        </p:nvSpPr>
        <p:spPr>
          <a:xfrm>
            <a:off x="3566160" y="3024708"/>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Shabari Awas Yojana</a:t>
            </a:r>
            <a:endParaRPr lang="en-US" sz="1200" dirty="0">
              <a:latin typeface="Felix Titling" panose="04060505060202020A04" pitchFamily="82" charset="0"/>
            </a:endParaRPr>
          </a:p>
        </p:txBody>
      </p:sp>
      <p:sp>
        <p:nvSpPr>
          <p:cNvPr id="25" name="Shape 21"/>
          <p:cNvSpPr/>
          <p:nvPr/>
        </p:nvSpPr>
        <p:spPr>
          <a:xfrm>
            <a:off x="3566160" y="3280739"/>
            <a:ext cx="2862072" cy="45719"/>
          </a:xfrm>
          <a:prstGeom prst="rect">
            <a:avLst/>
          </a:prstGeom>
          <a:solidFill>
            <a:srgbClr val="E5EDED"/>
          </a:solidFill>
          <a:ln w="12700">
            <a:solidFill>
              <a:srgbClr val="E5EDED"/>
            </a:solidFill>
            <a:prstDash val="solid"/>
          </a:ln>
        </p:spPr>
      </p:sp>
      <p:sp>
        <p:nvSpPr>
          <p:cNvPr id="26" name="Text 22"/>
          <p:cNvSpPr/>
          <p:nvPr/>
        </p:nvSpPr>
        <p:spPr>
          <a:xfrm>
            <a:off x="3566160" y="3363036"/>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18 families benefited from Shabari Awas Yojana - a state-level tribal housing scheme. Combined with PMAY, this scheme provided comprehensive housing coverage to eligible tribal families.</a:t>
            </a:r>
            <a:endParaRPr lang="en-US" sz="750" dirty="0">
              <a:latin typeface="Felix Titling" panose="04060505060202020A04" pitchFamily="82" charset="0"/>
            </a:endParaRPr>
          </a:p>
        </p:txBody>
      </p:sp>
      <p:sp>
        <p:nvSpPr>
          <p:cNvPr id="27" name="Shape 23"/>
          <p:cNvSpPr/>
          <p:nvPr/>
        </p:nvSpPr>
        <p:spPr>
          <a:xfrm>
            <a:off x="201168" y="4460316"/>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8" name="Image 2" descr="preencoded.png"/>
          <p:cNvPicPr>
            <a:picLocks noChangeAspect="1"/>
          </p:cNvPicPr>
          <p:nvPr/>
        </p:nvPicPr>
        <p:blipFill>
          <a:blip r:embed="rId5">
            <a:duotone>
              <a:schemeClr val="accent4">
                <a:shade val="45000"/>
                <a:satMod val="135000"/>
              </a:schemeClr>
              <a:prstClr val="white"/>
            </a:duotone>
          </a:blip>
          <a:stretch>
            <a:fillRect/>
          </a:stretch>
        </p:blipFill>
        <p:spPr>
          <a:xfrm>
            <a:off x="338328" y="4597476"/>
            <a:ext cx="365760" cy="300016"/>
          </a:xfrm>
          <a:prstGeom prst="rect">
            <a:avLst/>
          </a:prstGeom>
        </p:spPr>
      </p:pic>
      <p:sp>
        <p:nvSpPr>
          <p:cNvPr id="29" name="Text 24"/>
          <p:cNvSpPr/>
          <p:nvPr/>
        </p:nvSpPr>
        <p:spPr>
          <a:xfrm>
            <a:off x="768096" y="4597476"/>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257</a:t>
            </a:r>
            <a:endParaRPr lang="en-US" sz="4400" dirty="0">
              <a:latin typeface="Felix Titling" panose="04060505060202020A04" pitchFamily="82" charset="0"/>
            </a:endParaRPr>
          </a:p>
        </p:txBody>
      </p:sp>
      <p:sp>
        <p:nvSpPr>
          <p:cNvPr id="30" name="Text 25"/>
          <p:cNvSpPr/>
          <p:nvPr/>
        </p:nvSpPr>
        <p:spPr>
          <a:xfrm>
            <a:off x="338328" y="5054676"/>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Caste Certificates</a:t>
            </a:r>
            <a:endParaRPr lang="en-US" sz="1200" dirty="0">
              <a:latin typeface="Felix Titling" panose="04060505060202020A04" pitchFamily="82" charset="0"/>
            </a:endParaRPr>
          </a:p>
        </p:txBody>
      </p:sp>
      <p:sp>
        <p:nvSpPr>
          <p:cNvPr id="31" name="Shape 26"/>
          <p:cNvSpPr/>
          <p:nvPr/>
        </p:nvSpPr>
        <p:spPr>
          <a:xfrm>
            <a:off x="338328" y="5310707"/>
            <a:ext cx="2862072" cy="45719"/>
          </a:xfrm>
          <a:prstGeom prst="rect">
            <a:avLst/>
          </a:prstGeom>
          <a:solidFill>
            <a:srgbClr val="E5EDED"/>
          </a:solidFill>
          <a:ln w="12700">
            <a:solidFill>
              <a:srgbClr val="E5EDED"/>
            </a:solidFill>
            <a:prstDash val="solid"/>
          </a:ln>
        </p:spPr>
      </p:sp>
      <p:sp>
        <p:nvSpPr>
          <p:cNvPr id="32" name="Text 27"/>
          <p:cNvSpPr/>
          <p:nvPr/>
        </p:nvSpPr>
        <p:spPr>
          <a:xfrm>
            <a:off x="338328" y="5393004"/>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257 beneficiaries obtained caste certificates, enabling access to various tribal welfare schemes, educational benefits, job reservations, and government entitlements previously inaccessible without documentation.</a:t>
            </a:r>
            <a:endParaRPr lang="en-US" sz="750" dirty="0">
              <a:latin typeface="Felix Titling" panose="04060505060202020A04" pitchFamily="82" charset="0"/>
            </a:endParaRPr>
          </a:p>
        </p:txBody>
      </p:sp>
      <p:sp>
        <p:nvSpPr>
          <p:cNvPr id="33" name="Shape 28"/>
          <p:cNvSpPr/>
          <p:nvPr/>
        </p:nvSpPr>
        <p:spPr>
          <a:xfrm>
            <a:off x="3429000" y="4460316"/>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4" name="Image 3" descr="preencoded.png"/>
          <p:cNvPicPr>
            <a:picLocks noChangeAspect="1"/>
          </p:cNvPicPr>
          <p:nvPr/>
        </p:nvPicPr>
        <p:blipFill>
          <a:blip r:embed="rId6">
            <a:alphaModFix amt="85000"/>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3566160" y="4597476"/>
            <a:ext cx="365760" cy="300016"/>
          </a:xfrm>
          <a:prstGeom prst="rect">
            <a:avLst/>
          </a:prstGeom>
        </p:spPr>
      </p:pic>
      <p:sp>
        <p:nvSpPr>
          <p:cNvPr id="35" name="Text 29"/>
          <p:cNvSpPr/>
          <p:nvPr/>
        </p:nvSpPr>
        <p:spPr>
          <a:xfrm>
            <a:off x="3995928" y="4597476"/>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40</a:t>
            </a:r>
            <a:endParaRPr lang="en-US" sz="4400" dirty="0">
              <a:latin typeface="Felix Titling" panose="04060505060202020A04" pitchFamily="82" charset="0"/>
            </a:endParaRPr>
          </a:p>
        </p:txBody>
      </p:sp>
      <p:sp>
        <p:nvSpPr>
          <p:cNvPr id="36" name="Text 30"/>
          <p:cNvSpPr/>
          <p:nvPr/>
        </p:nvSpPr>
        <p:spPr>
          <a:xfrm>
            <a:off x="3566160" y="5054676"/>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MSRLM Revolving Fund</a:t>
            </a:r>
            <a:endParaRPr lang="en-US" sz="1200" dirty="0">
              <a:latin typeface="Felix Titling" panose="04060505060202020A04" pitchFamily="82" charset="0"/>
            </a:endParaRPr>
          </a:p>
        </p:txBody>
      </p:sp>
      <p:sp>
        <p:nvSpPr>
          <p:cNvPr id="37" name="Shape 31"/>
          <p:cNvSpPr/>
          <p:nvPr/>
        </p:nvSpPr>
        <p:spPr>
          <a:xfrm>
            <a:off x="3566160" y="5310707"/>
            <a:ext cx="2862072" cy="45719"/>
          </a:xfrm>
          <a:prstGeom prst="rect">
            <a:avLst/>
          </a:prstGeom>
          <a:solidFill>
            <a:srgbClr val="E5EDED"/>
          </a:solidFill>
          <a:ln w="12700">
            <a:solidFill>
              <a:srgbClr val="E5EDED"/>
            </a:solidFill>
            <a:prstDash val="solid"/>
          </a:ln>
        </p:spPr>
      </p:sp>
      <p:sp>
        <p:nvSpPr>
          <p:cNvPr id="38" name="Text 32"/>
          <p:cNvSpPr/>
          <p:nvPr/>
        </p:nvSpPr>
        <p:spPr>
          <a:xfrm>
            <a:off x="3566160" y="5393004"/>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40 women members from 4 Self-Help Groups received revolving fund support through Maharashtra State Rural Livelihoods Mission (MSRLM), enhancing financial inclusion and entrepreneurship.</a:t>
            </a:r>
            <a:endParaRPr lang="en-US" sz="750" dirty="0">
              <a:latin typeface="Felix Titling" panose="04060505060202020A04" pitchFamily="82" charset="0"/>
            </a:endParaRPr>
          </a:p>
        </p:txBody>
      </p:sp>
      <p:sp>
        <p:nvSpPr>
          <p:cNvPr id="39" name="Shape 33"/>
          <p:cNvSpPr/>
          <p:nvPr/>
        </p:nvSpPr>
        <p:spPr>
          <a:xfrm>
            <a:off x="201168" y="6490284"/>
            <a:ext cx="6455664" cy="1185063"/>
          </a:xfrm>
          <a:prstGeom prst="roundRect">
            <a:avLst>
              <a:gd name="adj" fmla="val 506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40" name="Image 4" descr="preencoded.png"/>
          <p:cNvPicPr>
            <a:picLocks noChangeAspect="1"/>
          </p:cNvPicPr>
          <p:nvPr/>
        </p:nvPicPr>
        <p:blipFill>
          <a:blip r:embed="rId8">
            <a:extLst>
              <a:ext uri="{BEBA8EAE-BF5A-486C-A8C5-ECC9F3942E4B}">
                <a14:imgProps xmlns:a14="http://schemas.microsoft.com/office/drawing/2010/main">
                  <a14:imgLayer r:embed="rId9">
                    <a14:imgEffect>
                      <a14:brightnessContrast bright="40000" contrast="-20000"/>
                    </a14:imgEffect>
                  </a14:imgLayer>
                </a14:imgProps>
              </a:ext>
            </a:extLst>
          </a:blip>
          <a:stretch>
            <a:fillRect/>
          </a:stretch>
        </p:blipFill>
        <p:spPr>
          <a:xfrm>
            <a:off x="301752" y="6577089"/>
            <a:ext cx="402336" cy="330018"/>
          </a:xfrm>
          <a:prstGeom prst="rect">
            <a:avLst/>
          </a:prstGeom>
        </p:spPr>
      </p:pic>
      <p:sp>
        <p:nvSpPr>
          <p:cNvPr id="41" name="Text 34"/>
          <p:cNvSpPr/>
          <p:nvPr/>
        </p:nvSpPr>
        <p:spPr>
          <a:xfrm>
            <a:off x="420624" y="6649610"/>
            <a:ext cx="1622528" cy="661082"/>
          </a:xfrm>
          <a:prstGeom prst="rect">
            <a:avLst/>
          </a:prstGeom>
          <a:noFill/>
          <a:ln/>
        </p:spPr>
        <p:txBody>
          <a:bodyPr wrap="square" lIns="0" tIns="0" rIns="0" bIns="0" rtlCol="0" anchor="t"/>
          <a:lstStyle/>
          <a:p>
            <a:pPr marL="0" indent="0" algn="ctr">
              <a:buNone/>
            </a:pPr>
            <a:r>
              <a:rPr lang="en-US" sz="6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485</a:t>
            </a:r>
            <a:endParaRPr lang="en-US" sz="6000" dirty="0">
              <a:solidFill>
                <a:schemeClr val="accent4"/>
              </a:solidFill>
              <a:effectLst>
                <a:outerShdw blurRad="38100" dist="38100" dir="2700000" algn="tl">
                  <a:srgbClr val="000000">
                    <a:alpha val="43137"/>
                  </a:srgbClr>
                </a:outerShdw>
              </a:effectLst>
              <a:latin typeface="Felix Titling" panose="04060505060202020A04" pitchFamily="82" charset="0"/>
            </a:endParaRPr>
          </a:p>
        </p:txBody>
      </p:sp>
      <p:sp>
        <p:nvSpPr>
          <p:cNvPr id="42" name="Text 35"/>
          <p:cNvSpPr/>
          <p:nvPr/>
        </p:nvSpPr>
        <p:spPr>
          <a:xfrm>
            <a:off x="2002536" y="6630795"/>
            <a:ext cx="4700016" cy="195010"/>
          </a:xfrm>
          <a:prstGeom prst="rect">
            <a:avLst/>
          </a:prstGeom>
          <a:noFill/>
          <a:ln/>
        </p:spPr>
        <p:txBody>
          <a:bodyPr wrap="square" lIns="0" tIns="0" rIns="0" bIns="0" rtlCol="0" anchor="t"/>
          <a:lstStyle/>
          <a:p>
            <a:pPr marL="0" indent="0" algn="l">
              <a:buNone/>
            </a:pPr>
            <a:r>
              <a:rPr lang="en-US" sz="1600" b="1" dirty="0">
                <a:solidFill>
                  <a:srgbClr val="FFC000"/>
                </a:solidFill>
                <a:latin typeface="Felix Titling" panose="04060505060202020A04" pitchFamily="82" charset="0"/>
                <a:ea typeface="Calibri" pitchFamily="34" charset="-122"/>
                <a:cs typeface="Calibri" pitchFamily="34" charset="-120"/>
              </a:rPr>
              <a:t>Total Scheme Beneficiaries</a:t>
            </a:r>
            <a:endParaRPr lang="en-US" sz="1600" dirty="0">
              <a:solidFill>
                <a:srgbClr val="FFC000"/>
              </a:solidFill>
              <a:latin typeface="Felix Titling" panose="04060505060202020A04" pitchFamily="82" charset="0"/>
            </a:endParaRPr>
          </a:p>
        </p:txBody>
      </p:sp>
      <p:sp>
        <p:nvSpPr>
          <p:cNvPr id="43" name="Text 36"/>
          <p:cNvSpPr/>
          <p:nvPr/>
        </p:nvSpPr>
        <p:spPr>
          <a:xfrm>
            <a:off x="2002536" y="6892620"/>
            <a:ext cx="4434840" cy="660035"/>
          </a:xfrm>
          <a:prstGeom prst="rect">
            <a:avLst/>
          </a:prstGeom>
          <a:noFill/>
          <a:ln/>
        </p:spPr>
        <p:txBody>
          <a:bodyPr wrap="square" lIns="0" tIns="0" rIns="0" bIns="0" rtlCol="0" anchor="t"/>
          <a:lstStyle/>
          <a:p>
            <a:pPr marL="0" indent="0" algn="just">
              <a:buNone/>
            </a:pPr>
            <a:r>
              <a:rPr lang="en-US" sz="1000" dirty="0">
                <a:solidFill>
                  <a:srgbClr val="2A3535"/>
                </a:solidFill>
                <a:latin typeface="Felix Titling" panose="04060505060202020A04" pitchFamily="82" charset="0"/>
                <a:ea typeface="Calibri" pitchFamily="34" charset="-122"/>
                <a:cs typeface="Calibri" pitchFamily="34" charset="-120"/>
              </a:rPr>
              <a:t>Beneficiaries also accessed Ujjwala Gas Connections, Ayushman Bharat Cards, and electricity connections - collectively improving quality of life across 15 tribal hamlets in </a:t>
            </a:r>
            <a:r>
              <a:rPr lang="en-US" sz="1000" dirty="0" err="1">
                <a:solidFill>
                  <a:srgbClr val="2A3535"/>
                </a:solidFill>
                <a:latin typeface="Felix Titling" panose="04060505060202020A04" pitchFamily="82" charset="0"/>
                <a:ea typeface="Calibri" pitchFamily="34" charset="-122"/>
                <a:cs typeface="Calibri" pitchFamily="34" charset="-120"/>
              </a:rPr>
              <a:t>Poladpur</a:t>
            </a:r>
            <a:r>
              <a:rPr lang="en-US" sz="1000" dirty="0">
                <a:solidFill>
                  <a:srgbClr val="2A3535"/>
                </a:solidFill>
                <a:latin typeface="Felix Titling" panose="04060505060202020A04" pitchFamily="82" charset="0"/>
                <a:ea typeface="Calibri" pitchFamily="34" charset="-122"/>
                <a:cs typeface="Calibri" pitchFamily="34" charset="-120"/>
              </a:rPr>
              <a:t> ₹</a:t>
            </a:r>
            <a:r>
              <a:rPr lang="en-US" sz="1400" b="1" dirty="0">
                <a:solidFill>
                  <a:srgbClr val="2A3535"/>
                </a:solidFill>
                <a:latin typeface="Felix Titling" panose="04060505060202020A04" pitchFamily="82" charset="0"/>
                <a:ea typeface="Calibri" pitchFamily="34" charset="-122"/>
                <a:cs typeface="Calibri" pitchFamily="34" charset="-120"/>
              </a:rPr>
              <a:t>3.05 </a:t>
            </a:r>
            <a:r>
              <a:rPr lang="en-US" sz="1000" dirty="0">
                <a:solidFill>
                  <a:srgbClr val="2A3535"/>
                </a:solidFill>
                <a:latin typeface="Felix Titling" panose="04060505060202020A04" pitchFamily="82" charset="0"/>
                <a:ea typeface="Calibri" pitchFamily="34" charset="-122"/>
                <a:cs typeface="Calibri" pitchFamily="34" charset="-120"/>
              </a:rPr>
              <a:t>Crore</a:t>
            </a:r>
            <a:endParaRPr lang="en-US" sz="1000" dirty="0">
              <a:latin typeface="Felix Titling" panose="04060505060202020A04" pitchFamily="82" charset="0"/>
            </a:endParaRPr>
          </a:p>
        </p:txBody>
      </p:sp>
      <p:pic>
        <p:nvPicPr>
          <p:cNvPr id="44" name="Image 5" descr="/home/claude/rpt_imgs/govt_dist_1.jpg"/>
          <p:cNvPicPr>
            <a:picLocks noChangeAspect="1"/>
          </p:cNvPicPr>
          <p:nvPr/>
        </p:nvPicPr>
        <p:blipFill>
          <a:blip r:embed="rId10"/>
          <a:srcRect/>
          <a:stretch/>
        </p:blipFill>
        <p:spPr>
          <a:xfrm>
            <a:off x="201168" y="7797432"/>
            <a:ext cx="1522476" cy="731520"/>
          </a:xfrm>
          <a:prstGeom prst="rect">
            <a:avLst/>
          </a:prstGeom>
        </p:spPr>
      </p:pic>
      <p:sp>
        <p:nvSpPr>
          <p:cNvPr id="45" name="Shape 37"/>
          <p:cNvSpPr/>
          <p:nvPr/>
        </p:nvSpPr>
        <p:spPr>
          <a:xfrm>
            <a:off x="201168" y="8528952"/>
            <a:ext cx="1522476" cy="237744"/>
          </a:xfrm>
          <a:prstGeom prst="rect">
            <a:avLst/>
          </a:prstGeom>
          <a:solidFill>
            <a:srgbClr val="2A3535"/>
          </a:solidFill>
          <a:ln w="12700">
            <a:solidFill>
              <a:srgbClr val="2A3535"/>
            </a:solidFill>
            <a:prstDash val="solid"/>
          </a:ln>
        </p:spPr>
      </p:sp>
      <p:sp>
        <p:nvSpPr>
          <p:cNvPr id="46" name="Text 38"/>
          <p:cNvSpPr/>
          <p:nvPr/>
        </p:nvSpPr>
        <p:spPr>
          <a:xfrm>
            <a:off x="274320"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Equipment Distribution</a:t>
            </a:r>
            <a:endParaRPr lang="en-US" sz="750" dirty="0">
              <a:latin typeface="Footlight MT Light" panose="0204060206030A020304" pitchFamily="18" charset="0"/>
            </a:endParaRPr>
          </a:p>
        </p:txBody>
      </p:sp>
      <p:pic>
        <p:nvPicPr>
          <p:cNvPr id="47" name="Image 6" descr="/home/claude/rpt_imgs/govt_dist_2.jpg"/>
          <p:cNvPicPr>
            <a:picLocks noChangeAspect="1"/>
          </p:cNvPicPr>
          <p:nvPr/>
        </p:nvPicPr>
        <p:blipFill>
          <a:blip r:embed="rId11"/>
          <a:srcRect/>
          <a:stretch/>
        </p:blipFill>
        <p:spPr>
          <a:xfrm>
            <a:off x="1815084" y="7797432"/>
            <a:ext cx="1522476" cy="731520"/>
          </a:xfrm>
          <a:prstGeom prst="rect">
            <a:avLst/>
          </a:prstGeom>
        </p:spPr>
      </p:pic>
      <p:sp>
        <p:nvSpPr>
          <p:cNvPr id="48" name="Shape 39"/>
          <p:cNvSpPr/>
          <p:nvPr/>
        </p:nvSpPr>
        <p:spPr>
          <a:xfrm>
            <a:off x="1815084" y="8528952"/>
            <a:ext cx="1522476" cy="237744"/>
          </a:xfrm>
          <a:prstGeom prst="rect">
            <a:avLst/>
          </a:prstGeom>
          <a:solidFill>
            <a:srgbClr val="2A3535"/>
          </a:solidFill>
          <a:ln w="12700">
            <a:solidFill>
              <a:srgbClr val="2A3535"/>
            </a:solidFill>
            <a:prstDash val="solid"/>
          </a:ln>
        </p:spPr>
      </p:sp>
      <p:sp>
        <p:nvSpPr>
          <p:cNvPr id="49" name="Text 40"/>
          <p:cNvSpPr/>
          <p:nvPr/>
        </p:nvSpPr>
        <p:spPr>
          <a:xfrm>
            <a:off x="1888236"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educational material support</a:t>
            </a:r>
            <a:endParaRPr lang="en-US" sz="750" dirty="0">
              <a:latin typeface="Footlight MT Light" panose="0204060206030A020304" pitchFamily="18" charset="0"/>
            </a:endParaRPr>
          </a:p>
        </p:txBody>
      </p:sp>
      <p:pic>
        <p:nvPicPr>
          <p:cNvPr id="50" name="Image 7" descr="/home/claude/rpt_imgs/govt_furniture.jpg"/>
          <p:cNvPicPr>
            <a:picLocks noChangeAspect="1"/>
          </p:cNvPicPr>
          <p:nvPr/>
        </p:nvPicPr>
        <p:blipFill>
          <a:blip r:embed="rId12"/>
          <a:srcRect/>
          <a:stretch/>
        </p:blipFill>
        <p:spPr>
          <a:xfrm>
            <a:off x="3429000" y="7797432"/>
            <a:ext cx="1522476" cy="731520"/>
          </a:xfrm>
          <a:prstGeom prst="rect">
            <a:avLst/>
          </a:prstGeom>
        </p:spPr>
      </p:pic>
      <p:sp>
        <p:nvSpPr>
          <p:cNvPr id="51" name="Shape 41"/>
          <p:cNvSpPr/>
          <p:nvPr/>
        </p:nvSpPr>
        <p:spPr>
          <a:xfrm>
            <a:off x="3429000" y="8528952"/>
            <a:ext cx="1522476" cy="237744"/>
          </a:xfrm>
          <a:prstGeom prst="rect">
            <a:avLst/>
          </a:prstGeom>
          <a:solidFill>
            <a:srgbClr val="2A3535"/>
          </a:solidFill>
          <a:ln w="12700">
            <a:solidFill>
              <a:srgbClr val="2A3535"/>
            </a:solidFill>
            <a:prstDash val="solid"/>
          </a:ln>
        </p:spPr>
        <p:txBody>
          <a:bodyPr/>
          <a:lstStyle/>
          <a:p>
            <a:endParaRPr lang="en-IN" dirty="0">
              <a:latin typeface="Footlight MT Light" panose="0204060206030A020304" pitchFamily="18" charset="0"/>
            </a:endParaRPr>
          </a:p>
        </p:txBody>
      </p:sp>
      <p:sp>
        <p:nvSpPr>
          <p:cNvPr id="52" name="Text 42"/>
          <p:cNvSpPr/>
          <p:nvPr/>
        </p:nvSpPr>
        <p:spPr>
          <a:xfrm>
            <a:off x="3502152"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Solar Power Scheme</a:t>
            </a:r>
            <a:endParaRPr lang="en-US" sz="750" dirty="0">
              <a:latin typeface="Footlight MT Light" panose="0204060206030A020304" pitchFamily="18" charset="0"/>
            </a:endParaRPr>
          </a:p>
        </p:txBody>
      </p:sp>
      <p:pic>
        <p:nvPicPr>
          <p:cNvPr id="53" name="Image 8" descr="/home/claude/rpt_imgs/govt_solar.jpg"/>
          <p:cNvPicPr>
            <a:picLocks noChangeAspect="1"/>
          </p:cNvPicPr>
          <p:nvPr/>
        </p:nvPicPr>
        <p:blipFill>
          <a:blip r:embed="rId13"/>
          <a:srcRect/>
          <a:stretch/>
        </p:blipFill>
        <p:spPr>
          <a:xfrm>
            <a:off x="5042916" y="7797432"/>
            <a:ext cx="1522476" cy="731520"/>
          </a:xfrm>
          <a:prstGeom prst="rect">
            <a:avLst/>
          </a:prstGeom>
        </p:spPr>
      </p:pic>
      <p:sp>
        <p:nvSpPr>
          <p:cNvPr id="54" name="Shape 43"/>
          <p:cNvSpPr/>
          <p:nvPr/>
        </p:nvSpPr>
        <p:spPr>
          <a:xfrm>
            <a:off x="5042916" y="8528952"/>
            <a:ext cx="1522476" cy="237744"/>
          </a:xfrm>
          <a:prstGeom prst="rect">
            <a:avLst/>
          </a:prstGeom>
          <a:solidFill>
            <a:srgbClr val="2A3535"/>
          </a:solidFill>
          <a:ln w="12700">
            <a:solidFill>
              <a:srgbClr val="2A3535"/>
            </a:solidFill>
            <a:prstDash val="solid"/>
          </a:ln>
        </p:spPr>
      </p:sp>
      <p:sp>
        <p:nvSpPr>
          <p:cNvPr id="55" name="Text 44"/>
          <p:cNvSpPr/>
          <p:nvPr/>
        </p:nvSpPr>
        <p:spPr>
          <a:xfrm>
            <a:off x="5116068"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infrastructure schemes</a:t>
            </a:r>
            <a:endParaRPr lang="en-US" sz="750" dirty="0">
              <a:latin typeface="Footlight MT Light" panose="0204060206030A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Government Scheme Access - Mahad Block &amp; Social Welfare</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336215"/>
            <a:ext cx="6858000" cy="292608"/>
          </a:xfrm>
          <a:prstGeom prst="rect">
            <a:avLst/>
          </a:prstGeom>
          <a:solidFill>
            <a:srgbClr val="FFFFFF"/>
          </a:solidFill>
          <a:ln w="12700">
            <a:solidFill>
              <a:srgbClr val="FFFFFF"/>
            </a:solidFill>
            <a:prstDash val="solid"/>
          </a:ln>
        </p:spPr>
      </p:sp>
      <p:sp>
        <p:nvSpPr>
          <p:cNvPr id="8" name="Text 6"/>
          <p:cNvSpPr/>
          <p:nvPr/>
        </p:nvSpPr>
        <p:spPr>
          <a:xfrm>
            <a:off x="292608" y="9445943"/>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524244" y="9378417"/>
            <a:ext cx="256032" cy="256032"/>
          </a:xfrm>
          <a:prstGeom prst="ellipse">
            <a:avLst/>
          </a:prstGeom>
          <a:solidFill>
            <a:srgbClr val="005F5F"/>
          </a:solidFill>
          <a:ln w="12700">
            <a:solidFill>
              <a:srgbClr val="005F5F"/>
            </a:solidFill>
            <a:prstDash val="solid"/>
          </a:ln>
        </p:spPr>
      </p:sp>
      <p:sp>
        <p:nvSpPr>
          <p:cNvPr id="10" name="Text 8"/>
          <p:cNvSpPr/>
          <p:nvPr/>
        </p:nvSpPr>
        <p:spPr>
          <a:xfrm>
            <a:off x="6524244" y="9378417"/>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Mahad Block Scheme Access &amp; Social Welfare Infrastructure Support</a:t>
            </a:r>
            <a:endParaRPr lang="en-US" dirty="0">
              <a:latin typeface="Felix Titling" panose="04060505060202020A04" pitchFamily="82" charset="0"/>
            </a:endParaRPr>
          </a:p>
        </p:txBody>
      </p:sp>
      <p:sp>
        <p:nvSpPr>
          <p:cNvPr id="12" name="Text 10"/>
          <p:cNvSpPr/>
          <p:nvPr/>
        </p:nvSpPr>
        <p:spPr>
          <a:xfrm>
            <a:off x="279091" y="999026"/>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235 beneficiaries · ₹1.78 Crore · Plus social welfare linkages across both blocks</a:t>
            </a:r>
            <a:endParaRPr lang="en-US" sz="900" dirty="0">
              <a:latin typeface="Footlight MT Light" panose="0204060206030A020304" pitchFamily="18" charset="0"/>
            </a:endParaRPr>
          </a:p>
        </p:txBody>
      </p:sp>
      <p:sp>
        <p:nvSpPr>
          <p:cNvPr id="13" name="Shape 11"/>
          <p:cNvSpPr/>
          <p:nvPr/>
        </p:nvSpPr>
        <p:spPr>
          <a:xfrm>
            <a:off x="292608" y="1410098"/>
            <a:ext cx="822960" cy="18288"/>
          </a:xfrm>
          <a:prstGeom prst="rect">
            <a:avLst/>
          </a:prstGeom>
          <a:solidFill>
            <a:srgbClr val="C8960A"/>
          </a:solidFill>
          <a:ln w="12700">
            <a:solidFill>
              <a:srgbClr val="C8960A"/>
            </a:solidFill>
            <a:prstDash val="solid"/>
          </a:ln>
        </p:spPr>
      </p:sp>
      <p:pic>
        <p:nvPicPr>
          <p:cNvPr id="14" name="Image 0"/>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rcRect t="15874" b="28472"/>
          <a:stretch>
            <a:fillRect/>
          </a:stretch>
        </p:blipFill>
        <p:spPr>
          <a:xfrm>
            <a:off x="256032" y="1217388"/>
            <a:ext cx="6565392" cy="1978969"/>
          </a:xfrm>
          <a:prstGeom prst="roundRect">
            <a:avLst>
              <a:gd name="adj" fmla="val 3497"/>
            </a:avLst>
          </a:prstGeom>
        </p:spPr>
      </p:pic>
      <p:sp>
        <p:nvSpPr>
          <p:cNvPr id="16" name="Text 13"/>
          <p:cNvSpPr/>
          <p:nvPr/>
        </p:nvSpPr>
        <p:spPr>
          <a:xfrm>
            <a:off x="365760" y="1483250"/>
            <a:ext cx="6126480" cy="256032"/>
          </a:xfrm>
          <a:prstGeom prst="rect">
            <a:avLst/>
          </a:prstGeom>
          <a:noFill/>
          <a:ln/>
        </p:spPr>
        <p:txBody>
          <a:bodyPr wrap="square" lIns="0" tIns="0" rIns="0" bIns="0" rtlCol="0" anchor="t"/>
          <a:lstStyle/>
          <a:p>
            <a:pPr marL="0" indent="0" algn="l">
              <a:buNone/>
            </a:pPr>
            <a:r>
              <a:rPr lang="en-US" sz="1600" b="1" dirty="0">
                <a:solidFill>
                  <a:srgbClr val="FFFFFF"/>
                </a:solidFill>
                <a:latin typeface="Felix Titling" panose="04060505060202020A04" pitchFamily="82" charset="0"/>
                <a:ea typeface="Cambria" pitchFamily="34" charset="-122"/>
                <a:cs typeface="Cambria" pitchFamily="34" charset="-120"/>
              </a:rPr>
              <a:t>Government Scheme Distribution - Community Empowerment Event</a:t>
            </a:r>
            <a:endParaRPr lang="en-US" sz="1600" dirty="0">
              <a:latin typeface="Felix Titling" panose="04060505060202020A04" pitchFamily="82" charset="0"/>
            </a:endParaRPr>
          </a:p>
        </p:txBody>
      </p:sp>
      <p:sp>
        <p:nvSpPr>
          <p:cNvPr id="17" name="Shape 14"/>
          <p:cNvSpPr/>
          <p:nvPr/>
        </p:nvSpPr>
        <p:spPr>
          <a:xfrm>
            <a:off x="256032" y="2964578"/>
            <a:ext cx="2011680" cy="274320"/>
          </a:xfrm>
          <a:prstGeom prst="rect">
            <a:avLst/>
          </a:prstGeom>
          <a:solidFill>
            <a:srgbClr val="005F5F"/>
          </a:solidFill>
          <a:ln w="12700">
            <a:solidFill>
              <a:srgbClr val="005F5F"/>
            </a:solidFill>
            <a:prstDash val="solid"/>
          </a:ln>
        </p:spPr>
      </p:sp>
      <p:sp>
        <p:nvSpPr>
          <p:cNvPr id="18" name="Text 15"/>
          <p:cNvSpPr/>
          <p:nvPr/>
        </p:nvSpPr>
        <p:spPr>
          <a:xfrm>
            <a:off x="329184" y="2964578"/>
            <a:ext cx="186537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Scheme</a:t>
            </a:r>
            <a:endParaRPr lang="en-US" sz="1000" dirty="0">
              <a:latin typeface="Footlight MT Light" panose="0204060206030A020304" pitchFamily="18" charset="0"/>
            </a:endParaRPr>
          </a:p>
        </p:txBody>
      </p:sp>
      <p:sp>
        <p:nvSpPr>
          <p:cNvPr id="19" name="Shape 16"/>
          <p:cNvSpPr/>
          <p:nvPr/>
        </p:nvSpPr>
        <p:spPr>
          <a:xfrm>
            <a:off x="2267712" y="2964578"/>
            <a:ext cx="1627632" cy="274320"/>
          </a:xfrm>
          <a:prstGeom prst="rect">
            <a:avLst/>
          </a:prstGeom>
          <a:solidFill>
            <a:srgbClr val="005F5F"/>
          </a:solidFill>
          <a:ln w="12700">
            <a:solidFill>
              <a:srgbClr val="005F5F"/>
            </a:solidFill>
            <a:prstDash val="solid"/>
          </a:ln>
        </p:spPr>
      </p:sp>
      <p:sp>
        <p:nvSpPr>
          <p:cNvPr id="20" name="Text 17"/>
          <p:cNvSpPr/>
          <p:nvPr/>
        </p:nvSpPr>
        <p:spPr>
          <a:xfrm>
            <a:off x="2340864" y="2964578"/>
            <a:ext cx="1481328"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Beneficiaries / Units</a:t>
            </a:r>
            <a:endParaRPr lang="en-US" sz="1000" dirty="0">
              <a:latin typeface="Footlight MT Light" panose="0204060206030A020304" pitchFamily="18" charset="0"/>
            </a:endParaRPr>
          </a:p>
        </p:txBody>
      </p:sp>
      <p:sp>
        <p:nvSpPr>
          <p:cNvPr id="21" name="Shape 18"/>
          <p:cNvSpPr/>
          <p:nvPr/>
        </p:nvSpPr>
        <p:spPr>
          <a:xfrm>
            <a:off x="3895344" y="2964578"/>
            <a:ext cx="1371600" cy="274320"/>
          </a:xfrm>
          <a:prstGeom prst="rect">
            <a:avLst/>
          </a:prstGeom>
          <a:solidFill>
            <a:srgbClr val="005F5F"/>
          </a:solidFill>
          <a:ln w="12700">
            <a:solidFill>
              <a:srgbClr val="005F5F"/>
            </a:solidFill>
            <a:prstDash val="solid"/>
          </a:ln>
        </p:spPr>
      </p:sp>
      <p:sp>
        <p:nvSpPr>
          <p:cNvPr id="22" name="Text 19"/>
          <p:cNvSpPr/>
          <p:nvPr/>
        </p:nvSpPr>
        <p:spPr>
          <a:xfrm>
            <a:off x="3968496" y="2964578"/>
            <a:ext cx="122529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Value / Benefit</a:t>
            </a:r>
            <a:endParaRPr lang="en-US" sz="1000" dirty="0">
              <a:latin typeface="Footlight MT Light" panose="0204060206030A020304" pitchFamily="18" charset="0"/>
            </a:endParaRPr>
          </a:p>
        </p:txBody>
      </p:sp>
      <p:sp>
        <p:nvSpPr>
          <p:cNvPr id="23" name="Shape 20"/>
          <p:cNvSpPr/>
          <p:nvPr/>
        </p:nvSpPr>
        <p:spPr>
          <a:xfrm>
            <a:off x="5266944" y="2964578"/>
            <a:ext cx="1554480" cy="274320"/>
          </a:xfrm>
          <a:prstGeom prst="rect">
            <a:avLst/>
          </a:prstGeom>
          <a:solidFill>
            <a:srgbClr val="005F5F"/>
          </a:solidFill>
          <a:ln w="12700">
            <a:solidFill>
              <a:srgbClr val="005F5F"/>
            </a:solidFill>
            <a:prstDash val="solid"/>
          </a:ln>
        </p:spPr>
      </p:sp>
      <p:sp>
        <p:nvSpPr>
          <p:cNvPr id="24" name="Text 21"/>
          <p:cNvSpPr/>
          <p:nvPr/>
        </p:nvSpPr>
        <p:spPr>
          <a:xfrm>
            <a:off x="5340096" y="2964578"/>
            <a:ext cx="140817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Impact</a:t>
            </a:r>
            <a:endParaRPr lang="en-US" sz="1000" dirty="0">
              <a:latin typeface="Footlight MT Light" panose="0204060206030A020304" pitchFamily="18" charset="0"/>
            </a:endParaRPr>
          </a:p>
        </p:txBody>
      </p:sp>
      <p:sp>
        <p:nvSpPr>
          <p:cNvPr id="25" name="Shape 22"/>
          <p:cNvSpPr/>
          <p:nvPr/>
        </p:nvSpPr>
        <p:spPr>
          <a:xfrm>
            <a:off x="256032" y="3238898"/>
            <a:ext cx="2011680" cy="318211"/>
          </a:xfrm>
          <a:prstGeom prst="rect">
            <a:avLst/>
          </a:prstGeom>
          <a:solidFill>
            <a:srgbClr val="FFFFFF"/>
          </a:solidFill>
          <a:ln w="12700">
            <a:solidFill>
              <a:srgbClr val="E5EDED"/>
            </a:solidFill>
            <a:prstDash val="solid"/>
          </a:ln>
        </p:spPr>
      </p:sp>
      <p:sp>
        <p:nvSpPr>
          <p:cNvPr id="26" name="Text 23"/>
          <p:cNvSpPr/>
          <p:nvPr/>
        </p:nvSpPr>
        <p:spPr>
          <a:xfrm>
            <a:off x="329184" y="3284618"/>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PMAY - Pradhan Mantri Awas Yojana</a:t>
            </a:r>
            <a:endParaRPr lang="en-US" sz="1000" dirty="0">
              <a:latin typeface="Footlight MT Light" panose="0204060206030A020304" pitchFamily="18" charset="0"/>
            </a:endParaRPr>
          </a:p>
        </p:txBody>
      </p:sp>
      <p:sp>
        <p:nvSpPr>
          <p:cNvPr id="27" name="Shape 24"/>
          <p:cNvSpPr/>
          <p:nvPr/>
        </p:nvSpPr>
        <p:spPr>
          <a:xfrm>
            <a:off x="2267712" y="3238898"/>
            <a:ext cx="1627632" cy="318211"/>
          </a:xfrm>
          <a:prstGeom prst="rect">
            <a:avLst/>
          </a:prstGeom>
          <a:solidFill>
            <a:srgbClr val="FFFFFF"/>
          </a:solidFill>
          <a:ln w="12700">
            <a:solidFill>
              <a:srgbClr val="E5EDED"/>
            </a:solidFill>
            <a:prstDash val="solid"/>
          </a:ln>
        </p:spPr>
      </p:sp>
      <p:sp>
        <p:nvSpPr>
          <p:cNvPr id="28" name="Text 25"/>
          <p:cNvSpPr/>
          <p:nvPr/>
        </p:nvSpPr>
        <p:spPr>
          <a:xfrm>
            <a:off x="2340864" y="3284618"/>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62 families</a:t>
            </a:r>
            <a:endParaRPr lang="en-US" sz="1000" dirty="0">
              <a:latin typeface="Footlight MT Light" panose="0204060206030A020304" pitchFamily="18" charset="0"/>
            </a:endParaRPr>
          </a:p>
        </p:txBody>
      </p:sp>
      <p:sp>
        <p:nvSpPr>
          <p:cNvPr id="29" name="Shape 26"/>
          <p:cNvSpPr/>
          <p:nvPr/>
        </p:nvSpPr>
        <p:spPr>
          <a:xfrm>
            <a:off x="3895344" y="3238898"/>
            <a:ext cx="1371600" cy="318211"/>
          </a:xfrm>
          <a:prstGeom prst="rect">
            <a:avLst/>
          </a:prstGeom>
          <a:solidFill>
            <a:srgbClr val="FFFFFF"/>
          </a:solidFill>
          <a:ln w="12700">
            <a:solidFill>
              <a:srgbClr val="E5EDED"/>
            </a:solidFill>
            <a:prstDash val="solid"/>
          </a:ln>
        </p:spPr>
      </p:sp>
      <p:sp>
        <p:nvSpPr>
          <p:cNvPr id="30" name="Text 27"/>
          <p:cNvSpPr/>
          <p:nvPr/>
        </p:nvSpPr>
        <p:spPr>
          <a:xfrm>
            <a:off x="3968496" y="3284618"/>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Housing grant</a:t>
            </a:r>
            <a:endParaRPr lang="en-US" sz="1000" dirty="0">
              <a:latin typeface="Footlight MT Light" panose="0204060206030A020304" pitchFamily="18" charset="0"/>
            </a:endParaRPr>
          </a:p>
        </p:txBody>
      </p:sp>
      <p:sp>
        <p:nvSpPr>
          <p:cNvPr id="31" name="Shape 28"/>
          <p:cNvSpPr/>
          <p:nvPr/>
        </p:nvSpPr>
        <p:spPr>
          <a:xfrm>
            <a:off x="5266944" y="3238898"/>
            <a:ext cx="1554480" cy="318211"/>
          </a:xfrm>
          <a:prstGeom prst="rect">
            <a:avLst/>
          </a:prstGeom>
          <a:solidFill>
            <a:srgbClr val="FFFFFF"/>
          </a:solidFill>
          <a:ln w="12700">
            <a:solidFill>
              <a:srgbClr val="E5EDED"/>
            </a:solidFill>
            <a:prstDash val="solid"/>
          </a:ln>
        </p:spPr>
      </p:sp>
      <p:sp>
        <p:nvSpPr>
          <p:cNvPr id="32" name="Text 29"/>
          <p:cNvSpPr/>
          <p:nvPr/>
        </p:nvSpPr>
        <p:spPr>
          <a:xfrm>
            <a:off x="5340096" y="3284618"/>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Permanent concrete homes for tribal families</a:t>
            </a:r>
            <a:endParaRPr lang="en-US" sz="1000" dirty="0">
              <a:latin typeface="Footlight MT Light" panose="0204060206030A020304" pitchFamily="18" charset="0"/>
            </a:endParaRPr>
          </a:p>
        </p:txBody>
      </p:sp>
      <p:sp>
        <p:nvSpPr>
          <p:cNvPr id="33" name="Shape 30"/>
          <p:cNvSpPr/>
          <p:nvPr/>
        </p:nvSpPr>
        <p:spPr>
          <a:xfrm>
            <a:off x="256032" y="3569136"/>
            <a:ext cx="2011680" cy="318211"/>
          </a:xfrm>
          <a:prstGeom prst="rect">
            <a:avLst/>
          </a:prstGeom>
          <a:solidFill>
            <a:srgbClr val="F5FCFC"/>
          </a:solidFill>
          <a:ln w="12700">
            <a:solidFill>
              <a:srgbClr val="E5EDED"/>
            </a:solidFill>
            <a:prstDash val="solid"/>
          </a:ln>
        </p:spPr>
      </p:sp>
      <p:sp>
        <p:nvSpPr>
          <p:cNvPr id="34" name="Text 31"/>
          <p:cNvSpPr/>
          <p:nvPr/>
        </p:nvSpPr>
        <p:spPr>
          <a:xfrm>
            <a:off x="329184" y="3614856"/>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Shabari Awas Yojana</a:t>
            </a:r>
            <a:endParaRPr lang="en-US" sz="1000" dirty="0">
              <a:latin typeface="Footlight MT Light" panose="0204060206030A020304" pitchFamily="18" charset="0"/>
            </a:endParaRPr>
          </a:p>
        </p:txBody>
      </p:sp>
      <p:sp>
        <p:nvSpPr>
          <p:cNvPr id="35" name="Shape 32"/>
          <p:cNvSpPr/>
          <p:nvPr/>
        </p:nvSpPr>
        <p:spPr>
          <a:xfrm>
            <a:off x="2267712" y="3569136"/>
            <a:ext cx="1627632" cy="318211"/>
          </a:xfrm>
          <a:prstGeom prst="rect">
            <a:avLst/>
          </a:prstGeom>
          <a:solidFill>
            <a:srgbClr val="F5FCFC"/>
          </a:solidFill>
          <a:ln w="12700">
            <a:solidFill>
              <a:srgbClr val="E5EDED"/>
            </a:solidFill>
            <a:prstDash val="solid"/>
          </a:ln>
        </p:spPr>
      </p:sp>
      <p:sp>
        <p:nvSpPr>
          <p:cNvPr id="36" name="Text 33"/>
          <p:cNvSpPr/>
          <p:nvPr/>
        </p:nvSpPr>
        <p:spPr>
          <a:xfrm>
            <a:off x="2340864" y="3614856"/>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22 families</a:t>
            </a:r>
            <a:endParaRPr lang="en-US" sz="1000" dirty="0">
              <a:latin typeface="Footlight MT Light" panose="0204060206030A020304" pitchFamily="18" charset="0"/>
            </a:endParaRPr>
          </a:p>
        </p:txBody>
      </p:sp>
      <p:sp>
        <p:nvSpPr>
          <p:cNvPr id="37" name="Shape 34"/>
          <p:cNvSpPr/>
          <p:nvPr/>
        </p:nvSpPr>
        <p:spPr>
          <a:xfrm>
            <a:off x="3895344" y="3569136"/>
            <a:ext cx="1371600" cy="318211"/>
          </a:xfrm>
          <a:prstGeom prst="rect">
            <a:avLst/>
          </a:prstGeom>
          <a:solidFill>
            <a:srgbClr val="F5FCFC"/>
          </a:solidFill>
          <a:ln w="12700">
            <a:solidFill>
              <a:srgbClr val="E5EDED"/>
            </a:solidFill>
            <a:prstDash val="solid"/>
          </a:ln>
        </p:spPr>
      </p:sp>
      <p:sp>
        <p:nvSpPr>
          <p:cNvPr id="38" name="Text 35"/>
          <p:cNvSpPr/>
          <p:nvPr/>
        </p:nvSpPr>
        <p:spPr>
          <a:xfrm>
            <a:off x="3968496" y="3614856"/>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State housing grant</a:t>
            </a:r>
            <a:endParaRPr lang="en-US" sz="1000" dirty="0">
              <a:latin typeface="Footlight MT Light" panose="0204060206030A020304" pitchFamily="18" charset="0"/>
            </a:endParaRPr>
          </a:p>
        </p:txBody>
      </p:sp>
      <p:sp>
        <p:nvSpPr>
          <p:cNvPr id="39" name="Shape 36"/>
          <p:cNvSpPr/>
          <p:nvPr/>
        </p:nvSpPr>
        <p:spPr>
          <a:xfrm>
            <a:off x="5266944" y="3569136"/>
            <a:ext cx="1554480" cy="318211"/>
          </a:xfrm>
          <a:prstGeom prst="rect">
            <a:avLst/>
          </a:prstGeom>
          <a:solidFill>
            <a:srgbClr val="F5FCFC"/>
          </a:solidFill>
          <a:ln w="12700">
            <a:solidFill>
              <a:srgbClr val="E5EDED"/>
            </a:solidFill>
            <a:prstDash val="solid"/>
          </a:ln>
        </p:spPr>
      </p:sp>
      <p:sp>
        <p:nvSpPr>
          <p:cNvPr id="40" name="Text 37"/>
          <p:cNvSpPr/>
          <p:nvPr/>
        </p:nvSpPr>
        <p:spPr>
          <a:xfrm>
            <a:off x="5340096" y="3614856"/>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Tribal housing scheme; complementary to PMAY</a:t>
            </a:r>
            <a:endParaRPr lang="en-US" sz="1000" dirty="0">
              <a:latin typeface="Footlight MT Light" panose="0204060206030A020304" pitchFamily="18" charset="0"/>
            </a:endParaRPr>
          </a:p>
        </p:txBody>
      </p:sp>
      <p:sp>
        <p:nvSpPr>
          <p:cNvPr id="41" name="Shape 38"/>
          <p:cNvSpPr/>
          <p:nvPr/>
        </p:nvSpPr>
        <p:spPr>
          <a:xfrm>
            <a:off x="256032" y="3900009"/>
            <a:ext cx="2011680" cy="318211"/>
          </a:xfrm>
          <a:prstGeom prst="rect">
            <a:avLst/>
          </a:prstGeom>
          <a:solidFill>
            <a:srgbClr val="FFFFFF"/>
          </a:solidFill>
          <a:ln w="12700">
            <a:solidFill>
              <a:srgbClr val="E5EDED"/>
            </a:solidFill>
            <a:prstDash val="solid"/>
          </a:ln>
        </p:spPr>
      </p:sp>
      <p:sp>
        <p:nvSpPr>
          <p:cNvPr id="42" name="Text 39"/>
          <p:cNvSpPr/>
          <p:nvPr/>
        </p:nvSpPr>
        <p:spPr>
          <a:xfrm>
            <a:off x="329184" y="3945729"/>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Caste Certificates</a:t>
            </a:r>
            <a:endParaRPr lang="en-US" sz="1000" dirty="0">
              <a:latin typeface="Footlight MT Light" panose="0204060206030A020304" pitchFamily="18" charset="0"/>
            </a:endParaRPr>
          </a:p>
        </p:txBody>
      </p:sp>
      <p:sp>
        <p:nvSpPr>
          <p:cNvPr id="43" name="Shape 40"/>
          <p:cNvSpPr/>
          <p:nvPr/>
        </p:nvSpPr>
        <p:spPr>
          <a:xfrm>
            <a:off x="2267712" y="3900009"/>
            <a:ext cx="1627632" cy="318211"/>
          </a:xfrm>
          <a:prstGeom prst="rect">
            <a:avLst/>
          </a:prstGeom>
          <a:solidFill>
            <a:srgbClr val="FFFFFF"/>
          </a:solidFill>
          <a:ln w="12700">
            <a:solidFill>
              <a:srgbClr val="E5EDED"/>
            </a:solidFill>
            <a:prstDash val="solid"/>
          </a:ln>
        </p:spPr>
      </p:sp>
      <p:sp>
        <p:nvSpPr>
          <p:cNvPr id="44" name="Text 41"/>
          <p:cNvSpPr/>
          <p:nvPr/>
        </p:nvSpPr>
        <p:spPr>
          <a:xfrm>
            <a:off x="2340864" y="3945729"/>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45" name="Shape 42"/>
          <p:cNvSpPr/>
          <p:nvPr/>
        </p:nvSpPr>
        <p:spPr>
          <a:xfrm>
            <a:off x="3895344" y="3900009"/>
            <a:ext cx="1371600" cy="318211"/>
          </a:xfrm>
          <a:prstGeom prst="rect">
            <a:avLst/>
          </a:prstGeom>
          <a:solidFill>
            <a:srgbClr val="FFFFFF"/>
          </a:solidFill>
          <a:ln w="12700">
            <a:solidFill>
              <a:srgbClr val="E5EDED"/>
            </a:solidFill>
            <a:prstDash val="solid"/>
          </a:ln>
        </p:spPr>
      </p:sp>
      <p:sp>
        <p:nvSpPr>
          <p:cNvPr id="46" name="Text 43"/>
          <p:cNvSpPr/>
          <p:nvPr/>
        </p:nvSpPr>
        <p:spPr>
          <a:xfrm>
            <a:off x="3968496" y="3945729"/>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Documentation</a:t>
            </a:r>
            <a:endParaRPr lang="en-US" sz="1000" dirty="0">
              <a:latin typeface="Footlight MT Light" panose="0204060206030A020304" pitchFamily="18" charset="0"/>
            </a:endParaRPr>
          </a:p>
        </p:txBody>
      </p:sp>
      <p:sp>
        <p:nvSpPr>
          <p:cNvPr id="47" name="Shape 44"/>
          <p:cNvSpPr/>
          <p:nvPr/>
        </p:nvSpPr>
        <p:spPr>
          <a:xfrm>
            <a:off x="5266944" y="3900009"/>
            <a:ext cx="1554480" cy="318211"/>
          </a:xfrm>
          <a:prstGeom prst="rect">
            <a:avLst/>
          </a:prstGeom>
          <a:solidFill>
            <a:srgbClr val="FFFFFF"/>
          </a:solidFill>
          <a:ln w="12700">
            <a:solidFill>
              <a:srgbClr val="E5EDED"/>
            </a:solidFill>
            <a:prstDash val="solid"/>
          </a:ln>
        </p:spPr>
      </p:sp>
      <p:sp>
        <p:nvSpPr>
          <p:cNvPr id="48" name="Text 45"/>
          <p:cNvSpPr/>
          <p:nvPr/>
        </p:nvSpPr>
        <p:spPr>
          <a:xfrm>
            <a:off x="5340096" y="3945729"/>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Access to reservations, schemes, and entitlements</a:t>
            </a:r>
            <a:endParaRPr lang="en-US" sz="1000" dirty="0">
              <a:latin typeface="Footlight MT Light" panose="0204060206030A020304" pitchFamily="18" charset="0"/>
            </a:endParaRPr>
          </a:p>
        </p:txBody>
      </p:sp>
      <p:sp>
        <p:nvSpPr>
          <p:cNvPr id="49" name="Shape 46"/>
          <p:cNvSpPr/>
          <p:nvPr/>
        </p:nvSpPr>
        <p:spPr>
          <a:xfrm>
            <a:off x="256032" y="4240259"/>
            <a:ext cx="2011680" cy="318211"/>
          </a:xfrm>
          <a:prstGeom prst="rect">
            <a:avLst/>
          </a:prstGeom>
          <a:solidFill>
            <a:srgbClr val="F5FCFC"/>
          </a:solidFill>
          <a:ln w="12700">
            <a:solidFill>
              <a:srgbClr val="E5EDED"/>
            </a:solidFill>
            <a:prstDash val="solid"/>
          </a:ln>
        </p:spPr>
      </p:sp>
      <p:sp>
        <p:nvSpPr>
          <p:cNvPr id="50" name="Text 47"/>
          <p:cNvSpPr/>
          <p:nvPr/>
        </p:nvSpPr>
        <p:spPr>
          <a:xfrm>
            <a:off x="329184" y="4285979"/>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Ration Cards</a:t>
            </a:r>
            <a:endParaRPr lang="en-US" sz="1000" dirty="0">
              <a:latin typeface="Footlight MT Light" panose="0204060206030A020304" pitchFamily="18" charset="0"/>
            </a:endParaRPr>
          </a:p>
        </p:txBody>
      </p:sp>
      <p:sp>
        <p:nvSpPr>
          <p:cNvPr id="51" name="Shape 48"/>
          <p:cNvSpPr/>
          <p:nvPr/>
        </p:nvSpPr>
        <p:spPr>
          <a:xfrm>
            <a:off x="2267712" y="4240259"/>
            <a:ext cx="1627632" cy="318211"/>
          </a:xfrm>
          <a:prstGeom prst="rect">
            <a:avLst/>
          </a:prstGeom>
          <a:solidFill>
            <a:srgbClr val="F5FCFC"/>
          </a:solidFill>
          <a:ln w="12700">
            <a:solidFill>
              <a:srgbClr val="E5EDED"/>
            </a:solidFill>
            <a:prstDash val="solid"/>
          </a:ln>
        </p:spPr>
      </p:sp>
      <p:sp>
        <p:nvSpPr>
          <p:cNvPr id="52" name="Text 49"/>
          <p:cNvSpPr/>
          <p:nvPr/>
        </p:nvSpPr>
        <p:spPr>
          <a:xfrm>
            <a:off x="2340864" y="4285979"/>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53" name="Shape 50"/>
          <p:cNvSpPr/>
          <p:nvPr/>
        </p:nvSpPr>
        <p:spPr>
          <a:xfrm>
            <a:off x="3895344" y="4240259"/>
            <a:ext cx="1371600" cy="318211"/>
          </a:xfrm>
          <a:prstGeom prst="rect">
            <a:avLst/>
          </a:prstGeom>
          <a:solidFill>
            <a:srgbClr val="F5FCFC"/>
          </a:solidFill>
          <a:ln w="12700">
            <a:solidFill>
              <a:srgbClr val="E5EDED"/>
            </a:solidFill>
            <a:prstDash val="solid"/>
          </a:ln>
        </p:spPr>
      </p:sp>
      <p:sp>
        <p:nvSpPr>
          <p:cNvPr id="54" name="Text 51"/>
          <p:cNvSpPr/>
          <p:nvPr/>
        </p:nvSpPr>
        <p:spPr>
          <a:xfrm>
            <a:off x="3968496" y="4285979"/>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Food security</a:t>
            </a:r>
            <a:endParaRPr lang="en-US" sz="1000" dirty="0">
              <a:latin typeface="Footlight MT Light" panose="0204060206030A020304" pitchFamily="18" charset="0"/>
            </a:endParaRPr>
          </a:p>
        </p:txBody>
      </p:sp>
      <p:sp>
        <p:nvSpPr>
          <p:cNvPr id="55" name="Shape 52"/>
          <p:cNvSpPr/>
          <p:nvPr/>
        </p:nvSpPr>
        <p:spPr>
          <a:xfrm>
            <a:off x="5266944" y="4240259"/>
            <a:ext cx="1554480" cy="318211"/>
          </a:xfrm>
          <a:prstGeom prst="rect">
            <a:avLst/>
          </a:prstGeom>
          <a:solidFill>
            <a:srgbClr val="F5FCFC"/>
          </a:solidFill>
          <a:ln w="12700">
            <a:solidFill>
              <a:srgbClr val="E5EDED"/>
            </a:solidFill>
            <a:prstDash val="solid"/>
          </a:ln>
        </p:spPr>
      </p:sp>
      <p:sp>
        <p:nvSpPr>
          <p:cNvPr id="56" name="Text 53"/>
          <p:cNvSpPr/>
          <p:nvPr/>
        </p:nvSpPr>
        <p:spPr>
          <a:xfrm>
            <a:off x="5340096" y="4285979"/>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Access to PDS and subsidized food provisions</a:t>
            </a:r>
            <a:endParaRPr lang="en-US" sz="1000" dirty="0">
              <a:latin typeface="Footlight MT Light" panose="0204060206030A020304" pitchFamily="18" charset="0"/>
            </a:endParaRPr>
          </a:p>
        </p:txBody>
      </p:sp>
      <p:sp>
        <p:nvSpPr>
          <p:cNvPr id="57" name="Shape 54"/>
          <p:cNvSpPr/>
          <p:nvPr/>
        </p:nvSpPr>
        <p:spPr>
          <a:xfrm>
            <a:off x="256032" y="4555291"/>
            <a:ext cx="2011680" cy="318211"/>
          </a:xfrm>
          <a:prstGeom prst="rect">
            <a:avLst/>
          </a:prstGeom>
          <a:solidFill>
            <a:srgbClr val="FFFFFF"/>
          </a:solidFill>
          <a:ln w="12700">
            <a:solidFill>
              <a:srgbClr val="E5EDED"/>
            </a:solidFill>
            <a:prstDash val="solid"/>
          </a:ln>
        </p:spPr>
      </p:sp>
      <p:sp>
        <p:nvSpPr>
          <p:cNvPr id="58" name="Text 55"/>
          <p:cNvSpPr/>
          <p:nvPr/>
        </p:nvSpPr>
        <p:spPr>
          <a:xfrm>
            <a:off x="329184" y="4601011"/>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Poultry Units</a:t>
            </a:r>
            <a:endParaRPr lang="en-US" sz="1000" dirty="0">
              <a:latin typeface="Footlight MT Light" panose="0204060206030A020304" pitchFamily="18" charset="0"/>
            </a:endParaRPr>
          </a:p>
        </p:txBody>
      </p:sp>
      <p:sp>
        <p:nvSpPr>
          <p:cNvPr id="59" name="Shape 56"/>
          <p:cNvSpPr/>
          <p:nvPr/>
        </p:nvSpPr>
        <p:spPr>
          <a:xfrm>
            <a:off x="2267712" y="4555291"/>
            <a:ext cx="1627632" cy="318211"/>
          </a:xfrm>
          <a:prstGeom prst="rect">
            <a:avLst/>
          </a:prstGeom>
          <a:solidFill>
            <a:srgbClr val="FFFFFF"/>
          </a:solidFill>
          <a:ln w="12700">
            <a:solidFill>
              <a:srgbClr val="E5EDED"/>
            </a:solidFill>
            <a:prstDash val="solid"/>
          </a:ln>
        </p:spPr>
      </p:sp>
      <p:sp>
        <p:nvSpPr>
          <p:cNvPr id="60" name="Text 57"/>
          <p:cNvSpPr/>
          <p:nvPr/>
        </p:nvSpPr>
        <p:spPr>
          <a:xfrm>
            <a:off x="2340864" y="4601011"/>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61" name="Shape 58"/>
          <p:cNvSpPr/>
          <p:nvPr/>
        </p:nvSpPr>
        <p:spPr>
          <a:xfrm>
            <a:off x="3895344" y="4555291"/>
            <a:ext cx="1371600" cy="318211"/>
          </a:xfrm>
          <a:prstGeom prst="rect">
            <a:avLst/>
          </a:prstGeom>
          <a:solidFill>
            <a:srgbClr val="FFFFFF"/>
          </a:solidFill>
          <a:ln w="12700">
            <a:solidFill>
              <a:srgbClr val="E5EDED"/>
            </a:solidFill>
            <a:prstDash val="solid"/>
          </a:ln>
        </p:spPr>
      </p:sp>
      <p:sp>
        <p:nvSpPr>
          <p:cNvPr id="62" name="Text 59"/>
          <p:cNvSpPr/>
          <p:nvPr/>
        </p:nvSpPr>
        <p:spPr>
          <a:xfrm>
            <a:off x="3968496" y="4601011"/>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Livelihood asset</a:t>
            </a:r>
            <a:endParaRPr lang="en-US" sz="1000" dirty="0">
              <a:latin typeface="Footlight MT Light" panose="0204060206030A020304" pitchFamily="18" charset="0"/>
            </a:endParaRPr>
          </a:p>
        </p:txBody>
      </p:sp>
      <p:sp>
        <p:nvSpPr>
          <p:cNvPr id="63" name="Shape 60"/>
          <p:cNvSpPr/>
          <p:nvPr/>
        </p:nvSpPr>
        <p:spPr>
          <a:xfrm>
            <a:off x="5266944" y="4555291"/>
            <a:ext cx="1554480" cy="318211"/>
          </a:xfrm>
          <a:prstGeom prst="rect">
            <a:avLst/>
          </a:prstGeom>
          <a:solidFill>
            <a:srgbClr val="FFFFFF"/>
          </a:solidFill>
          <a:ln w="12700">
            <a:solidFill>
              <a:srgbClr val="E5EDED"/>
            </a:solidFill>
            <a:prstDash val="solid"/>
          </a:ln>
        </p:spPr>
      </p:sp>
      <p:sp>
        <p:nvSpPr>
          <p:cNvPr id="64" name="Text 61"/>
          <p:cNvSpPr/>
          <p:nvPr/>
        </p:nvSpPr>
        <p:spPr>
          <a:xfrm>
            <a:off x="5340096" y="4601011"/>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Income diversification beyond fishing activities</a:t>
            </a:r>
            <a:endParaRPr lang="en-US" sz="1000" dirty="0">
              <a:latin typeface="Footlight MT Light" panose="0204060206030A020304" pitchFamily="18" charset="0"/>
            </a:endParaRPr>
          </a:p>
        </p:txBody>
      </p:sp>
      <p:sp>
        <p:nvSpPr>
          <p:cNvPr id="65" name="Shape 62"/>
          <p:cNvSpPr/>
          <p:nvPr/>
        </p:nvSpPr>
        <p:spPr>
          <a:xfrm>
            <a:off x="256032" y="4883176"/>
            <a:ext cx="2011680" cy="463052"/>
          </a:xfrm>
          <a:prstGeom prst="rect">
            <a:avLst/>
          </a:prstGeom>
          <a:solidFill>
            <a:srgbClr val="F5FCFC"/>
          </a:solidFill>
          <a:ln w="12700">
            <a:solidFill>
              <a:srgbClr val="E5EDED"/>
            </a:solidFill>
            <a:prstDash val="solid"/>
          </a:ln>
        </p:spPr>
      </p:sp>
      <p:sp>
        <p:nvSpPr>
          <p:cNvPr id="66" name="Text 63"/>
          <p:cNvSpPr/>
          <p:nvPr/>
        </p:nvSpPr>
        <p:spPr>
          <a:xfrm>
            <a:off x="329184" y="4928895"/>
            <a:ext cx="186537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Ujjwala LPG Connections</a:t>
            </a:r>
            <a:endParaRPr lang="en-US" sz="1000" dirty="0">
              <a:latin typeface="Footlight MT Light" panose="0204060206030A020304" pitchFamily="18" charset="0"/>
            </a:endParaRPr>
          </a:p>
        </p:txBody>
      </p:sp>
      <p:sp>
        <p:nvSpPr>
          <p:cNvPr id="67" name="Shape 64"/>
          <p:cNvSpPr/>
          <p:nvPr/>
        </p:nvSpPr>
        <p:spPr>
          <a:xfrm>
            <a:off x="2267712" y="4883176"/>
            <a:ext cx="1627632" cy="463052"/>
          </a:xfrm>
          <a:prstGeom prst="rect">
            <a:avLst/>
          </a:prstGeom>
          <a:solidFill>
            <a:srgbClr val="F5FCFC"/>
          </a:solidFill>
          <a:ln w="12700">
            <a:solidFill>
              <a:srgbClr val="E5EDED"/>
            </a:solidFill>
            <a:prstDash val="solid"/>
          </a:ln>
        </p:spPr>
      </p:sp>
      <p:sp>
        <p:nvSpPr>
          <p:cNvPr id="68" name="Text 65"/>
          <p:cNvSpPr/>
          <p:nvPr/>
        </p:nvSpPr>
        <p:spPr>
          <a:xfrm>
            <a:off x="2340864" y="4928895"/>
            <a:ext cx="1481328"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69" name="Shape 66"/>
          <p:cNvSpPr/>
          <p:nvPr/>
        </p:nvSpPr>
        <p:spPr>
          <a:xfrm>
            <a:off x="3895344" y="4883176"/>
            <a:ext cx="1371600" cy="463052"/>
          </a:xfrm>
          <a:prstGeom prst="rect">
            <a:avLst/>
          </a:prstGeom>
          <a:solidFill>
            <a:srgbClr val="F5FCFC"/>
          </a:solidFill>
          <a:ln w="12700">
            <a:solidFill>
              <a:srgbClr val="E5EDED"/>
            </a:solidFill>
            <a:prstDash val="solid"/>
          </a:ln>
        </p:spPr>
      </p:sp>
      <p:sp>
        <p:nvSpPr>
          <p:cNvPr id="70" name="Text 67"/>
          <p:cNvSpPr/>
          <p:nvPr/>
        </p:nvSpPr>
        <p:spPr>
          <a:xfrm>
            <a:off x="3968496" y="4928895"/>
            <a:ext cx="122529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Clean cooking fuel</a:t>
            </a:r>
            <a:endParaRPr lang="en-US" sz="1000" dirty="0">
              <a:latin typeface="Footlight MT Light" panose="0204060206030A020304" pitchFamily="18" charset="0"/>
            </a:endParaRPr>
          </a:p>
        </p:txBody>
      </p:sp>
      <p:sp>
        <p:nvSpPr>
          <p:cNvPr id="71" name="Shape 68"/>
          <p:cNvSpPr/>
          <p:nvPr/>
        </p:nvSpPr>
        <p:spPr>
          <a:xfrm>
            <a:off x="5266944" y="4883176"/>
            <a:ext cx="1554480" cy="463052"/>
          </a:xfrm>
          <a:prstGeom prst="rect">
            <a:avLst/>
          </a:prstGeom>
          <a:solidFill>
            <a:srgbClr val="F5FCFC"/>
          </a:solidFill>
          <a:ln w="12700">
            <a:solidFill>
              <a:srgbClr val="E5EDED"/>
            </a:solidFill>
            <a:prstDash val="solid"/>
          </a:ln>
        </p:spPr>
      </p:sp>
      <p:sp>
        <p:nvSpPr>
          <p:cNvPr id="72" name="Text 69"/>
          <p:cNvSpPr/>
          <p:nvPr/>
        </p:nvSpPr>
        <p:spPr>
          <a:xfrm>
            <a:off x="5340096" y="4928895"/>
            <a:ext cx="140817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Reduced indoor smoke; women's health improvement</a:t>
            </a:r>
            <a:endParaRPr lang="en-US" sz="1000" dirty="0">
              <a:latin typeface="Footlight MT Light" panose="0204060206030A020304" pitchFamily="18" charset="0"/>
            </a:endParaRPr>
          </a:p>
        </p:txBody>
      </p:sp>
      <p:sp>
        <p:nvSpPr>
          <p:cNvPr id="73" name="Shape 70"/>
          <p:cNvSpPr/>
          <p:nvPr/>
        </p:nvSpPr>
        <p:spPr>
          <a:xfrm>
            <a:off x="256032" y="5346683"/>
            <a:ext cx="2011680" cy="318211"/>
          </a:xfrm>
          <a:prstGeom prst="rect">
            <a:avLst/>
          </a:prstGeom>
          <a:solidFill>
            <a:srgbClr val="FFFFFF"/>
          </a:solidFill>
          <a:ln w="12700">
            <a:solidFill>
              <a:srgbClr val="E5EDED"/>
            </a:solidFill>
            <a:prstDash val="solid"/>
          </a:ln>
        </p:spPr>
      </p:sp>
      <p:sp>
        <p:nvSpPr>
          <p:cNvPr id="74" name="Text 71"/>
          <p:cNvSpPr/>
          <p:nvPr/>
        </p:nvSpPr>
        <p:spPr>
          <a:xfrm>
            <a:off x="329184" y="5392403"/>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Community Infrastructure</a:t>
            </a:r>
            <a:endParaRPr lang="en-US" sz="1000" dirty="0">
              <a:latin typeface="Footlight MT Light" panose="0204060206030A020304" pitchFamily="18" charset="0"/>
            </a:endParaRPr>
          </a:p>
        </p:txBody>
      </p:sp>
      <p:sp>
        <p:nvSpPr>
          <p:cNvPr id="75" name="Shape 72"/>
          <p:cNvSpPr/>
          <p:nvPr/>
        </p:nvSpPr>
        <p:spPr>
          <a:xfrm>
            <a:off x="2267712" y="5346683"/>
            <a:ext cx="1627632" cy="318211"/>
          </a:xfrm>
          <a:prstGeom prst="rect">
            <a:avLst/>
          </a:prstGeom>
          <a:solidFill>
            <a:srgbClr val="FFFFFF"/>
          </a:solidFill>
          <a:ln w="12700">
            <a:solidFill>
              <a:srgbClr val="E5EDED"/>
            </a:solidFill>
            <a:prstDash val="solid"/>
          </a:ln>
        </p:spPr>
      </p:sp>
      <p:sp>
        <p:nvSpPr>
          <p:cNvPr id="76" name="Text 73"/>
          <p:cNvSpPr/>
          <p:nvPr/>
        </p:nvSpPr>
        <p:spPr>
          <a:xfrm>
            <a:off x="2340864" y="5392403"/>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hamlets</a:t>
            </a:r>
            <a:endParaRPr lang="en-US" sz="1000" dirty="0">
              <a:latin typeface="Footlight MT Light" panose="0204060206030A020304" pitchFamily="18" charset="0"/>
            </a:endParaRPr>
          </a:p>
        </p:txBody>
      </p:sp>
      <p:sp>
        <p:nvSpPr>
          <p:cNvPr id="77" name="Shape 74"/>
          <p:cNvSpPr/>
          <p:nvPr/>
        </p:nvSpPr>
        <p:spPr>
          <a:xfrm>
            <a:off x="3895344" y="5346683"/>
            <a:ext cx="1371600" cy="318211"/>
          </a:xfrm>
          <a:prstGeom prst="rect">
            <a:avLst/>
          </a:prstGeom>
          <a:solidFill>
            <a:srgbClr val="FFFFFF"/>
          </a:solidFill>
          <a:ln w="12700">
            <a:solidFill>
              <a:srgbClr val="E5EDED"/>
            </a:solidFill>
            <a:prstDash val="solid"/>
          </a:ln>
        </p:spPr>
      </p:sp>
      <p:sp>
        <p:nvSpPr>
          <p:cNvPr id="78" name="Text 75"/>
          <p:cNvSpPr/>
          <p:nvPr/>
        </p:nvSpPr>
        <p:spPr>
          <a:xfrm>
            <a:off x="3968496" y="5392403"/>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Satranji + furniture support</a:t>
            </a:r>
            <a:endParaRPr lang="en-US" sz="1000" dirty="0">
              <a:latin typeface="Footlight MT Light" panose="0204060206030A020304" pitchFamily="18" charset="0"/>
            </a:endParaRPr>
          </a:p>
        </p:txBody>
      </p:sp>
      <p:sp>
        <p:nvSpPr>
          <p:cNvPr id="79" name="Shape 76"/>
          <p:cNvSpPr/>
          <p:nvPr/>
        </p:nvSpPr>
        <p:spPr>
          <a:xfrm>
            <a:off x="5266944" y="5346683"/>
            <a:ext cx="1554480" cy="318211"/>
          </a:xfrm>
          <a:prstGeom prst="rect">
            <a:avLst/>
          </a:prstGeom>
          <a:solidFill>
            <a:srgbClr val="FFFFFF"/>
          </a:solidFill>
          <a:ln w="12700">
            <a:solidFill>
              <a:srgbClr val="E5EDED"/>
            </a:solidFill>
            <a:prstDash val="solid"/>
          </a:ln>
        </p:spPr>
      </p:sp>
      <p:sp>
        <p:nvSpPr>
          <p:cNvPr id="80" name="Text 77"/>
          <p:cNvSpPr/>
          <p:nvPr/>
        </p:nvSpPr>
        <p:spPr>
          <a:xfrm>
            <a:off x="5340096" y="5392403"/>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Physical assets for community meeting spaces</a:t>
            </a:r>
            <a:endParaRPr lang="en-US" sz="1000" dirty="0">
              <a:latin typeface="Footlight MT Light" panose="0204060206030A020304" pitchFamily="18" charset="0"/>
            </a:endParaRPr>
          </a:p>
        </p:txBody>
      </p:sp>
      <p:sp>
        <p:nvSpPr>
          <p:cNvPr id="81" name="Shape 78"/>
          <p:cNvSpPr/>
          <p:nvPr/>
        </p:nvSpPr>
        <p:spPr>
          <a:xfrm>
            <a:off x="256032" y="5674038"/>
            <a:ext cx="2011680" cy="318211"/>
          </a:xfrm>
          <a:prstGeom prst="rect">
            <a:avLst/>
          </a:prstGeom>
          <a:solidFill>
            <a:srgbClr val="F5FCFC"/>
          </a:solidFill>
          <a:ln w="12700">
            <a:solidFill>
              <a:srgbClr val="E5EDED"/>
            </a:solidFill>
            <a:prstDash val="solid"/>
          </a:ln>
        </p:spPr>
      </p:sp>
      <p:sp>
        <p:nvSpPr>
          <p:cNvPr id="82" name="Text 79"/>
          <p:cNvSpPr/>
          <p:nvPr/>
        </p:nvSpPr>
        <p:spPr>
          <a:xfrm>
            <a:off x="329184" y="5719758"/>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Educational Materials</a:t>
            </a:r>
            <a:endParaRPr lang="en-US" sz="1000" dirty="0">
              <a:latin typeface="Footlight MT Light" panose="0204060206030A020304" pitchFamily="18" charset="0"/>
            </a:endParaRPr>
          </a:p>
        </p:txBody>
      </p:sp>
      <p:sp>
        <p:nvSpPr>
          <p:cNvPr id="83" name="Shape 80"/>
          <p:cNvSpPr/>
          <p:nvPr/>
        </p:nvSpPr>
        <p:spPr>
          <a:xfrm>
            <a:off x="2267712" y="5674038"/>
            <a:ext cx="1627632" cy="318211"/>
          </a:xfrm>
          <a:prstGeom prst="rect">
            <a:avLst/>
          </a:prstGeom>
          <a:solidFill>
            <a:srgbClr val="F5FCFC"/>
          </a:solidFill>
          <a:ln w="12700">
            <a:solidFill>
              <a:srgbClr val="E5EDED"/>
            </a:solidFill>
            <a:prstDash val="solid"/>
          </a:ln>
        </p:spPr>
      </p:sp>
      <p:sp>
        <p:nvSpPr>
          <p:cNvPr id="84" name="Text 81"/>
          <p:cNvSpPr/>
          <p:nvPr/>
        </p:nvSpPr>
        <p:spPr>
          <a:xfrm>
            <a:off x="2340864" y="5719758"/>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hamlets</a:t>
            </a:r>
            <a:endParaRPr lang="en-US" sz="1000" dirty="0">
              <a:latin typeface="Footlight MT Light" panose="0204060206030A020304" pitchFamily="18" charset="0"/>
            </a:endParaRPr>
          </a:p>
        </p:txBody>
      </p:sp>
      <p:sp>
        <p:nvSpPr>
          <p:cNvPr id="85" name="Shape 82"/>
          <p:cNvSpPr/>
          <p:nvPr/>
        </p:nvSpPr>
        <p:spPr>
          <a:xfrm>
            <a:off x="3895344" y="5674038"/>
            <a:ext cx="1371600" cy="318211"/>
          </a:xfrm>
          <a:prstGeom prst="rect">
            <a:avLst/>
          </a:prstGeom>
          <a:solidFill>
            <a:srgbClr val="F5FCFC"/>
          </a:solidFill>
          <a:ln w="12700">
            <a:solidFill>
              <a:srgbClr val="E5EDED"/>
            </a:solidFill>
            <a:prstDash val="solid"/>
          </a:ln>
        </p:spPr>
      </p:sp>
      <p:sp>
        <p:nvSpPr>
          <p:cNvPr id="86" name="Text 83"/>
          <p:cNvSpPr/>
          <p:nvPr/>
        </p:nvSpPr>
        <p:spPr>
          <a:xfrm>
            <a:off x="3968496" y="5719758"/>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Furniture + supplies</a:t>
            </a:r>
            <a:endParaRPr lang="en-US" sz="1000" dirty="0">
              <a:latin typeface="Footlight MT Light" panose="0204060206030A020304" pitchFamily="18" charset="0"/>
            </a:endParaRPr>
          </a:p>
        </p:txBody>
      </p:sp>
      <p:sp>
        <p:nvSpPr>
          <p:cNvPr id="87" name="Shape 84"/>
          <p:cNvSpPr/>
          <p:nvPr/>
        </p:nvSpPr>
        <p:spPr>
          <a:xfrm>
            <a:off x="5266944" y="5674038"/>
            <a:ext cx="1554480" cy="318211"/>
          </a:xfrm>
          <a:prstGeom prst="rect">
            <a:avLst/>
          </a:prstGeom>
          <a:solidFill>
            <a:srgbClr val="F5FCFC"/>
          </a:solidFill>
          <a:ln w="12700">
            <a:solidFill>
              <a:srgbClr val="E5EDED"/>
            </a:solidFill>
            <a:prstDash val="solid"/>
          </a:ln>
        </p:spPr>
      </p:sp>
      <p:sp>
        <p:nvSpPr>
          <p:cNvPr id="88" name="Text 85"/>
          <p:cNvSpPr/>
          <p:nvPr/>
        </p:nvSpPr>
        <p:spPr>
          <a:xfrm>
            <a:off x="5340096" y="5719758"/>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Support for schools and educational infrastructure</a:t>
            </a:r>
            <a:endParaRPr lang="en-US" sz="1000" dirty="0">
              <a:latin typeface="Footlight MT Light" panose="0204060206030A020304" pitchFamily="18" charset="0"/>
            </a:endParaRPr>
          </a:p>
        </p:txBody>
      </p:sp>
      <p:sp>
        <p:nvSpPr>
          <p:cNvPr id="89" name="Shape 86"/>
          <p:cNvSpPr/>
          <p:nvPr/>
        </p:nvSpPr>
        <p:spPr>
          <a:xfrm>
            <a:off x="256032" y="6014195"/>
            <a:ext cx="2011680" cy="318211"/>
          </a:xfrm>
          <a:prstGeom prst="rect">
            <a:avLst/>
          </a:prstGeom>
          <a:solidFill>
            <a:srgbClr val="FFFFFF"/>
          </a:solidFill>
          <a:ln w="12700">
            <a:solidFill>
              <a:srgbClr val="E5EDED"/>
            </a:solidFill>
            <a:prstDash val="solid"/>
          </a:ln>
        </p:spPr>
      </p:sp>
      <p:sp>
        <p:nvSpPr>
          <p:cNvPr id="90" name="Text 87"/>
          <p:cNvSpPr/>
          <p:nvPr/>
        </p:nvSpPr>
        <p:spPr>
          <a:xfrm>
            <a:off x="329184" y="6059915"/>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Solar Power Scheme</a:t>
            </a:r>
            <a:endParaRPr lang="en-US" sz="1000" dirty="0">
              <a:latin typeface="Footlight MT Light" panose="0204060206030A020304" pitchFamily="18" charset="0"/>
            </a:endParaRPr>
          </a:p>
        </p:txBody>
      </p:sp>
      <p:sp>
        <p:nvSpPr>
          <p:cNvPr id="91" name="Shape 88"/>
          <p:cNvSpPr/>
          <p:nvPr/>
        </p:nvSpPr>
        <p:spPr>
          <a:xfrm>
            <a:off x="2267712" y="6014195"/>
            <a:ext cx="1627632" cy="318211"/>
          </a:xfrm>
          <a:prstGeom prst="rect">
            <a:avLst/>
          </a:prstGeom>
          <a:solidFill>
            <a:srgbClr val="FFFFFF"/>
          </a:solidFill>
          <a:ln w="12700">
            <a:solidFill>
              <a:srgbClr val="E5EDED"/>
            </a:solidFill>
            <a:prstDash val="solid"/>
          </a:ln>
        </p:spPr>
      </p:sp>
      <p:sp>
        <p:nvSpPr>
          <p:cNvPr id="92" name="Text 89"/>
          <p:cNvSpPr/>
          <p:nvPr/>
        </p:nvSpPr>
        <p:spPr>
          <a:xfrm>
            <a:off x="2340864" y="6059915"/>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 hamlets</a:t>
            </a:r>
            <a:endParaRPr lang="en-US" sz="1000" dirty="0">
              <a:latin typeface="Footlight MT Light" panose="0204060206030A020304" pitchFamily="18" charset="0"/>
            </a:endParaRPr>
          </a:p>
        </p:txBody>
      </p:sp>
      <p:sp>
        <p:nvSpPr>
          <p:cNvPr id="93" name="Shape 90"/>
          <p:cNvSpPr/>
          <p:nvPr/>
        </p:nvSpPr>
        <p:spPr>
          <a:xfrm>
            <a:off x="3895344" y="6014195"/>
            <a:ext cx="1371600" cy="318211"/>
          </a:xfrm>
          <a:prstGeom prst="rect">
            <a:avLst/>
          </a:prstGeom>
          <a:solidFill>
            <a:srgbClr val="FFFFFF"/>
          </a:solidFill>
          <a:ln w="12700">
            <a:solidFill>
              <a:srgbClr val="E5EDED"/>
            </a:solidFill>
            <a:prstDash val="solid"/>
          </a:ln>
        </p:spPr>
      </p:sp>
      <p:sp>
        <p:nvSpPr>
          <p:cNvPr id="94" name="Text 91"/>
          <p:cNvSpPr/>
          <p:nvPr/>
        </p:nvSpPr>
        <p:spPr>
          <a:xfrm>
            <a:off x="3968496" y="6059915"/>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Solar installations</a:t>
            </a:r>
            <a:endParaRPr lang="en-US" sz="1000" dirty="0">
              <a:latin typeface="Footlight MT Light" panose="0204060206030A020304" pitchFamily="18" charset="0"/>
            </a:endParaRPr>
          </a:p>
        </p:txBody>
      </p:sp>
      <p:sp>
        <p:nvSpPr>
          <p:cNvPr id="95" name="Shape 92"/>
          <p:cNvSpPr/>
          <p:nvPr/>
        </p:nvSpPr>
        <p:spPr>
          <a:xfrm>
            <a:off x="5266944" y="6014195"/>
            <a:ext cx="1554480" cy="318211"/>
          </a:xfrm>
          <a:prstGeom prst="rect">
            <a:avLst/>
          </a:prstGeom>
          <a:solidFill>
            <a:srgbClr val="FFFFFF"/>
          </a:solidFill>
          <a:ln w="12700">
            <a:solidFill>
              <a:srgbClr val="E5EDED"/>
            </a:solidFill>
            <a:prstDash val="solid"/>
          </a:ln>
        </p:spPr>
      </p:sp>
      <p:sp>
        <p:nvSpPr>
          <p:cNvPr id="96" name="Text 93"/>
          <p:cNvSpPr/>
          <p:nvPr/>
        </p:nvSpPr>
        <p:spPr>
          <a:xfrm>
            <a:off x="5340096" y="6059915"/>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Renewable energy access for tribal hamlets</a:t>
            </a:r>
            <a:endParaRPr lang="en-US" sz="1000" dirty="0">
              <a:latin typeface="Footlight MT Light" panose="0204060206030A020304" pitchFamily="18" charset="0"/>
            </a:endParaRPr>
          </a:p>
        </p:txBody>
      </p:sp>
      <p:sp>
        <p:nvSpPr>
          <p:cNvPr id="97" name="Text 94"/>
          <p:cNvSpPr/>
          <p:nvPr/>
        </p:nvSpPr>
        <p:spPr>
          <a:xfrm>
            <a:off x="274320" y="6423182"/>
            <a:ext cx="6217920" cy="237744"/>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Additional Social Welfare Infrastructure Linkages</a:t>
            </a:r>
            <a:endParaRPr lang="en-US" dirty="0">
              <a:latin typeface="Felix Titling" panose="04060505060202020A04" pitchFamily="82" charset="0"/>
            </a:endParaRPr>
          </a:p>
        </p:txBody>
      </p:sp>
      <p:sp>
        <p:nvSpPr>
          <p:cNvPr id="98" name="Shape 95"/>
          <p:cNvSpPr/>
          <p:nvPr/>
        </p:nvSpPr>
        <p:spPr>
          <a:xfrm>
            <a:off x="274320" y="7008055"/>
            <a:ext cx="731520" cy="16459"/>
          </a:xfrm>
          <a:prstGeom prst="rect">
            <a:avLst/>
          </a:prstGeom>
          <a:solidFill>
            <a:srgbClr val="C8960A"/>
          </a:solidFill>
          <a:ln w="12700">
            <a:solidFill>
              <a:srgbClr val="C8960A"/>
            </a:solidFill>
            <a:prstDash val="solid"/>
          </a:ln>
        </p:spPr>
      </p:sp>
      <p:pic>
        <p:nvPicPr>
          <p:cNvPr id="99" name="Image 1" descr="preencoded.png"/>
          <p:cNvPicPr>
            <a:picLocks noChangeAspect="1"/>
          </p:cNvPicPr>
          <p:nvPr/>
        </p:nvPicPr>
        <p:blipFill>
          <a:blip r:embed="rId5"/>
          <a:stretch>
            <a:fillRect/>
          </a:stretch>
        </p:blipFill>
        <p:spPr>
          <a:xfrm>
            <a:off x="342900" y="7262449"/>
            <a:ext cx="182880" cy="182880"/>
          </a:xfrm>
          <a:prstGeom prst="rect">
            <a:avLst/>
          </a:prstGeom>
        </p:spPr>
      </p:pic>
      <p:sp>
        <p:nvSpPr>
          <p:cNvPr id="100" name="Text 96"/>
          <p:cNvSpPr/>
          <p:nvPr/>
        </p:nvSpPr>
        <p:spPr>
          <a:xfrm>
            <a:off x="580644" y="7244161"/>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E-rickshaw units provided for livelihood transportation</a:t>
            </a:r>
            <a:endParaRPr lang="en-US" sz="1200" dirty="0">
              <a:latin typeface="Footlight MT Light" panose="0204060206030A020304" pitchFamily="18" charset="0"/>
            </a:endParaRPr>
          </a:p>
        </p:txBody>
      </p:sp>
      <p:pic>
        <p:nvPicPr>
          <p:cNvPr id="101" name="Image 2" descr="preencoded.png"/>
          <p:cNvPicPr>
            <a:picLocks noChangeAspect="1"/>
          </p:cNvPicPr>
          <p:nvPr/>
        </p:nvPicPr>
        <p:blipFill>
          <a:blip r:embed="rId5"/>
          <a:stretch>
            <a:fillRect/>
          </a:stretch>
        </p:blipFill>
        <p:spPr>
          <a:xfrm>
            <a:off x="342900" y="7518481"/>
            <a:ext cx="182880" cy="182880"/>
          </a:xfrm>
          <a:prstGeom prst="rect">
            <a:avLst/>
          </a:prstGeom>
        </p:spPr>
      </p:pic>
      <p:sp>
        <p:nvSpPr>
          <p:cNvPr id="102" name="Text 97"/>
          <p:cNvSpPr/>
          <p:nvPr/>
        </p:nvSpPr>
        <p:spPr>
          <a:xfrm>
            <a:off x="580644" y="7500193"/>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Sugarcane juice extraction machines for income generation</a:t>
            </a:r>
            <a:endParaRPr lang="en-US" sz="1200" dirty="0">
              <a:latin typeface="Footlight MT Light" panose="0204060206030A020304" pitchFamily="18" charset="0"/>
            </a:endParaRPr>
          </a:p>
        </p:txBody>
      </p:sp>
      <p:pic>
        <p:nvPicPr>
          <p:cNvPr id="103" name="Image 3" descr="preencoded.png"/>
          <p:cNvPicPr>
            <a:picLocks noChangeAspect="1"/>
          </p:cNvPicPr>
          <p:nvPr/>
        </p:nvPicPr>
        <p:blipFill>
          <a:blip r:embed="rId5"/>
          <a:stretch>
            <a:fillRect/>
          </a:stretch>
        </p:blipFill>
        <p:spPr>
          <a:xfrm>
            <a:off x="342900" y="7774513"/>
            <a:ext cx="182880" cy="182880"/>
          </a:xfrm>
          <a:prstGeom prst="rect">
            <a:avLst/>
          </a:prstGeom>
        </p:spPr>
      </p:pic>
      <p:sp>
        <p:nvSpPr>
          <p:cNvPr id="104" name="Text 98"/>
          <p:cNvSpPr/>
          <p:nvPr/>
        </p:nvSpPr>
        <p:spPr>
          <a:xfrm>
            <a:off x="580644" y="7756225"/>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Open gym equipment installed in tribal hamlets</a:t>
            </a:r>
            <a:endParaRPr lang="en-US" sz="1200" dirty="0">
              <a:latin typeface="Footlight MT Light" panose="0204060206030A020304" pitchFamily="18" charset="0"/>
            </a:endParaRPr>
          </a:p>
        </p:txBody>
      </p:sp>
      <p:pic>
        <p:nvPicPr>
          <p:cNvPr id="105" name="Image 4" descr="preencoded.png"/>
          <p:cNvPicPr>
            <a:picLocks noChangeAspect="1"/>
          </p:cNvPicPr>
          <p:nvPr/>
        </p:nvPicPr>
        <p:blipFill>
          <a:blip r:embed="rId5"/>
          <a:stretch>
            <a:fillRect/>
          </a:stretch>
        </p:blipFill>
        <p:spPr>
          <a:xfrm>
            <a:off x="342900" y="8030545"/>
            <a:ext cx="182880" cy="182880"/>
          </a:xfrm>
          <a:prstGeom prst="rect">
            <a:avLst/>
          </a:prstGeom>
        </p:spPr>
      </p:pic>
      <p:sp>
        <p:nvSpPr>
          <p:cNvPr id="106" name="Text 99"/>
          <p:cNvSpPr/>
          <p:nvPr/>
        </p:nvSpPr>
        <p:spPr>
          <a:xfrm>
            <a:off x="580644" y="8012257"/>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Community business infrastructure support extended</a:t>
            </a:r>
            <a:endParaRPr lang="en-US" sz="1200" dirty="0">
              <a:latin typeface="Footlight MT Light" panose="0204060206030A020304" pitchFamily="18" charset="0"/>
            </a:endParaRPr>
          </a:p>
        </p:txBody>
      </p:sp>
      <p:pic>
        <p:nvPicPr>
          <p:cNvPr id="107" name="Image 5" descr="preencoded.png"/>
          <p:cNvPicPr>
            <a:picLocks noChangeAspect="1"/>
          </p:cNvPicPr>
          <p:nvPr/>
        </p:nvPicPr>
        <p:blipFill>
          <a:blip r:embed="rId5"/>
          <a:stretch>
            <a:fillRect/>
          </a:stretch>
        </p:blipFill>
        <p:spPr>
          <a:xfrm>
            <a:off x="342900" y="8277776"/>
            <a:ext cx="182880" cy="182880"/>
          </a:xfrm>
          <a:prstGeom prst="rect">
            <a:avLst/>
          </a:prstGeom>
        </p:spPr>
      </p:pic>
      <p:sp>
        <p:nvSpPr>
          <p:cNvPr id="108" name="Text 100"/>
          <p:cNvSpPr/>
          <p:nvPr/>
        </p:nvSpPr>
        <p:spPr>
          <a:xfrm>
            <a:off x="580644" y="8287446"/>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Solar power scheme covered 5 hamlets across both blocks</a:t>
            </a:r>
            <a:endParaRPr lang="en-US" sz="1200" dirty="0">
              <a:latin typeface="Footlight MT Light" panose="0204060206030A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Media Coverage &amp; Social Recognition</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Media Coverage - Project in the News</a:t>
            </a:r>
            <a:endParaRPr lang="en-US"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1050" i="1" dirty="0">
                <a:solidFill>
                  <a:srgbClr val="5E7070"/>
                </a:solidFill>
                <a:latin typeface="Footlight MT Light" panose="0204060206030A020304" pitchFamily="18" charset="0"/>
                <a:ea typeface="Calibri" pitchFamily="34" charset="-122"/>
                <a:cs typeface="Calibri" pitchFamily="34" charset="-120"/>
              </a:rPr>
              <a:t>Project activities gained significant media attention in local and regional newspapers</a:t>
            </a:r>
            <a:endParaRPr lang="en-US" sz="105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Text 12"/>
          <p:cNvSpPr/>
          <p:nvPr/>
        </p:nvSpPr>
        <p:spPr>
          <a:xfrm>
            <a:off x="256032" y="1127348"/>
            <a:ext cx="6345936" cy="530352"/>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The project's community activities, government scheme distributions, and tribal empowerment initiatives received coverage in local Marathi newspapers, reflecting the public significance and community recognition of SJSM's work in Poladpur and Mahad blocks.</a:t>
            </a:r>
            <a:endParaRPr lang="en-US" sz="1200" dirty="0">
              <a:latin typeface="Footlight MT Light" panose="0204060206030A020304" pitchFamily="18" charset="0"/>
            </a:endParaRPr>
          </a:p>
        </p:txBody>
      </p:sp>
      <p:pic>
        <p:nvPicPr>
          <p:cNvPr id="15" name="Image 0"/>
          <p:cNvPicPr>
            <a:picLocks noChangeAspect="1"/>
          </p:cNvPicPr>
          <p:nvPr/>
        </p:nvPicPr>
        <p:blipFill>
          <a:blip r:embed="rId3"/>
          <a:srcRect/>
          <a:stretch/>
        </p:blipFill>
        <p:spPr>
          <a:xfrm>
            <a:off x="201168" y="1797497"/>
            <a:ext cx="3136392" cy="3123717"/>
          </a:xfrm>
          <a:prstGeom prst="rect">
            <a:avLst/>
          </a:prstGeom>
        </p:spPr>
      </p:pic>
      <p:sp>
        <p:nvSpPr>
          <p:cNvPr id="16" name="Shape 13"/>
          <p:cNvSpPr/>
          <p:nvPr/>
        </p:nvSpPr>
        <p:spPr>
          <a:xfrm>
            <a:off x="201168" y="4720046"/>
            <a:ext cx="3136392" cy="237744"/>
          </a:xfrm>
          <a:prstGeom prst="rect">
            <a:avLst/>
          </a:prstGeom>
          <a:solidFill>
            <a:srgbClr val="2A3535"/>
          </a:solidFill>
          <a:ln w="12700">
            <a:solidFill>
              <a:srgbClr val="2A3535"/>
            </a:solidFill>
            <a:prstDash val="solid"/>
          </a:ln>
        </p:spPr>
      </p:sp>
      <p:sp>
        <p:nvSpPr>
          <p:cNvPr id="17" name="Text 14"/>
          <p:cNvSpPr/>
          <p:nvPr/>
        </p:nvSpPr>
        <p:spPr>
          <a:xfrm>
            <a:off x="274320" y="4756622"/>
            <a:ext cx="2990088" cy="164592"/>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Marathi Newspaper Coverage - Poladpur Tribal Fisheries Project</a:t>
            </a:r>
            <a:endParaRPr lang="en-US" sz="1200" dirty="0">
              <a:latin typeface="Footlight MT Light" panose="0204060206030A020304" pitchFamily="18" charset="0"/>
            </a:endParaRPr>
          </a:p>
        </p:txBody>
      </p:sp>
      <p:pic>
        <p:nvPicPr>
          <p:cNvPr id="18" name="Image 1"/>
          <p:cNvPicPr>
            <a:picLocks noChangeAspect="1"/>
          </p:cNvPicPr>
          <p:nvPr/>
        </p:nvPicPr>
        <p:blipFill>
          <a:blip r:embed="rId4"/>
          <a:srcRect/>
          <a:stretch/>
        </p:blipFill>
        <p:spPr>
          <a:xfrm>
            <a:off x="3429000" y="1822801"/>
            <a:ext cx="3136392" cy="3134989"/>
          </a:xfrm>
          <a:prstGeom prst="rect">
            <a:avLst/>
          </a:prstGeom>
          <a:ln>
            <a:noFill/>
          </a:ln>
        </p:spPr>
      </p:pic>
      <p:sp>
        <p:nvSpPr>
          <p:cNvPr id="19" name="Shape 15"/>
          <p:cNvSpPr/>
          <p:nvPr/>
        </p:nvSpPr>
        <p:spPr>
          <a:xfrm>
            <a:off x="3429000" y="4720046"/>
            <a:ext cx="3136392" cy="237744"/>
          </a:xfrm>
          <a:prstGeom prst="rect">
            <a:avLst/>
          </a:prstGeom>
          <a:solidFill>
            <a:srgbClr val="2A3535"/>
          </a:solidFill>
          <a:ln w="12700">
            <a:solidFill>
              <a:srgbClr val="2A3535"/>
            </a:solidFill>
            <a:prstDash val="solid"/>
          </a:ln>
        </p:spPr>
      </p:sp>
      <p:sp>
        <p:nvSpPr>
          <p:cNvPr id="20" name="Text 16"/>
          <p:cNvSpPr/>
          <p:nvPr/>
        </p:nvSpPr>
        <p:spPr>
          <a:xfrm>
            <a:off x="3502152" y="4756622"/>
            <a:ext cx="2990088" cy="164592"/>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'Prahar' Newspaper - Project Activities Coverage</a:t>
            </a:r>
            <a:endParaRPr lang="en-US" sz="1200" dirty="0">
              <a:latin typeface="Footlight MT Light" panose="0204060206030A020304" pitchFamily="18" charset="0"/>
            </a:endParaRPr>
          </a:p>
        </p:txBody>
      </p:sp>
      <p:pic>
        <p:nvPicPr>
          <p:cNvPr id="21" name="Image 2"/>
          <p:cNvPicPr>
            <a:picLocks noChangeAspect="1"/>
          </p:cNvPicPr>
          <p:nvPr/>
        </p:nvPicPr>
        <p:blipFill>
          <a:blip r:embed="rId5"/>
          <a:srcRect/>
          <a:stretch/>
        </p:blipFill>
        <p:spPr>
          <a:xfrm>
            <a:off x="219456" y="5108666"/>
            <a:ext cx="6345936" cy="3023160"/>
          </a:xfrm>
          <a:prstGeom prst="rect">
            <a:avLst/>
          </a:prstGeom>
        </p:spPr>
      </p:pic>
      <p:sp>
        <p:nvSpPr>
          <p:cNvPr id="22" name="Shape 17"/>
          <p:cNvSpPr/>
          <p:nvPr/>
        </p:nvSpPr>
        <p:spPr>
          <a:xfrm>
            <a:off x="219456" y="8133926"/>
            <a:ext cx="6382512" cy="266580"/>
          </a:xfrm>
          <a:prstGeom prst="rect">
            <a:avLst/>
          </a:prstGeom>
          <a:solidFill>
            <a:srgbClr val="2A3535"/>
          </a:solidFill>
          <a:ln w="12700">
            <a:solidFill>
              <a:srgbClr val="2A3535"/>
            </a:solidFill>
            <a:prstDash val="solid"/>
          </a:ln>
        </p:spPr>
      </p:sp>
      <p:sp>
        <p:nvSpPr>
          <p:cNvPr id="23" name="Text 18"/>
          <p:cNvSpPr/>
          <p:nvPr/>
        </p:nvSpPr>
        <p:spPr>
          <a:xfrm>
            <a:off x="292608" y="8179375"/>
            <a:ext cx="6237866" cy="184555"/>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Pudhari Newspaper - SJSM Tribal Empowerment Coverage</a:t>
            </a:r>
            <a:endParaRPr lang="en-US" sz="1200" dirty="0">
              <a:latin typeface="Footlight MT Light" panose="0204060206030A020304" pitchFamily="18" charset="0"/>
            </a:endParaRPr>
          </a:p>
        </p:txBody>
      </p:sp>
      <p:sp>
        <p:nvSpPr>
          <p:cNvPr id="24" name="Shape 19"/>
          <p:cNvSpPr/>
          <p:nvPr/>
        </p:nvSpPr>
        <p:spPr>
          <a:xfrm>
            <a:off x="201168" y="8468993"/>
            <a:ext cx="6345936" cy="512064"/>
          </a:xfrm>
          <a:prstGeom prst="roundRect">
            <a:avLst>
              <a:gd name="adj" fmla="val 14286"/>
            </a:avLst>
          </a:prstGeom>
          <a:solidFill>
            <a:srgbClr val="FFF8E6"/>
          </a:solidFill>
          <a:ln w="12700">
            <a:solidFill>
              <a:srgbClr val="C8960A"/>
            </a:solidFill>
            <a:prstDash val="solid"/>
          </a:ln>
        </p:spPr>
      </p:sp>
      <p:sp>
        <p:nvSpPr>
          <p:cNvPr id="25" name="Shape 20"/>
          <p:cNvSpPr/>
          <p:nvPr/>
        </p:nvSpPr>
        <p:spPr>
          <a:xfrm>
            <a:off x="201168" y="8468993"/>
            <a:ext cx="36576" cy="512064"/>
          </a:xfrm>
          <a:prstGeom prst="rect">
            <a:avLst/>
          </a:prstGeom>
          <a:solidFill>
            <a:srgbClr val="C8960A"/>
          </a:solidFill>
          <a:ln w="12700">
            <a:solidFill>
              <a:srgbClr val="C8960A"/>
            </a:solidFill>
            <a:prstDash val="solid"/>
          </a:ln>
        </p:spPr>
      </p:sp>
      <p:sp>
        <p:nvSpPr>
          <p:cNvPr id="26" name="Text 21"/>
          <p:cNvSpPr/>
          <p:nvPr/>
        </p:nvSpPr>
        <p:spPr>
          <a:xfrm>
            <a:off x="384048" y="8542145"/>
            <a:ext cx="6126480" cy="365760"/>
          </a:xfrm>
          <a:prstGeom prst="rect">
            <a:avLst/>
          </a:prstGeom>
          <a:noFill/>
          <a:ln/>
        </p:spPr>
        <p:txBody>
          <a:bodyPr wrap="square" lIns="0" tIns="0" rIns="0" bIns="0" rtlCol="0" anchor="ctr"/>
          <a:lstStyle/>
          <a:p>
            <a:pPr marL="0" indent="0" algn="l">
              <a:buNone/>
            </a:pPr>
            <a:r>
              <a:rPr lang="en-US" sz="1050" b="1" dirty="0">
                <a:solidFill>
                  <a:srgbClr val="A67C00"/>
                </a:solidFill>
                <a:latin typeface="Felix Titling" panose="04060505060202020A04" pitchFamily="82" charset="0"/>
                <a:ea typeface="Calibri" pitchFamily="34" charset="-122"/>
                <a:cs typeface="Calibri" pitchFamily="34" charset="-120"/>
              </a:rPr>
              <a:t>Media coverage in '</a:t>
            </a:r>
            <a:r>
              <a:rPr lang="en-US" sz="1050" b="1" dirty="0" err="1">
                <a:solidFill>
                  <a:srgbClr val="A67C00"/>
                </a:solidFill>
                <a:latin typeface="Felix Titling" panose="04060505060202020A04" pitchFamily="82" charset="0"/>
                <a:ea typeface="Calibri" pitchFamily="34" charset="-122"/>
                <a:cs typeface="Calibri" pitchFamily="34" charset="-120"/>
              </a:rPr>
              <a:t>Pudhari</a:t>
            </a:r>
            <a:r>
              <a:rPr lang="en-US" sz="1050" b="1" dirty="0">
                <a:solidFill>
                  <a:srgbClr val="A67C00"/>
                </a:solidFill>
                <a:latin typeface="Felix Titling" panose="04060505060202020A04" pitchFamily="82" charset="0"/>
                <a:ea typeface="Calibri" pitchFamily="34" charset="-122"/>
                <a:cs typeface="Calibri" pitchFamily="34" charset="-120"/>
              </a:rPr>
              <a:t> ', 'Prahar', and local Marathi newspapers highlighted the transformative impact of fisheries interventions and government scheme access for Katkari tribal communities.</a:t>
            </a:r>
            <a:endParaRPr lang="en-US" sz="1050" dirty="0">
              <a:latin typeface="Felix Titling" panose="04060505060202020A04" pitchFamily="8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ibal_day_2.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pic>
        <p:nvPicPr>
          <p:cNvPr id="12" name="Picture 11">
            <a:extLst>
              <a:ext uri="{FF2B5EF4-FFF2-40B4-BE49-F238E27FC236}">
                <a16:creationId xmlns:a16="http://schemas.microsoft.com/office/drawing/2014/main" id="{8F5FE74E-74E7-481C-7C67-39109F903F4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0"/>
            <a:ext cx="6858000" cy="9720072"/>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05</a:t>
            </a:r>
            <a:endParaRPr lang="en-US" sz="1000" dirty="0"/>
          </a:p>
        </p:txBody>
      </p:sp>
      <p:sp>
        <p:nvSpPr>
          <p:cNvPr id="7" name="Text 4"/>
          <p:cNvSpPr/>
          <p:nvPr/>
        </p:nvSpPr>
        <p:spPr>
          <a:xfrm>
            <a:off x="457200" y="822960"/>
            <a:ext cx="5943600" cy="1118218"/>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Success Stories</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Community Voices</a:t>
            </a:r>
            <a:endParaRPr lang="en-US" sz="3400" dirty="0">
              <a:latin typeface="Felix Titling" panose="04060505060202020A04" pitchFamily="82" charset="0"/>
            </a:endParaRPr>
          </a:p>
        </p:txBody>
      </p:sp>
      <p:sp>
        <p:nvSpPr>
          <p:cNvPr id="8" name="Shape 5"/>
          <p:cNvSpPr/>
          <p:nvPr/>
        </p:nvSpPr>
        <p:spPr>
          <a:xfrm>
            <a:off x="457200" y="1924613"/>
            <a:ext cx="1371600" cy="36576"/>
          </a:xfrm>
          <a:prstGeom prst="rect">
            <a:avLst/>
          </a:prstGeom>
          <a:solidFill>
            <a:srgbClr val="C8960A"/>
          </a:solidFill>
          <a:ln w="12700">
            <a:solidFill>
              <a:srgbClr val="C8960A"/>
            </a:solidFill>
            <a:prstDash val="solid"/>
          </a:ln>
        </p:spPr>
      </p:sp>
      <p:sp>
        <p:nvSpPr>
          <p:cNvPr id="9" name="Text 6"/>
          <p:cNvSpPr/>
          <p:nvPr/>
        </p:nvSpPr>
        <p:spPr>
          <a:xfrm>
            <a:off x="457200" y="2061773"/>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Three documented stories of transformation - a tribal fisherwoman, a 172-member cooperative, and a cage culture pioneer - demonstrating the human impact behind the numbers.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1 - Ranjana Pawar</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91283" y="9518904"/>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
        <p:nvSpPr>
          <p:cNvPr id="11" name="Shape 9"/>
          <p:cNvSpPr/>
          <p:nvPr/>
        </p:nvSpPr>
        <p:spPr>
          <a:xfrm>
            <a:off x="0" y="320040"/>
            <a:ext cx="6858000" cy="1417320"/>
          </a:xfrm>
          <a:prstGeom prst="rect">
            <a:avLst/>
          </a:prstGeom>
          <a:solidFill>
            <a:srgbClr val="005F5F"/>
          </a:solidFill>
          <a:ln w="12700">
            <a:solidFill>
              <a:srgbClr val="005F5F"/>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pic>
        <p:nvPicPr>
          <p:cNvPr id="13" name="Image 0" descr="preencoded.png"/>
          <p:cNvPicPr>
            <a:picLocks noChangeAspect="1"/>
          </p:cNvPicPr>
          <p:nvPr/>
        </p:nvPicPr>
        <p:blipFill>
          <a:blip r:embed="rId3"/>
          <a:stretch>
            <a:fillRect/>
          </a:stretch>
        </p:blipFill>
        <p:spPr>
          <a:xfrm>
            <a:off x="292607" y="457199"/>
            <a:ext cx="1125375" cy="1125375"/>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C8960A"/>
                </a:solidFill>
                <a:latin typeface="Felix Titling" panose="04060505060202020A04" pitchFamily="82" charset="0"/>
                <a:ea typeface="Calibri" pitchFamily="34" charset="-122"/>
                <a:cs typeface="Calibri" pitchFamily="34" charset="-120"/>
              </a:rPr>
              <a:t>SUCCESS STORY 1</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"From Daily Struggles to Sustainable Success"</a:t>
            </a:r>
            <a:endParaRPr lang="en-US" sz="2400" dirty="0">
              <a:latin typeface="Felix Titling" panose="04060505060202020A04" pitchFamily="82" charset="0"/>
            </a:endParaRPr>
          </a:p>
        </p:txBody>
      </p:sp>
      <p:sp>
        <p:nvSpPr>
          <p:cNvPr id="16" name="Text 13"/>
          <p:cNvSpPr/>
          <p:nvPr/>
        </p:nvSpPr>
        <p:spPr>
          <a:xfrm>
            <a:off x="783734" y="1460754"/>
            <a:ext cx="5760720" cy="219456"/>
          </a:xfrm>
          <a:prstGeom prst="rect">
            <a:avLst/>
          </a:prstGeom>
          <a:noFill/>
          <a:ln/>
        </p:spPr>
        <p:txBody>
          <a:bodyPr wrap="square" lIns="0" tIns="0" rIns="0" bIns="0" rtlCol="0" anchor="t"/>
          <a:lstStyle/>
          <a:p>
            <a:pPr marL="0" indent="0" algn="l">
              <a:buNone/>
            </a:pPr>
            <a:r>
              <a:rPr lang="en-US" sz="1100" b="1" i="1" dirty="0">
                <a:solidFill>
                  <a:srgbClr val="E0F2F2"/>
                </a:solidFill>
                <a:latin typeface="Felix Titling" panose="04060505060202020A04" pitchFamily="82" charset="0"/>
                <a:ea typeface="Calibri" pitchFamily="34" charset="-122"/>
                <a:cs typeface="Calibri" pitchFamily="34" charset="-120"/>
              </a:rPr>
              <a:t>Ranjana Pawar </a:t>
            </a:r>
            <a:r>
              <a:rPr lang="en-US" sz="1100" i="1" dirty="0">
                <a:solidFill>
                  <a:srgbClr val="E0F2F2"/>
                </a:solidFill>
                <a:latin typeface="Felix Titling" panose="04060505060202020A04" pitchFamily="82" charset="0"/>
                <a:ea typeface="Calibri" pitchFamily="34" charset="-122"/>
                <a:cs typeface="Calibri" pitchFamily="34" charset="-120"/>
              </a:rPr>
              <a:t>· Fisherwoman &amp; Cooperative Member · Poladpur Taluka</a:t>
            </a:r>
            <a:endParaRPr lang="en-US" sz="1100" dirty="0">
              <a:latin typeface="Felix Titling" panose="04060505060202020A04" pitchFamily="82" charset="0"/>
            </a:endParaRPr>
          </a:p>
        </p:txBody>
      </p:sp>
      <p:pic>
        <p:nvPicPr>
          <p:cNvPr id="17" name="Image 1"/>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rcRect t="13221" b="13221"/>
          <a:stretch/>
        </p:blipFill>
        <p:spPr>
          <a:xfrm flipH="1">
            <a:off x="-317033" y="2025732"/>
            <a:ext cx="4349496" cy="4265831"/>
          </a:xfrm>
          <a:prstGeom prst="teardrop">
            <a:avLst/>
          </a:prstGeom>
          <a:ln w="304800">
            <a:solidFill>
              <a:srgbClr val="005F5F"/>
            </a:solidFill>
            <a:miter lim="800000"/>
          </a:ln>
        </p:spPr>
      </p:pic>
      <p:sp>
        <p:nvSpPr>
          <p:cNvPr id="20" name="Shape 16"/>
          <p:cNvSpPr/>
          <p:nvPr/>
        </p:nvSpPr>
        <p:spPr>
          <a:xfrm>
            <a:off x="2797137" y="2170485"/>
            <a:ext cx="3875333" cy="1522780"/>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1" name="Shape 17"/>
          <p:cNvSpPr/>
          <p:nvPr/>
        </p:nvSpPr>
        <p:spPr>
          <a:xfrm>
            <a:off x="2797137" y="2170484"/>
            <a:ext cx="3875333" cy="243943"/>
          </a:xfrm>
          <a:prstGeom prst="roundRect">
            <a:avLst>
              <a:gd name="adj" fmla="val 23529"/>
            </a:avLst>
          </a:prstGeom>
          <a:solidFill>
            <a:srgbClr val="005F5F"/>
          </a:solidFill>
          <a:ln w="12700">
            <a:solidFill>
              <a:srgbClr val="005F5F"/>
            </a:solidFill>
            <a:prstDash val="solid"/>
          </a:ln>
        </p:spPr>
      </p:sp>
      <p:sp>
        <p:nvSpPr>
          <p:cNvPr id="22" name="Text 18"/>
          <p:cNvSpPr/>
          <p:nvPr/>
        </p:nvSpPr>
        <p:spPr>
          <a:xfrm>
            <a:off x="2906865" y="2216204"/>
            <a:ext cx="3875333" cy="186545"/>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BACKGROUND</a:t>
            </a:r>
            <a:endParaRPr lang="en-US" sz="900" dirty="0">
              <a:latin typeface="Footlight MT Light" panose="0204060206030A020304" pitchFamily="18" charset="0"/>
            </a:endParaRPr>
          </a:p>
        </p:txBody>
      </p:sp>
      <p:sp>
        <p:nvSpPr>
          <p:cNvPr id="23" name="Text 19"/>
          <p:cNvSpPr/>
          <p:nvPr/>
        </p:nvSpPr>
        <p:spPr>
          <a:xfrm>
            <a:off x="2906865" y="2572820"/>
            <a:ext cx="3637589" cy="645065"/>
          </a:xfrm>
          <a:prstGeom prst="rect">
            <a:avLst/>
          </a:prstGeom>
          <a:noFill/>
          <a:ln/>
        </p:spPr>
        <p:txBody>
          <a:bodyPr wrap="square" lIns="0" tIns="0" rIns="0" bIns="0" rtlCol="0" anchor="t"/>
          <a:lstStyle/>
          <a:p>
            <a:pPr marL="0" indent="0" algn="just">
              <a:buNone/>
            </a:pPr>
            <a:r>
              <a:rPr lang="en-US" sz="1050" dirty="0">
                <a:solidFill>
                  <a:srgbClr val="2A3535"/>
                </a:solidFill>
                <a:latin typeface="Footlight MT Light" panose="0204060206030A020304" pitchFamily="18" charset="0"/>
                <a:ea typeface="Calibri" pitchFamily="34" charset="-122"/>
                <a:cs typeface="Calibri" pitchFamily="34" charset="-120"/>
              </a:rPr>
              <a:t>Ranjana Pawar has been engaged in fishing activities along with her family for many years as a member of the local fishing cooperative. Fishing served as the primary income source for her household. However, limited access to quality fishing equipment, inadequate post-harvest facilities, and fluctuating fish catch resulted in irregular earnings and financial uncertainty.</a:t>
            </a:r>
            <a:endParaRPr lang="en-US" sz="1050" dirty="0">
              <a:latin typeface="Footlight MT Light" panose="0204060206030A020304" pitchFamily="18" charset="0"/>
            </a:endParaRPr>
          </a:p>
        </p:txBody>
      </p:sp>
      <p:sp>
        <p:nvSpPr>
          <p:cNvPr id="24" name="Shape 20"/>
          <p:cNvSpPr/>
          <p:nvPr/>
        </p:nvSpPr>
        <p:spPr>
          <a:xfrm>
            <a:off x="2398776" y="4290590"/>
            <a:ext cx="2060448" cy="193099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5" name="Shape 21"/>
          <p:cNvSpPr/>
          <p:nvPr/>
        </p:nvSpPr>
        <p:spPr>
          <a:xfrm>
            <a:off x="2398776" y="4290590"/>
            <a:ext cx="2060448" cy="310896"/>
          </a:xfrm>
          <a:prstGeom prst="roundRect">
            <a:avLst>
              <a:gd name="adj" fmla="val 23529"/>
            </a:avLst>
          </a:prstGeom>
          <a:solidFill>
            <a:srgbClr val="A67C00"/>
          </a:solidFill>
          <a:ln w="12700">
            <a:solidFill>
              <a:srgbClr val="A67C00"/>
            </a:solidFill>
            <a:prstDash val="solid"/>
          </a:ln>
        </p:spPr>
      </p:sp>
      <p:sp>
        <p:nvSpPr>
          <p:cNvPr id="26" name="Text 22"/>
          <p:cNvSpPr/>
          <p:nvPr/>
        </p:nvSpPr>
        <p:spPr>
          <a:xfrm>
            <a:off x="2508504" y="4336310"/>
            <a:ext cx="1840992" cy="237744"/>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CHALLENGES</a:t>
            </a:r>
            <a:endParaRPr lang="en-US" sz="900" dirty="0">
              <a:latin typeface="Footlight MT Light" panose="0204060206030A020304" pitchFamily="18" charset="0"/>
            </a:endParaRPr>
          </a:p>
        </p:txBody>
      </p:sp>
      <p:sp>
        <p:nvSpPr>
          <p:cNvPr id="27" name="Text 23"/>
          <p:cNvSpPr/>
          <p:nvPr/>
        </p:nvSpPr>
        <p:spPr>
          <a:xfrm>
            <a:off x="2490214" y="4692926"/>
            <a:ext cx="1840992" cy="2029968"/>
          </a:xfrm>
          <a:prstGeom prst="rect">
            <a:avLst/>
          </a:prstGeom>
          <a:noFill/>
          <a:ln/>
        </p:spPr>
        <p:txBody>
          <a:bodyPr wrap="square" lIns="0" tIns="0" rIns="0" bIns="0" rtlCol="0" anchor="t"/>
          <a:lstStyle/>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Like many fisher families in the region, Ranjana faced difficulties maintaining stable income due to traditional fishing methods, post-harvest losses, and limited market opportunities. The lack of proper storage facilities often affected fish quality and reduced the selling price of her catch, compounding financial stress on the household.</a:t>
            </a:r>
            <a:endParaRPr lang="en-US" sz="1000" dirty="0">
              <a:latin typeface="Footlight MT Light" panose="0204060206030A020304" pitchFamily="18" charset="0"/>
            </a:endParaRPr>
          </a:p>
        </p:txBody>
      </p:sp>
      <p:sp>
        <p:nvSpPr>
          <p:cNvPr id="28" name="Shape 24"/>
          <p:cNvSpPr/>
          <p:nvPr/>
        </p:nvSpPr>
        <p:spPr>
          <a:xfrm>
            <a:off x="4550664" y="4290590"/>
            <a:ext cx="2060448" cy="193099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9" name="Shape 25"/>
          <p:cNvSpPr/>
          <p:nvPr/>
        </p:nvSpPr>
        <p:spPr>
          <a:xfrm>
            <a:off x="4550664" y="4290590"/>
            <a:ext cx="2060448" cy="310896"/>
          </a:xfrm>
          <a:prstGeom prst="roundRect">
            <a:avLst>
              <a:gd name="adj" fmla="val 23529"/>
            </a:avLst>
          </a:prstGeom>
          <a:solidFill>
            <a:srgbClr val="007A7A"/>
          </a:solidFill>
          <a:ln w="12700">
            <a:solidFill>
              <a:srgbClr val="007A7A"/>
            </a:solidFill>
            <a:prstDash val="solid"/>
          </a:ln>
        </p:spPr>
      </p:sp>
      <p:sp>
        <p:nvSpPr>
          <p:cNvPr id="30" name="Text 26"/>
          <p:cNvSpPr/>
          <p:nvPr/>
        </p:nvSpPr>
        <p:spPr>
          <a:xfrm>
            <a:off x="4660392" y="4336310"/>
            <a:ext cx="1840992" cy="237744"/>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PROJECT INTERVENTION</a:t>
            </a:r>
            <a:endParaRPr lang="en-US" sz="900" dirty="0">
              <a:latin typeface="Footlight MT Light" panose="0204060206030A020304" pitchFamily="18" charset="0"/>
            </a:endParaRPr>
          </a:p>
        </p:txBody>
      </p:sp>
      <p:sp>
        <p:nvSpPr>
          <p:cNvPr id="31" name="Text 27"/>
          <p:cNvSpPr/>
          <p:nvPr/>
        </p:nvSpPr>
        <p:spPr>
          <a:xfrm>
            <a:off x="4642102" y="4692926"/>
            <a:ext cx="1840992" cy="2029968"/>
          </a:xfrm>
          <a:prstGeom prst="rect">
            <a:avLst/>
          </a:prstGeom>
          <a:noFill/>
          <a:ln/>
        </p:spPr>
        <p:txBody>
          <a:bodyPr wrap="square" lIns="0" tIns="0" rIns="0" bIns="0" rtlCol="0" anchor="t"/>
          <a:lstStyle/>
          <a:p>
            <a:pPr marL="0" indent="0" algn="just">
              <a:buNone/>
            </a:pPr>
            <a:r>
              <a:rPr lang="en-US" sz="900" dirty="0">
                <a:solidFill>
                  <a:srgbClr val="2A3535"/>
                </a:solidFill>
                <a:latin typeface="Footlight MT Light" panose="0204060206030A020304" pitchFamily="18" charset="0"/>
                <a:ea typeface="Calibri" pitchFamily="34" charset="-122"/>
                <a:cs typeface="Calibri" pitchFamily="34" charset="-120"/>
              </a:rPr>
              <a:t>Under the Fisheries Livelihood Development Project by Atlas Copco India and SJSM, Ranjana received support through various livelihood enhancement initiatives. She participated in training on sustainable fishing practices, fish handling, marketing, and resource conservation. Improved fishing equipment and post-harvest support were facilitated.</a:t>
            </a:r>
            <a:endParaRPr lang="en-US" sz="900" dirty="0">
              <a:latin typeface="Footlight MT Light" panose="0204060206030A020304" pitchFamily="18" charset="0"/>
            </a:endParaRPr>
          </a:p>
        </p:txBody>
      </p:sp>
      <p:sp>
        <p:nvSpPr>
          <p:cNvPr id="32" name="Shape 28"/>
          <p:cNvSpPr/>
          <p:nvPr/>
        </p:nvSpPr>
        <p:spPr>
          <a:xfrm>
            <a:off x="292607" y="6689965"/>
            <a:ext cx="6345936" cy="621792"/>
          </a:xfrm>
          <a:prstGeom prst="roundRect">
            <a:avLst>
              <a:gd name="adj" fmla="val 11765"/>
            </a:avLst>
          </a:prstGeom>
          <a:solidFill>
            <a:srgbClr val="FFF8E6"/>
          </a:solidFill>
          <a:ln w="12700">
            <a:solidFill>
              <a:srgbClr val="C8960A"/>
            </a:solidFill>
            <a:prstDash val="solid"/>
          </a:ln>
        </p:spPr>
      </p:sp>
      <p:sp>
        <p:nvSpPr>
          <p:cNvPr id="33" name="Shape 29"/>
          <p:cNvSpPr/>
          <p:nvPr/>
        </p:nvSpPr>
        <p:spPr>
          <a:xfrm>
            <a:off x="292607" y="6689965"/>
            <a:ext cx="36576" cy="621792"/>
          </a:xfrm>
          <a:prstGeom prst="rect">
            <a:avLst/>
          </a:prstGeom>
          <a:solidFill>
            <a:srgbClr val="C8960A"/>
          </a:solidFill>
          <a:ln w="12700">
            <a:solidFill>
              <a:srgbClr val="C8960A"/>
            </a:solidFill>
            <a:prstDash val="solid"/>
          </a:ln>
        </p:spPr>
      </p:sp>
      <p:sp>
        <p:nvSpPr>
          <p:cNvPr id="34" name="Text 30"/>
          <p:cNvSpPr/>
          <p:nvPr/>
        </p:nvSpPr>
        <p:spPr>
          <a:xfrm>
            <a:off x="420623" y="6790714"/>
            <a:ext cx="6126480" cy="475488"/>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CHANGE ACHIEVED: More regular earnings, reduced post-harvest losses, ability to sell fish at improved prices. Enhanced financial security and reduced dependence on seasonal wage labour. Ranjana is now a confident, active cooperative member.</a:t>
            </a:r>
            <a:endParaRPr lang="en-US" sz="1000" dirty="0">
              <a:latin typeface="Felix Titling" panose="04060505060202020A04" pitchFamily="82" charset="0"/>
            </a:endParaRPr>
          </a:p>
        </p:txBody>
      </p:sp>
      <p:sp>
        <p:nvSpPr>
          <p:cNvPr id="35" name="Shape 31"/>
          <p:cNvSpPr/>
          <p:nvPr/>
        </p:nvSpPr>
        <p:spPr>
          <a:xfrm>
            <a:off x="301752" y="7684729"/>
            <a:ext cx="6345936" cy="1371600"/>
          </a:xfrm>
          <a:prstGeom prst="roundRect">
            <a:avLst>
              <a:gd name="adj" fmla="val 6667"/>
            </a:avLst>
          </a:prstGeom>
          <a:solidFill>
            <a:srgbClr val="005F5F"/>
          </a:solidFill>
          <a:ln w="12700">
            <a:solidFill>
              <a:srgbClr val="005F5F"/>
            </a:solidFill>
            <a:prstDash val="solid"/>
          </a:ln>
        </p:spPr>
      </p:sp>
      <p:sp>
        <p:nvSpPr>
          <p:cNvPr id="36" name="Shape 32"/>
          <p:cNvSpPr/>
          <p:nvPr/>
        </p:nvSpPr>
        <p:spPr>
          <a:xfrm>
            <a:off x="301752" y="7684729"/>
            <a:ext cx="6345936" cy="32004"/>
          </a:xfrm>
          <a:prstGeom prst="rect">
            <a:avLst/>
          </a:prstGeom>
          <a:solidFill>
            <a:srgbClr val="C8960A"/>
          </a:solidFill>
          <a:ln w="12700">
            <a:solidFill>
              <a:srgbClr val="C8960A"/>
            </a:solidFill>
            <a:prstDash val="solid"/>
          </a:ln>
        </p:spPr>
      </p:sp>
      <p:pic>
        <p:nvPicPr>
          <p:cNvPr id="37" name="Image 2" descr="preencoded.png"/>
          <p:cNvPicPr>
            <a:picLocks noChangeAspect="1"/>
          </p:cNvPicPr>
          <p:nvPr/>
        </p:nvPicPr>
        <p:blipFill>
          <a:blip r:embed="rId6"/>
          <a:stretch>
            <a:fillRect/>
          </a:stretch>
        </p:blipFill>
        <p:spPr>
          <a:xfrm>
            <a:off x="438912" y="7812745"/>
            <a:ext cx="274320" cy="237744"/>
          </a:xfrm>
          <a:prstGeom prst="rect">
            <a:avLst/>
          </a:prstGeom>
        </p:spPr>
      </p:pic>
      <p:sp>
        <p:nvSpPr>
          <p:cNvPr id="38" name="Text 33"/>
          <p:cNvSpPr/>
          <p:nvPr/>
        </p:nvSpPr>
        <p:spPr>
          <a:xfrm>
            <a:off x="466344" y="8087065"/>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The training and support provided through the project helped me improve my fishing activities and earn a more stable income. Today, I feel more confident about supporting my family through fishing.</a:t>
            </a:r>
            <a:endParaRPr lang="en-US" sz="950" dirty="0">
              <a:latin typeface="Lucida Fax" panose="02060602050505020204" pitchFamily="18" charset="0"/>
            </a:endParaRPr>
          </a:p>
        </p:txBody>
      </p:sp>
      <p:sp>
        <p:nvSpPr>
          <p:cNvPr id="39" name="Shape 34"/>
          <p:cNvSpPr/>
          <p:nvPr/>
        </p:nvSpPr>
        <p:spPr>
          <a:xfrm>
            <a:off x="466344" y="8745433"/>
            <a:ext cx="6016752" cy="9144"/>
          </a:xfrm>
          <a:prstGeom prst="rect">
            <a:avLst/>
          </a:prstGeom>
          <a:solidFill>
            <a:srgbClr val="C8960A"/>
          </a:solidFill>
          <a:ln w="12700">
            <a:solidFill>
              <a:srgbClr val="C8960A"/>
            </a:solidFill>
            <a:prstDash val="solid"/>
          </a:ln>
        </p:spPr>
      </p:sp>
      <p:sp>
        <p:nvSpPr>
          <p:cNvPr id="40" name="Text 35"/>
          <p:cNvSpPr/>
          <p:nvPr/>
        </p:nvSpPr>
        <p:spPr>
          <a:xfrm>
            <a:off x="466344" y="8818585"/>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Ranjana Pawar, Fisherwoman and Cooperative Member, Poladpur</a:t>
            </a:r>
            <a:endParaRPr lang="en-US" sz="800" dirty="0">
              <a:latin typeface="Lucida Fax" panose="020606020505050202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2 - Gadital Fishing Cooperative</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537192"/>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11" name="Shape 9"/>
          <p:cNvSpPr/>
          <p:nvPr/>
        </p:nvSpPr>
        <p:spPr>
          <a:xfrm>
            <a:off x="0" y="320040"/>
            <a:ext cx="6858000" cy="1417320"/>
          </a:xfrm>
          <a:prstGeom prst="rect">
            <a:avLst/>
          </a:prstGeom>
          <a:solidFill>
            <a:srgbClr val="A67C00"/>
          </a:solidFill>
          <a:ln w="12700">
            <a:solidFill>
              <a:srgbClr val="A67C00"/>
            </a:solidFill>
            <a:prstDash val="solid"/>
          </a:ln>
        </p:spPr>
      </p:sp>
      <p:sp>
        <p:nvSpPr>
          <p:cNvPr id="12" name="Shape 10"/>
          <p:cNvSpPr/>
          <p:nvPr/>
        </p:nvSpPr>
        <p:spPr>
          <a:xfrm>
            <a:off x="0" y="320040"/>
            <a:ext cx="6858000" cy="32004"/>
          </a:xfrm>
          <a:prstGeom prst="rect">
            <a:avLst/>
          </a:prstGeom>
          <a:solidFill>
            <a:srgbClr val="005F5F"/>
          </a:solidFill>
          <a:ln w="12700">
            <a:solidFill>
              <a:srgbClr val="005F5F"/>
            </a:solidFill>
            <a:prstDash val="solid"/>
          </a:ln>
        </p:spPr>
      </p:sp>
      <p:pic>
        <p:nvPicPr>
          <p:cNvPr id="13" name="Image 0" descr="preencoded.png"/>
          <p:cNvPicPr>
            <a:picLocks noChangeAspect="1"/>
          </p:cNvPicPr>
          <p:nvPr/>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sharpenSoften amount="-25000"/>
                    </a14:imgEffect>
                    <a14:imgEffect>
                      <a14:brightnessContrast bright="-40000" contrast="20000"/>
                    </a14:imgEffect>
                  </a14:imgLayer>
                </a14:imgProps>
              </a:ext>
            </a:extLst>
          </a:blip>
          <a:stretch>
            <a:fillRect/>
          </a:stretch>
        </p:blipFill>
        <p:spPr>
          <a:xfrm>
            <a:off x="292608" y="457200"/>
            <a:ext cx="1280160" cy="1280160"/>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FFFFFF"/>
                </a:solidFill>
                <a:latin typeface="Felix Titling" panose="04060505060202020A04" pitchFamily="82" charset="0"/>
                <a:ea typeface="Calibri" pitchFamily="34" charset="-122"/>
                <a:cs typeface="Calibri" pitchFamily="34" charset="-120"/>
              </a:rPr>
              <a:t>SUCCESS STORY 2</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“Preserving the Catch, Securing the Future”</a:t>
            </a:r>
            <a:endParaRPr lang="en-US" sz="2400" dirty="0">
              <a:latin typeface="Felix Titling" panose="04060505060202020A04" pitchFamily="82" charset="0"/>
            </a:endParaRPr>
          </a:p>
        </p:txBody>
      </p:sp>
      <p:sp>
        <p:nvSpPr>
          <p:cNvPr id="16" name="Text 13"/>
          <p:cNvSpPr/>
          <p:nvPr/>
        </p:nvSpPr>
        <p:spPr>
          <a:xfrm>
            <a:off x="833694" y="1458468"/>
            <a:ext cx="5760720" cy="219456"/>
          </a:xfrm>
          <a:prstGeom prst="rect">
            <a:avLst/>
          </a:prstGeom>
          <a:noFill/>
          <a:ln/>
        </p:spPr>
        <p:txBody>
          <a:bodyPr wrap="square" lIns="0" tIns="0" rIns="0" bIns="0" rtlCol="0" anchor="t"/>
          <a:lstStyle/>
          <a:p>
            <a:pPr marL="0" indent="0" algn="l">
              <a:buNone/>
            </a:pPr>
            <a:r>
              <a:rPr lang="en-US" sz="950" i="1" dirty="0">
                <a:solidFill>
                  <a:srgbClr val="FFF8E6"/>
                </a:solidFill>
                <a:latin typeface="Footlight MT Light" panose="0204060206030A020304" pitchFamily="18" charset="0"/>
                <a:ea typeface="Calibri" pitchFamily="34" charset="-122"/>
                <a:cs typeface="Calibri" pitchFamily="34" charset="-120"/>
              </a:rPr>
              <a:t>Adiwasi Machhimar V.K. Sahakari Sanstha, </a:t>
            </a:r>
            <a:r>
              <a:rPr lang="en-US" sz="950" i="1" dirty="0" err="1">
                <a:solidFill>
                  <a:srgbClr val="FFF8E6"/>
                </a:solidFill>
                <a:latin typeface="Footlight MT Light" panose="0204060206030A020304" pitchFamily="18" charset="0"/>
                <a:ea typeface="Calibri" pitchFamily="34" charset="-122"/>
                <a:cs typeface="Calibri" pitchFamily="34" charset="-120"/>
              </a:rPr>
              <a:t>Gadital</a:t>
            </a:r>
            <a:r>
              <a:rPr lang="en-US" sz="950" i="1" dirty="0">
                <a:solidFill>
                  <a:srgbClr val="FFF8E6"/>
                </a:solidFill>
                <a:latin typeface="Footlight MT Light" panose="0204060206030A020304" pitchFamily="18" charset="0"/>
                <a:ea typeface="Calibri" pitchFamily="34" charset="-122"/>
                <a:cs typeface="Calibri" pitchFamily="34" charset="-120"/>
              </a:rPr>
              <a:t> - 172 Members · near Bajire Dam, Poladpur</a:t>
            </a:r>
            <a:endParaRPr lang="en-US" sz="950" dirty="0">
              <a:latin typeface="Footlight MT Light" panose="0204060206030A020304" pitchFamily="18" charset="0"/>
            </a:endParaRPr>
          </a:p>
        </p:txBody>
      </p:sp>
      <p:sp>
        <p:nvSpPr>
          <p:cNvPr id="17" name="Shape 14"/>
          <p:cNvSpPr/>
          <p:nvPr/>
        </p:nvSpPr>
        <p:spPr>
          <a:xfrm>
            <a:off x="256032" y="1764792"/>
            <a:ext cx="6345936" cy="1194416"/>
          </a:xfrm>
          <a:prstGeom prst="roundRect">
            <a:avLst>
              <a:gd name="adj" fmla="val 5797"/>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18" name="Text 15"/>
          <p:cNvSpPr/>
          <p:nvPr/>
        </p:nvSpPr>
        <p:spPr>
          <a:xfrm>
            <a:off x="384048" y="1837944"/>
            <a:ext cx="1828800" cy="219456"/>
          </a:xfrm>
          <a:prstGeom prst="rect">
            <a:avLst/>
          </a:prstGeom>
          <a:noFill/>
          <a:ln/>
        </p:spPr>
        <p:txBody>
          <a:bodyPr wrap="square" lIns="0" tIns="0" rIns="0" bIns="0" rtlCol="0" anchor="t"/>
          <a:lstStyle/>
          <a:p>
            <a:pPr marL="0" indent="0" algn="l">
              <a:buNone/>
            </a:pPr>
            <a:r>
              <a:rPr lang="en-US" sz="1050" b="1" dirty="0">
                <a:solidFill>
                  <a:srgbClr val="005F5F"/>
                </a:solidFill>
                <a:latin typeface="Felix Titling" panose="04060505060202020A04" pitchFamily="82" charset="0"/>
                <a:ea typeface="Cambria" pitchFamily="34" charset="-122"/>
                <a:cs typeface="Cambria" pitchFamily="34" charset="-120"/>
              </a:rPr>
              <a:t>Society Profile</a:t>
            </a:r>
            <a:endParaRPr lang="en-US" sz="1050" dirty="0">
              <a:latin typeface="Felix Titling" panose="04060505060202020A04" pitchFamily="82" charset="0"/>
            </a:endParaRPr>
          </a:p>
        </p:txBody>
      </p:sp>
      <p:sp>
        <p:nvSpPr>
          <p:cNvPr id="19" name="Text 16"/>
          <p:cNvSpPr/>
          <p:nvPr/>
        </p:nvSpPr>
        <p:spPr>
          <a:xfrm>
            <a:off x="384048" y="207568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Society Name: </a:t>
            </a:r>
            <a:endParaRPr lang="en-US" sz="850" dirty="0">
              <a:latin typeface="Felix Titling" panose="04060505060202020A04" pitchFamily="82" charset="0"/>
            </a:endParaRPr>
          </a:p>
        </p:txBody>
      </p:sp>
      <p:sp>
        <p:nvSpPr>
          <p:cNvPr id="20" name="Text 17"/>
          <p:cNvSpPr/>
          <p:nvPr/>
        </p:nvSpPr>
        <p:spPr>
          <a:xfrm>
            <a:off x="1572768" y="207568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Adiwasi Machhimar V.K. Sahakari Sanstha, Marya Gadital</a:t>
            </a:r>
            <a:endParaRPr lang="en-US" sz="850" dirty="0">
              <a:latin typeface="Felix Titling" panose="04060505060202020A04" pitchFamily="82" charset="0"/>
            </a:endParaRPr>
          </a:p>
        </p:txBody>
      </p:sp>
      <p:sp>
        <p:nvSpPr>
          <p:cNvPr id="21" name="Text 18"/>
          <p:cNvSpPr/>
          <p:nvPr/>
        </p:nvSpPr>
        <p:spPr>
          <a:xfrm>
            <a:off x="3908066" y="207568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Members: </a:t>
            </a:r>
            <a:endParaRPr lang="en-US" sz="850" dirty="0">
              <a:latin typeface="Felix Titling" panose="04060505060202020A04" pitchFamily="82" charset="0"/>
            </a:endParaRPr>
          </a:p>
        </p:txBody>
      </p:sp>
      <p:sp>
        <p:nvSpPr>
          <p:cNvPr id="22" name="Text 19"/>
          <p:cNvSpPr/>
          <p:nvPr/>
        </p:nvSpPr>
        <p:spPr>
          <a:xfrm>
            <a:off x="4617720" y="207568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172 active members</a:t>
            </a:r>
            <a:endParaRPr lang="en-US" sz="850" dirty="0">
              <a:latin typeface="Felix Titling" panose="04060505060202020A04" pitchFamily="82" charset="0"/>
            </a:endParaRPr>
          </a:p>
        </p:txBody>
      </p:sp>
      <p:sp>
        <p:nvSpPr>
          <p:cNvPr id="23" name="Text 20"/>
          <p:cNvSpPr/>
          <p:nvPr/>
        </p:nvSpPr>
        <p:spPr>
          <a:xfrm>
            <a:off x="384048" y="235000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Chairman: </a:t>
            </a:r>
            <a:endParaRPr lang="en-US" sz="850" dirty="0">
              <a:latin typeface="Felix Titling" panose="04060505060202020A04" pitchFamily="82" charset="0"/>
            </a:endParaRPr>
          </a:p>
        </p:txBody>
      </p:sp>
      <p:sp>
        <p:nvSpPr>
          <p:cNvPr id="24" name="Text 21"/>
          <p:cNvSpPr/>
          <p:nvPr/>
        </p:nvSpPr>
        <p:spPr>
          <a:xfrm>
            <a:off x="1572768" y="235000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Mr. Kashinath Tukaram Pawar</a:t>
            </a:r>
            <a:endParaRPr lang="en-US" sz="850" dirty="0">
              <a:latin typeface="Felix Titling" panose="04060505060202020A04" pitchFamily="82" charset="0"/>
            </a:endParaRPr>
          </a:p>
        </p:txBody>
      </p:sp>
      <p:sp>
        <p:nvSpPr>
          <p:cNvPr id="25" name="Text 22"/>
          <p:cNvSpPr/>
          <p:nvPr/>
        </p:nvSpPr>
        <p:spPr>
          <a:xfrm>
            <a:off x="3908066" y="235000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Secretary: </a:t>
            </a:r>
            <a:endParaRPr lang="en-US" sz="850" dirty="0">
              <a:latin typeface="Felix Titling" panose="04060505060202020A04" pitchFamily="82" charset="0"/>
            </a:endParaRPr>
          </a:p>
        </p:txBody>
      </p:sp>
      <p:sp>
        <p:nvSpPr>
          <p:cNvPr id="26" name="Text 23"/>
          <p:cNvSpPr/>
          <p:nvPr/>
        </p:nvSpPr>
        <p:spPr>
          <a:xfrm>
            <a:off x="4617720" y="235000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Mr. Pandurang Sitaram Waghe</a:t>
            </a:r>
            <a:endParaRPr lang="en-US" sz="850" dirty="0">
              <a:latin typeface="Felix Titling" panose="04060505060202020A04" pitchFamily="82" charset="0"/>
            </a:endParaRPr>
          </a:p>
        </p:txBody>
      </p:sp>
      <p:sp>
        <p:nvSpPr>
          <p:cNvPr id="27" name="Text 24"/>
          <p:cNvSpPr/>
          <p:nvPr/>
        </p:nvSpPr>
        <p:spPr>
          <a:xfrm>
            <a:off x="384048" y="262432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Location: </a:t>
            </a:r>
            <a:endParaRPr lang="en-US" sz="850" dirty="0">
              <a:latin typeface="Felix Titling" panose="04060505060202020A04" pitchFamily="82" charset="0"/>
            </a:endParaRPr>
          </a:p>
        </p:txBody>
      </p:sp>
      <p:sp>
        <p:nvSpPr>
          <p:cNvPr id="28" name="Text 25"/>
          <p:cNvSpPr/>
          <p:nvPr/>
        </p:nvSpPr>
        <p:spPr>
          <a:xfrm>
            <a:off x="1572768" y="262432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Gadital village, near Bajire Dam</a:t>
            </a:r>
            <a:endParaRPr lang="en-US" sz="850" dirty="0">
              <a:latin typeface="Felix Titling" panose="04060505060202020A04" pitchFamily="82" charset="0"/>
            </a:endParaRPr>
          </a:p>
        </p:txBody>
      </p:sp>
      <p:sp>
        <p:nvSpPr>
          <p:cNvPr id="29" name="Text 26"/>
          <p:cNvSpPr/>
          <p:nvPr/>
        </p:nvSpPr>
        <p:spPr>
          <a:xfrm>
            <a:off x="3908066" y="2611473"/>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Activity: </a:t>
            </a:r>
            <a:endParaRPr lang="en-US" sz="850" dirty="0">
              <a:latin typeface="Felix Titling" panose="04060505060202020A04" pitchFamily="82" charset="0"/>
            </a:endParaRPr>
          </a:p>
        </p:txBody>
      </p:sp>
      <p:sp>
        <p:nvSpPr>
          <p:cNvPr id="30" name="Text 27"/>
          <p:cNvSpPr/>
          <p:nvPr/>
        </p:nvSpPr>
        <p:spPr>
          <a:xfrm>
            <a:off x="4617720" y="262432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Inland fishing as primary livelihood</a:t>
            </a:r>
            <a:endParaRPr lang="en-US" sz="850" dirty="0">
              <a:latin typeface="Felix Titling" panose="04060505060202020A04" pitchFamily="82" charset="0"/>
            </a:endParaRPr>
          </a:p>
        </p:txBody>
      </p:sp>
      <p:pic>
        <p:nvPicPr>
          <p:cNvPr id="31" name="Image 1"/>
          <p:cNvPicPr>
            <a:picLocks noChangeAspect="1"/>
          </p:cNvPicPr>
          <p:nvPr/>
        </p:nvPicPr>
        <p:blipFill>
          <a:blip r:embed="rId5"/>
          <a:srcRect/>
          <a:stretch/>
        </p:blipFill>
        <p:spPr>
          <a:xfrm>
            <a:off x="256032" y="3004928"/>
            <a:ext cx="6337190" cy="2329199"/>
          </a:xfrm>
          <a:prstGeom prst="rect">
            <a:avLst/>
          </a:prstGeom>
        </p:spPr>
      </p:pic>
      <p:sp>
        <p:nvSpPr>
          <p:cNvPr id="32" name="Shape 28"/>
          <p:cNvSpPr/>
          <p:nvPr/>
        </p:nvSpPr>
        <p:spPr>
          <a:xfrm>
            <a:off x="246490" y="5100066"/>
            <a:ext cx="6337190" cy="237743"/>
          </a:xfrm>
          <a:prstGeom prst="rect">
            <a:avLst/>
          </a:prstGeom>
          <a:solidFill>
            <a:srgbClr val="2A3535"/>
          </a:solidFill>
          <a:ln w="12700">
            <a:solidFill>
              <a:srgbClr val="2A3535"/>
            </a:solidFill>
            <a:prstDash val="solid"/>
          </a:ln>
        </p:spPr>
      </p:sp>
      <p:sp>
        <p:nvSpPr>
          <p:cNvPr id="33" name="Text 29"/>
          <p:cNvSpPr/>
          <p:nvPr/>
        </p:nvSpPr>
        <p:spPr>
          <a:xfrm>
            <a:off x="374506" y="5136642"/>
            <a:ext cx="6199632" cy="129706"/>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Ice Box Distribution Event - Adiwasi Machhimar V.K. Sahakari Sanstha, Gadital</a:t>
            </a:r>
            <a:endParaRPr lang="en-US" sz="750" dirty="0">
              <a:latin typeface="Footlight MT Light" panose="0204060206030A020304" pitchFamily="18" charset="0"/>
            </a:endParaRPr>
          </a:p>
        </p:txBody>
      </p:sp>
      <p:sp>
        <p:nvSpPr>
          <p:cNvPr id="34" name="Shape 30"/>
          <p:cNvSpPr/>
          <p:nvPr/>
        </p:nvSpPr>
        <p:spPr>
          <a:xfrm>
            <a:off x="246490"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5" name="Shape 31"/>
          <p:cNvSpPr/>
          <p:nvPr/>
        </p:nvSpPr>
        <p:spPr>
          <a:xfrm>
            <a:off x="246490" y="5393683"/>
            <a:ext cx="2060448" cy="330740"/>
          </a:xfrm>
          <a:prstGeom prst="roundRect">
            <a:avLst>
              <a:gd name="adj" fmla="val 23529"/>
            </a:avLst>
          </a:prstGeom>
          <a:solidFill>
            <a:srgbClr val="005F5F"/>
          </a:solidFill>
          <a:ln w="12700">
            <a:solidFill>
              <a:srgbClr val="005F5F"/>
            </a:solidFill>
            <a:prstDash val="solid"/>
          </a:ln>
        </p:spPr>
      </p:sp>
      <p:sp>
        <p:nvSpPr>
          <p:cNvPr id="36" name="Text 32"/>
          <p:cNvSpPr/>
          <p:nvPr/>
        </p:nvSpPr>
        <p:spPr>
          <a:xfrm>
            <a:off x="356218"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THE CHALLENGE</a:t>
            </a:r>
            <a:endParaRPr lang="en-US" sz="900" dirty="0">
              <a:latin typeface="Footlight MT Light" panose="0204060206030A020304" pitchFamily="18" charset="0"/>
            </a:endParaRPr>
          </a:p>
        </p:txBody>
      </p:sp>
      <p:sp>
        <p:nvSpPr>
          <p:cNvPr id="37" name="Text 33"/>
          <p:cNvSpPr/>
          <p:nvPr/>
        </p:nvSpPr>
        <p:spPr>
          <a:xfrm>
            <a:off x="356218"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Members of the cooperative regularly ventured into Bajire Dam reservoir to catch fish. However, due to the perishable nature of fish and the absence of cold storage facilities, unsold fish often spoiled within a day, resulting in financial losses. Fishermen were forced to sell at whatever price local traders offered.</a:t>
            </a:r>
            <a:endParaRPr lang="en-US" sz="900" dirty="0">
              <a:latin typeface="Footlight MT Light" panose="0204060206030A020304" pitchFamily="18" charset="0"/>
            </a:endParaRPr>
          </a:p>
        </p:txBody>
      </p:sp>
      <p:sp>
        <p:nvSpPr>
          <p:cNvPr id="38" name="Shape 34"/>
          <p:cNvSpPr/>
          <p:nvPr/>
        </p:nvSpPr>
        <p:spPr>
          <a:xfrm>
            <a:off x="2398378"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9" name="Shape 35"/>
          <p:cNvSpPr/>
          <p:nvPr/>
        </p:nvSpPr>
        <p:spPr>
          <a:xfrm>
            <a:off x="2398378" y="5393683"/>
            <a:ext cx="2060448" cy="330740"/>
          </a:xfrm>
          <a:prstGeom prst="roundRect">
            <a:avLst>
              <a:gd name="adj" fmla="val 23529"/>
            </a:avLst>
          </a:prstGeom>
          <a:solidFill>
            <a:srgbClr val="A67C00"/>
          </a:solidFill>
          <a:ln w="12700">
            <a:solidFill>
              <a:srgbClr val="A67C00"/>
            </a:solidFill>
            <a:prstDash val="solid"/>
          </a:ln>
        </p:spPr>
      </p:sp>
      <p:sp>
        <p:nvSpPr>
          <p:cNvPr id="40" name="Text 36"/>
          <p:cNvSpPr/>
          <p:nvPr/>
        </p:nvSpPr>
        <p:spPr>
          <a:xfrm>
            <a:off x="2508106"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PROJECT INTERVENTION</a:t>
            </a:r>
            <a:endParaRPr lang="en-US" sz="900" dirty="0">
              <a:latin typeface="Footlight MT Light" panose="0204060206030A020304" pitchFamily="18" charset="0"/>
            </a:endParaRPr>
          </a:p>
        </p:txBody>
      </p:sp>
      <p:sp>
        <p:nvSpPr>
          <p:cNvPr id="41" name="Text 37"/>
          <p:cNvSpPr/>
          <p:nvPr/>
        </p:nvSpPr>
        <p:spPr>
          <a:xfrm>
            <a:off x="2508106"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Under the project, Atlas Copco India and SJSM provided ice boxes to members of the fishing community. Training was conducted on hygienic fish handling, storage practices, and effective use of ice boxes to improve fish preservation and reduce post-harvest losses.</a:t>
            </a:r>
            <a:endParaRPr lang="en-US" sz="900" dirty="0">
              <a:latin typeface="Footlight MT Light" panose="0204060206030A020304" pitchFamily="18" charset="0"/>
            </a:endParaRPr>
          </a:p>
        </p:txBody>
      </p:sp>
      <p:sp>
        <p:nvSpPr>
          <p:cNvPr id="42" name="Shape 38"/>
          <p:cNvSpPr/>
          <p:nvPr/>
        </p:nvSpPr>
        <p:spPr>
          <a:xfrm>
            <a:off x="4550266"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43" name="Shape 39"/>
          <p:cNvSpPr/>
          <p:nvPr/>
        </p:nvSpPr>
        <p:spPr>
          <a:xfrm>
            <a:off x="4550266" y="5393683"/>
            <a:ext cx="2060448" cy="330740"/>
          </a:xfrm>
          <a:prstGeom prst="roundRect">
            <a:avLst>
              <a:gd name="adj" fmla="val 23529"/>
            </a:avLst>
          </a:prstGeom>
          <a:solidFill>
            <a:srgbClr val="007A7A"/>
          </a:solidFill>
          <a:ln w="12700">
            <a:solidFill>
              <a:srgbClr val="007A7A"/>
            </a:solidFill>
            <a:prstDash val="solid"/>
          </a:ln>
        </p:spPr>
      </p:sp>
      <p:sp>
        <p:nvSpPr>
          <p:cNvPr id="44" name="Text 40"/>
          <p:cNvSpPr/>
          <p:nvPr/>
        </p:nvSpPr>
        <p:spPr>
          <a:xfrm>
            <a:off x="4659994"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IMPACT OF CHANGE</a:t>
            </a:r>
            <a:endParaRPr lang="en-US" sz="900" dirty="0">
              <a:latin typeface="Footlight MT Light" panose="0204060206030A020304" pitchFamily="18" charset="0"/>
            </a:endParaRPr>
          </a:p>
        </p:txBody>
      </p:sp>
      <p:sp>
        <p:nvSpPr>
          <p:cNvPr id="45" name="Text 41"/>
          <p:cNvSpPr/>
          <p:nvPr/>
        </p:nvSpPr>
        <p:spPr>
          <a:xfrm>
            <a:off x="4659994"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Fish can now be stored safely for longer periods, reducing spoilage. Fishermen gained flexibility to sell in nearby and distant markets, securing better prices. Dependence on local middlemen reduced, bargaining power strengthened, and income stability increased for all 172 members.</a:t>
            </a:r>
            <a:endParaRPr lang="en-US" sz="900" dirty="0">
              <a:latin typeface="Footlight MT Light" panose="0204060206030A020304" pitchFamily="18" charset="0"/>
            </a:endParaRPr>
          </a:p>
        </p:txBody>
      </p:sp>
      <p:sp>
        <p:nvSpPr>
          <p:cNvPr id="46" name="Shape 42"/>
          <p:cNvSpPr/>
          <p:nvPr/>
        </p:nvSpPr>
        <p:spPr>
          <a:xfrm>
            <a:off x="256032" y="7150608"/>
            <a:ext cx="6345936" cy="1371600"/>
          </a:xfrm>
          <a:prstGeom prst="roundRect">
            <a:avLst>
              <a:gd name="adj" fmla="val 6667"/>
            </a:avLst>
          </a:prstGeom>
          <a:solidFill>
            <a:srgbClr val="005F5F"/>
          </a:solidFill>
          <a:ln w="12700">
            <a:solidFill>
              <a:srgbClr val="005F5F"/>
            </a:solidFill>
            <a:prstDash val="solid"/>
          </a:ln>
        </p:spPr>
      </p:sp>
      <p:sp>
        <p:nvSpPr>
          <p:cNvPr id="47" name="Shape 43"/>
          <p:cNvSpPr/>
          <p:nvPr/>
        </p:nvSpPr>
        <p:spPr>
          <a:xfrm>
            <a:off x="256032" y="7150608"/>
            <a:ext cx="6345936" cy="32004"/>
          </a:xfrm>
          <a:prstGeom prst="rect">
            <a:avLst/>
          </a:prstGeom>
          <a:solidFill>
            <a:srgbClr val="C8960A"/>
          </a:solidFill>
          <a:ln w="12700">
            <a:solidFill>
              <a:srgbClr val="C8960A"/>
            </a:solidFill>
            <a:prstDash val="solid"/>
          </a:ln>
        </p:spPr>
      </p:sp>
      <p:pic>
        <p:nvPicPr>
          <p:cNvPr id="48" name="Image 2" descr="preencoded.png"/>
          <p:cNvPicPr>
            <a:picLocks noChangeAspect="1"/>
          </p:cNvPicPr>
          <p:nvPr/>
        </p:nvPicPr>
        <p:blipFill>
          <a:blip r:embed="rId6"/>
          <a:stretch>
            <a:fillRect/>
          </a:stretch>
        </p:blipFill>
        <p:spPr>
          <a:xfrm>
            <a:off x="393192" y="7278624"/>
            <a:ext cx="274320" cy="237744"/>
          </a:xfrm>
          <a:prstGeom prst="rect">
            <a:avLst/>
          </a:prstGeom>
        </p:spPr>
      </p:pic>
      <p:sp>
        <p:nvSpPr>
          <p:cNvPr id="49" name="Text 44"/>
          <p:cNvSpPr/>
          <p:nvPr/>
        </p:nvSpPr>
        <p:spPr>
          <a:xfrm>
            <a:off x="420624" y="7552944"/>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Earlier, we had to sell fish immediately, often at whatever price was offered. With the ice boxes provided through the project, we can preserve our fish, access better markets, and earn better incomes. Our hard work now brings better returns.</a:t>
            </a:r>
            <a:endParaRPr lang="en-US" sz="950" dirty="0">
              <a:latin typeface="Lucida Fax" panose="02060602050505020204" pitchFamily="18" charset="0"/>
            </a:endParaRPr>
          </a:p>
        </p:txBody>
      </p:sp>
      <p:sp>
        <p:nvSpPr>
          <p:cNvPr id="50" name="Shape 45"/>
          <p:cNvSpPr/>
          <p:nvPr/>
        </p:nvSpPr>
        <p:spPr>
          <a:xfrm>
            <a:off x="420624" y="8211312"/>
            <a:ext cx="6016752" cy="9144"/>
          </a:xfrm>
          <a:prstGeom prst="rect">
            <a:avLst/>
          </a:prstGeom>
          <a:solidFill>
            <a:srgbClr val="C8960A"/>
          </a:solidFill>
          <a:ln w="12700">
            <a:solidFill>
              <a:srgbClr val="C8960A"/>
            </a:solidFill>
            <a:prstDash val="solid"/>
          </a:ln>
        </p:spPr>
      </p:sp>
      <p:sp>
        <p:nvSpPr>
          <p:cNvPr id="51" name="Text 46"/>
          <p:cNvSpPr/>
          <p:nvPr/>
        </p:nvSpPr>
        <p:spPr>
          <a:xfrm>
            <a:off x="420624" y="8284464"/>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Member, Adiwasi Machhimar V.K. Sahakari Sanstha, Gadital</a:t>
            </a:r>
            <a:endParaRPr lang="en-US" sz="800" dirty="0">
              <a:latin typeface="Lucida Fax" panose="0206060205050502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3 - Cage Culture Innovation</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22</a:t>
            </a:r>
            <a:endParaRPr lang="en-US" sz="800" dirty="0"/>
          </a:p>
        </p:txBody>
      </p:sp>
      <p:sp>
        <p:nvSpPr>
          <p:cNvPr id="11" name="Shape 9"/>
          <p:cNvSpPr/>
          <p:nvPr/>
        </p:nvSpPr>
        <p:spPr>
          <a:xfrm>
            <a:off x="0" y="320040"/>
            <a:ext cx="6858000" cy="1417320"/>
          </a:xfrm>
          <a:prstGeom prst="rect">
            <a:avLst/>
          </a:prstGeom>
          <a:solidFill>
            <a:srgbClr val="007A7A"/>
          </a:solidFill>
          <a:ln w="12700">
            <a:solidFill>
              <a:srgbClr val="007A7A"/>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pic>
        <p:nvPicPr>
          <p:cNvPr id="13" name="Image 0" descr="preencoded.png"/>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292608" y="457200"/>
            <a:ext cx="1257896" cy="1257896"/>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C8960A"/>
                </a:solidFill>
                <a:latin typeface="Felix Titling" panose="04060505060202020A04" pitchFamily="82" charset="0"/>
                <a:ea typeface="Calibri" pitchFamily="34" charset="-122"/>
                <a:cs typeface="Calibri" pitchFamily="34" charset="-120"/>
              </a:rPr>
              <a:t>SUCCESS STORY 3</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"Innovating Fisheries, Securing Futures"</a:t>
            </a:r>
            <a:endParaRPr lang="en-US" sz="2400" dirty="0">
              <a:latin typeface="Felix Titling" panose="04060505060202020A04" pitchFamily="82" charset="0"/>
            </a:endParaRPr>
          </a:p>
        </p:txBody>
      </p:sp>
      <p:sp>
        <p:nvSpPr>
          <p:cNvPr id="16" name="Text 13"/>
          <p:cNvSpPr/>
          <p:nvPr/>
        </p:nvSpPr>
        <p:spPr>
          <a:xfrm>
            <a:off x="822960" y="1421892"/>
            <a:ext cx="5760720" cy="219456"/>
          </a:xfrm>
          <a:prstGeom prst="rect">
            <a:avLst/>
          </a:prstGeom>
          <a:noFill/>
          <a:ln/>
        </p:spPr>
        <p:txBody>
          <a:bodyPr wrap="square" lIns="0" tIns="0" rIns="0" bIns="0" rtlCol="0" anchor="t"/>
          <a:lstStyle/>
          <a:p>
            <a:pPr marL="0" indent="0" algn="l">
              <a:buNone/>
            </a:pPr>
            <a:r>
              <a:rPr lang="en-US" sz="950" i="1" dirty="0">
                <a:solidFill>
                  <a:srgbClr val="E0F2F2"/>
                </a:solidFill>
                <a:latin typeface="Footlight MT Light" panose="0204060206030A020304" pitchFamily="18" charset="0"/>
                <a:ea typeface="Calibri" pitchFamily="34" charset="-122"/>
                <a:cs typeface="Calibri" pitchFamily="34" charset="-120"/>
              </a:rPr>
              <a:t>Cage Culture Initiative · Aambavade Dam · Adiwasi Machhimar V.K. Sahakari Sanstha</a:t>
            </a:r>
            <a:endParaRPr lang="en-US" sz="950" dirty="0">
              <a:latin typeface="Footlight MT Light" panose="0204060206030A020304" pitchFamily="18" charset="0"/>
            </a:endParaRPr>
          </a:p>
        </p:txBody>
      </p:sp>
      <p:pic>
        <p:nvPicPr>
          <p:cNvPr id="17" name="Image 1" descr="/home/claude/rpt_imgs/cage_5.jpg"/>
          <p:cNvPicPr>
            <a:picLocks noChangeAspect="1"/>
          </p:cNvPicPr>
          <p:nvPr/>
        </p:nvPicPr>
        <p:blipFill>
          <a:blip r:embed="rId5"/>
          <a:srcRect/>
          <a:stretch/>
        </p:blipFill>
        <p:spPr>
          <a:xfrm>
            <a:off x="256032" y="1959584"/>
            <a:ext cx="3008376" cy="1679728"/>
          </a:xfrm>
          <a:prstGeom prst="rect">
            <a:avLst/>
          </a:prstGeom>
        </p:spPr>
      </p:pic>
      <p:sp>
        <p:nvSpPr>
          <p:cNvPr id="18" name="Shape 14"/>
          <p:cNvSpPr/>
          <p:nvPr/>
        </p:nvSpPr>
        <p:spPr>
          <a:xfrm>
            <a:off x="256032" y="3639312"/>
            <a:ext cx="3008376" cy="182880"/>
          </a:xfrm>
          <a:prstGeom prst="rect">
            <a:avLst/>
          </a:prstGeom>
          <a:solidFill>
            <a:srgbClr val="2A3535"/>
          </a:solidFill>
          <a:ln w="12700">
            <a:solidFill>
              <a:srgbClr val="2A3535"/>
            </a:solidFill>
            <a:prstDash val="solid"/>
          </a:ln>
        </p:spPr>
      </p:sp>
      <p:sp>
        <p:nvSpPr>
          <p:cNvPr id="19" name="Text 15"/>
          <p:cNvSpPr/>
          <p:nvPr/>
        </p:nvSpPr>
        <p:spPr>
          <a:xfrm>
            <a:off x="329184" y="3675888"/>
            <a:ext cx="3035808"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Culture System at Aambavade Dam - Full View</a:t>
            </a:r>
            <a:endParaRPr lang="en-US" sz="900" dirty="0">
              <a:latin typeface="Footlight MT Light" panose="0204060206030A020304" pitchFamily="18" charset="0"/>
            </a:endParaRPr>
          </a:p>
        </p:txBody>
      </p:sp>
      <p:pic>
        <p:nvPicPr>
          <p:cNvPr id="20" name="Image 2" descr="/home/claude/rpt_imgs/cage_1.jpg"/>
          <p:cNvPicPr>
            <a:picLocks noChangeAspect="1"/>
          </p:cNvPicPr>
          <p:nvPr/>
        </p:nvPicPr>
        <p:blipFill>
          <a:blip r:embed="rId6"/>
          <a:srcRect/>
          <a:stretch/>
        </p:blipFill>
        <p:spPr>
          <a:xfrm>
            <a:off x="256032" y="3840480"/>
            <a:ext cx="3008376" cy="1618488"/>
          </a:xfrm>
          <a:prstGeom prst="rect">
            <a:avLst/>
          </a:prstGeom>
        </p:spPr>
      </p:pic>
      <p:sp>
        <p:nvSpPr>
          <p:cNvPr id="21" name="Shape 16"/>
          <p:cNvSpPr/>
          <p:nvPr/>
        </p:nvSpPr>
        <p:spPr>
          <a:xfrm>
            <a:off x="256032" y="5458968"/>
            <a:ext cx="3008376" cy="237744"/>
          </a:xfrm>
          <a:prstGeom prst="rect">
            <a:avLst/>
          </a:prstGeom>
          <a:solidFill>
            <a:srgbClr val="2A3535"/>
          </a:solidFill>
          <a:ln w="12700">
            <a:solidFill>
              <a:srgbClr val="2A3535"/>
            </a:solidFill>
            <a:prstDash val="solid"/>
          </a:ln>
        </p:spPr>
      </p:sp>
      <p:sp>
        <p:nvSpPr>
          <p:cNvPr id="22" name="Text 17"/>
          <p:cNvSpPr/>
          <p:nvPr/>
        </p:nvSpPr>
        <p:spPr>
          <a:xfrm>
            <a:off x="329184" y="5495544"/>
            <a:ext cx="3035808"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Frame Installation Process - Community Participation</a:t>
            </a:r>
            <a:endParaRPr lang="en-US" sz="900" dirty="0">
              <a:latin typeface="Footlight MT Light" panose="0204060206030A020304" pitchFamily="18" charset="0"/>
            </a:endParaRPr>
          </a:p>
        </p:txBody>
      </p:sp>
      <p:sp>
        <p:nvSpPr>
          <p:cNvPr id="23" name="Text 18"/>
          <p:cNvSpPr/>
          <p:nvPr/>
        </p:nvSpPr>
        <p:spPr>
          <a:xfrm>
            <a:off x="3438144" y="1790395"/>
            <a:ext cx="3163824" cy="219456"/>
          </a:xfrm>
          <a:prstGeom prst="rect">
            <a:avLst/>
          </a:prstGeom>
          <a:noFill/>
          <a:ln/>
        </p:spPr>
        <p:txBody>
          <a:bodyPr wrap="square" lIns="0" tIns="0" rIns="0" bIns="0" rtlCol="0" anchor="t"/>
          <a:lstStyle/>
          <a:p>
            <a:pPr marL="0" indent="0" algn="l">
              <a:buNone/>
            </a:pPr>
            <a:r>
              <a:rPr lang="en-US" sz="1400" b="1" dirty="0">
                <a:solidFill>
                  <a:srgbClr val="005F5F"/>
                </a:solidFill>
                <a:latin typeface="Footlight MT Light" panose="0204060206030A020304" pitchFamily="18" charset="0"/>
                <a:ea typeface="Cambria" pitchFamily="34" charset="-122"/>
                <a:cs typeface="Cambria" pitchFamily="34" charset="-120"/>
              </a:rPr>
              <a:t>Background</a:t>
            </a:r>
            <a:endParaRPr lang="en-US" sz="1400" dirty="0">
              <a:latin typeface="Footlight MT Light" panose="0204060206030A020304" pitchFamily="18" charset="0"/>
            </a:endParaRPr>
          </a:p>
        </p:txBody>
      </p:sp>
      <p:sp>
        <p:nvSpPr>
          <p:cNvPr id="24" name="Shape 19"/>
          <p:cNvSpPr/>
          <p:nvPr/>
        </p:nvSpPr>
        <p:spPr>
          <a:xfrm>
            <a:off x="3438144" y="1989735"/>
            <a:ext cx="548640" cy="16459"/>
          </a:xfrm>
          <a:prstGeom prst="rect">
            <a:avLst/>
          </a:prstGeom>
          <a:solidFill>
            <a:srgbClr val="C8960A"/>
          </a:solidFill>
          <a:ln w="12700">
            <a:solidFill>
              <a:srgbClr val="C8960A"/>
            </a:solidFill>
            <a:prstDash val="solid"/>
          </a:ln>
        </p:spPr>
      </p:sp>
      <p:sp>
        <p:nvSpPr>
          <p:cNvPr id="25" name="Text 20"/>
          <p:cNvSpPr/>
          <p:nvPr/>
        </p:nvSpPr>
        <p:spPr>
          <a:xfrm>
            <a:off x="3447288" y="2039363"/>
            <a:ext cx="3298068" cy="658368"/>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The fishing community around Aambavade Dam depends primarily on fisheries for its livelihood. Declining fish availability, seasonal fluctuations, and limited access to modern aquaculture practices resulted in unstable incomes. Traditional fishing methods were insufficient due to declining fish stocks and seasonal uncertainties.</a:t>
            </a:r>
            <a:endParaRPr lang="en-US" sz="950" dirty="0">
              <a:latin typeface="Footlight MT Light" panose="0204060206030A020304" pitchFamily="18" charset="0"/>
            </a:endParaRPr>
          </a:p>
        </p:txBody>
      </p:sp>
      <p:sp>
        <p:nvSpPr>
          <p:cNvPr id="26" name="Text 21"/>
          <p:cNvSpPr/>
          <p:nvPr/>
        </p:nvSpPr>
        <p:spPr>
          <a:xfrm>
            <a:off x="3474720" y="2909684"/>
            <a:ext cx="3163824" cy="219456"/>
          </a:xfrm>
          <a:prstGeom prst="rect">
            <a:avLst/>
          </a:prstGeom>
          <a:noFill/>
          <a:ln/>
        </p:spPr>
        <p:txBody>
          <a:bodyPr wrap="square" lIns="0" tIns="0" rIns="0" bIns="0" rtlCol="0" anchor="t"/>
          <a:lstStyle/>
          <a:p>
            <a:pPr marL="0" indent="0" algn="l">
              <a:buNone/>
            </a:pPr>
            <a:r>
              <a:rPr lang="en-US" sz="1400" b="1" dirty="0">
                <a:solidFill>
                  <a:srgbClr val="005F5F"/>
                </a:solidFill>
                <a:latin typeface="Footlight MT Light" panose="0204060206030A020304" pitchFamily="18" charset="0"/>
                <a:ea typeface="Cambria" pitchFamily="34" charset="-122"/>
                <a:cs typeface="Cambria" pitchFamily="34" charset="-120"/>
              </a:rPr>
              <a:t>Project Intervention</a:t>
            </a:r>
            <a:endParaRPr lang="en-US" sz="1400" dirty="0">
              <a:latin typeface="Footlight MT Light" panose="0204060206030A020304" pitchFamily="18" charset="0"/>
            </a:endParaRPr>
          </a:p>
        </p:txBody>
      </p:sp>
      <p:sp>
        <p:nvSpPr>
          <p:cNvPr id="27" name="Shape 22"/>
          <p:cNvSpPr/>
          <p:nvPr/>
        </p:nvSpPr>
        <p:spPr>
          <a:xfrm>
            <a:off x="3429000" y="3120910"/>
            <a:ext cx="548640" cy="16459"/>
          </a:xfrm>
          <a:prstGeom prst="rect">
            <a:avLst/>
          </a:prstGeom>
          <a:solidFill>
            <a:srgbClr val="C8960A"/>
          </a:solidFill>
          <a:ln w="12700">
            <a:solidFill>
              <a:srgbClr val="C8960A"/>
            </a:solidFill>
            <a:prstDash val="solid"/>
          </a:ln>
        </p:spPr>
      </p:sp>
      <p:sp>
        <p:nvSpPr>
          <p:cNvPr id="28" name="Text 23"/>
          <p:cNvSpPr/>
          <p:nvPr/>
        </p:nvSpPr>
        <p:spPr>
          <a:xfrm>
            <a:off x="3419856" y="3158865"/>
            <a:ext cx="3325500" cy="768096"/>
          </a:xfrm>
          <a:prstGeom prst="rect">
            <a:avLst/>
          </a:prstGeom>
          <a:noFill/>
          <a:ln/>
        </p:spPr>
        <p:txBody>
          <a:bodyPr wrap="square" lIns="0" tIns="0" rIns="0" bIns="0" rtlCol="0" anchor="t"/>
          <a:lstStyle/>
          <a:p>
            <a:pPr marL="0" indent="0" algn="just">
              <a:buNone/>
            </a:pPr>
            <a:r>
              <a:rPr lang="en-US" sz="900" dirty="0">
                <a:solidFill>
                  <a:srgbClr val="2A3535"/>
                </a:solidFill>
                <a:latin typeface="Footlight MT Light" panose="0204060206030A020304" pitchFamily="18" charset="0"/>
                <a:ea typeface="Calibri" pitchFamily="34" charset="-122"/>
                <a:cs typeface="Calibri" pitchFamily="34" charset="-120"/>
              </a:rPr>
              <a:t>Atlas Copco India provided CSR support and SJSM facilitated the establishment of a Cage Culture Unit at Aambavade Dam. Activities included: installation of fish cages, stocking of commercially valuable fish species, and technical training on cage management, feeding practices, water quality monitoring, and fish health management.</a:t>
            </a:r>
            <a:endParaRPr lang="en-US" sz="900" dirty="0">
              <a:latin typeface="Footlight MT Light" panose="0204060206030A020304" pitchFamily="18" charset="0"/>
            </a:endParaRPr>
          </a:p>
        </p:txBody>
      </p:sp>
      <p:sp>
        <p:nvSpPr>
          <p:cNvPr id="29" name="Text 24"/>
          <p:cNvSpPr/>
          <p:nvPr/>
        </p:nvSpPr>
        <p:spPr>
          <a:xfrm>
            <a:off x="3364992" y="3920899"/>
            <a:ext cx="3172107" cy="251508"/>
          </a:xfrm>
          <a:prstGeom prst="rect">
            <a:avLst/>
          </a:prstGeom>
          <a:noFill/>
          <a:ln/>
        </p:spPr>
        <p:txBody>
          <a:bodyPr wrap="square" lIns="0" tIns="0" rIns="0" bIns="0" rtlCol="0" anchor="t"/>
          <a:lstStyle/>
          <a:p>
            <a:pPr marL="0" indent="0" algn="l">
              <a:buNone/>
            </a:pPr>
            <a:r>
              <a:rPr lang="en-US" sz="1400" b="1" dirty="0">
                <a:solidFill>
                  <a:srgbClr val="A67C00"/>
                </a:solidFill>
                <a:latin typeface="Footlight MT Light" panose="0204060206030A020304" pitchFamily="18" charset="0"/>
                <a:ea typeface="Cambria" pitchFamily="34" charset="-122"/>
                <a:cs typeface="Cambria" pitchFamily="34" charset="-120"/>
              </a:rPr>
              <a:t>Change Achieved</a:t>
            </a:r>
            <a:endParaRPr lang="en-US" sz="1400" dirty="0">
              <a:latin typeface="Footlight MT Light" panose="0204060206030A020304" pitchFamily="18" charset="0"/>
            </a:endParaRPr>
          </a:p>
        </p:txBody>
      </p:sp>
      <p:sp>
        <p:nvSpPr>
          <p:cNvPr id="30" name="Shape 25"/>
          <p:cNvSpPr/>
          <p:nvPr/>
        </p:nvSpPr>
        <p:spPr>
          <a:xfrm>
            <a:off x="3364992" y="4160929"/>
            <a:ext cx="548640" cy="16459"/>
          </a:xfrm>
          <a:prstGeom prst="rect">
            <a:avLst/>
          </a:prstGeom>
          <a:solidFill>
            <a:srgbClr val="C8960A"/>
          </a:solidFill>
          <a:ln w="12700">
            <a:solidFill>
              <a:srgbClr val="C8960A"/>
            </a:solidFill>
            <a:prstDash val="solid"/>
          </a:ln>
        </p:spPr>
      </p:sp>
      <p:pic>
        <p:nvPicPr>
          <p:cNvPr id="31" name="Image 3" descr="preencoded.png"/>
          <p:cNvPicPr>
            <a:picLocks noChangeAspect="1"/>
          </p:cNvPicPr>
          <p:nvPr/>
        </p:nvPicPr>
        <p:blipFill>
          <a:blip r:embed="rId7"/>
          <a:stretch>
            <a:fillRect/>
          </a:stretch>
        </p:blipFill>
        <p:spPr>
          <a:xfrm>
            <a:off x="3364992" y="4288945"/>
            <a:ext cx="201168" cy="201168"/>
          </a:xfrm>
          <a:prstGeom prst="rect">
            <a:avLst/>
          </a:prstGeom>
        </p:spPr>
      </p:pic>
      <p:sp>
        <p:nvSpPr>
          <p:cNvPr id="32" name="Text 26"/>
          <p:cNvSpPr/>
          <p:nvPr/>
        </p:nvSpPr>
        <p:spPr>
          <a:xfrm>
            <a:off x="3639311" y="4304199"/>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Established a functional cage culture unit at Aambavade Dam</a:t>
            </a:r>
            <a:endParaRPr lang="en-US" sz="1100" dirty="0">
              <a:latin typeface="Footlight MT Light" panose="0204060206030A020304" pitchFamily="18" charset="0"/>
            </a:endParaRPr>
          </a:p>
        </p:txBody>
      </p:sp>
      <p:pic>
        <p:nvPicPr>
          <p:cNvPr id="33" name="Image 4" descr="preencoded.png"/>
          <p:cNvPicPr>
            <a:picLocks noChangeAspect="1"/>
          </p:cNvPicPr>
          <p:nvPr/>
        </p:nvPicPr>
        <p:blipFill>
          <a:blip r:embed="rId7"/>
          <a:stretch>
            <a:fillRect/>
          </a:stretch>
        </p:blipFill>
        <p:spPr>
          <a:xfrm>
            <a:off x="3364992" y="4627273"/>
            <a:ext cx="201168" cy="201168"/>
          </a:xfrm>
          <a:prstGeom prst="rect">
            <a:avLst/>
          </a:prstGeom>
        </p:spPr>
      </p:pic>
      <p:sp>
        <p:nvSpPr>
          <p:cNvPr id="34" name="Text 27"/>
          <p:cNvSpPr/>
          <p:nvPr/>
        </p:nvSpPr>
        <p:spPr>
          <a:xfrm>
            <a:off x="3639311" y="4642527"/>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Enhanced fish production through scientific aquaculture practices</a:t>
            </a:r>
            <a:endParaRPr lang="en-US" sz="1100" dirty="0">
              <a:latin typeface="Footlight MT Light" panose="0204060206030A020304" pitchFamily="18" charset="0"/>
            </a:endParaRPr>
          </a:p>
        </p:txBody>
      </p:sp>
      <p:pic>
        <p:nvPicPr>
          <p:cNvPr id="35" name="Image 5" descr="preencoded.png"/>
          <p:cNvPicPr>
            <a:picLocks noChangeAspect="1"/>
          </p:cNvPicPr>
          <p:nvPr/>
        </p:nvPicPr>
        <p:blipFill>
          <a:blip r:embed="rId7"/>
          <a:stretch>
            <a:fillRect/>
          </a:stretch>
        </p:blipFill>
        <p:spPr>
          <a:xfrm>
            <a:off x="3364992" y="4965601"/>
            <a:ext cx="201168" cy="201168"/>
          </a:xfrm>
          <a:prstGeom prst="rect">
            <a:avLst/>
          </a:prstGeom>
        </p:spPr>
      </p:pic>
      <p:sp>
        <p:nvSpPr>
          <p:cNvPr id="36" name="Text 28"/>
          <p:cNvSpPr/>
          <p:nvPr/>
        </p:nvSpPr>
        <p:spPr>
          <a:xfrm>
            <a:off x="3639311" y="4980855"/>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Improved technical knowledge and skills of cooperative members</a:t>
            </a:r>
            <a:endParaRPr lang="en-US" sz="1100" dirty="0">
              <a:latin typeface="Footlight MT Light" panose="0204060206030A020304" pitchFamily="18" charset="0"/>
            </a:endParaRPr>
          </a:p>
        </p:txBody>
      </p:sp>
      <p:pic>
        <p:nvPicPr>
          <p:cNvPr id="37" name="Image 6" descr="preencoded.png"/>
          <p:cNvPicPr>
            <a:picLocks noChangeAspect="1"/>
          </p:cNvPicPr>
          <p:nvPr/>
        </p:nvPicPr>
        <p:blipFill>
          <a:blip r:embed="rId7"/>
          <a:stretch>
            <a:fillRect/>
          </a:stretch>
        </p:blipFill>
        <p:spPr>
          <a:xfrm>
            <a:off x="3364992" y="5303929"/>
            <a:ext cx="201168" cy="201168"/>
          </a:xfrm>
          <a:prstGeom prst="rect">
            <a:avLst/>
          </a:prstGeom>
        </p:spPr>
      </p:pic>
      <p:sp>
        <p:nvSpPr>
          <p:cNvPr id="38" name="Text 29"/>
          <p:cNvSpPr/>
          <p:nvPr/>
        </p:nvSpPr>
        <p:spPr>
          <a:xfrm>
            <a:off x="3639311" y="5319183"/>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Created a sustainable income source beyond traditional fishing</a:t>
            </a:r>
            <a:endParaRPr lang="en-US" sz="1100" dirty="0">
              <a:latin typeface="Footlight MT Light" panose="0204060206030A020304" pitchFamily="18" charset="0"/>
            </a:endParaRPr>
          </a:p>
        </p:txBody>
      </p:sp>
      <p:pic>
        <p:nvPicPr>
          <p:cNvPr id="39" name="Image 7" descr="preencoded.png"/>
          <p:cNvPicPr>
            <a:picLocks noChangeAspect="1"/>
          </p:cNvPicPr>
          <p:nvPr/>
        </p:nvPicPr>
        <p:blipFill>
          <a:blip r:embed="rId7"/>
          <a:stretch>
            <a:fillRect/>
          </a:stretch>
        </p:blipFill>
        <p:spPr>
          <a:xfrm>
            <a:off x="3447288" y="6163056"/>
            <a:ext cx="201168" cy="201168"/>
          </a:xfrm>
          <a:prstGeom prst="rect">
            <a:avLst/>
          </a:prstGeom>
        </p:spPr>
      </p:pic>
      <p:sp>
        <p:nvSpPr>
          <p:cNvPr id="40" name="Text 30"/>
          <p:cNvSpPr/>
          <p:nvPr/>
        </p:nvSpPr>
        <p:spPr>
          <a:xfrm>
            <a:off x="3721608" y="6144768"/>
            <a:ext cx="2889504" cy="310896"/>
          </a:xfrm>
          <a:prstGeom prst="rect">
            <a:avLst/>
          </a:prstGeom>
          <a:noFill/>
          <a:ln/>
        </p:spPr>
        <p:txBody>
          <a:bodyPr wrap="square" lIns="0" tIns="0" rIns="0" bIns="0" rtlCol="0" anchor="ctr"/>
          <a:lstStyle/>
          <a:p>
            <a:pPr marL="0" indent="0" algn="l">
              <a:buNone/>
            </a:pPr>
            <a:r>
              <a:rPr lang="en-US" sz="950" dirty="0">
                <a:solidFill>
                  <a:srgbClr val="2A3535"/>
                </a:solidFill>
                <a:latin typeface="Lucida Fax" panose="02060602050505020204" pitchFamily="18" charset="0"/>
                <a:ea typeface="Calibri" pitchFamily="34" charset="-122"/>
                <a:cs typeface="Calibri" pitchFamily="34" charset="-120"/>
              </a:rPr>
              <a:t>Promoted efficient and responsible use of reservoir resources</a:t>
            </a:r>
            <a:endParaRPr lang="en-US" sz="950" dirty="0">
              <a:latin typeface="Lucida Fax" panose="02060602050505020204" pitchFamily="18" charset="0"/>
            </a:endParaRPr>
          </a:p>
        </p:txBody>
      </p:sp>
      <p:pic>
        <p:nvPicPr>
          <p:cNvPr id="41" name="Image 8" descr="preencoded.png"/>
          <p:cNvPicPr>
            <a:picLocks noChangeAspect="1"/>
          </p:cNvPicPr>
          <p:nvPr/>
        </p:nvPicPr>
        <p:blipFill>
          <a:blip r:embed="rId7"/>
          <a:stretch>
            <a:fillRect/>
          </a:stretch>
        </p:blipFill>
        <p:spPr>
          <a:xfrm>
            <a:off x="3447288" y="6501384"/>
            <a:ext cx="201168" cy="201168"/>
          </a:xfrm>
          <a:prstGeom prst="rect">
            <a:avLst/>
          </a:prstGeom>
        </p:spPr>
      </p:pic>
      <p:sp>
        <p:nvSpPr>
          <p:cNvPr id="42" name="Text 31"/>
          <p:cNvSpPr/>
          <p:nvPr/>
        </p:nvSpPr>
        <p:spPr>
          <a:xfrm>
            <a:off x="3721608" y="6483096"/>
            <a:ext cx="2889504" cy="310896"/>
          </a:xfrm>
          <a:prstGeom prst="rect">
            <a:avLst/>
          </a:prstGeom>
          <a:noFill/>
          <a:ln/>
        </p:spPr>
        <p:txBody>
          <a:bodyPr wrap="square" lIns="0" tIns="0" rIns="0" bIns="0" rtlCol="0" anchor="ctr"/>
          <a:lstStyle/>
          <a:p>
            <a:pPr marL="0" indent="0" algn="l">
              <a:buNone/>
            </a:pPr>
            <a:r>
              <a:rPr lang="en-US" sz="950" dirty="0">
                <a:solidFill>
                  <a:srgbClr val="2A3535"/>
                </a:solidFill>
                <a:latin typeface="Lucida Fax" panose="02060602050505020204" pitchFamily="18" charset="0"/>
                <a:ea typeface="Calibri" pitchFamily="34" charset="-122"/>
                <a:cs typeface="Calibri" pitchFamily="34" charset="-120"/>
              </a:rPr>
              <a:t>Strengthened long-term economic resilience of fishing households</a:t>
            </a:r>
            <a:endParaRPr lang="en-US" sz="950" dirty="0">
              <a:latin typeface="Lucida Fax" panose="02060602050505020204" pitchFamily="18" charset="0"/>
            </a:endParaRPr>
          </a:p>
        </p:txBody>
      </p:sp>
      <p:sp>
        <p:nvSpPr>
          <p:cNvPr id="43" name="Shape 32"/>
          <p:cNvSpPr/>
          <p:nvPr/>
        </p:nvSpPr>
        <p:spPr>
          <a:xfrm>
            <a:off x="292608" y="5884282"/>
            <a:ext cx="6345936" cy="1282508"/>
          </a:xfrm>
          <a:prstGeom prst="roundRect">
            <a:avLst>
              <a:gd name="adj" fmla="val 6667"/>
            </a:avLst>
          </a:prstGeom>
          <a:solidFill>
            <a:srgbClr val="005F5F"/>
          </a:solidFill>
          <a:ln w="12700">
            <a:solidFill>
              <a:srgbClr val="005F5F"/>
            </a:solidFill>
            <a:prstDash val="solid"/>
          </a:ln>
        </p:spPr>
      </p:sp>
      <p:sp>
        <p:nvSpPr>
          <p:cNvPr id="44" name="Shape 33"/>
          <p:cNvSpPr/>
          <p:nvPr/>
        </p:nvSpPr>
        <p:spPr>
          <a:xfrm>
            <a:off x="291680" y="5870448"/>
            <a:ext cx="6345936" cy="32004"/>
          </a:xfrm>
          <a:prstGeom prst="rect">
            <a:avLst/>
          </a:prstGeom>
          <a:solidFill>
            <a:srgbClr val="C8960A"/>
          </a:solidFill>
          <a:ln w="12700">
            <a:solidFill>
              <a:srgbClr val="C8960A"/>
            </a:solidFill>
            <a:prstDash val="solid"/>
          </a:ln>
        </p:spPr>
      </p:sp>
      <p:pic>
        <p:nvPicPr>
          <p:cNvPr id="45" name="Image 9" descr="preencoded.png"/>
          <p:cNvPicPr>
            <a:picLocks noChangeAspect="1"/>
          </p:cNvPicPr>
          <p:nvPr/>
        </p:nvPicPr>
        <p:blipFill>
          <a:blip r:embed="rId8"/>
          <a:stretch>
            <a:fillRect/>
          </a:stretch>
        </p:blipFill>
        <p:spPr>
          <a:xfrm>
            <a:off x="402336" y="5998464"/>
            <a:ext cx="274320" cy="237744"/>
          </a:xfrm>
          <a:prstGeom prst="rect">
            <a:avLst/>
          </a:prstGeom>
        </p:spPr>
      </p:pic>
      <p:sp>
        <p:nvSpPr>
          <p:cNvPr id="46" name="Text 34"/>
          <p:cNvSpPr/>
          <p:nvPr/>
        </p:nvSpPr>
        <p:spPr>
          <a:xfrm>
            <a:off x="429768" y="6272784"/>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Cage culture has opened a new avenue of income for our cooperative. With the training and support received through the project, we are now confident about adopting modern fish farming practices and building a better future for our families.</a:t>
            </a:r>
            <a:endParaRPr lang="en-US" sz="950" dirty="0">
              <a:latin typeface="Lucida Fax" panose="02060602050505020204" pitchFamily="18" charset="0"/>
            </a:endParaRPr>
          </a:p>
        </p:txBody>
      </p:sp>
      <p:sp>
        <p:nvSpPr>
          <p:cNvPr id="47" name="Shape 35"/>
          <p:cNvSpPr/>
          <p:nvPr/>
        </p:nvSpPr>
        <p:spPr>
          <a:xfrm>
            <a:off x="429768" y="6931152"/>
            <a:ext cx="6016752" cy="9144"/>
          </a:xfrm>
          <a:prstGeom prst="rect">
            <a:avLst/>
          </a:prstGeom>
          <a:solidFill>
            <a:srgbClr val="C8960A"/>
          </a:solidFill>
          <a:ln w="12700">
            <a:solidFill>
              <a:srgbClr val="C8960A"/>
            </a:solidFill>
            <a:prstDash val="solid"/>
          </a:ln>
        </p:spPr>
      </p:sp>
      <p:sp>
        <p:nvSpPr>
          <p:cNvPr id="48" name="Text 36"/>
          <p:cNvSpPr/>
          <p:nvPr/>
        </p:nvSpPr>
        <p:spPr>
          <a:xfrm>
            <a:off x="429768" y="7004304"/>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Member, Adiwasi Machhimar V.K. Sahakari Sanstha, Aambavade</a:t>
            </a:r>
            <a:endParaRPr lang="en-US" sz="800" dirty="0">
              <a:latin typeface="Lucida Fax" panose="02060602050505020204" pitchFamily="18" charset="0"/>
            </a:endParaRPr>
          </a:p>
        </p:txBody>
      </p:sp>
      <p:pic>
        <p:nvPicPr>
          <p:cNvPr id="52" name="Image 11" descr="/home/claude/rpt_imgs/cage_3.jpg"/>
          <p:cNvPicPr>
            <a:picLocks noChangeAspect="1"/>
          </p:cNvPicPr>
          <p:nvPr/>
        </p:nvPicPr>
        <p:blipFill>
          <a:blip r:embed="rId9"/>
          <a:srcRect/>
          <a:stretch/>
        </p:blipFill>
        <p:spPr>
          <a:xfrm>
            <a:off x="1009583" y="7221931"/>
            <a:ext cx="1647577" cy="1316736"/>
          </a:xfrm>
          <a:prstGeom prst="rect">
            <a:avLst/>
          </a:prstGeom>
        </p:spPr>
      </p:pic>
      <p:sp>
        <p:nvSpPr>
          <p:cNvPr id="53" name="Shape 39"/>
          <p:cNvSpPr/>
          <p:nvPr/>
        </p:nvSpPr>
        <p:spPr>
          <a:xfrm>
            <a:off x="1009583" y="8538667"/>
            <a:ext cx="1647577" cy="237744"/>
          </a:xfrm>
          <a:prstGeom prst="rect">
            <a:avLst/>
          </a:prstGeom>
          <a:solidFill>
            <a:srgbClr val="2A3535"/>
          </a:solidFill>
          <a:ln w="12700">
            <a:solidFill>
              <a:srgbClr val="2A3535"/>
            </a:solidFill>
            <a:prstDash val="solid"/>
          </a:ln>
        </p:spPr>
      </p:sp>
      <p:sp>
        <p:nvSpPr>
          <p:cNvPr id="54" name="Text 40"/>
          <p:cNvSpPr/>
          <p:nvPr/>
        </p:nvSpPr>
        <p:spPr>
          <a:xfrm>
            <a:off x="1082735"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Frame</a:t>
            </a:r>
            <a:endParaRPr lang="en-US" sz="900" dirty="0">
              <a:latin typeface="Footlight MT Light" panose="0204060206030A020304" pitchFamily="18" charset="0"/>
            </a:endParaRPr>
          </a:p>
        </p:txBody>
      </p:sp>
      <p:pic>
        <p:nvPicPr>
          <p:cNvPr id="55" name="Image 12" descr="/home/claude/rpt_imgs/cage_4.jpg"/>
          <p:cNvPicPr>
            <a:picLocks noChangeAspect="1"/>
          </p:cNvPicPr>
          <p:nvPr/>
        </p:nvPicPr>
        <p:blipFill>
          <a:blip r:embed="rId10"/>
          <a:srcRect/>
          <a:stretch/>
        </p:blipFill>
        <p:spPr>
          <a:xfrm>
            <a:off x="2623499" y="7221931"/>
            <a:ext cx="1647577" cy="1316736"/>
          </a:xfrm>
          <a:prstGeom prst="rect">
            <a:avLst/>
          </a:prstGeom>
        </p:spPr>
      </p:pic>
      <p:sp>
        <p:nvSpPr>
          <p:cNvPr id="56" name="Shape 41"/>
          <p:cNvSpPr/>
          <p:nvPr/>
        </p:nvSpPr>
        <p:spPr>
          <a:xfrm>
            <a:off x="2623499" y="8538667"/>
            <a:ext cx="1647577" cy="237744"/>
          </a:xfrm>
          <a:prstGeom prst="rect">
            <a:avLst/>
          </a:prstGeom>
          <a:solidFill>
            <a:srgbClr val="2A3535"/>
          </a:solidFill>
          <a:ln w="12700">
            <a:solidFill>
              <a:srgbClr val="2A3535"/>
            </a:solidFill>
            <a:prstDash val="solid"/>
          </a:ln>
        </p:spPr>
      </p:sp>
      <p:sp>
        <p:nvSpPr>
          <p:cNvPr id="57" name="Text 42"/>
          <p:cNvSpPr/>
          <p:nvPr/>
        </p:nvSpPr>
        <p:spPr>
          <a:xfrm>
            <a:off x="2696651"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System</a:t>
            </a:r>
            <a:endParaRPr lang="en-US" sz="900" dirty="0">
              <a:latin typeface="Footlight MT Light" panose="0204060206030A020304" pitchFamily="18" charset="0"/>
            </a:endParaRPr>
          </a:p>
        </p:txBody>
      </p:sp>
      <p:pic>
        <p:nvPicPr>
          <p:cNvPr id="58" name="Image 13" descr="/home/claude/rpt_imgs/cage_5.jpg"/>
          <p:cNvPicPr>
            <a:picLocks noChangeAspect="1"/>
          </p:cNvPicPr>
          <p:nvPr/>
        </p:nvPicPr>
        <p:blipFill>
          <a:blip r:embed="rId5"/>
          <a:srcRect/>
          <a:stretch/>
        </p:blipFill>
        <p:spPr>
          <a:xfrm>
            <a:off x="4237415" y="7221931"/>
            <a:ext cx="1647577" cy="1316736"/>
          </a:xfrm>
          <a:prstGeom prst="rect">
            <a:avLst/>
          </a:prstGeom>
        </p:spPr>
      </p:pic>
      <p:sp>
        <p:nvSpPr>
          <p:cNvPr id="59" name="Shape 43"/>
          <p:cNvSpPr/>
          <p:nvPr/>
        </p:nvSpPr>
        <p:spPr>
          <a:xfrm>
            <a:off x="4237415" y="8538667"/>
            <a:ext cx="1647577" cy="237744"/>
          </a:xfrm>
          <a:prstGeom prst="rect">
            <a:avLst/>
          </a:prstGeom>
          <a:solidFill>
            <a:srgbClr val="2A3535"/>
          </a:solidFill>
          <a:ln w="12700">
            <a:solidFill>
              <a:srgbClr val="2A3535"/>
            </a:solidFill>
            <a:prstDash val="solid"/>
          </a:ln>
        </p:spPr>
      </p:sp>
      <p:sp>
        <p:nvSpPr>
          <p:cNvPr id="60" name="Text 44"/>
          <p:cNvSpPr/>
          <p:nvPr/>
        </p:nvSpPr>
        <p:spPr>
          <a:xfrm>
            <a:off x="4310567"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Operational Cage</a:t>
            </a:r>
            <a:endParaRPr lang="en-US" sz="900" dirty="0">
              <a:latin typeface="Footlight MT Light" panose="0204060206030A020304" pitchFamily="18" charset="0"/>
            </a:endParaRPr>
          </a:p>
        </p:txBody>
      </p:sp>
      <p:sp>
        <p:nvSpPr>
          <p:cNvPr id="61" name="Shape 45"/>
          <p:cNvSpPr/>
          <p:nvPr/>
        </p:nvSpPr>
        <p:spPr>
          <a:xfrm>
            <a:off x="256032" y="8823960"/>
            <a:ext cx="6345936" cy="493776"/>
          </a:xfrm>
          <a:prstGeom prst="roundRect">
            <a:avLst>
              <a:gd name="adj" fmla="val 14815"/>
            </a:avLst>
          </a:prstGeom>
          <a:solidFill>
            <a:srgbClr val="FFF8E6"/>
          </a:solidFill>
          <a:ln w="12700">
            <a:solidFill>
              <a:srgbClr val="C8960A"/>
            </a:solidFill>
            <a:prstDash val="solid"/>
          </a:ln>
        </p:spPr>
      </p:sp>
      <p:sp>
        <p:nvSpPr>
          <p:cNvPr id="62" name="Shape 46"/>
          <p:cNvSpPr/>
          <p:nvPr/>
        </p:nvSpPr>
        <p:spPr>
          <a:xfrm>
            <a:off x="256032" y="8823960"/>
            <a:ext cx="36576" cy="493776"/>
          </a:xfrm>
          <a:prstGeom prst="rect">
            <a:avLst/>
          </a:prstGeom>
          <a:solidFill>
            <a:srgbClr val="C8960A"/>
          </a:solidFill>
          <a:ln w="12700">
            <a:solidFill>
              <a:srgbClr val="C8960A"/>
            </a:solidFill>
            <a:prstDash val="solid"/>
          </a:ln>
        </p:spPr>
      </p:sp>
      <p:sp>
        <p:nvSpPr>
          <p:cNvPr id="63" name="Text 47"/>
          <p:cNvSpPr/>
          <p:nvPr/>
        </p:nvSpPr>
        <p:spPr>
          <a:xfrm>
            <a:off x="438912" y="8897112"/>
            <a:ext cx="6126480" cy="347472"/>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The Cage Culture Initiative demonstrated how innovative fisheries interventions can transform traditional livelihoods into sustainable income-generating opportunities for tribal communities.</a:t>
            </a:r>
            <a:endParaRPr lang="en-US" sz="1000" dirty="0">
              <a:latin typeface="Felix Titling" panose="04060505060202020A04" pitchFamily="82"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Cumulative Impact Summary - 2023–2026</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655"/>
            <a:ext cx="6858000" cy="292608"/>
          </a:xfrm>
          <a:prstGeom prst="rect">
            <a:avLst/>
          </a:prstGeom>
          <a:solidFill>
            <a:srgbClr val="FFFFFF"/>
          </a:solidFill>
          <a:ln w="12700">
            <a:solidFill>
              <a:srgbClr val="FFFFFF"/>
            </a:solidFill>
            <a:prstDash val="solid"/>
          </a:ln>
        </p:spPr>
      </p:sp>
      <p:sp>
        <p:nvSpPr>
          <p:cNvPr id="8" name="Text 6"/>
          <p:cNvSpPr/>
          <p:nvPr/>
        </p:nvSpPr>
        <p:spPr>
          <a:xfrm>
            <a:off x="203599" y="8018584"/>
            <a:ext cx="6543994" cy="102034"/>
          </a:xfrm>
          <a:prstGeom prst="rect">
            <a:avLst/>
          </a:prstGeom>
          <a:noFill/>
          <a:ln/>
        </p:spPr>
        <p:txBody>
          <a:bodyPr wrap="square" lIns="0" tIns="0" rIns="0" bIns="0" rtlCol="0" anchor="t"/>
          <a:lstStyle/>
          <a:p>
            <a:pPr marL="0" indent="0" algn="l">
              <a:buNone/>
            </a:pPr>
            <a:r>
              <a:rPr lang="en-US" sz="1000" dirty="0">
                <a:solidFill>
                  <a:srgbClr val="9AAEAE"/>
                </a:solidFill>
                <a:latin typeface="Felix Titling" panose="04060505060202020A04" pitchFamily="82" charset="0"/>
                <a:ea typeface="Calibri" pitchFamily="34" charset="-122"/>
                <a:cs typeface="Calibri" pitchFamily="34" charset="-120"/>
              </a:rPr>
              <a:t>Project Completion Report · Inland Fishery Based Livelihood Improvement · Poladpur &amp; Mahad, Raigad</a:t>
            </a:r>
            <a:endParaRPr lang="en-US" sz="1000" dirty="0">
              <a:latin typeface="Felix Titling" panose="04060505060202020A04" pitchFamily="82" charset="0"/>
            </a:endParaRPr>
          </a:p>
        </p:txBody>
      </p:sp>
      <p:sp>
        <p:nvSpPr>
          <p:cNvPr id="10" name="Text 8"/>
          <p:cNvSpPr/>
          <p:nvPr/>
        </p:nvSpPr>
        <p:spPr>
          <a:xfrm>
            <a:off x="6562154" y="8001426"/>
            <a:ext cx="164273" cy="126623"/>
          </a:xfrm>
          <a:prstGeom prst="rect">
            <a:avLst/>
          </a:prstGeom>
          <a:noFill/>
          <a:ln/>
        </p:spPr>
        <p:txBody>
          <a:bodyPr wrap="square" lIns="0" tIns="0" rIns="0" bIns="0" rtlCol="0" anchor="ctr"/>
          <a:lstStyle/>
          <a:p>
            <a:pPr marL="0" indent="0" algn="ctr">
              <a:buNone/>
            </a:pPr>
            <a:r>
              <a:rPr lang="en-US" sz="1000" b="1" dirty="0">
                <a:solidFill>
                  <a:srgbClr val="FFFFFF"/>
                </a:solidFill>
                <a:latin typeface="Felix Titling" panose="04060505060202020A04" pitchFamily="82" charset="0"/>
                <a:ea typeface="Calibri" pitchFamily="34" charset="-122"/>
                <a:cs typeface="Calibri" pitchFamily="34" charset="-120"/>
              </a:rPr>
              <a:t>23</a:t>
            </a:r>
            <a:endParaRPr lang="en-US" sz="1000" dirty="0">
              <a:latin typeface="Felix Titling" panose="04060505060202020A04" pitchFamily="82" charset="0"/>
            </a:endParaRPr>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sz="2000" b="1" dirty="0">
                <a:solidFill>
                  <a:srgbClr val="005F5F"/>
                </a:solidFill>
                <a:latin typeface="Felix Titling" panose="04060505060202020A04" pitchFamily="82" charset="0"/>
                <a:ea typeface="Cambria" pitchFamily="34" charset="-122"/>
                <a:cs typeface="Cambria" pitchFamily="34" charset="-120"/>
              </a:rPr>
              <a:t>Cumulative Project Impact - May 2023 to April 2026</a:t>
            </a:r>
            <a:endParaRPr lang="en-US" sz="2000" dirty="0">
              <a:latin typeface="Felix Titling" panose="04060505060202020A04" pitchFamily="82" charset="0"/>
            </a:endParaRPr>
          </a:p>
        </p:txBody>
      </p:sp>
      <p:sp>
        <p:nvSpPr>
          <p:cNvPr id="12" name="Text 10"/>
          <p:cNvSpPr/>
          <p:nvPr/>
        </p:nvSpPr>
        <p:spPr>
          <a:xfrm>
            <a:off x="292608" y="970057"/>
            <a:ext cx="6272784" cy="181051"/>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Comprehensive outcomes across fisheries, government schemes, training, and community development</a:t>
            </a:r>
            <a:endParaRPr lang="en-US" sz="900" dirty="0">
              <a:latin typeface="Footlight MT Light" panose="0204060206030A020304" pitchFamily="18" charset="0"/>
            </a:endParaRPr>
          </a:p>
        </p:txBody>
      </p:sp>
      <p:sp>
        <p:nvSpPr>
          <p:cNvPr id="13" name="Shape 11"/>
          <p:cNvSpPr/>
          <p:nvPr/>
        </p:nvSpPr>
        <p:spPr>
          <a:xfrm>
            <a:off x="379542" y="1233991"/>
            <a:ext cx="822960" cy="45719"/>
          </a:xfrm>
          <a:prstGeom prst="rect">
            <a:avLst/>
          </a:prstGeom>
          <a:solidFill>
            <a:srgbClr val="C8960A"/>
          </a:solidFill>
          <a:ln w="12700">
            <a:solidFill>
              <a:srgbClr val="C8960A"/>
            </a:solidFill>
            <a:prstDash val="solid"/>
          </a:ln>
        </p:spPr>
      </p:sp>
      <p:sp>
        <p:nvSpPr>
          <p:cNvPr id="14" name="Shape 12"/>
          <p:cNvSpPr/>
          <p:nvPr/>
        </p:nvSpPr>
        <p:spPr>
          <a:xfrm>
            <a:off x="288102" y="1179128"/>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1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1117158" y="1288856"/>
            <a:ext cx="402336" cy="362102"/>
          </a:xfrm>
          <a:prstGeom prst="rect">
            <a:avLst/>
          </a:prstGeom>
        </p:spPr>
      </p:pic>
      <p:sp>
        <p:nvSpPr>
          <p:cNvPr id="16" name="Text 13"/>
          <p:cNvSpPr/>
          <p:nvPr/>
        </p:nvSpPr>
        <p:spPr>
          <a:xfrm>
            <a:off x="342966" y="1673095"/>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21.5 </a:t>
            </a:r>
            <a:r>
              <a:rPr lang="en-US" sz="1400" b="1" dirty="0">
                <a:solidFill>
                  <a:srgbClr val="FFFFFF"/>
                </a:solidFill>
                <a:latin typeface="Felix Titling" panose="04060505060202020A04" pitchFamily="82" charset="0"/>
                <a:ea typeface="Cambria" pitchFamily="34" charset="-122"/>
                <a:cs typeface="Cambria" pitchFamily="34" charset="-120"/>
              </a:rPr>
              <a:t>Lakh</a:t>
            </a:r>
            <a:endParaRPr lang="en-US" sz="1400" dirty="0">
              <a:latin typeface="Felix Titling" panose="04060505060202020A04" pitchFamily="82" charset="0"/>
            </a:endParaRPr>
          </a:p>
        </p:txBody>
      </p:sp>
      <p:sp>
        <p:nvSpPr>
          <p:cNvPr id="17" name="Text 14"/>
          <p:cNvSpPr/>
          <p:nvPr/>
        </p:nvSpPr>
        <p:spPr>
          <a:xfrm>
            <a:off x="342966" y="2221544"/>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Fingerlings Stocked</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(5 reservoirs, 242 ha)</a:t>
            </a:r>
            <a:endParaRPr lang="en-US" sz="850" dirty="0"/>
          </a:p>
        </p:txBody>
      </p:sp>
      <p:sp>
        <p:nvSpPr>
          <p:cNvPr id="18" name="Shape 15"/>
          <p:cNvSpPr/>
          <p:nvPr/>
        </p:nvSpPr>
        <p:spPr>
          <a:xfrm>
            <a:off x="2439990" y="1179128"/>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19"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3269046" y="1288856"/>
            <a:ext cx="402336" cy="362102"/>
          </a:xfrm>
          <a:prstGeom prst="rect">
            <a:avLst/>
          </a:prstGeom>
        </p:spPr>
      </p:pic>
      <p:sp>
        <p:nvSpPr>
          <p:cNvPr id="20" name="Text 16"/>
          <p:cNvSpPr/>
          <p:nvPr/>
        </p:nvSpPr>
        <p:spPr>
          <a:xfrm>
            <a:off x="2494854" y="1673095"/>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₹1.89 </a:t>
            </a:r>
            <a:r>
              <a:rPr lang="en-US" sz="1400" b="1" dirty="0">
                <a:solidFill>
                  <a:srgbClr val="FFF8E6"/>
                </a:solidFill>
                <a:latin typeface="Felix Titling" panose="04060505060202020A04" pitchFamily="82" charset="0"/>
                <a:ea typeface="Cambria" pitchFamily="34" charset="-122"/>
                <a:cs typeface="Cambria" pitchFamily="34" charset="-120"/>
              </a:rPr>
              <a:t>Cr</a:t>
            </a:r>
            <a:endParaRPr lang="en-US" sz="1400" dirty="0">
              <a:latin typeface="Felix Titling" panose="04060505060202020A04" pitchFamily="82" charset="0"/>
            </a:endParaRPr>
          </a:p>
        </p:txBody>
      </p:sp>
      <p:sp>
        <p:nvSpPr>
          <p:cNvPr id="21" name="Text 17"/>
          <p:cNvSpPr/>
          <p:nvPr/>
        </p:nvSpPr>
        <p:spPr>
          <a:xfrm>
            <a:off x="2494854" y="2221544"/>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Fisheries Income</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Generated</a:t>
            </a:r>
            <a:endParaRPr lang="en-US" sz="850" dirty="0"/>
          </a:p>
        </p:txBody>
      </p:sp>
      <p:sp>
        <p:nvSpPr>
          <p:cNvPr id="22" name="Shape 18"/>
          <p:cNvSpPr/>
          <p:nvPr/>
        </p:nvSpPr>
        <p:spPr>
          <a:xfrm>
            <a:off x="4591878" y="1182499"/>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23" name="Image 2" descr="preencoded.png"/>
          <p:cNvPicPr>
            <a:picLocks noChangeAspect="1"/>
          </p:cNvPicPr>
          <p:nvPr/>
        </p:nvPicPr>
        <p:blipFill>
          <a:blip r:embed="rId5">
            <a:duotone>
              <a:schemeClr val="accent4">
                <a:shade val="45000"/>
                <a:satMod val="135000"/>
              </a:schemeClr>
              <a:prstClr val="white"/>
            </a:duotone>
          </a:blip>
          <a:stretch>
            <a:fillRect/>
          </a:stretch>
        </p:blipFill>
        <p:spPr>
          <a:xfrm>
            <a:off x="5420934" y="1288856"/>
            <a:ext cx="402336" cy="362102"/>
          </a:xfrm>
          <a:prstGeom prst="rect">
            <a:avLst/>
          </a:prstGeom>
        </p:spPr>
      </p:pic>
      <p:sp>
        <p:nvSpPr>
          <p:cNvPr id="24" name="Text 19"/>
          <p:cNvSpPr/>
          <p:nvPr/>
        </p:nvSpPr>
        <p:spPr>
          <a:xfrm>
            <a:off x="4646742" y="1673095"/>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₹4.83 </a:t>
            </a:r>
            <a:r>
              <a:rPr lang="en-US" sz="1400" b="1" dirty="0">
                <a:solidFill>
                  <a:srgbClr val="FFFFFF"/>
                </a:solidFill>
                <a:latin typeface="Felix Titling" panose="04060505060202020A04" pitchFamily="82" charset="0"/>
                <a:ea typeface="Cambria" pitchFamily="34" charset="-122"/>
                <a:cs typeface="Cambria" pitchFamily="34" charset="-120"/>
              </a:rPr>
              <a:t>Cr</a:t>
            </a:r>
            <a:endParaRPr lang="en-US" sz="1400" dirty="0">
              <a:latin typeface="Felix Titling" panose="04060505060202020A04" pitchFamily="82" charset="0"/>
            </a:endParaRPr>
          </a:p>
        </p:txBody>
      </p:sp>
      <p:sp>
        <p:nvSpPr>
          <p:cNvPr id="25" name="Text 20"/>
          <p:cNvSpPr/>
          <p:nvPr/>
        </p:nvSpPr>
        <p:spPr>
          <a:xfrm>
            <a:off x="4646742" y="2221544"/>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Govt. Scheme</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Benefits</a:t>
            </a:r>
            <a:endParaRPr lang="en-US" sz="850" dirty="0"/>
          </a:p>
        </p:txBody>
      </p:sp>
      <p:sp>
        <p:nvSpPr>
          <p:cNvPr id="26" name="Shape 21"/>
          <p:cNvSpPr/>
          <p:nvPr/>
        </p:nvSpPr>
        <p:spPr>
          <a:xfrm>
            <a:off x="288102" y="2659904"/>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27" name="Image 3" descr="preencoded.png"/>
          <p:cNvPicPr>
            <a:picLocks noChangeAspect="1"/>
          </p:cNvPicPr>
          <p:nvPr/>
        </p:nvPicPr>
        <p:blipFill>
          <a:blip r:embed="rId6">
            <a:duotone>
              <a:schemeClr val="accent4">
                <a:shade val="45000"/>
                <a:satMod val="135000"/>
              </a:schemeClr>
              <a:prstClr val="white"/>
            </a:duotone>
          </a:blip>
          <a:stretch>
            <a:fillRect/>
          </a:stretch>
        </p:blipFill>
        <p:spPr>
          <a:xfrm>
            <a:off x="1117158" y="2769632"/>
            <a:ext cx="402336" cy="362102"/>
          </a:xfrm>
          <a:prstGeom prst="rect">
            <a:avLst/>
          </a:prstGeom>
        </p:spPr>
      </p:pic>
      <p:sp>
        <p:nvSpPr>
          <p:cNvPr id="28" name="Text 22"/>
          <p:cNvSpPr/>
          <p:nvPr/>
        </p:nvSpPr>
        <p:spPr>
          <a:xfrm>
            <a:off x="342966" y="3153871"/>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720</a:t>
            </a:r>
            <a:endParaRPr lang="en-US" sz="2800" dirty="0">
              <a:latin typeface="Felix Titling" panose="04060505060202020A04" pitchFamily="82" charset="0"/>
            </a:endParaRPr>
          </a:p>
        </p:txBody>
      </p:sp>
      <p:sp>
        <p:nvSpPr>
          <p:cNvPr id="29" name="Text 23"/>
          <p:cNvSpPr/>
          <p:nvPr/>
        </p:nvSpPr>
        <p:spPr>
          <a:xfrm>
            <a:off x="342966" y="3702320"/>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Govt. Scheme</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Beneficiaries</a:t>
            </a:r>
            <a:endParaRPr lang="en-US" sz="850" dirty="0"/>
          </a:p>
        </p:txBody>
      </p:sp>
      <p:sp>
        <p:nvSpPr>
          <p:cNvPr id="30" name="Shape 24"/>
          <p:cNvSpPr/>
          <p:nvPr/>
        </p:nvSpPr>
        <p:spPr>
          <a:xfrm>
            <a:off x="2439990" y="2659904"/>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31" name="Image 4" descr="preencoded.png"/>
          <p:cNvPicPr>
            <a:picLocks noChangeAspect="1"/>
          </p:cNvPicPr>
          <p:nvPr/>
        </p:nvPicPr>
        <p:blipFill>
          <a:blip r:embed="rId7">
            <a:duotone>
              <a:schemeClr val="accent4">
                <a:shade val="45000"/>
                <a:satMod val="135000"/>
              </a:schemeClr>
              <a:prstClr val="white"/>
            </a:duotone>
          </a:blip>
          <a:stretch>
            <a:fillRect/>
          </a:stretch>
        </p:blipFill>
        <p:spPr>
          <a:xfrm>
            <a:off x="3269046" y="2769632"/>
            <a:ext cx="402336" cy="362102"/>
          </a:xfrm>
          <a:prstGeom prst="rect">
            <a:avLst/>
          </a:prstGeom>
        </p:spPr>
      </p:pic>
      <p:sp>
        <p:nvSpPr>
          <p:cNvPr id="32" name="Text 25"/>
          <p:cNvSpPr/>
          <p:nvPr/>
        </p:nvSpPr>
        <p:spPr>
          <a:xfrm>
            <a:off x="2494854" y="3153871"/>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126</a:t>
            </a:r>
            <a:endParaRPr lang="en-US" sz="2800" dirty="0">
              <a:latin typeface="Felix Titling" panose="04060505060202020A04" pitchFamily="82" charset="0"/>
            </a:endParaRPr>
          </a:p>
        </p:txBody>
      </p:sp>
      <p:sp>
        <p:nvSpPr>
          <p:cNvPr id="33" name="Text 26"/>
          <p:cNvSpPr/>
          <p:nvPr/>
        </p:nvSpPr>
        <p:spPr>
          <a:xfrm>
            <a:off x="2494854" y="3702320"/>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Training</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Programmes</a:t>
            </a:r>
            <a:endParaRPr lang="en-US" sz="850" dirty="0"/>
          </a:p>
        </p:txBody>
      </p:sp>
      <p:sp>
        <p:nvSpPr>
          <p:cNvPr id="34" name="Shape 27"/>
          <p:cNvSpPr/>
          <p:nvPr/>
        </p:nvSpPr>
        <p:spPr>
          <a:xfrm>
            <a:off x="4591878" y="2659904"/>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35" name="Image 5" descr="preencoded.png"/>
          <p:cNvPicPr>
            <a:picLocks noChangeAspect="1"/>
          </p:cNvPicPr>
          <p:nvPr/>
        </p:nvPicPr>
        <p:blipFill>
          <a:blip r:embed="rId8">
            <a:duotone>
              <a:schemeClr val="accent4">
                <a:shade val="45000"/>
                <a:satMod val="135000"/>
              </a:schemeClr>
              <a:prstClr val="white"/>
            </a:duotone>
          </a:blip>
          <a:stretch>
            <a:fillRect/>
          </a:stretch>
        </p:blipFill>
        <p:spPr>
          <a:xfrm>
            <a:off x="5420934" y="2769632"/>
            <a:ext cx="402336" cy="362102"/>
          </a:xfrm>
          <a:prstGeom prst="rect">
            <a:avLst/>
          </a:prstGeom>
        </p:spPr>
      </p:pic>
      <p:sp>
        <p:nvSpPr>
          <p:cNvPr id="36" name="Text 28"/>
          <p:cNvSpPr/>
          <p:nvPr/>
        </p:nvSpPr>
        <p:spPr>
          <a:xfrm>
            <a:off x="4646742" y="3153871"/>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800+</a:t>
            </a:r>
            <a:endParaRPr lang="en-US" sz="2800" dirty="0">
              <a:latin typeface="Felix Titling" panose="04060505060202020A04" pitchFamily="82" charset="0"/>
            </a:endParaRPr>
          </a:p>
        </p:txBody>
      </p:sp>
      <p:sp>
        <p:nvSpPr>
          <p:cNvPr id="37" name="Text 29"/>
          <p:cNvSpPr/>
          <p:nvPr/>
        </p:nvSpPr>
        <p:spPr>
          <a:xfrm>
            <a:off x="4646742" y="3702320"/>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Participants</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Reached</a:t>
            </a:r>
            <a:endParaRPr lang="en-US" sz="850" dirty="0"/>
          </a:p>
        </p:txBody>
      </p:sp>
      <p:sp>
        <p:nvSpPr>
          <p:cNvPr id="38" name="Text 30"/>
          <p:cNvSpPr/>
          <p:nvPr/>
        </p:nvSpPr>
        <p:spPr>
          <a:xfrm>
            <a:off x="187916" y="449208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Block-wise Impact Comparison</a:t>
            </a:r>
            <a:endParaRPr lang="en-US" dirty="0">
              <a:latin typeface="Felix Titling" panose="04060505060202020A04" pitchFamily="82" charset="0"/>
            </a:endParaRPr>
          </a:p>
        </p:txBody>
      </p:sp>
      <p:sp>
        <p:nvSpPr>
          <p:cNvPr id="39" name="Shape 31"/>
          <p:cNvSpPr/>
          <p:nvPr/>
        </p:nvSpPr>
        <p:spPr>
          <a:xfrm>
            <a:off x="279356" y="4780095"/>
            <a:ext cx="822960" cy="45719"/>
          </a:xfrm>
          <a:prstGeom prst="rect">
            <a:avLst/>
          </a:prstGeom>
          <a:solidFill>
            <a:srgbClr val="C8960A"/>
          </a:solidFill>
          <a:ln w="12700">
            <a:solidFill>
              <a:srgbClr val="C8960A"/>
            </a:solidFill>
            <a:prstDash val="solid"/>
          </a:ln>
        </p:spPr>
      </p:sp>
      <p:sp>
        <p:nvSpPr>
          <p:cNvPr id="40" name="Shape 32"/>
          <p:cNvSpPr/>
          <p:nvPr/>
        </p:nvSpPr>
        <p:spPr>
          <a:xfrm>
            <a:off x="242780" y="4896183"/>
            <a:ext cx="1645920" cy="140176"/>
          </a:xfrm>
          <a:prstGeom prst="rect">
            <a:avLst/>
          </a:prstGeom>
          <a:solidFill>
            <a:srgbClr val="005F5F"/>
          </a:solidFill>
          <a:ln w="12700">
            <a:solidFill>
              <a:srgbClr val="005F5F"/>
            </a:solidFill>
            <a:prstDash val="solid"/>
          </a:ln>
        </p:spPr>
      </p:sp>
      <p:sp>
        <p:nvSpPr>
          <p:cNvPr id="41" name="Text 33"/>
          <p:cNvSpPr/>
          <p:nvPr/>
        </p:nvSpPr>
        <p:spPr>
          <a:xfrm>
            <a:off x="315932" y="4896183"/>
            <a:ext cx="1499616"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Indicator</a:t>
            </a:r>
            <a:endParaRPr lang="en-US" sz="1000" dirty="0">
              <a:latin typeface="Felix Titling" panose="04060505060202020A04" pitchFamily="82" charset="0"/>
            </a:endParaRPr>
          </a:p>
        </p:txBody>
      </p:sp>
      <p:sp>
        <p:nvSpPr>
          <p:cNvPr id="42" name="Shape 34"/>
          <p:cNvSpPr/>
          <p:nvPr/>
        </p:nvSpPr>
        <p:spPr>
          <a:xfrm>
            <a:off x="1888700" y="4896183"/>
            <a:ext cx="2286000" cy="140176"/>
          </a:xfrm>
          <a:prstGeom prst="rect">
            <a:avLst/>
          </a:prstGeom>
          <a:solidFill>
            <a:srgbClr val="005F5F"/>
          </a:solidFill>
          <a:ln w="12700">
            <a:solidFill>
              <a:srgbClr val="005F5F"/>
            </a:solidFill>
            <a:prstDash val="solid"/>
          </a:ln>
        </p:spPr>
      </p:sp>
      <p:sp>
        <p:nvSpPr>
          <p:cNvPr id="43" name="Text 35"/>
          <p:cNvSpPr/>
          <p:nvPr/>
        </p:nvSpPr>
        <p:spPr>
          <a:xfrm>
            <a:off x="1961852" y="4896183"/>
            <a:ext cx="2139696"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Poladpur Block</a:t>
            </a:r>
            <a:endParaRPr lang="en-US" sz="1000" dirty="0">
              <a:latin typeface="Felix Titling" panose="04060505060202020A04" pitchFamily="82" charset="0"/>
            </a:endParaRPr>
          </a:p>
        </p:txBody>
      </p:sp>
      <p:sp>
        <p:nvSpPr>
          <p:cNvPr id="44" name="Shape 36"/>
          <p:cNvSpPr/>
          <p:nvPr/>
        </p:nvSpPr>
        <p:spPr>
          <a:xfrm>
            <a:off x="4174700" y="4896183"/>
            <a:ext cx="1536192" cy="140176"/>
          </a:xfrm>
          <a:prstGeom prst="rect">
            <a:avLst/>
          </a:prstGeom>
          <a:solidFill>
            <a:srgbClr val="005F5F"/>
          </a:solidFill>
          <a:ln w="12700">
            <a:solidFill>
              <a:srgbClr val="005F5F"/>
            </a:solidFill>
            <a:prstDash val="solid"/>
          </a:ln>
        </p:spPr>
      </p:sp>
      <p:sp>
        <p:nvSpPr>
          <p:cNvPr id="45" name="Text 37"/>
          <p:cNvSpPr/>
          <p:nvPr/>
        </p:nvSpPr>
        <p:spPr>
          <a:xfrm>
            <a:off x="4247852" y="4896183"/>
            <a:ext cx="1389888"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Mahad Block</a:t>
            </a:r>
            <a:endParaRPr lang="en-US" sz="1000" dirty="0">
              <a:latin typeface="Felix Titling" panose="04060505060202020A04" pitchFamily="82" charset="0"/>
            </a:endParaRPr>
          </a:p>
        </p:txBody>
      </p:sp>
      <p:sp>
        <p:nvSpPr>
          <p:cNvPr id="46" name="Shape 38"/>
          <p:cNvSpPr/>
          <p:nvPr/>
        </p:nvSpPr>
        <p:spPr>
          <a:xfrm>
            <a:off x="5710892" y="4896183"/>
            <a:ext cx="1026646" cy="140176"/>
          </a:xfrm>
          <a:prstGeom prst="rect">
            <a:avLst/>
          </a:prstGeom>
          <a:solidFill>
            <a:srgbClr val="005F5F"/>
          </a:solidFill>
          <a:ln w="12700">
            <a:solidFill>
              <a:srgbClr val="005F5F"/>
            </a:solidFill>
            <a:prstDash val="solid"/>
          </a:ln>
        </p:spPr>
      </p:sp>
      <p:sp>
        <p:nvSpPr>
          <p:cNvPr id="47" name="Text 39"/>
          <p:cNvSpPr/>
          <p:nvPr/>
        </p:nvSpPr>
        <p:spPr>
          <a:xfrm>
            <a:off x="5784044" y="4896183"/>
            <a:ext cx="791984"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TOTAL</a:t>
            </a:r>
            <a:endParaRPr lang="en-US" sz="1000" dirty="0">
              <a:latin typeface="Felix Titling" panose="04060505060202020A04" pitchFamily="82" charset="0"/>
            </a:endParaRPr>
          </a:p>
        </p:txBody>
      </p:sp>
      <p:sp>
        <p:nvSpPr>
          <p:cNvPr id="48" name="Shape 40"/>
          <p:cNvSpPr/>
          <p:nvPr/>
        </p:nvSpPr>
        <p:spPr>
          <a:xfrm>
            <a:off x="242780" y="5064487"/>
            <a:ext cx="1645920" cy="327078"/>
          </a:xfrm>
          <a:prstGeom prst="rect">
            <a:avLst/>
          </a:prstGeom>
          <a:solidFill>
            <a:srgbClr val="FFFFFF"/>
          </a:solidFill>
          <a:ln w="12700">
            <a:solidFill>
              <a:srgbClr val="E5EDED"/>
            </a:solidFill>
            <a:prstDash val="solid"/>
          </a:ln>
        </p:spPr>
      </p:sp>
      <p:sp>
        <p:nvSpPr>
          <p:cNvPr id="49" name="Text 41"/>
          <p:cNvSpPr/>
          <p:nvPr/>
        </p:nvSpPr>
        <p:spPr>
          <a:xfrm>
            <a:off x="315932" y="5110207"/>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Govt. Scheme Beneficiaries</a:t>
            </a:r>
            <a:endParaRPr lang="en-US" sz="1000" dirty="0">
              <a:latin typeface="Felix Titling" panose="04060505060202020A04" pitchFamily="82" charset="0"/>
            </a:endParaRPr>
          </a:p>
        </p:txBody>
      </p:sp>
      <p:sp>
        <p:nvSpPr>
          <p:cNvPr id="50" name="Shape 42"/>
          <p:cNvSpPr/>
          <p:nvPr/>
        </p:nvSpPr>
        <p:spPr>
          <a:xfrm>
            <a:off x="1888700" y="5064487"/>
            <a:ext cx="2286000" cy="327078"/>
          </a:xfrm>
          <a:prstGeom prst="rect">
            <a:avLst/>
          </a:prstGeom>
          <a:solidFill>
            <a:srgbClr val="FFFFFF"/>
          </a:solidFill>
          <a:ln w="12700">
            <a:solidFill>
              <a:srgbClr val="E5EDED"/>
            </a:solidFill>
            <a:prstDash val="solid"/>
          </a:ln>
        </p:spPr>
      </p:sp>
      <p:sp>
        <p:nvSpPr>
          <p:cNvPr id="51" name="Text 43"/>
          <p:cNvSpPr/>
          <p:nvPr/>
        </p:nvSpPr>
        <p:spPr>
          <a:xfrm>
            <a:off x="1961852" y="5110207"/>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485</a:t>
            </a:r>
            <a:endParaRPr lang="en-US" sz="1000" dirty="0">
              <a:latin typeface="Felix Titling" panose="04060505060202020A04" pitchFamily="82" charset="0"/>
            </a:endParaRPr>
          </a:p>
        </p:txBody>
      </p:sp>
      <p:sp>
        <p:nvSpPr>
          <p:cNvPr id="52" name="Shape 44"/>
          <p:cNvSpPr/>
          <p:nvPr/>
        </p:nvSpPr>
        <p:spPr>
          <a:xfrm>
            <a:off x="4174700" y="5064487"/>
            <a:ext cx="1536192" cy="327078"/>
          </a:xfrm>
          <a:prstGeom prst="rect">
            <a:avLst/>
          </a:prstGeom>
          <a:solidFill>
            <a:srgbClr val="FFFFFF"/>
          </a:solidFill>
          <a:ln w="12700">
            <a:solidFill>
              <a:srgbClr val="E5EDED"/>
            </a:solidFill>
            <a:prstDash val="solid"/>
          </a:ln>
        </p:spPr>
      </p:sp>
      <p:sp>
        <p:nvSpPr>
          <p:cNvPr id="53" name="Text 45"/>
          <p:cNvSpPr/>
          <p:nvPr/>
        </p:nvSpPr>
        <p:spPr>
          <a:xfrm>
            <a:off x="4247852" y="5110207"/>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235</a:t>
            </a:r>
            <a:endParaRPr lang="en-US" sz="1000" dirty="0">
              <a:latin typeface="Felix Titling" panose="04060505060202020A04" pitchFamily="82" charset="0"/>
            </a:endParaRPr>
          </a:p>
        </p:txBody>
      </p:sp>
      <p:sp>
        <p:nvSpPr>
          <p:cNvPr id="54" name="Shape 46"/>
          <p:cNvSpPr/>
          <p:nvPr/>
        </p:nvSpPr>
        <p:spPr>
          <a:xfrm>
            <a:off x="5710892" y="5064487"/>
            <a:ext cx="1026646" cy="327078"/>
          </a:xfrm>
          <a:prstGeom prst="rect">
            <a:avLst/>
          </a:prstGeom>
          <a:solidFill>
            <a:srgbClr val="FFFFFF"/>
          </a:solidFill>
          <a:ln w="12700">
            <a:solidFill>
              <a:srgbClr val="E5EDED"/>
            </a:solidFill>
            <a:prstDash val="solid"/>
          </a:ln>
        </p:spPr>
      </p:sp>
      <p:sp>
        <p:nvSpPr>
          <p:cNvPr id="55" name="Text 47"/>
          <p:cNvSpPr/>
          <p:nvPr/>
        </p:nvSpPr>
        <p:spPr>
          <a:xfrm>
            <a:off x="5784044" y="5110207"/>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720</a:t>
            </a:r>
            <a:endParaRPr lang="en-US" sz="1000" dirty="0">
              <a:latin typeface="Felix Titling" panose="04060505060202020A04" pitchFamily="82" charset="0"/>
            </a:endParaRPr>
          </a:p>
        </p:txBody>
      </p:sp>
      <p:sp>
        <p:nvSpPr>
          <p:cNvPr id="56" name="Shape 48"/>
          <p:cNvSpPr/>
          <p:nvPr/>
        </p:nvSpPr>
        <p:spPr>
          <a:xfrm>
            <a:off x="240262" y="5404460"/>
            <a:ext cx="1645920" cy="327078"/>
          </a:xfrm>
          <a:prstGeom prst="rect">
            <a:avLst/>
          </a:prstGeom>
          <a:solidFill>
            <a:srgbClr val="F5FCFC"/>
          </a:solidFill>
          <a:ln w="12700">
            <a:solidFill>
              <a:srgbClr val="E5EDED"/>
            </a:solidFill>
            <a:prstDash val="solid"/>
          </a:ln>
        </p:spPr>
      </p:sp>
      <p:sp>
        <p:nvSpPr>
          <p:cNvPr id="57" name="Text 49"/>
          <p:cNvSpPr/>
          <p:nvPr/>
        </p:nvSpPr>
        <p:spPr>
          <a:xfrm>
            <a:off x="313414" y="5450180"/>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Govt. Scheme Benefits</a:t>
            </a:r>
            <a:endParaRPr lang="en-US" sz="1000" dirty="0">
              <a:latin typeface="Felix Titling" panose="04060505060202020A04" pitchFamily="82" charset="0"/>
            </a:endParaRPr>
          </a:p>
        </p:txBody>
      </p:sp>
      <p:sp>
        <p:nvSpPr>
          <p:cNvPr id="58" name="Shape 50"/>
          <p:cNvSpPr/>
          <p:nvPr/>
        </p:nvSpPr>
        <p:spPr>
          <a:xfrm>
            <a:off x="1886182" y="5404460"/>
            <a:ext cx="2286000" cy="327078"/>
          </a:xfrm>
          <a:prstGeom prst="rect">
            <a:avLst/>
          </a:prstGeom>
          <a:solidFill>
            <a:srgbClr val="F5FCFC"/>
          </a:solidFill>
          <a:ln w="12700">
            <a:solidFill>
              <a:srgbClr val="E5EDED"/>
            </a:solidFill>
            <a:prstDash val="solid"/>
          </a:ln>
        </p:spPr>
      </p:sp>
      <p:sp>
        <p:nvSpPr>
          <p:cNvPr id="59" name="Text 51"/>
          <p:cNvSpPr/>
          <p:nvPr/>
        </p:nvSpPr>
        <p:spPr>
          <a:xfrm>
            <a:off x="1959334" y="5450180"/>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₹3.05 Crore</a:t>
            </a:r>
            <a:endParaRPr lang="en-US" sz="1000" dirty="0">
              <a:latin typeface="Felix Titling" panose="04060505060202020A04" pitchFamily="82" charset="0"/>
            </a:endParaRPr>
          </a:p>
        </p:txBody>
      </p:sp>
      <p:sp>
        <p:nvSpPr>
          <p:cNvPr id="60" name="Shape 52"/>
          <p:cNvSpPr/>
          <p:nvPr/>
        </p:nvSpPr>
        <p:spPr>
          <a:xfrm>
            <a:off x="4172182" y="5404460"/>
            <a:ext cx="1536192" cy="327078"/>
          </a:xfrm>
          <a:prstGeom prst="rect">
            <a:avLst/>
          </a:prstGeom>
          <a:solidFill>
            <a:srgbClr val="F5FCFC"/>
          </a:solidFill>
          <a:ln w="12700">
            <a:solidFill>
              <a:srgbClr val="E5EDED"/>
            </a:solidFill>
            <a:prstDash val="solid"/>
          </a:ln>
        </p:spPr>
      </p:sp>
      <p:sp>
        <p:nvSpPr>
          <p:cNvPr id="61" name="Text 53"/>
          <p:cNvSpPr/>
          <p:nvPr/>
        </p:nvSpPr>
        <p:spPr>
          <a:xfrm>
            <a:off x="4245334" y="5450180"/>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₹1.78 Crore</a:t>
            </a:r>
            <a:endParaRPr lang="en-US" sz="1000" dirty="0">
              <a:latin typeface="Felix Titling" panose="04060505060202020A04" pitchFamily="82" charset="0"/>
            </a:endParaRPr>
          </a:p>
        </p:txBody>
      </p:sp>
      <p:sp>
        <p:nvSpPr>
          <p:cNvPr id="62" name="Shape 54"/>
          <p:cNvSpPr/>
          <p:nvPr/>
        </p:nvSpPr>
        <p:spPr>
          <a:xfrm>
            <a:off x="5708374" y="5404460"/>
            <a:ext cx="1026646" cy="327078"/>
          </a:xfrm>
          <a:prstGeom prst="rect">
            <a:avLst/>
          </a:prstGeom>
          <a:solidFill>
            <a:srgbClr val="F5FCFC"/>
          </a:solidFill>
          <a:ln w="12700">
            <a:solidFill>
              <a:srgbClr val="E5EDED"/>
            </a:solidFill>
            <a:prstDash val="solid"/>
          </a:ln>
        </p:spPr>
      </p:sp>
      <p:sp>
        <p:nvSpPr>
          <p:cNvPr id="63" name="Text 55"/>
          <p:cNvSpPr/>
          <p:nvPr/>
        </p:nvSpPr>
        <p:spPr>
          <a:xfrm>
            <a:off x="5781526" y="5450180"/>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₹4.83 Crore</a:t>
            </a:r>
            <a:endParaRPr lang="en-US" sz="1000" dirty="0">
              <a:latin typeface="Felix Titling" panose="04060505060202020A04" pitchFamily="82" charset="0"/>
            </a:endParaRPr>
          </a:p>
        </p:txBody>
      </p:sp>
      <p:sp>
        <p:nvSpPr>
          <p:cNvPr id="64" name="Shape 56"/>
          <p:cNvSpPr/>
          <p:nvPr/>
        </p:nvSpPr>
        <p:spPr>
          <a:xfrm>
            <a:off x="240262" y="5755729"/>
            <a:ext cx="1645920" cy="327078"/>
          </a:xfrm>
          <a:prstGeom prst="rect">
            <a:avLst/>
          </a:prstGeom>
          <a:solidFill>
            <a:srgbClr val="FFFFFF"/>
          </a:solidFill>
          <a:ln w="12700">
            <a:solidFill>
              <a:srgbClr val="E5EDED"/>
            </a:solidFill>
            <a:prstDash val="solid"/>
          </a:ln>
        </p:spPr>
      </p:sp>
      <p:sp>
        <p:nvSpPr>
          <p:cNvPr id="65" name="Text 57"/>
          <p:cNvSpPr/>
          <p:nvPr/>
        </p:nvSpPr>
        <p:spPr>
          <a:xfrm>
            <a:off x="313414" y="5801449"/>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PMAY Housing Families</a:t>
            </a:r>
            <a:endParaRPr lang="en-US" sz="1000" dirty="0">
              <a:latin typeface="Felix Titling" panose="04060505060202020A04" pitchFamily="82" charset="0"/>
            </a:endParaRPr>
          </a:p>
        </p:txBody>
      </p:sp>
      <p:sp>
        <p:nvSpPr>
          <p:cNvPr id="66" name="Shape 58"/>
          <p:cNvSpPr/>
          <p:nvPr/>
        </p:nvSpPr>
        <p:spPr>
          <a:xfrm>
            <a:off x="1886182" y="5755729"/>
            <a:ext cx="2286000" cy="327078"/>
          </a:xfrm>
          <a:prstGeom prst="rect">
            <a:avLst/>
          </a:prstGeom>
          <a:solidFill>
            <a:srgbClr val="FFFFFF"/>
          </a:solidFill>
          <a:ln w="12700">
            <a:solidFill>
              <a:srgbClr val="E5EDED"/>
            </a:solidFill>
            <a:prstDash val="solid"/>
          </a:ln>
        </p:spPr>
      </p:sp>
      <p:sp>
        <p:nvSpPr>
          <p:cNvPr id="67" name="Text 59"/>
          <p:cNvSpPr/>
          <p:nvPr/>
        </p:nvSpPr>
        <p:spPr>
          <a:xfrm>
            <a:off x="1959334" y="5801449"/>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116 families</a:t>
            </a:r>
            <a:endParaRPr lang="en-US" sz="1000" dirty="0">
              <a:latin typeface="Felix Titling" panose="04060505060202020A04" pitchFamily="82" charset="0"/>
            </a:endParaRPr>
          </a:p>
        </p:txBody>
      </p:sp>
      <p:sp>
        <p:nvSpPr>
          <p:cNvPr id="68" name="Shape 60"/>
          <p:cNvSpPr/>
          <p:nvPr/>
        </p:nvSpPr>
        <p:spPr>
          <a:xfrm>
            <a:off x="4172182" y="5755729"/>
            <a:ext cx="1536192" cy="327078"/>
          </a:xfrm>
          <a:prstGeom prst="rect">
            <a:avLst/>
          </a:prstGeom>
          <a:solidFill>
            <a:srgbClr val="FFFFFF"/>
          </a:solidFill>
          <a:ln w="12700">
            <a:solidFill>
              <a:srgbClr val="E5EDED"/>
            </a:solidFill>
            <a:prstDash val="solid"/>
          </a:ln>
        </p:spPr>
      </p:sp>
      <p:sp>
        <p:nvSpPr>
          <p:cNvPr id="69" name="Text 61"/>
          <p:cNvSpPr/>
          <p:nvPr/>
        </p:nvSpPr>
        <p:spPr>
          <a:xfrm>
            <a:off x="4245334" y="5801449"/>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62 families</a:t>
            </a:r>
            <a:endParaRPr lang="en-US" sz="1000" dirty="0">
              <a:latin typeface="Felix Titling" panose="04060505060202020A04" pitchFamily="82" charset="0"/>
            </a:endParaRPr>
          </a:p>
        </p:txBody>
      </p:sp>
      <p:sp>
        <p:nvSpPr>
          <p:cNvPr id="70" name="Shape 62"/>
          <p:cNvSpPr/>
          <p:nvPr/>
        </p:nvSpPr>
        <p:spPr>
          <a:xfrm>
            <a:off x="5708374" y="5755729"/>
            <a:ext cx="1026646" cy="327078"/>
          </a:xfrm>
          <a:prstGeom prst="rect">
            <a:avLst/>
          </a:prstGeom>
          <a:solidFill>
            <a:srgbClr val="FFFFFF"/>
          </a:solidFill>
          <a:ln w="12700">
            <a:solidFill>
              <a:srgbClr val="E5EDED"/>
            </a:solidFill>
            <a:prstDash val="solid"/>
          </a:ln>
        </p:spPr>
      </p:sp>
      <p:sp>
        <p:nvSpPr>
          <p:cNvPr id="71" name="Text 63"/>
          <p:cNvSpPr/>
          <p:nvPr/>
        </p:nvSpPr>
        <p:spPr>
          <a:xfrm>
            <a:off x="5781526" y="5801449"/>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178 families</a:t>
            </a:r>
            <a:endParaRPr lang="en-US" sz="1000" dirty="0">
              <a:latin typeface="Felix Titling" panose="04060505060202020A04" pitchFamily="82" charset="0"/>
            </a:endParaRPr>
          </a:p>
        </p:txBody>
      </p:sp>
      <p:sp>
        <p:nvSpPr>
          <p:cNvPr id="72" name="Shape 64"/>
          <p:cNvSpPr/>
          <p:nvPr/>
        </p:nvSpPr>
        <p:spPr>
          <a:xfrm>
            <a:off x="231118" y="6106546"/>
            <a:ext cx="1645920" cy="327078"/>
          </a:xfrm>
          <a:prstGeom prst="rect">
            <a:avLst/>
          </a:prstGeom>
          <a:solidFill>
            <a:srgbClr val="F5FCFC"/>
          </a:solidFill>
          <a:ln w="12700">
            <a:solidFill>
              <a:srgbClr val="E5EDED"/>
            </a:solidFill>
            <a:prstDash val="solid"/>
          </a:ln>
        </p:spPr>
      </p:sp>
      <p:sp>
        <p:nvSpPr>
          <p:cNvPr id="73" name="Text 65"/>
          <p:cNvSpPr/>
          <p:nvPr/>
        </p:nvSpPr>
        <p:spPr>
          <a:xfrm>
            <a:off x="304270" y="6152266"/>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Shabari Awas Families</a:t>
            </a:r>
            <a:endParaRPr lang="en-US" sz="1000" dirty="0">
              <a:latin typeface="Felix Titling" panose="04060505060202020A04" pitchFamily="82" charset="0"/>
            </a:endParaRPr>
          </a:p>
        </p:txBody>
      </p:sp>
      <p:sp>
        <p:nvSpPr>
          <p:cNvPr id="74" name="Shape 66"/>
          <p:cNvSpPr/>
          <p:nvPr/>
        </p:nvSpPr>
        <p:spPr>
          <a:xfrm>
            <a:off x="1877038" y="6106546"/>
            <a:ext cx="2286000" cy="327078"/>
          </a:xfrm>
          <a:prstGeom prst="rect">
            <a:avLst/>
          </a:prstGeom>
          <a:solidFill>
            <a:srgbClr val="F5FCFC"/>
          </a:solidFill>
          <a:ln w="12700">
            <a:solidFill>
              <a:srgbClr val="E5EDED"/>
            </a:solidFill>
            <a:prstDash val="solid"/>
          </a:ln>
        </p:spPr>
      </p:sp>
      <p:sp>
        <p:nvSpPr>
          <p:cNvPr id="75" name="Text 67"/>
          <p:cNvSpPr/>
          <p:nvPr/>
        </p:nvSpPr>
        <p:spPr>
          <a:xfrm>
            <a:off x="1950190" y="6152266"/>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18 families</a:t>
            </a:r>
            <a:endParaRPr lang="en-US" sz="1000" dirty="0">
              <a:latin typeface="Felix Titling" panose="04060505060202020A04" pitchFamily="82" charset="0"/>
            </a:endParaRPr>
          </a:p>
        </p:txBody>
      </p:sp>
      <p:sp>
        <p:nvSpPr>
          <p:cNvPr id="76" name="Shape 68"/>
          <p:cNvSpPr/>
          <p:nvPr/>
        </p:nvSpPr>
        <p:spPr>
          <a:xfrm>
            <a:off x="4163038" y="6106546"/>
            <a:ext cx="1536192" cy="327078"/>
          </a:xfrm>
          <a:prstGeom prst="rect">
            <a:avLst/>
          </a:prstGeom>
          <a:solidFill>
            <a:srgbClr val="F5FCFC"/>
          </a:solidFill>
          <a:ln w="12700">
            <a:solidFill>
              <a:srgbClr val="E5EDED"/>
            </a:solidFill>
            <a:prstDash val="solid"/>
          </a:ln>
        </p:spPr>
      </p:sp>
      <p:sp>
        <p:nvSpPr>
          <p:cNvPr id="77" name="Text 69"/>
          <p:cNvSpPr/>
          <p:nvPr/>
        </p:nvSpPr>
        <p:spPr>
          <a:xfrm>
            <a:off x="4236190" y="6152266"/>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22 families</a:t>
            </a:r>
            <a:endParaRPr lang="en-US" sz="1000" dirty="0">
              <a:latin typeface="Felix Titling" panose="04060505060202020A04" pitchFamily="82" charset="0"/>
            </a:endParaRPr>
          </a:p>
        </p:txBody>
      </p:sp>
      <p:sp>
        <p:nvSpPr>
          <p:cNvPr id="78" name="Shape 70"/>
          <p:cNvSpPr/>
          <p:nvPr/>
        </p:nvSpPr>
        <p:spPr>
          <a:xfrm>
            <a:off x="5699230" y="6106546"/>
            <a:ext cx="1026646" cy="327078"/>
          </a:xfrm>
          <a:prstGeom prst="rect">
            <a:avLst/>
          </a:prstGeom>
          <a:solidFill>
            <a:srgbClr val="F5FCFC"/>
          </a:solidFill>
          <a:ln w="12700">
            <a:solidFill>
              <a:srgbClr val="E5EDED"/>
            </a:solidFill>
            <a:prstDash val="solid"/>
          </a:ln>
        </p:spPr>
      </p:sp>
      <p:sp>
        <p:nvSpPr>
          <p:cNvPr id="79" name="Text 71"/>
          <p:cNvSpPr/>
          <p:nvPr/>
        </p:nvSpPr>
        <p:spPr>
          <a:xfrm>
            <a:off x="5772382" y="6152266"/>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40 families</a:t>
            </a:r>
            <a:endParaRPr lang="en-US" sz="1000" dirty="0">
              <a:latin typeface="Felix Titling" panose="04060505060202020A04" pitchFamily="82" charset="0"/>
            </a:endParaRPr>
          </a:p>
        </p:txBody>
      </p:sp>
      <p:sp>
        <p:nvSpPr>
          <p:cNvPr id="80" name="Shape 72"/>
          <p:cNvSpPr/>
          <p:nvPr/>
        </p:nvSpPr>
        <p:spPr>
          <a:xfrm>
            <a:off x="244370" y="6457507"/>
            <a:ext cx="1645920" cy="327078"/>
          </a:xfrm>
          <a:prstGeom prst="rect">
            <a:avLst/>
          </a:prstGeom>
          <a:solidFill>
            <a:srgbClr val="FFFFFF"/>
          </a:solidFill>
          <a:ln w="12700">
            <a:solidFill>
              <a:srgbClr val="E5EDED"/>
            </a:solidFill>
            <a:prstDash val="solid"/>
          </a:ln>
        </p:spPr>
      </p:sp>
      <p:sp>
        <p:nvSpPr>
          <p:cNvPr id="81" name="Text 73"/>
          <p:cNvSpPr/>
          <p:nvPr/>
        </p:nvSpPr>
        <p:spPr>
          <a:xfrm>
            <a:off x="317522" y="6503227"/>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Caste Certificates</a:t>
            </a:r>
            <a:endParaRPr lang="en-US" sz="1000" dirty="0">
              <a:latin typeface="Felix Titling" panose="04060505060202020A04" pitchFamily="82" charset="0"/>
            </a:endParaRPr>
          </a:p>
        </p:txBody>
      </p:sp>
      <p:sp>
        <p:nvSpPr>
          <p:cNvPr id="82" name="Shape 74"/>
          <p:cNvSpPr/>
          <p:nvPr/>
        </p:nvSpPr>
        <p:spPr>
          <a:xfrm>
            <a:off x="1890290" y="6457507"/>
            <a:ext cx="2286000" cy="327078"/>
          </a:xfrm>
          <a:prstGeom prst="rect">
            <a:avLst/>
          </a:prstGeom>
          <a:solidFill>
            <a:srgbClr val="FFFFFF"/>
          </a:solidFill>
          <a:ln w="12700">
            <a:solidFill>
              <a:srgbClr val="E5EDED"/>
            </a:solidFill>
            <a:prstDash val="solid"/>
          </a:ln>
        </p:spPr>
      </p:sp>
      <p:sp>
        <p:nvSpPr>
          <p:cNvPr id="83" name="Text 75"/>
          <p:cNvSpPr/>
          <p:nvPr/>
        </p:nvSpPr>
        <p:spPr>
          <a:xfrm>
            <a:off x="1963442" y="6503227"/>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257 beneficiaries</a:t>
            </a:r>
            <a:endParaRPr lang="en-US" sz="1000" dirty="0">
              <a:latin typeface="Felix Titling" panose="04060505060202020A04" pitchFamily="82" charset="0"/>
            </a:endParaRPr>
          </a:p>
        </p:txBody>
      </p:sp>
      <p:sp>
        <p:nvSpPr>
          <p:cNvPr id="84" name="Shape 76"/>
          <p:cNvSpPr/>
          <p:nvPr/>
        </p:nvSpPr>
        <p:spPr>
          <a:xfrm>
            <a:off x="4176290" y="6457507"/>
            <a:ext cx="1536192" cy="327078"/>
          </a:xfrm>
          <a:prstGeom prst="rect">
            <a:avLst/>
          </a:prstGeom>
          <a:solidFill>
            <a:srgbClr val="FFFFFF"/>
          </a:solidFill>
          <a:ln w="12700">
            <a:solidFill>
              <a:srgbClr val="E5EDED"/>
            </a:solidFill>
            <a:prstDash val="solid"/>
          </a:ln>
        </p:spPr>
      </p:sp>
      <p:sp>
        <p:nvSpPr>
          <p:cNvPr id="85" name="Text 77"/>
          <p:cNvSpPr/>
          <p:nvPr/>
        </p:nvSpPr>
        <p:spPr>
          <a:xfrm>
            <a:off x="4249442" y="6503227"/>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Multiple</a:t>
            </a:r>
            <a:endParaRPr lang="en-US" sz="1000" dirty="0">
              <a:latin typeface="Felix Titling" panose="04060505060202020A04" pitchFamily="82" charset="0"/>
            </a:endParaRPr>
          </a:p>
        </p:txBody>
      </p:sp>
      <p:sp>
        <p:nvSpPr>
          <p:cNvPr id="86" name="Shape 78"/>
          <p:cNvSpPr/>
          <p:nvPr/>
        </p:nvSpPr>
        <p:spPr>
          <a:xfrm>
            <a:off x="5712482" y="6457507"/>
            <a:ext cx="1026646" cy="327078"/>
          </a:xfrm>
          <a:prstGeom prst="rect">
            <a:avLst/>
          </a:prstGeom>
          <a:solidFill>
            <a:srgbClr val="FFFFFF"/>
          </a:solidFill>
          <a:ln w="12700">
            <a:solidFill>
              <a:srgbClr val="E5EDED"/>
            </a:solidFill>
            <a:prstDash val="solid"/>
          </a:ln>
        </p:spPr>
      </p:sp>
      <p:sp>
        <p:nvSpPr>
          <p:cNvPr id="87" name="Text 79"/>
          <p:cNvSpPr/>
          <p:nvPr/>
        </p:nvSpPr>
        <p:spPr>
          <a:xfrm>
            <a:off x="5785634" y="6503227"/>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257+</a:t>
            </a:r>
            <a:endParaRPr lang="en-US" sz="1000" dirty="0">
              <a:latin typeface="Felix Titling" panose="04060505060202020A04" pitchFamily="82" charset="0"/>
            </a:endParaRPr>
          </a:p>
        </p:txBody>
      </p:sp>
      <p:sp>
        <p:nvSpPr>
          <p:cNvPr id="88" name="Text 80"/>
          <p:cNvSpPr/>
          <p:nvPr/>
        </p:nvSpPr>
        <p:spPr>
          <a:xfrm>
            <a:off x="201168" y="7195781"/>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Fisheries Livelihood Impact</a:t>
            </a:r>
            <a:endParaRPr lang="en-US" dirty="0">
              <a:latin typeface="Felix Titling" panose="04060505060202020A04" pitchFamily="82" charset="0"/>
            </a:endParaRPr>
          </a:p>
        </p:txBody>
      </p:sp>
      <p:sp>
        <p:nvSpPr>
          <p:cNvPr id="89" name="Shape 81"/>
          <p:cNvSpPr/>
          <p:nvPr/>
        </p:nvSpPr>
        <p:spPr>
          <a:xfrm>
            <a:off x="219455" y="7520975"/>
            <a:ext cx="981599" cy="45719"/>
          </a:xfrm>
          <a:prstGeom prst="rect">
            <a:avLst/>
          </a:prstGeom>
          <a:solidFill>
            <a:srgbClr val="C8960A"/>
          </a:solidFill>
          <a:ln w="12700">
            <a:solidFill>
              <a:srgbClr val="C8960A"/>
            </a:solidFill>
            <a:prstDash val="solid"/>
          </a:ln>
        </p:spPr>
      </p:sp>
      <p:sp>
        <p:nvSpPr>
          <p:cNvPr id="90" name="Shape 82"/>
          <p:cNvSpPr/>
          <p:nvPr/>
        </p:nvSpPr>
        <p:spPr>
          <a:xfrm>
            <a:off x="182880" y="7513450"/>
            <a:ext cx="1963198" cy="254412"/>
          </a:xfrm>
          <a:prstGeom prst="rect">
            <a:avLst/>
          </a:prstGeom>
          <a:solidFill>
            <a:srgbClr val="005F5F"/>
          </a:solidFill>
          <a:ln w="12700">
            <a:solidFill>
              <a:srgbClr val="005F5F"/>
            </a:solidFill>
            <a:prstDash val="solid"/>
          </a:ln>
        </p:spPr>
      </p:sp>
      <p:sp>
        <p:nvSpPr>
          <p:cNvPr id="91" name="Text 83"/>
          <p:cNvSpPr/>
          <p:nvPr/>
        </p:nvSpPr>
        <p:spPr>
          <a:xfrm>
            <a:off x="256032" y="7513450"/>
            <a:ext cx="1788692"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Category</a:t>
            </a:r>
            <a:endParaRPr lang="en-US" sz="1000" dirty="0">
              <a:latin typeface="Felix Titling" panose="04060505060202020A04" pitchFamily="82" charset="0"/>
            </a:endParaRPr>
          </a:p>
        </p:txBody>
      </p:sp>
      <p:sp>
        <p:nvSpPr>
          <p:cNvPr id="92" name="Shape 84"/>
          <p:cNvSpPr/>
          <p:nvPr/>
        </p:nvSpPr>
        <p:spPr>
          <a:xfrm>
            <a:off x="1828800" y="7513450"/>
            <a:ext cx="1090666" cy="254412"/>
          </a:xfrm>
          <a:prstGeom prst="rect">
            <a:avLst/>
          </a:prstGeom>
          <a:solidFill>
            <a:srgbClr val="005F5F"/>
          </a:solidFill>
          <a:ln w="12700">
            <a:solidFill>
              <a:srgbClr val="005F5F"/>
            </a:solidFill>
            <a:prstDash val="solid"/>
          </a:ln>
        </p:spPr>
      </p:sp>
      <p:sp>
        <p:nvSpPr>
          <p:cNvPr id="93" name="Text 85"/>
          <p:cNvSpPr/>
          <p:nvPr/>
        </p:nvSpPr>
        <p:spPr>
          <a:xfrm>
            <a:off x="1901951" y="7513450"/>
            <a:ext cx="916159"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94" name="Shape 86"/>
          <p:cNvSpPr/>
          <p:nvPr/>
        </p:nvSpPr>
        <p:spPr>
          <a:xfrm>
            <a:off x="2743200" y="7513450"/>
            <a:ext cx="1526932" cy="254412"/>
          </a:xfrm>
          <a:prstGeom prst="rect">
            <a:avLst/>
          </a:prstGeom>
          <a:solidFill>
            <a:srgbClr val="005F5F"/>
          </a:solidFill>
          <a:ln w="12700">
            <a:solidFill>
              <a:srgbClr val="005F5F"/>
            </a:solidFill>
            <a:prstDash val="solid"/>
          </a:ln>
        </p:spPr>
      </p:sp>
      <p:sp>
        <p:nvSpPr>
          <p:cNvPr id="95" name="Text 87"/>
          <p:cNvSpPr/>
          <p:nvPr/>
        </p:nvSpPr>
        <p:spPr>
          <a:xfrm>
            <a:off x="2816351" y="7513450"/>
            <a:ext cx="1352425"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Fish Production</a:t>
            </a:r>
            <a:endParaRPr lang="en-US" sz="1000" dirty="0">
              <a:latin typeface="Felix Titling" panose="04060505060202020A04" pitchFamily="82" charset="0"/>
            </a:endParaRPr>
          </a:p>
        </p:txBody>
      </p:sp>
      <p:sp>
        <p:nvSpPr>
          <p:cNvPr id="96" name="Shape 88"/>
          <p:cNvSpPr/>
          <p:nvPr/>
        </p:nvSpPr>
        <p:spPr>
          <a:xfrm>
            <a:off x="4023360" y="7512872"/>
            <a:ext cx="1231908" cy="265793"/>
          </a:xfrm>
          <a:prstGeom prst="rect">
            <a:avLst/>
          </a:prstGeom>
          <a:solidFill>
            <a:srgbClr val="005F5F"/>
          </a:solidFill>
          <a:ln w="12700">
            <a:solidFill>
              <a:srgbClr val="005F5F"/>
            </a:solidFill>
            <a:prstDash val="solid"/>
          </a:ln>
        </p:spPr>
      </p:sp>
      <p:sp>
        <p:nvSpPr>
          <p:cNvPr id="97" name="Text 89"/>
          <p:cNvSpPr/>
          <p:nvPr/>
        </p:nvSpPr>
        <p:spPr>
          <a:xfrm>
            <a:off x="4096511" y="7512872"/>
            <a:ext cx="1007924" cy="265793"/>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Market Rate</a:t>
            </a:r>
            <a:endParaRPr lang="en-US" sz="1000" dirty="0">
              <a:latin typeface="Felix Titling" panose="04060505060202020A04" pitchFamily="82" charset="0"/>
            </a:endParaRPr>
          </a:p>
        </p:txBody>
      </p:sp>
      <p:sp>
        <p:nvSpPr>
          <p:cNvPr id="98" name="Shape 90"/>
          <p:cNvSpPr/>
          <p:nvPr/>
        </p:nvSpPr>
        <p:spPr>
          <a:xfrm>
            <a:off x="5105826" y="7513450"/>
            <a:ext cx="1657514" cy="254412"/>
          </a:xfrm>
          <a:prstGeom prst="rect">
            <a:avLst/>
          </a:prstGeom>
          <a:solidFill>
            <a:srgbClr val="005F5F"/>
          </a:solidFill>
          <a:ln w="12700">
            <a:solidFill>
              <a:srgbClr val="005F5F"/>
            </a:solidFill>
            <a:prstDash val="solid"/>
          </a:ln>
        </p:spPr>
      </p:sp>
      <p:sp>
        <p:nvSpPr>
          <p:cNvPr id="99" name="Text 91"/>
          <p:cNvSpPr/>
          <p:nvPr/>
        </p:nvSpPr>
        <p:spPr>
          <a:xfrm>
            <a:off x="5178977" y="7517481"/>
            <a:ext cx="1393937" cy="250381"/>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Income Generated</a:t>
            </a:r>
            <a:endParaRPr lang="en-US" sz="1000" dirty="0">
              <a:latin typeface="Felix Titling" panose="04060505060202020A04" pitchFamily="82" charset="0"/>
            </a:endParaRPr>
          </a:p>
        </p:txBody>
      </p:sp>
      <p:sp>
        <p:nvSpPr>
          <p:cNvPr id="100" name="Shape 92"/>
          <p:cNvSpPr/>
          <p:nvPr/>
        </p:nvSpPr>
        <p:spPr>
          <a:xfrm>
            <a:off x="182880" y="7785427"/>
            <a:ext cx="1963198" cy="224474"/>
          </a:xfrm>
          <a:prstGeom prst="rect">
            <a:avLst/>
          </a:prstGeom>
          <a:solidFill>
            <a:srgbClr val="FFFFFF"/>
          </a:solidFill>
          <a:ln w="12700">
            <a:solidFill>
              <a:srgbClr val="E5EDED"/>
            </a:solidFill>
            <a:prstDash val="solid"/>
          </a:ln>
        </p:spPr>
      </p:sp>
      <p:sp>
        <p:nvSpPr>
          <p:cNvPr id="101" name="Text 93"/>
          <p:cNvSpPr/>
          <p:nvPr/>
        </p:nvSpPr>
        <p:spPr>
          <a:xfrm>
            <a:off x="256032" y="7827154"/>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River Fishing</a:t>
            </a:r>
            <a:endParaRPr lang="en-US" sz="1000" dirty="0">
              <a:latin typeface="Felix Titling" panose="04060505060202020A04" pitchFamily="82" charset="0"/>
            </a:endParaRPr>
          </a:p>
        </p:txBody>
      </p:sp>
      <p:sp>
        <p:nvSpPr>
          <p:cNvPr id="102" name="Shape 94"/>
          <p:cNvSpPr/>
          <p:nvPr/>
        </p:nvSpPr>
        <p:spPr>
          <a:xfrm>
            <a:off x="1828800" y="7785427"/>
            <a:ext cx="1090666" cy="224474"/>
          </a:xfrm>
          <a:prstGeom prst="rect">
            <a:avLst/>
          </a:prstGeom>
          <a:solidFill>
            <a:srgbClr val="FFFFFF"/>
          </a:solidFill>
          <a:ln w="12700">
            <a:solidFill>
              <a:srgbClr val="E5EDED"/>
            </a:solidFill>
            <a:prstDash val="solid"/>
          </a:ln>
        </p:spPr>
      </p:sp>
      <p:sp>
        <p:nvSpPr>
          <p:cNvPr id="103" name="Text 95"/>
          <p:cNvSpPr/>
          <p:nvPr/>
        </p:nvSpPr>
        <p:spPr>
          <a:xfrm>
            <a:off x="1901951" y="7827154"/>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198</a:t>
            </a:r>
            <a:endParaRPr lang="en-US" sz="1000" dirty="0">
              <a:latin typeface="Felix Titling" panose="04060505060202020A04" pitchFamily="82" charset="0"/>
            </a:endParaRPr>
          </a:p>
        </p:txBody>
      </p:sp>
      <p:sp>
        <p:nvSpPr>
          <p:cNvPr id="104" name="Shape 96"/>
          <p:cNvSpPr/>
          <p:nvPr/>
        </p:nvSpPr>
        <p:spPr>
          <a:xfrm>
            <a:off x="2743200" y="7785427"/>
            <a:ext cx="1526932" cy="224474"/>
          </a:xfrm>
          <a:prstGeom prst="rect">
            <a:avLst/>
          </a:prstGeom>
          <a:solidFill>
            <a:srgbClr val="FFFFFF"/>
          </a:solidFill>
          <a:ln w="12700">
            <a:solidFill>
              <a:srgbClr val="E5EDED"/>
            </a:solidFill>
            <a:prstDash val="solid"/>
          </a:ln>
        </p:spPr>
      </p:sp>
      <p:sp>
        <p:nvSpPr>
          <p:cNvPr id="105" name="Text 97"/>
          <p:cNvSpPr/>
          <p:nvPr/>
        </p:nvSpPr>
        <p:spPr>
          <a:xfrm>
            <a:off x="2816351" y="7827154"/>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68,406 kg</a:t>
            </a:r>
            <a:endParaRPr lang="en-US" sz="1000" dirty="0">
              <a:latin typeface="Felix Titling" panose="04060505060202020A04" pitchFamily="82" charset="0"/>
            </a:endParaRPr>
          </a:p>
        </p:txBody>
      </p:sp>
      <p:sp>
        <p:nvSpPr>
          <p:cNvPr id="106" name="Shape 98"/>
          <p:cNvSpPr/>
          <p:nvPr/>
        </p:nvSpPr>
        <p:spPr>
          <a:xfrm>
            <a:off x="4023360" y="7782193"/>
            <a:ext cx="1231908" cy="234516"/>
          </a:xfrm>
          <a:prstGeom prst="rect">
            <a:avLst/>
          </a:prstGeom>
          <a:solidFill>
            <a:srgbClr val="FFFFFF"/>
          </a:solidFill>
          <a:ln w="12700">
            <a:solidFill>
              <a:srgbClr val="E5EDED"/>
            </a:solidFill>
            <a:prstDash val="solid"/>
          </a:ln>
        </p:spPr>
      </p:sp>
      <p:sp>
        <p:nvSpPr>
          <p:cNvPr id="107" name="Text 99"/>
          <p:cNvSpPr/>
          <p:nvPr/>
        </p:nvSpPr>
        <p:spPr>
          <a:xfrm>
            <a:off x="4096511" y="7819394"/>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₹155/kg</a:t>
            </a:r>
            <a:endParaRPr lang="en-US" sz="1000" dirty="0">
              <a:latin typeface="Felix Titling" panose="04060505060202020A04" pitchFamily="82" charset="0"/>
            </a:endParaRPr>
          </a:p>
        </p:txBody>
      </p:sp>
      <p:sp>
        <p:nvSpPr>
          <p:cNvPr id="108" name="Shape 100"/>
          <p:cNvSpPr/>
          <p:nvPr/>
        </p:nvSpPr>
        <p:spPr>
          <a:xfrm>
            <a:off x="5105826" y="7785427"/>
            <a:ext cx="1657514" cy="224474"/>
          </a:xfrm>
          <a:prstGeom prst="rect">
            <a:avLst/>
          </a:prstGeom>
          <a:solidFill>
            <a:srgbClr val="FFFFFF"/>
          </a:solidFill>
          <a:ln w="12700">
            <a:solidFill>
              <a:srgbClr val="E5EDED"/>
            </a:solidFill>
            <a:prstDash val="solid"/>
          </a:ln>
        </p:spPr>
      </p:sp>
      <p:sp>
        <p:nvSpPr>
          <p:cNvPr id="109" name="Text 101"/>
          <p:cNvSpPr/>
          <p:nvPr/>
        </p:nvSpPr>
        <p:spPr>
          <a:xfrm>
            <a:off x="5178977" y="7829902"/>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₹1,06,02,930</a:t>
            </a:r>
            <a:endParaRPr lang="en-US" sz="1000" dirty="0">
              <a:latin typeface="Felix Titling" panose="04060505060202020A04" pitchFamily="82" charset="0"/>
            </a:endParaRPr>
          </a:p>
        </p:txBody>
      </p:sp>
      <p:sp>
        <p:nvSpPr>
          <p:cNvPr id="110" name="Shape 102"/>
          <p:cNvSpPr/>
          <p:nvPr/>
        </p:nvSpPr>
        <p:spPr>
          <a:xfrm>
            <a:off x="185311" y="8037309"/>
            <a:ext cx="1963198" cy="224474"/>
          </a:xfrm>
          <a:prstGeom prst="rect">
            <a:avLst/>
          </a:prstGeom>
          <a:solidFill>
            <a:srgbClr val="F5FCFC"/>
          </a:solidFill>
          <a:ln w="12700">
            <a:solidFill>
              <a:srgbClr val="E5EDED"/>
            </a:solidFill>
            <a:prstDash val="solid"/>
          </a:ln>
        </p:spPr>
      </p:sp>
      <p:sp>
        <p:nvSpPr>
          <p:cNvPr id="111" name="Text 103"/>
          <p:cNvSpPr/>
          <p:nvPr/>
        </p:nvSpPr>
        <p:spPr>
          <a:xfrm>
            <a:off x="258463" y="8079036"/>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Dam Fishing</a:t>
            </a:r>
            <a:endParaRPr lang="en-US" sz="1000" dirty="0">
              <a:latin typeface="Felix Titling" panose="04060505060202020A04" pitchFamily="82" charset="0"/>
            </a:endParaRPr>
          </a:p>
        </p:txBody>
      </p:sp>
      <p:sp>
        <p:nvSpPr>
          <p:cNvPr id="112" name="Shape 104"/>
          <p:cNvSpPr/>
          <p:nvPr/>
        </p:nvSpPr>
        <p:spPr>
          <a:xfrm>
            <a:off x="1831231" y="8037309"/>
            <a:ext cx="1090666" cy="224474"/>
          </a:xfrm>
          <a:prstGeom prst="rect">
            <a:avLst/>
          </a:prstGeom>
          <a:solidFill>
            <a:srgbClr val="F5FCFC"/>
          </a:solidFill>
          <a:ln w="12700">
            <a:solidFill>
              <a:srgbClr val="E5EDED"/>
            </a:solidFill>
            <a:prstDash val="solid"/>
          </a:ln>
        </p:spPr>
      </p:sp>
      <p:sp>
        <p:nvSpPr>
          <p:cNvPr id="113" name="Text 105"/>
          <p:cNvSpPr/>
          <p:nvPr/>
        </p:nvSpPr>
        <p:spPr>
          <a:xfrm>
            <a:off x="1904382" y="8079036"/>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72</a:t>
            </a:r>
            <a:endParaRPr lang="en-US" sz="1000" dirty="0">
              <a:latin typeface="Felix Titling" panose="04060505060202020A04" pitchFamily="82" charset="0"/>
            </a:endParaRPr>
          </a:p>
        </p:txBody>
      </p:sp>
      <p:sp>
        <p:nvSpPr>
          <p:cNvPr id="114" name="Shape 106"/>
          <p:cNvSpPr/>
          <p:nvPr/>
        </p:nvSpPr>
        <p:spPr>
          <a:xfrm>
            <a:off x="2745631" y="8037309"/>
            <a:ext cx="1526932" cy="224474"/>
          </a:xfrm>
          <a:prstGeom prst="rect">
            <a:avLst/>
          </a:prstGeom>
          <a:solidFill>
            <a:srgbClr val="F5FCFC"/>
          </a:solidFill>
          <a:ln w="12700">
            <a:solidFill>
              <a:srgbClr val="E5EDED"/>
            </a:solidFill>
            <a:prstDash val="solid"/>
          </a:ln>
        </p:spPr>
      </p:sp>
      <p:sp>
        <p:nvSpPr>
          <p:cNvPr id="115" name="Text 107"/>
          <p:cNvSpPr/>
          <p:nvPr/>
        </p:nvSpPr>
        <p:spPr>
          <a:xfrm>
            <a:off x="2818782" y="8079036"/>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52,146 kg</a:t>
            </a:r>
            <a:endParaRPr lang="en-US" sz="1000" dirty="0">
              <a:latin typeface="Felix Titling" panose="04060505060202020A04" pitchFamily="82" charset="0"/>
            </a:endParaRPr>
          </a:p>
        </p:txBody>
      </p:sp>
      <p:sp>
        <p:nvSpPr>
          <p:cNvPr id="116" name="Shape 108"/>
          <p:cNvSpPr/>
          <p:nvPr/>
        </p:nvSpPr>
        <p:spPr>
          <a:xfrm>
            <a:off x="4025791" y="8034075"/>
            <a:ext cx="1231908" cy="234516"/>
          </a:xfrm>
          <a:prstGeom prst="rect">
            <a:avLst/>
          </a:prstGeom>
          <a:solidFill>
            <a:srgbClr val="F5FCFC"/>
          </a:solidFill>
          <a:ln w="12700">
            <a:solidFill>
              <a:srgbClr val="E5EDED"/>
            </a:solidFill>
            <a:prstDash val="solid"/>
          </a:ln>
        </p:spPr>
      </p:sp>
      <p:sp>
        <p:nvSpPr>
          <p:cNvPr id="117" name="Text 109"/>
          <p:cNvSpPr/>
          <p:nvPr/>
        </p:nvSpPr>
        <p:spPr>
          <a:xfrm>
            <a:off x="4098942" y="8071276"/>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₹160/kg</a:t>
            </a:r>
            <a:endParaRPr lang="en-US" sz="1000" dirty="0">
              <a:latin typeface="Felix Titling" panose="04060505060202020A04" pitchFamily="82" charset="0"/>
            </a:endParaRPr>
          </a:p>
        </p:txBody>
      </p:sp>
      <p:sp>
        <p:nvSpPr>
          <p:cNvPr id="118" name="Shape 110"/>
          <p:cNvSpPr/>
          <p:nvPr/>
        </p:nvSpPr>
        <p:spPr>
          <a:xfrm>
            <a:off x="5108257" y="8037309"/>
            <a:ext cx="1657514" cy="224474"/>
          </a:xfrm>
          <a:prstGeom prst="rect">
            <a:avLst/>
          </a:prstGeom>
          <a:solidFill>
            <a:srgbClr val="F5FCFC"/>
          </a:solidFill>
          <a:ln w="12700">
            <a:solidFill>
              <a:srgbClr val="E5EDED"/>
            </a:solidFill>
            <a:prstDash val="solid"/>
          </a:ln>
        </p:spPr>
      </p:sp>
      <p:sp>
        <p:nvSpPr>
          <p:cNvPr id="119" name="Text 111"/>
          <p:cNvSpPr/>
          <p:nvPr/>
        </p:nvSpPr>
        <p:spPr>
          <a:xfrm>
            <a:off x="5181408" y="8081784"/>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₹83,43,360</a:t>
            </a:r>
            <a:endParaRPr lang="en-US" sz="1000" dirty="0">
              <a:latin typeface="Felix Titling" panose="04060505060202020A04" pitchFamily="82" charset="0"/>
            </a:endParaRPr>
          </a:p>
        </p:txBody>
      </p:sp>
      <p:sp>
        <p:nvSpPr>
          <p:cNvPr id="120" name="Shape 112"/>
          <p:cNvSpPr/>
          <p:nvPr/>
        </p:nvSpPr>
        <p:spPr>
          <a:xfrm>
            <a:off x="185311" y="8305364"/>
            <a:ext cx="1963198" cy="224474"/>
          </a:xfrm>
          <a:prstGeom prst="rect">
            <a:avLst/>
          </a:prstGeom>
          <a:solidFill>
            <a:srgbClr val="FFFFFF"/>
          </a:solidFill>
          <a:ln w="12700">
            <a:solidFill>
              <a:srgbClr val="E5EDED"/>
            </a:solidFill>
            <a:prstDash val="solid"/>
          </a:ln>
        </p:spPr>
      </p:sp>
      <p:sp>
        <p:nvSpPr>
          <p:cNvPr id="121" name="Text 113"/>
          <p:cNvSpPr/>
          <p:nvPr/>
        </p:nvSpPr>
        <p:spPr>
          <a:xfrm>
            <a:off x="258463" y="8347091"/>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TOTAL</a:t>
            </a:r>
            <a:endParaRPr lang="en-US" sz="1000" dirty="0">
              <a:latin typeface="Felix Titling" panose="04060505060202020A04" pitchFamily="82" charset="0"/>
            </a:endParaRPr>
          </a:p>
        </p:txBody>
      </p:sp>
      <p:sp>
        <p:nvSpPr>
          <p:cNvPr id="122" name="Shape 114"/>
          <p:cNvSpPr/>
          <p:nvPr/>
        </p:nvSpPr>
        <p:spPr>
          <a:xfrm>
            <a:off x="1831231" y="8305364"/>
            <a:ext cx="1090666" cy="224474"/>
          </a:xfrm>
          <a:prstGeom prst="rect">
            <a:avLst/>
          </a:prstGeom>
          <a:solidFill>
            <a:srgbClr val="FFFFFF"/>
          </a:solidFill>
          <a:ln w="12700">
            <a:solidFill>
              <a:srgbClr val="E5EDED"/>
            </a:solidFill>
            <a:prstDash val="solid"/>
          </a:ln>
        </p:spPr>
      </p:sp>
      <p:sp>
        <p:nvSpPr>
          <p:cNvPr id="123" name="Text 115"/>
          <p:cNvSpPr/>
          <p:nvPr/>
        </p:nvSpPr>
        <p:spPr>
          <a:xfrm>
            <a:off x="1904382" y="8347091"/>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270</a:t>
            </a:r>
            <a:endParaRPr lang="en-US" sz="1000" dirty="0">
              <a:latin typeface="Felix Titling" panose="04060505060202020A04" pitchFamily="82" charset="0"/>
            </a:endParaRPr>
          </a:p>
        </p:txBody>
      </p:sp>
      <p:sp>
        <p:nvSpPr>
          <p:cNvPr id="124" name="Shape 116"/>
          <p:cNvSpPr/>
          <p:nvPr/>
        </p:nvSpPr>
        <p:spPr>
          <a:xfrm>
            <a:off x="2745631" y="8305364"/>
            <a:ext cx="1526932" cy="224474"/>
          </a:xfrm>
          <a:prstGeom prst="rect">
            <a:avLst/>
          </a:prstGeom>
          <a:solidFill>
            <a:srgbClr val="FFFFFF"/>
          </a:solidFill>
          <a:ln w="12700">
            <a:solidFill>
              <a:srgbClr val="E5EDED"/>
            </a:solidFill>
            <a:prstDash val="solid"/>
          </a:ln>
        </p:spPr>
      </p:sp>
      <p:sp>
        <p:nvSpPr>
          <p:cNvPr id="125" name="Text 117"/>
          <p:cNvSpPr/>
          <p:nvPr/>
        </p:nvSpPr>
        <p:spPr>
          <a:xfrm>
            <a:off x="2818782" y="8347091"/>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1,20,552 kg</a:t>
            </a:r>
            <a:endParaRPr lang="en-US" sz="1000" dirty="0">
              <a:latin typeface="Felix Titling" panose="04060505060202020A04" pitchFamily="82" charset="0"/>
            </a:endParaRPr>
          </a:p>
        </p:txBody>
      </p:sp>
      <p:sp>
        <p:nvSpPr>
          <p:cNvPr id="126" name="Shape 118"/>
          <p:cNvSpPr/>
          <p:nvPr/>
        </p:nvSpPr>
        <p:spPr>
          <a:xfrm>
            <a:off x="4025791" y="8302130"/>
            <a:ext cx="1231908" cy="234516"/>
          </a:xfrm>
          <a:prstGeom prst="rect">
            <a:avLst/>
          </a:prstGeom>
          <a:solidFill>
            <a:srgbClr val="FFFFFF"/>
          </a:solidFill>
          <a:ln w="12700">
            <a:solidFill>
              <a:srgbClr val="E5EDED"/>
            </a:solidFill>
            <a:prstDash val="solid"/>
          </a:ln>
        </p:spPr>
      </p:sp>
      <p:sp>
        <p:nvSpPr>
          <p:cNvPr id="127" name="Text 119"/>
          <p:cNvSpPr/>
          <p:nvPr/>
        </p:nvSpPr>
        <p:spPr>
          <a:xfrm>
            <a:off x="4098942" y="8339331"/>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a:t>
            </a:r>
            <a:endParaRPr lang="en-US" sz="1000" dirty="0">
              <a:latin typeface="Felix Titling" panose="04060505060202020A04" pitchFamily="82" charset="0"/>
            </a:endParaRPr>
          </a:p>
        </p:txBody>
      </p:sp>
      <p:sp>
        <p:nvSpPr>
          <p:cNvPr id="128" name="Shape 120"/>
          <p:cNvSpPr/>
          <p:nvPr/>
        </p:nvSpPr>
        <p:spPr>
          <a:xfrm>
            <a:off x="5108257" y="8305364"/>
            <a:ext cx="1657514" cy="224474"/>
          </a:xfrm>
          <a:prstGeom prst="rect">
            <a:avLst/>
          </a:prstGeom>
          <a:solidFill>
            <a:srgbClr val="FFFFFF"/>
          </a:solidFill>
          <a:ln w="12700">
            <a:solidFill>
              <a:srgbClr val="E5EDED"/>
            </a:solidFill>
            <a:prstDash val="solid"/>
          </a:ln>
        </p:spPr>
      </p:sp>
      <p:sp>
        <p:nvSpPr>
          <p:cNvPr id="129" name="Text 121"/>
          <p:cNvSpPr/>
          <p:nvPr/>
        </p:nvSpPr>
        <p:spPr>
          <a:xfrm>
            <a:off x="5181408" y="8349839"/>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₹1,89,46,290</a:t>
            </a:r>
            <a:endParaRPr lang="en-US" sz="1000" dirty="0">
              <a:latin typeface="Felix Titling" panose="04060505060202020A04" pitchFamily="82" charset="0"/>
            </a:endParaRPr>
          </a:p>
        </p:txBody>
      </p:sp>
      <p:sp>
        <p:nvSpPr>
          <p:cNvPr id="131" name="Shape 4">
            <a:extLst>
              <a:ext uri="{FF2B5EF4-FFF2-40B4-BE49-F238E27FC236}">
                <a16:creationId xmlns:a16="http://schemas.microsoft.com/office/drawing/2014/main" id="{27B36F1B-7AD8-5D8B-65B6-E0D8762C1A94}"/>
              </a:ext>
            </a:extLst>
          </p:cNvPr>
          <p:cNvSpPr/>
          <p:nvPr/>
        </p:nvSpPr>
        <p:spPr>
          <a:xfrm>
            <a:off x="0" y="9427464"/>
            <a:ext cx="6858000" cy="7315"/>
          </a:xfrm>
          <a:prstGeom prst="rect">
            <a:avLst/>
          </a:prstGeom>
          <a:solidFill>
            <a:srgbClr val="C5DADA"/>
          </a:solidFill>
          <a:ln w="12700">
            <a:solidFill>
              <a:srgbClr val="C5DADA"/>
            </a:solidFill>
            <a:prstDash val="solid"/>
          </a:ln>
        </p:spPr>
      </p:sp>
      <p:sp>
        <p:nvSpPr>
          <p:cNvPr id="133" name="Shape 5">
            <a:extLst>
              <a:ext uri="{FF2B5EF4-FFF2-40B4-BE49-F238E27FC236}">
                <a16:creationId xmlns:a16="http://schemas.microsoft.com/office/drawing/2014/main" id="{EBEBA0F8-F49F-83FB-8CE3-5E4EF0D39A09}"/>
              </a:ext>
            </a:extLst>
          </p:cNvPr>
          <p:cNvSpPr/>
          <p:nvPr/>
        </p:nvSpPr>
        <p:spPr>
          <a:xfrm>
            <a:off x="0" y="9427464"/>
            <a:ext cx="6858000" cy="292608"/>
          </a:xfrm>
          <a:prstGeom prst="rect">
            <a:avLst/>
          </a:prstGeom>
          <a:solidFill>
            <a:srgbClr val="FFFFFF"/>
          </a:solidFill>
          <a:ln w="12700">
            <a:solidFill>
              <a:srgbClr val="FFFFFF"/>
            </a:solidFill>
            <a:prstDash val="solid"/>
          </a:ln>
        </p:spPr>
      </p:sp>
      <p:sp>
        <p:nvSpPr>
          <p:cNvPr id="135" name="Text 6">
            <a:extLst>
              <a:ext uri="{FF2B5EF4-FFF2-40B4-BE49-F238E27FC236}">
                <a16:creationId xmlns:a16="http://schemas.microsoft.com/office/drawing/2014/main" id="{7745509B-7CF4-23CC-83AD-117A437E2325}"/>
              </a:ext>
            </a:extLst>
          </p:cNvPr>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137" name="Shape 7">
            <a:extLst>
              <a:ext uri="{FF2B5EF4-FFF2-40B4-BE49-F238E27FC236}">
                <a16:creationId xmlns:a16="http://schemas.microsoft.com/office/drawing/2014/main" id="{3E3EC51D-C7DC-1BBE-D4BB-1682E27C209B}"/>
              </a:ext>
            </a:extLst>
          </p:cNvPr>
          <p:cNvSpPr/>
          <p:nvPr/>
        </p:nvSpPr>
        <p:spPr>
          <a:xfrm>
            <a:off x="6355080" y="9445752"/>
            <a:ext cx="256032" cy="256032"/>
          </a:xfrm>
          <a:prstGeom prst="ellipse">
            <a:avLst/>
          </a:prstGeom>
          <a:solidFill>
            <a:srgbClr val="005F5F"/>
          </a:solidFill>
          <a:ln w="12700">
            <a:solidFill>
              <a:srgbClr val="005F5F"/>
            </a:solidFill>
            <a:prstDash val="solid"/>
          </a:ln>
        </p:spPr>
      </p:sp>
      <p:sp>
        <p:nvSpPr>
          <p:cNvPr id="139" name="Text 8">
            <a:extLst>
              <a:ext uri="{FF2B5EF4-FFF2-40B4-BE49-F238E27FC236}">
                <a16:creationId xmlns:a16="http://schemas.microsoft.com/office/drawing/2014/main" id="{87A1753F-0426-7BB9-50F0-BBF860A5D9BC}"/>
              </a:ext>
            </a:extLst>
          </p:cNvPr>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Way Forward &amp; Recommendations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pic>
        <p:nvPicPr>
          <p:cNvPr id="77" name="Picture 76">
            <a:extLst>
              <a:ext uri="{FF2B5EF4-FFF2-40B4-BE49-F238E27FC236}">
                <a16:creationId xmlns:a16="http://schemas.microsoft.com/office/drawing/2014/main" id="{FBAFB4BF-DE88-4B0D-D30E-760C3284A4F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t="13850" b="26599"/>
          <a:stretch>
            <a:fillRect/>
          </a:stretch>
        </p:blipFill>
        <p:spPr>
          <a:xfrm>
            <a:off x="-73050" y="7299750"/>
            <a:ext cx="6957328" cy="2619756"/>
          </a:xfrm>
          <a:prstGeom prst="flowChartManualInput">
            <a:avLst/>
          </a:prstGeom>
        </p:spPr>
      </p:pic>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24</a:t>
            </a:r>
            <a:endParaRPr lang="en-US" sz="800" dirty="0"/>
          </a:p>
        </p:txBody>
      </p:sp>
      <p:pic>
        <p:nvPicPr>
          <p:cNvPr id="11" name="Image 0" descr="/home/claude/rpt_imgs/stocking_2.jpg"/>
          <p:cNvPicPr>
            <a:picLocks noChangeAspect="1"/>
          </p:cNvPicPr>
          <p:nvPr/>
        </p:nvPicPr>
        <p:blipFill>
          <a:blip r:embed="rId5">
            <a:extLst>
              <a:ext uri="{BEBA8EAE-BF5A-486C-A8C5-ECC9F3942E4B}">
                <a14:imgProps xmlns:a14="http://schemas.microsoft.com/office/drawing/2010/main">
                  <a14:imgLayer r:embed="rId6">
                    <a14:imgEffect>
                      <a14:brightnessContrast bright="-40000"/>
                    </a14:imgEffect>
                  </a14:imgLayer>
                </a14:imgProps>
              </a:ext>
            </a:extLst>
          </a:blip>
          <a:srcRect b="35647"/>
          <a:stretch>
            <a:fillRect/>
          </a:stretch>
        </p:blipFill>
        <p:spPr>
          <a:xfrm>
            <a:off x="0" y="320040"/>
            <a:ext cx="6858000" cy="2162556"/>
          </a:xfrm>
          <a:prstGeom prst="rect">
            <a:avLst/>
          </a:prstGeom>
        </p:spPr>
      </p:pic>
      <p:sp>
        <p:nvSpPr>
          <p:cNvPr id="13" name="Shape 10"/>
          <p:cNvSpPr/>
          <p:nvPr/>
        </p:nvSpPr>
        <p:spPr>
          <a:xfrm>
            <a:off x="0" y="320040"/>
            <a:ext cx="6858000" cy="32004"/>
          </a:xfrm>
          <a:prstGeom prst="rect">
            <a:avLst/>
          </a:prstGeom>
          <a:solidFill>
            <a:srgbClr val="C8960A"/>
          </a:solidFill>
          <a:ln w="12700">
            <a:solidFill>
              <a:srgbClr val="C8960A"/>
            </a:solidFill>
            <a:prstDash val="solid"/>
          </a:ln>
        </p:spPr>
      </p:sp>
      <p:sp>
        <p:nvSpPr>
          <p:cNvPr id="14" name="Text 11"/>
          <p:cNvSpPr/>
          <p:nvPr/>
        </p:nvSpPr>
        <p:spPr>
          <a:xfrm>
            <a:off x="292608" y="475488"/>
            <a:ext cx="6272784" cy="347472"/>
          </a:xfrm>
          <a:prstGeom prst="rect">
            <a:avLst/>
          </a:prstGeom>
          <a:noFill/>
          <a:ln/>
        </p:spPr>
        <p:txBody>
          <a:bodyPr wrap="square" lIns="0" tIns="0" rIns="0" bIns="0" rtlCol="0" anchor="t"/>
          <a:lstStyle/>
          <a:p>
            <a:pPr marL="0" indent="0" algn="l">
              <a:buNone/>
            </a:pPr>
            <a:r>
              <a:rPr lang="en-US" sz="2000" b="1" dirty="0">
                <a:solidFill>
                  <a:srgbClr val="FFFFFF"/>
                </a:solidFill>
                <a:latin typeface="Felix Titling" panose="04060505060202020A04" pitchFamily="82" charset="0"/>
                <a:ea typeface="Cambria" pitchFamily="34" charset="-122"/>
                <a:cs typeface="Cambria" pitchFamily="34" charset="-120"/>
              </a:rPr>
              <a:t>Way Forward &amp; Recommendations</a:t>
            </a:r>
            <a:endParaRPr lang="en-US" sz="2000" dirty="0">
              <a:latin typeface="Felix Titling" panose="04060505060202020A04" pitchFamily="82" charset="0"/>
            </a:endParaRPr>
          </a:p>
        </p:txBody>
      </p:sp>
      <p:sp>
        <p:nvSpPr>
          <p:cNvPr id="15" name="Text 12"/>
          <p:cNvSpPr/>
          <p:nvPr/>
        </p:nvSpPr>
        <p:spPr>
          <a:xfrm>
            <a:off x="292608" y="877824"/>
            <a:ext cx="6272784" cy="868680"/>
          </a:xfrm>
          <a:prstGeom prst="rect">
            <a:avLst/>
          </a:prstGeom>
          <a:noFill/>
          <a:ln/>
        </p:spPr>
        <p:txBody>
          <a:bodyPr wrap="square" lIns="0" tIns="0" rIns="0" bIns="0" rtlCol="0" anchor="t"/>
          <a:lstStyle/>
          <a:p>
            <a:pPr marL="0" indent="0" algn="just">
              <a:buNone/>
            </a:pPr>
            <a:r>
              <a:rPr lang="en-US" sz="1050" i="1" dirty="0">
                <a:solidFill>
                  <a:srgbClr val="FFFFFF"/>
                </a:solidFill>
                <a:latin typeface="Lucida Fax" panose="02060602050505020204" pitchFamily="18" charset="0"/>
                <a:ea typeface="Calibri" pitchFamily="34" charset="-122"/>
                <a:cs typeface="Calibri" pitchFamily="34" charset="-120"/>
              </a:rPr>
              <a:t>In conclusion, the project has successfully boosted fishery-based livelihoods, enhancing income and community resilience. To ensure year-round self-reliance, additional support is needed to diversify livelihoods through small-scale enterprises and animal husbandry.</a:t>
            </a:r>
            <a:endParaRPr lang="en-US" sz="1050" i="1" dirty="0">
              <a:latin typeface="Lucida Fax" panose="02060602050505020204" pitchFamily="18" charset="0"/>
            </a:endParaRPr>
          </a:p>
        </p:txBody>
      </p:sp>
      <p:sp>
        <p:nvSpPr>
          <p:cNvPr id="16" name="Shape 13"/>
          <p:cNvSpPr/>
          <p:nvPr/>
        </p:nvSpPr>
        <p:spPr>
          <a:xfrm>
            <a:off x="283862" y="1993392"/>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17" name="Shape 14"/>
          <p:cNvSpPr/>
          <p:nvPr/>
        </p:nvSpPr>
        <p:spPr>
          <a:xfrm>
            <a:off x="421022" y="2130552"/>
            <a:ext cx="548640" cy="548640"/>
          </a:xfrm>
          <a:prstGeom prst="ellipse">
            <a:avLst/>
          </a:prstGeom>
          <a:solidFill>
            <a:srgbClr val="005F5F"/>
          </a:solidFill>
          <a:ln w="12700">
            <a:solidFill>
              <a:srgbClr val="005F5F"/>
            </a:solidFill>
            <a:prstDash val="solid"/>
          </a:ln>
        </p:spPr>
      </p:sp>
      <p:pic>
        <p:nvPicPr>
          <p:cNvPr id="18" name="Image 1" descr="preencoded.png"/>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tretch>
            <a:fillRect/>
          </a:stretch>
        </p:blipFill>
        <p:spPr>
          <a:xfrm>
            <a:off x="512462" y="2221992"/>
            <a:ext cx="365760" cy="365760"/>
          </a:xfrm>
          <a:prstGeom prst="rect">
            <a:avLst/>
          </a:prstGeom>
        </p:spPr>
      </p:pic>
      <p:sp>
        <p:nvSpPr>
          <p:cNvPr id="19" name="Text 15"/>
          <p:cNvSpPr/>
          <p:nvPr/>
        </p:nvSpPr>
        <p:spPr>
          <a:xfrm>
            <a:off x="1106822" y="2249424"/>
            <a:ext cx="2167128" cy="292608"/>
          </a:xfrm>
          <a:prstGeom prst="rect">
            <a:avLst/>
          </a:prstGeom>
          <a:noFill/>
          <a:ln/>
        </p:spPr>
        <p:txBody>
          <a:bodyPr wrap="square" lIns="0" tIns="0" rIns="0" bIns="0" rtlCol="0" anchor="t"/>
          <a:lstStyle/>
          <a:p>
            <a:pPr marL="0" indent="0" algn="l">
              <a:buNone/>
            </a:pPr>
            <a:r>
              <a:rPr lang="en-US" sz="1100" b="1" dirty="0">
                <a:solidFill>
                  <a:srgbClr val="005F5F"/>
                </a:solidFill>
                <a:latin typeface="Footlight MT Light" panose="0204060206030A020304" pitchFamily="18" charset="0"/>
                <a:ea typeface="Cambria" pitchFamily="34" charset="-122"/>
                <a:cs typeface="Cambria" pitchFamily="34" charset="-120"/>
              </a:rPr>
              <a:t>Extend Project Support</a:t>
            </a:r>
            <a:endParaRPr lang="en-US" sz="1100" dirty="0">
              <a:latin typeface="Footlight MT Light" panose="0204060206030A020304" pitchFamily="18" charset="0"/>
            </a:endParaRPr>
          </a:p>
        </p:txBody>
      </p:sp>
      <p:sp>
        <p:nvSpPr>
          <p:cNvPr id="20" name="Shape 16"/>
          <p:cNvSpPr/>
          <p:nvPr/>
        </p:nvSpPr>
        <p:spPr>
          <a:xfrm>
            <a:off x="1106822" y="2578608"/>
            <a:ext cx="2167128" cy="9144"/>
          </a:xfrm>
          <a:prstGeom prst="rect">
            <a:avLst/>
          </a:prstGeom>
          <a:solidFill>
            <a:srgbClr val="E5EDED"/>
          </a:solidFill>
          <a:ln w="12700">
            <a:solidFill>
              <a:srgbClr val="E5EDED"/>
            </a:solidFill>
            <a:prstDash val="solid"/>
          </a:ln>
        </p:spPr>
      </p:sp>
      <p:sp>
        <p:nvSpPr>
          <p:cNvPr id="21" name="Text 17"/>
          <p:cNvSpPr/>
          <p:nvPr/>
        </p:nvSpPr>
        <p:spPr>
          <a:xfrm>
            <a:off x="1106822" y="2670048"/>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Provide </a:t>
            </a:r>
            <a:r>
              <a:rPr lang="en-US" sz="1050" b="1" dirty="0">
                <a:solidFill>
                  <a:srgbClr val="2A3535"/>
                </a:solidFill>
                <a:latin typeface="Footlight MT Light" panose="0204060206030A020304" pitchFamily="18" charset="0"/>
                <a:ea typeface="Calibri" pitchFamily="34" charset="-122"/>
                <a:cs typeface="Calibri" pitchFamily="34" charset="-120"/>
              </a:rPr>
              <a:t>two additional year </a:t>
            </a:r>
            <a:r>
              <a:rPr lang="en-US" sz="1050" dirty="0">
                <a:solidFill>
                  <a:srgbClr val="2A3535"/>
                </a:solidFill>
                <a:latin typeface="Footlight MT Light" panose="0204060206030A020304" pitchFamily="18" charset="0"/>
                <a:ea typeface="Calibri" pitchFamily="34" charset="-122"/>
                <a:cs typeface="Calibri" pitchFamily="34" charset="-120"/>
              </a:rPr>
              <a:t>of funding to diversify livelihoods through small-scale enterprises and animal husbandry, ensuring year-round income stability for Katkari tribal families in both blocks.</a:t>
            </a:r>
            <a:endParaRPr lang="en-US" sz="1050" dirty="0">
              <a:latin typeface="Footlight MT Light" panose="0204060206030A020304" pitchFamily="18" charset="0"/>
            </a:endParaRPr>
          </a:p>
        </p:txBody>
      </p:sp>
      <p:sp>
        <p:nvSpPr>
          <p:cNvPr id="22" name="Shape 18"/>
          <p:cNvSpPr/>
          <p:nvPr/>
        </p:nvSpPr>
        <p:spPr>
          <a:xfrm>
            <a:off x="3511694" y="1993392"/>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3" name="Shape 19"/>
          <p:cNvSpPr/>
          <p:nvPr/>
        </p:nvSpPr>
        <p:spPr>
          <a:xfrm>
            <a:off x="3648854" y="2130552"/>
            <a:ext cx="548640" cy="548640"/>
          </a:xfrm>
          <a:prstGeom prst="ellipse">
            <a:avLst/>
          </a:prstGeom>
          <a:solidFill>
            <a:schemeClr val="accent4"/>
          </a:solidFill>
          <a:ln w="12700">
            <a:noFill/>
            <a:prstDash val="solid"/>
          </a:ln>
        </p:spPr>
      </p:sp>
      <p:pic>
        <p:nvPicPr>
          <p:cNvPr id="24" name="Image 2" descr="preencoded.png"/>
          <p:cNvPicPr>
            <a:picLocks noChangeAspect="1"/>
          </p:cNvPicPr>
          <p:nvPr/>
        </p:nvPicPr>
        <p:blipFill>
          <a:blip r:embed="rId9">
            <a:extLst>
              <a:ext uri="{BEBA8EAE-BF5A-486C-A8C5-ECC9F3942E4B}">
                <a14:imgProps xmlns:a14="http://schemas.microsoft.com/office/drawing/2010/main">
                  <a14:imgLayer r:embed="rId10">
                    <a14:imgEffect>
                      <a14:brightnessContrast contrast="20000"/>
                    </a14:imgEffect>
                  </a14:imgLayer>
                </a14:imgProps>
              </a:ext>
            </a:extLst>
          </a:blip>
          <a:stretch>
            <a:fillRect/>
          </a:stretch>
        </p:blipFill>
        <p:spPr>
          <a:xfrm>
            <a:off x="3740294" y="2221992"/>
            <a:ext cx="365760" cy="365760"/>
          </a:xfrm>
          <a:prstGeom prst="rect">
            <a:avLst/>
          </a:prstGeom>
        </p:spPr>
      </p:pic>
      <p:sp>
        <p:nvSpPr>
          <p:cNvPr id="25" name="Text 20"/>
          <p:cNvSpPr/>
          <p:nvPr/>
        </p:nvSpPr>
        <p:spPr>
          <a:xfrm>
            <a:off x="4334654" y="2249424"/>
            <a:ext cx="2167128" cy="292608"/>
          </a:xfrm>
          <a:prstGeom prst="rect">
            <a:avLst/>
          </a:prstGeom>
          <a:noFill/>
          <a:ln/>
        </p:spPr>
        <p:txBody>
          <a:bodyPr wrap="square" lIns="0" tIns="0" rIns="0" bIns="0" rtlCol="0" anchor="t"/>
          <a:lstStyle/>
          <a:p>
            <a:pPr marL="0" indent="0" algn="l">
              <a:buNone/>
            </a:pPr>
            <a:r>
              <a:rPr lang="en-US" sz="1100" b="1" dirty="0">
                <a:solidFill>
                  <a:srgbClr val="A67C00"/>
                </a:solidFill>
                <a:latin typeface="Footlight MT Light" panose="0204060206030A020304" pitchFamily="18" charset="0"/>
                <a:ea typeface="Cambria" pitchFamily="34" charset="-122"/>
                <a:cs typeface="Cambria" pitchFamily="34" charset="-120"/>
              </a:rPr>
              <a:t>Replicate the Fishery Model</a:t>
            </a:r>
            <a:endParaRPr lang="en-US" sz="1100" dirty="0">
              <a:latin typeface="Footlight MT Light" panose="0204060206030A020304" pitchFamily="18" charset="0"/>
            </a:endParaRPr>
          </a:p>
        </p:txBody>
      </p:sp>
      <p:sp>
        <p:nvSpPr>
          <p:cNvPr id="26" name="Shape 21"/>
          <p:cNvSpPr/>
          <p:nvPr/>
        </p:nvSpPr>
        <p:spPr>
          <a:xfrm>
            <a:off x="4334654" y="2578608"/>
            <a:ext cx="2167128" cy="9144"/>
          </a:xfrm>
          <a:prstGeom prst="rect">
            <a:avLst/>
          </a:prstGeom>
          <a:solidFill>
            <a:srgbClr val="E5EDED"/>
          </a:solidFill>
          <a:ln w="12700">
            <a:solidFill>
              <a:srgbClr val="E5EDED"/>
            </a:solidFill>
            <a:prstDash val="solid"/>
          </a:ln>
        </p:spPr>
      </p:sp>
      <p:sp>
        <p:nvSpPr>
          <p:cNvPr id="27" name="Text 22"/>
          <p:cNvSpPr/>
          <p:nvPr/>
        </p:nvSpPr>
        <p:spPr>
          <a:xfrm>
            <a:off x="4334654" y="2670048"/>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Scale the successful fishery model to adjacent Mahad and Mangaon blocks, empowering additional tribal communities toward sustainable, self-sufficient futures based on proven intervention strategies.</a:t>
            </a:r>
            <a:endParaRPr lang="en-US" sz="1050" dirty="0">
              <a:latin typeface="Footlight MT Light" panose="0204060206030A020304" pitchFamily="18" charset="0"/>
            </a:endParaRPr>
          </a:p>
        </p:txBody>
      </p:sp>
      <p:sp>
        <p:nvSpPr>
          <p:cNvPr id="28" name="Shape 23"/>
          <p:cNvSpPr/>
          <p:nvPr/>
        </p:nvSpPr>
        <p:spPr>
          <a:xfrm>
            <a:off x="283862" y="4114800"/>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9" name="Shape 24"/>
          <p:cNvSpPr/>
          <p:nvPr/>
        </p:nvSpPr>
        <p:spPr>
          <a:xfrm>
            <a:off x="421022" y="4251960"/>
            <a:ext cx="548640" cy="548640"/>
          </a:xfrm>
          <a:prstGeom prst="ellipse">
            <a:avLst/>
          </a:prstGeom>
          <a:solidFill>
            <a:srgbClr val="005F5F"/>
          </a:solidFill>
          <a:ln w="12700">
            <a:solidFill>
              <a:srgbClr val="005F5F"/>
            </a:solidFill>
            <a:prstDash val="solid"/>
          </a:ln>
        </p:spPr>
      </p:sp>
      <p:pic>
        <p:nvPicPr>
          <p:cNvPr id="30" name="Image 3" descr="preencoded.png"/>
          <p:cNvPicPr>
            <a:picLocks noChangeAspect="1"/>
          </p:cNvPicPr>
          <p:nvPr/>
        </p:nvPicPr>
        <p:blipFill>
          <a:blip r:embed="rId11">
            <a:duotone>
              <a:schemeClr val="accent4">
                <a:shade val="45000"/>
                <a:satMod val="135000"/>
              </a:schemeClr>
              <a:prstClr val="white"/>
            </a:duotone>
          </a:blip>
          <a:stretch>
            <a:fillRect/>
          </a:stretch>
        </p:blipFill>
        <p:spPr>
          <a:xfrm>
            <a:off x="512462" y="4343400"/>
            <a:ext cx="365760" cy="365760"/>
          </a:xfrm>
          <a:prstGeom prst="rect">
            <a:avLst/>
          </a:prstGeom>
        </p:spPr>
      </p:pic>
      <p:sp>
        <p:nvSpPr>
          <p:cNvPr id="31" name="Text 25"/>
          <p:cNvSpPr/>
          <p:nvPr/>
        </p:nvSpPr>
        <p:spPr>
          <a:xfrm>
            <a:off x="1106822" y="4370832"/>
            <a:ext cx="2167128" cy="292608"/>
          </a:xfrm>
          <a:prstGeom prst="rect">
            <a:avLst/>
          </a:prstGeom>
          <a:noFill/>
          <a:ln/>
        </p:spPr>
        <p:txBody>
          <a:bodyPr wrap="square" lIns="0" tIns="0" rIns="0" bIns="0" rtlCol="0" anchor="t"/>
          <a:lstStyle/>
          <a:p>
            <a:pPr marL="0" indent="0" algn="l">
              <a:buNone/>
            </a:pPr>
            <a:r>
              <a:rPr lang="en-US" sz="1100" b="1" dirty="0">
                <a:solidFill>
                  <a:srgbClr val="005F5F"/>
                </a:solidFill>
                <a:latin typeface="Footlight MT Light" panose="0204060206030A020304" pitchFamily="18" charset="0"/>
                <a:ea typeface="Cambria" pitchFamily="34" charset="-122"/>
                <a:cs typeface="Cambria" pitchFamily="34" charset="-120"/>
              </a:rPr>
              <a:t>Strengthen Institutions</a:t>
            </a:r>
            <a:endParaRPr lang="en-US" sz="1100" dirty="0">
              <a:latin typeface="Footlight MT Light" panose="0204060206030A020304" pitchFamily="18" charset="0"/>
            </a:endParaRPr>
          </a:p>
        </p:txBody>
      </p:sp>
      <p:sp>
        <p:nvSpPr>
          <p:cNvPr id="32" name="Shape 26"/>
          <p:cNvSpPr/>
          <p:nvPr/>
        </p:nvSpPr>
        <p:spPr>
          <a:xfrm>
            <a:off x="1106822" y="4700016"/>
            <a:ext cx="2167128" cy="9144"/>
          </a:xfrm>
          <a:prstGeom prst="rect">
            <a:avLst/>
          </a:prstGeom>
          <a:solidFill>
            <a:srgbClr val="E5EDED"/>
          </a:solidFill>
          <a:ln w="12700">
            <a:solidFill>
              <a:srgbClr val="E5EDED"/>
            </a:solidFill>
            <a:prstDash val="solid"/>
          </a:ln>
        </p:spPr>
      </p:sp>
      <p:sp>
        <p:nvSpPr>
          <p:cNvPr id="33" name="Text 27"/>
          <p:cNvSpPr/>
          <p:nvPr/>
        </p:nvSpPr>
        <p:spPr>
          <a:xfrm>
            <a:off x="1106822" y="4791456"/>
            <a:ext cx="2167128" cy="1225296"/>
          </a:xfrm>
          <a:prstGeom prst="rect">
            <a:avLst/>
          </a:prstGeom>
          <a:noFill/>
          <a:ln/>
        </p:spPr>
        <p:txBody>
          <a:bodyPr wrap="square" lIns="0" tIns="0" rIns="0" bIns="0" rtlCol="0" anchor="t"/>
          <a:lstStyle/>
          <a:p>
            <a:pPr marL="0" indent="0">
              <a:buNone/>
            </a:pPr>
            <a:r>
              <a:rPr lang="en-US" sz="1050" dirty="0">
                <a:solidFill>
                  <a:srgbClr val="2A3535"/>
                </a:solidFill>
                <a:latin typeface="Footlight MT Light" panose="0204060206030A020304" pitchFamily="18" charset="0"/>
                <a:ea typeface="Calibri" pitchFamily="34" charset="-122"/>
                <a:cs typeface="Calibri" pitchFamily="34" charset="-120"/>
              </a:rPr>
              <a:t>Continue capacity building of fishing cooperatives, SHGs, and community organizations to ensure long-term self-management, governance, and financial sustainability beyond the project period.</a:t>
            </a:r>
            <a:endParaRPr lang="en-US" sz="1050" dirty="0">
              <a:latin typeface="Footlight MT Light" panose="0204060206030A020304" pitchFamily="18" charset="0"/>
            </a:endParaRPr>
          </a:p>
        </p:txBody>
      </p:sp>
      <p:sp>
        <p:nvSpPr>
          <p:cNvPr id="34" name="Shape 28"/>
          <p:cNvSpPr/>
          <p:nvPr/>
        </p:nvSpPr>
        <p:spPr>
          <a:xfrm>
            <a:off x="3511694" y="4114800"/>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5" name="Shape 29"/>
          <p:cNvSpPr/>
          <p:nvPr/>
        </p:nvSpPr>
        <p:spPr>
          <a:xfrm>
            <a:off x="3648854" y="4251960"/>
            <a:ext cx="548640" cy="548640"/>
          </a:xfrm>
          <a:prstGeom prst="ellipse">
            <a:avLst/>
          </a:prstGeom>
          <a:solidFill>
            <a:schemeClr val="accent4"/>
          </a:solidFill>
          <a:ln w="12700">
            <a:noFill/>
            <a:prstDash val="solid"/>
          </a:ln>
        </p:spPr>
      </p:sp>
      <p:pic>
        <p:nvPicPr>
          <p:cNvPr id="36" name="Image 4" descr="preencoded.png"/>
          <p:cNvPicPr>
            <a:picLocks noChangeAspect="1"/>
          </p:cNvPicPr>
          <p:nvPr/>
        </p:nvPicPr>
        <p:blipFill>
          <a:blip r:embed="rId12">
            <a:extLst>
              <a:ext uri="{BEBA8EAE-BF5A-486C-A8C5-ECC9F3942E4B}">
                <a14:imgProps xmlns:a14="http://schemas.microsoft.com/office/drawing/2010/main">
                  <a14:imgLayer r:embed="rId13">
                    <a14:imgEffect>
                      <a14:brightnessContrast contrast="40000"/>
                    </a14:imgEffect>
                  </a14:imgLayer>
                </a14:imgProps>
              </a:ext>
            </a:extLst>
          </a:blip>
          <a:stretch>
            <a:fillRect/>
          </a:stretch>
        </p:blipFill>
        <p:spPr>
          <a:xfrm>
            <a:off x="3740294" y="4343400"/>
            <a:ext cx="365760" cy="365760"/>
          </a:xfrm>
          <a:prstGeom prst="rect">
            <a:avLst/>
          </a:prstGeom>
        </p:spPr>
      </p:pic>
      <p:sp>
        <p:nvSpPr>
          <p:cNvPr id="37" name="Text 30"/>
          <p:cNvSpPr/>
          <p:nvPr/>
        </p:nvSpPr>
        <p:spPr>
          <a:xfrm>
            <a:off x="4334654" y="4370832"/>
            <a:ext cx="2167128" cy="292608"/>
          </a:xfrm>
          <a:prstGeom prst="rect">
            <a:avLst/>
          </a:prstGeom>
          <a:noFill/>
          <a:ln/>
        </p:spPr>
        <p:txBody>
          <a:bodyPr wrap="square" lIns="0" tIns="0" rIns="0" bIns="0" rtlCol="0" anchor="t"/>
          <a:lstStyle/>
          <a:p>
            <a:pPr marL="0" indent="0" algn="l">
              <a:buNone/>
            </a:pPr>
            <a:r>
              <a:rPr lang="en-US" sz="1100" b="1" dirty="0">
                <a:solidFill>
                  <a:srgbClr val="A67C00"/>
                </a:solidFill>
                <a:latin typeface="Footlight MT Light" panose="0204060206030A020304" pitchFamily="18" charset="0"/>
                <a:ea typeface="Cambria" pitchFamily="34" charset="-122"/>
                <a:cs typeface="Cambria" pitchFamily="34" charset="-120"/>
              </a:rPr>
              <a:t>State Partnership Linkages</a:t>
            </a:r>
            <a:endParaRPr lang="en-US" sz="1100" dirty="0">
              <a:latin typeface="Footlight MT Light" panose="0204060206030A020304" pitchFamily="18" charset="0"/>
            </a:endParaRPr>
          </a:p>
        </p:txBody>
      </p:sp>
      <p:sp>
        <p:nvSpPr>
          <p:cNvPr id="38" name="Shape 31"/>
          <p:cNvSpPr/>
          <p:nvPr/>
        </p:nvSpPr>
        <p:spPr>
          <a:xfrm>
            <a:off x="4334654" y="4700016"/>
            <a:ext cx="2167128" cy="9144"/>
          </a:xfrm>
          <a:prstGeom prst="rect">
            <a:avLst/>
          </a:prstGeom>
          <a:solidFill>
            <a:srgbClr val="E5EDED"/>
          </a:solidFill>
          <a:ln w="12700">
            <a:solidFill>
              <a:srgbClr val="E5EDED"/>
            </a:solidFill>
            <a:prstDash val="solid"/>
          </a:ln>
        </p:spPr>
      </p:sp>
      <p:sp>
        <p:nvSpPr>
          <p:cNvPr id="39" name="Text 32"/>
          <p:cNvSpPr/>
          <p:nvPr/>
        </p:nvSpPr>
        <p:spPr>
          <a:xfrm>
            <a:off x="4334654" y="4791456"/>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Explore formal linkages with Maharashtra state fisheries departments, NABARD, and government programmes for continued technical support, policy integration, and resource mobilization.</a:t>
            </a:r>
            <a:endParaRPr lang="en-US" sz="1050" dirty="0">
              <a:latin typeface="Footlight MT Light" panose="0204060206030A020304" pitchFamily="18" charset="0"/>
            </a:endParaRPr>
          </a:p>
        </p:txBody>
      </p:sp>
      <p:sp>
        <p:nvSpPr>
          <p:cNvPr id="52" name="Shape 41"/>
          <p:cNvSpPr/>
          <p:nvPr/>
        </p:nvSpPr>
        <p:spPr>
          <a:xfrm>
            <a:off x="298378" y="6257334"/>
            <a:ext cx="6392054" cy="621792"/>
          </a:xfrm>
          <a:prstGeom prst="roundRect">
            <a:avLst>
              <a:gd name="adj" fmla="val 11765"/>
            </a:avLst>
          </a:prstGeom>
          <a:solidFill>
            <a:srgbClr val="FFF8E6"/>
          </a:solidFill>
          <a:ln w="12700">
            <a:solidFill>
              <a:srgbClr val="C8960A"/>
            </a:solidFill>
            <a:prstDash val="solid"/>
          </a:ln>
        </p:spPr>
      </p:sp>
      <p:sp>
        <p:nvSpPr>
          <p:cNvPr id="53" name="Shape 42"/>
          <p:cNvSpPr/>
          <p:nvPr/>
        </p:nvSpPr>
        <p:spPr>
          <a:xfrm>
            <a:off x="298377" y="6257334"/>
            <a:ext cx="45719" cy="621792"/>
          </a:xfrm>
          <a:prstGeom prst="rect">
            <a:avLst/>
          </a:prstGeom>
          <a:solidFill>
            <a:srgbClr val="C8960A"/>
          </a:solidFill>
          <a:ln w="12700">
            <a:solidFill>
              <a:srgbClr val="C8960A"/>
            </a:solidFill>
            <a:prstDash val="solid"/>
          </a:ln>
        </p:spPr>
      </p:sp>
      <p:sp>
        <p:nvSpPr>
          <p:cNvPr id="54" name="Text 43"/>
          <p:cNvSpPr/>
          <p:nvPr/>
        </p:nvSpPr>
        <p:spPr>
          <a:xfrm>
            <a:off x="481257" y="6330486"/>
            <a:ext cx="6171003" cy="475488"/>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By expanding proven interventions to Mahad and Mangaon blocks, we can empower more tribal communities toward sustainable and self-sufficient futures - building on the demonstrated success of this three-year model.</a:t>
            </a:r>
            <a:endParaRPr lang="en-US" sz="1000" dirty="0">
              <a:latin typeface="Felix Titling" panose="04060505060202020A04" pitchFamily="8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1F"/>
        </a:solidFill>
        <a:effectLst/>
      </p:bgPr>
    </p:bg>
    <p:spTree>
      <p:nvGrpSpPr>
        <p:cNvPr id="1" name=""/>
        <p:cNvGrpSpPr/>
        <p:nvPr/>
      </p:nvGrpSpPr>
      <p:grpSpPr>
        <a:xfrm>
          <a:off x="0" y="0"/>
          <a:ext cx="0" cy="0"/>
          <a:chOff x="0" y="0"/>
          <a:chExt cx="0" cy="0"/>
        </a:xfrm>
      </p:grpSpPr>
      <p:pic>
        <p:nvPicPr>
          <p:cNvPr id="2" name="Image 0" descr="/home/claude/rpt_imgs/shg_1.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B1F1F">
              <a:alpha val="60000"/>
            </a:srgbClr>
          </a:solidFill>
          <a:ln w="12700">
            <a:solidFill>
              <a:srgbClr val="0B1F1F"/>
            </a:solidFill>
            <a:prstDash val="solid"/>
          </a:ln>
        </p:spPr>
      </p:sp>
      <p:pic>
        <p:nvPicPr>
          <p:cNvPr id="27" name="Picture 26">
            <a:extLst>
              <a:ext uri="{FF2B5EF4-FFF2-40B4-BE49-F238E27FC236}">
                <a16:creationId xmlns:a16="http://schemas.microsoft.com/office/drawing/2014/main" id="{9288ADCA-5E04-8C06-467C-E9AAB6EAEB2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703507"/>
            <a:ext cx="6858000" cy="9144000"/>
          </a:xfrm>
          <a:prstGeom prst="rect">
            <a:avLst/>
          </a:prstGeom>
        </p:spPr>
      </p:pic>
      <p:sp>
        <p:nvSpPr>
          <p:cNvPr id="4" name="Shape 1"/>
          <p:cNvSpPr/>
          <p:nvPr/>
        </p:nvSpPr>
        <p:spPr>
          <a:xfrm>
            <a:off x="0" y="0"/>
            <a:ext cx="6858000" cy="109728"/>
          </a:xfrm>
          <a:prstGeom prst="rect">
            <a:avLst/>
          </a:prstGeom>
          <a:solidFill>
            <a:srgbClr val="C8960A"/>
          </a:solidFill>
          <a:ln w="12700">
            <a:solidFill>
              <a:srgbClr val="C8960A"/>
            </a:solidFill>
            <a:prstDash val="solid"/>
          </a:ln>
        </p:spPr>
      </p:sp>
      <p:sp>
        <p:nvSpPr>
          <p:cNvPr id="5" name="Shape 2"/>
          <p:cNvSpPr/>
          <p:nvPr/>
        </p:nvSpPr>
        <p:spPr>
          <a:xfrm>
            <a:off x="0" y="9610344"/>
            <a:ext cx="6858000" cy="109728"/>
          </a:xfrm>
          <a:prstGeom prst="rect">
            <a:avLst/>
          </a:prstGeom>
          <a:solidFill>
            <a:srgbClr val="C8960A"/>
          </a:solidFill>
          <a:ln w="12700">
            <a:solidFill>
              <a:srgbClr val="C8960A"/>
            </a:solidFill>
            <a:prstDash val="solid"/>
          </a:ln>
        </p:spPr>
      </p:sp>
      <p:sp>
        <p:nvSpPr>
          <p:cNvPr id="6" name="Shape 3"/>
          <p:cNvSpPr/>
          <p:nvPr/>
        </p:nvSpPr>
        <p:spPr>
          <a:xfrm>
            <a:off x="0" y="5029200"/>
            <a:ext cx="6858000" cy="4690872"/>
          </a:xfrm>
          <a:prstGeom prst="rect">
            <a:avLst/>
          </a:prstGeom>
          <a:solidFill>
            <a:srgbClr val="0B1F1F"/>
          </a:solidFill>
          <a:ln w="12700">
            <a:solidFill>
              <a:srgbClr val="0B1F1F"/>
            </a:solidFill>
            <a:prstDash val="solid"/>
          </a:ln>
        </p:spPr>
      </p:sp>
      <p:sp>
        <p:nvSpPr>
          <p:cNvPr id="7" name="Shape 4"/>
          <p:cNvSpPr/>
          <p:nvPr/>
        </p:nvSpPr>
        <p:spPr>
          <a:xfrm>
            <a:off x="0" y="5029200"/>
            <a:ext cx="6858000" cy="32004"/>
          </a:xfrm>
          <a:prstGeom prst="rect">
            <a:avLst/>
          </a:prstGeom>
          <a:solidFill>
            <a:srgbClr val="C8960A"/>
          </a:solidFill>
          <a:ln w="12700">
            <a:solidFill>
              <a:srgbClr val="C8960A"/>
            </a:solidFill>
            <a:prstDash val="solid"/>
          </a:ln>
        </p:spPr>
      </p:sp>
      <p:sp>
        <p:nvSpPr>
          <p:cNvPr id="8" name="Text 5"/>
          <p:cNvSpPr/>
          <p:nvPr/>
        </p:nvSpPr>
        <p:spPr>
          <a:xfrm>
            <a:off x="365760" y="274320"/>
            <a:ext cx="6126480" cy="274320"/>
          </a:xfrm>
          <a:prstGeom prst="rect">
            <a:avLst/>
          </a:prstGeom>
          <a:noFill/>
          <a:ln/>
        </p:spPr>
        <p:txBody>
          <a:bodyPr wrap="square" lIns="0" tIns="0" rIns="0" bIns="0" rtlCol="0" anchor="t"/>
          <a:lstStyle/>
          <a:p>
            <a:pPr marL="0" indent="0" algn="l">
              <a:buNone/>
            </a:pPr>
            <a:r>
              <a:rPr lang="en-US" sz="2000" b="1" kern="0" spc="300" dirty="0">
                <a:solidFill>
                  <a:srgbClr val="C8960A"/>
                </a:solidFill>
                <a:latin typeface="Cambria Math" panose="02040503050406030204" pitchFamily="18" charset="0"/>
                <a:ea typeface="Cambria Math" panose="02040503050406030204" pitchFamily="18" charset="0"/>
                <a:cs typeface="Calibri" pitchFamily="34" charset="-120"/>
              </a:rPr>
              <a:t>CONCLUSION</a:t>
            </a:r>
            <a:endParaRPr lang="en-US" sz="2000" dirty="0">
              <a:latin typeface="Cambria Math" panose="02040503050406030204" pitchFamily="18" charset="0"/>
              <a:ea typeface="Cambria Math" panose="02040503050406030204" pitchFamily="18" charset="0"/>
            </a:endParaRPr>
          </a:p>
        </p:txBody>
      </p:sp>
      <p:sp>
        <p:nvSpPr>
          <p:cNvPr id="9" name="Text 6"/>
          <p:cNvSpPr/>
          <p:nvPr/>
        </p:nvSpPr>
        <p:spPr>
          <a:xfrm>
            <a:off x="365760" y="621792"/>
            <a:ext cx="6126480" cy="1828800"/>
          </a:xfrm>
          <a:prstGeom prst="rect">
            <a:avLst/>
          </a:prstGeom>
          <a:noFill/>
          <a:ln/>
        </p:spPr>
        <p:txBody>
          <a:bodyPr wrap="square" lIns="0" tIns="0" rIns="0" bIns="0" rtlCol="0" anchor="t"/>
          <a:lstStyle/>
          <a:p>
            <a:pPr marL="0" indent="0" algn="l">
              <a:buNone/>
            </a:pPr>
            <a:r>
              <a:rPr lang="en-US" sz="3000" b="1" dirty="0">
                <a:solidFill>
                  <a:srgbClr val="FFFFFF"/>
                </a:solidFill>
                <a:latin typeface="Felix Titling" panose="04060505060202020A04" pitchFamily="82" charset="0"/>
                <a:ea typeface="Cambria" pitchFamily="34" charset="-122"/>
                <a:cs typeface="Cambria" pitchFamily="34" charset="-120"/>
              </a:rPr>
              <a:t>Three Years of</a:t>
            </a:r>
            <a:endParaRPr lang="en-US" sz="3000" dirty="0">
              <a:latin typeface="Felix Titling" panose="04060505060202020A04" pitchFamily="82" charset="0"/>
            </a:endParaRPr>
          </a:p>
          <a:p>
            <a:pPr marL="0" indent="0" algn="l">
              <a:buNone/>
            </a:pPr>
            <a:r>
              <a:rPr lang="en-US" sz="3000" b="1" dirty="0">
                <a:solidFill>
                  <a:srgbClr val="FFFFFF"/>
                </a:solidFill>
                <a:latin typeface="Felix Titling" panose="04060505060202020A04" pitchFamily="82" charset="0"/>
                <a:ea typeface="Cambria" pitchFamily="34" charset="-122"/>
                <a:cs typeface="Cambria" pitchFamily="34" charset="-120"/>
              </a:rPr>
              <a:t>Transformative Impact</a:t>
            </a:r>
            <a:endParaRPr lang="en-US" sz="3000" dirty="0">
              <a:latin typeface="Felix Titling" panose="04060505060202020A04" pitchFamily="82" charset="0"/>
            </a:endParaRPr>
          </a:p>
        </p:txBody>
      </p:sp>
      <p:sp>
        <p:nvSpPr>
          <p:cNvPr id="10" name="Shape 7"/>
          <p:cNvSpPr/>
          <p:nvPr/>
        </p:nvSpPr>
        <p:spPr>
          <a:xfrm>
            <a:off x="347472" y="1903114"/>
            <a:ext cx="1371600" cy="32004"/>
          </a:xfrm>
          <a:prstGeom prst="rect">
            <a:avLst/>
          </a:prstGeom>
          <a:solidFill>
            <a:srgbClr val="C8960A"/>
          </a:solidFill>
          <a:ln w="12700">
            <a:solidFill>
              <a:srgbClr val="C8960A"/>
            </a:solidFill>
            <a:prstDash val="solid"/>
          </a:ln>
        </p:spPr>
      </p:sp>
      <p:sp>
        <p:nvSpPr>
          <p:cNvPr id="11" name="Text 8"/>
          <p:cNvSpPr/>
          <p:nvPr/>
        </p:nvSpPr>
        <p:spPr>
          <a:xfrm>
            <a:off x="347472" y="2067706"/>
            <a:ext cx="6126480" cy="621792"/>
          </a:xfrm>
          <a:prstGeom prst="rect">
            <a:avLst/>
          </a:prstGeom>
          <a:noFill/>
          <a:ln/>
        </p:spPr>
        <p:txBody>
          <a:bodyPr wrap="square" lIns="0" tIns="0" rIns="0" bIns="0" rtlCol="0" anchor="t"/>
          <a:lstStyle/>
          <a:p>
            <a:pPr marL="0" indent="0" algn="just">
              <a:buNone/>
            </a:pPr>
            <a:r>
              <a:rPr lang="en-US" sz="1400" dirty="0">
                <a:solidFill>
                  <a:srgbClr val="FFFFFF"/>
                </a:solidFill>
                <a:latin typeface="Century Gothic" panose="020B0502020202090204" pitchFamily="34" charset="0"/>
                <a:ea typeface="Calibri" pitchFamily="34" charset="-122"/>
                <a:cs typeface="Calibri" pitchFamily="34" charset="-120"/>
              </a:rPr>
              <a:t>The Inland Fishery Based Livelihood Improvement Intervention, implemented by Shramjivi Janata Sahayyak Mandal (SJSM) with CSR support from Atlas Copco (India) Pvt. Ltd., has achieved significant milestones in improving the livelihoods, institutional capacities, and socio-economic conditions of Katkari tribal fishing communities in Poladpur Taluka and Mahad Block, Raigad district.</a:t>
            </a:r>
            <a:endParaRPr lang="en-US" sz="1400" dirty="0">
              <a:latin typeface="Century Gothic" panose="020B0502020202090204" pitchFamily="34" charset="0"/>
            </a:endParaRPr>
          </a:p>
        </p:txBody>
      </p:sp>
      <p:sp>
        <p:nvSpPr>
          <p:cNvPr id="12" name="Text 9"/>
          <p:cNvSpPr/>
          <p:nvPr/>
        </p:nvSpPr>
        <p:spPr>
          <a:xfrm>
            <a:off x="365760" y="3398158"/>
            <a:ext cx="6126480" cy="841248"/>
          </a:xfrm>
          <a:prstGeom prst="rect">
            <a:avLst/>
          </a:prstGeom>
          <a:noFill/>
          <a:ln/>
        </p:spPr>
        <p:txBody>
          <a:bodyPr wrap="square" lIns="0" tIns="0" rIns="0" bIns="0" rtlCol="0" anchor="t"/>
          <a:lstStyle/>
          <a:p>
            <a:pPr marL="0" indent="0" algn="just">
              <a:buNone/>
            </a:pPr>
            <a:r>
              <a:rPr lang="en-US" sz="1400" i="1" dirty="0">
                <a:solidFill>
                  <a:srgbClr val="E0F2F2"/>
                </a:solidFill>
                <a:latin typeface="Century Gothic" panose="020B0502020202090204" pitchFamily="34" charset="0"/>
                <a:ea typeface="Calibri" pitchFamily="34" charset="-122"/>
                <a:cs typeface="Aparajita" panose="02020603050405020304" pitchFamily="18" charset="0"/>
              </a:rPr>
              <a:t>Over three years (May 2023 – April 2026), the project has demonstrated that targeted investments in fisheries development - combining livelihood support, scientific fisheries management, capacity building, and institutional strengthening - can create lasting impact for marginalized tribal communities</a:t>
            </a:r>
            <a:r>
              <a:rPr lang="en-US" sz="1200" i="1" dirty="0">
                <a:solidFill>
                  <a:srgbClr val="E0F2F2"/>
                </a:solidFill>
                <a:latin typeface="Century Gothic" panose="020B0502020202090204" pitchFamily="34" charset="0"/>
                <a:ea typeface="Calibri" pitchFamily="34" charset="-122"/>
                <a:cs typeface="Aparajita" panose="02020603050405020304" pitchFamily="18" charset="0"/>
              </a:rPr>
              <a:t>.</a:t>
            </a:r>
            <a:endParaRPr lang="en-US" sz="1200" dirty="0">
              <a:latin typeface="Century Gothic" panose="020B0502020202090204" pitchFamily="34" charset="0"/>
              <a:cs typeface="Aparajita" panose="02020603050405020304" pitchFamily="18" charset="0"/>
            </a:endParaRPr>
          </a:p>
        </p:txBody>
      </p:sp>
      <p:pic>
        <p:nvPicPr>
          <p:cNvPr id="13" name="Image 1" descr="preencoded.png"/>
          <p:cNvPicPr>
            <a:picLocks noChangeAspect="1"/>
          </p:cNvPicPr>
          <p:nvPr/>
        </p:nvPicPr>
        <p:blipFill>
          <a:blip r:embed="rId6"/>
          <a:stretch>
            <a:fillRect/>
          </a:stretch>
        </p:blipFill>
        <p:spPr>
          <a:xfrm>
            <a:off x="365760" y="5193792"/>
            <a:ext cx="329184" cy="274320"/>
          </a:xfrm>
          <a:prstGeom prst="rect">
            <a:avLst/>
          </a:prstGeom>
        </p:spPr>
      </p:pic>
      <p:sp>
        <p:nvSpPr>
          <p:cNvPr id="14" name="Text 10"/>
          <p:cNvSpPr/>
          <p:nvPr/>
        </p:nvSpPr>
        <p:spPr>
          <a:xfrm>
            <a:off x="768096" y="5266944"/>
            <a:ext cx="5833872" cy="804672"/>
          </a:xfrm>
          <a:prstGeom prst="rect">
            <a:avLst/>
          </a:prstGeom>
          <a:noFill/>
          <a:ln/>
        </p:spPr>
        <p:txBody>
          <a:bodyPr wrap="square" lIns="0" tIns="0" rIns="0" bIns="0" rtlCol="0" anchor="t"/>
          <a:lstStyle/>
          <a:p>
            <a:pPr marL="0" indent="0">
              <a:buNone/>
            </a:pPr>
            <a:r>
              <a:rPr lang="en-US" sz="1200" i="1" dirty="0">
                <a:solidFill>
                  <a:srgbClr val="FFFFFF"/>
                </a:solidFill>
                <a:latin typeface="Baskerville Old Face" panose="02020602080505020303" pitchFamily="18" charset="0"/>
                <a:ea typeface="Cambria" pitchFamily="34" charset="-122"/>
                <a:cs typeface="Cambria" pitchFamily="34" charset="-120"/>
              </a:rPr>
              <a:t>Together, we have demonstrated that sustainable development is achievable when communities, NGOs, and the private sector work in partnership toward a shared vision of inclusive growth. This project stands as a testament to what collective action and genuine partnership can achieve.</a:t>
            </a:r>
            <a:endParaRPr lang="en-US" sz="1200" dirty="0">
              <a:latin typeface="Baskerville Old Face" panose="02020602080505020303" pitchFamily="18" charset="0"/>
            </a:endParaRPr>
          </a:p>
        </p:txBody>
      </p:sp>
      <p:sp>
        <p:nvSpPr>
          <p:cNvPr id="15" name="Shape 11"/>
          <p:cNvSpPr/>
          <p:nvPr/>
        </p:nvSpPr>
        <p:spPr>
          <a:xfrm>
            <a:off x="365760" y="6144768"/>
            <a:ext cx="6126480" cy="10973"/>
          </a:xfrm>
          <a:prstGeom prst="rect">
            <a:avLst/>
          </a:prstGeom>
          <a:solidFill>
            <a:srgbClr val="C8960A"/>
          </a:solidFill>
          <a:ln w="12700">
            <a:solidFill>
              <a:srgbClr val="C8960A"/>
            </a:solidFill>
            <a:prstDash val="solid"/>
          </a:ln>
        </p:spPr>
      </p:sp>
      <p:sp>
        <p:nvSpPr>
          <p:cNvPr id="16" name="Shape 12"/>
          <p:cNvSpPr/>
          <p:nvPr/>
        </p:nvSpPr>
        <p:spPr>
          <a:xfrm>
            <a:off x="256032" y="6272784"/>
            <a:ext cx="3081528" cy="1280160"/>
          </a:xfrm>
          <a:prstGeom prst="roundRect">
            <a:avLst>
              <a:gd name="adj" fmla="val 7143"/>
            </a:avLst>
          </a:prstGeom>
          <a:solidFill>
            <a:srgbClr val="005F5F"/>
          </a:solidFill>
          <a:ln w="12700">
            <a:solidFill>
              <a:srgbClr val="005F5F"/>
            </a:solidFill>
            <a:prstDash val="solid"/>
          </a:ln>
        </p:spPr>
      </p:sp>
      <p:sp>
        <p:nvSpPr>
          <p:cNvPr id="17" name="Text 13"/>
          <p:cNvSpPr/>
          <p:nvPr/>
        </p:nvSpPr>
        <p:spPr>
          <a:xfrm>
            <a:off x="384048" y="6382512"/>
            <a:ext cx="2825496" cy="182880"/>
          </a:xfrm>
          <a:prstGeom prst="rect">
            <a:avLst/>
          </a:prstGeom>
          <a:noFill/>
          <a:ln/>
        </p:spPr>
        <p:txBody>
          <a:bodyPr wrap="square" lIns="0" tIns="0" rIns="0" bIns="0" rtlCol="0" anchor="t"/>
          <a:lstStyle/>
          <a:p>
            <a:pPr marL="0" indent="0" algn="l">
              <a:buNone/>
            </a:pPr>
            <a:r>
              <a:rPr lang="en-US" sz="750" kern="0" spc="150" dirty="0">
                <a:solidFill>
                  <a:srgbClr val="9AAEAE"/>
                </a:solidFill>
                <a:latin typeface="Calibri" pitchFamily="34" charset="0"/>
                <a:ea typeface="Calibri" pitchFamily="34" charset="-122"/>
                <a:cs typeface="Calibri" pitchFamily="34" charset="-120"/>
              </a:rPr>
              <a:t>IMPLEMENTED BY</a:t>
            </a:r>
            <a:endParaRPr lang="en-US" sz="750" dirty="0"/>
          </a:p>
        </p:txBody>
      </p:sp>
      <p:sp>
        <p:nvSpPr>
          <p:cNvPr id="18" name="Text 14"/>
          <p:cNvSpPr/>
          <p:nvPr/>
        </p:nvSpPr>
        <p:spPr>
          <a:xfrm>
            <a:off x="384048" y="6583680"/>
            <a:ext cx="2825496" cy="548640"/>
          </a:xfrm>
          <a:prstGeom prst="rect">
            <a:avLst/>
          </a:prstGeom>
          <a:noFill/>
          <a:ln/>
        </p:spPr>
        <p:txBody>
          <a:bodyPr wrap="square" lIns="0" tIns="0" rIns="0" bIns="0" rtlCol="0" anchor="t"/>
          <a:lstStyle/>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Shramjivi Janata Sahayyak Mandal</a:t>
            </a:r>
            <a:endParaRPr lang="en-US" sz="1400" dirty="0">
              <a:latin typeface="Felix Titling" panose="04060505060202020A04" pitchFamily="82" charset="0"/>
            </a:endParaRPr>
          </a:p>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(SJSM), Satara</a:t>
            </a:r>
            <a:endParaRPr lang="en-US" sz="1400" dirty="0">
              <a:latin typeface="Felix Titling" panose="04060505060202020A04" pitchFamily="82" charset="0"/>
            </a:endParaRPr>
          </a:p>
        </p:txBody>
      </p:sp>
      <p:sp>
        <p:nvSpPr>
          <p:cNvPr id="19" name="Text 15"/>
          <p:cNvSpPr/>
          <p:nvPr/>
        </p:nvSpPr>
        <p:spPr>
          <a:xfrm>
            <a:off x="384048" y="7274052"/>
            <a:ext cx="2825496" cy="237744"/>
          </a:xfrm>
          <a:prstGeom prst="rect">
            <a:avLst/>
          </a:prstGeom>
          <a:noFill/>
          <a:ln/>
        </p:spPr>
        <p:txBody>
          <a:bodyPr wrap="square" lIns="0" tIns="0" rIns="0" bIns="0" rtlCol="0" anchor="t"/>
          <a:lstStyle/>
          <a:p>
            <a:pPr marL="0" indent="0" algn="l">
              <a:buNone/>
            </a:pPr>
            <a:r>
              <a:rPr lang="en-US" sz="850" i="1" dirty="0">
                <a:solidFill>
                  <a:srgbClr val="E0F2F2"/>
                </a:solidFill>
                <a:latin typeface="Calibri" pitchFamily="34" charset="0"/>
                <a:ea typeface="Calibri" pitchFamily="34" charset="-122"/>
                <a:cs typeface="Calibri" pitchFamily="34" charset="-120"/>
              </a:rPr>
              <a:t>Established 1980 · Maharashtra</a:t>
            </a:r>
            <a:endParaRPr lang="en-US" sz="850" dirty="0"/>
          </a:p>
        </p:txBody>
      </p:sp>
      <p:sp>
        <p:nvSpPr>
          <p:cNvPr id="20" name="Shape 16"/>
          <p:cNvSpPr/>
          <p:nvPr/>
        </p:nvSpPr>
        <p:spPr>
          <a:xfrm>
            <a:off x="3429000" y="6272784"/>
            <a:ext cx="3081528" cy="1280160"/>
          </a:xfrm>
          <a:prstGeom prst="roundRect">
            <a:avLst>
              <a:gd name="adj" fmla="val 7143"/>
            </a:avLst>
          </a:prstGeom>
          <a:solidFill>
            <a:srgbClr val="C8960A"/>
          </a:solidFill>
          <a:ln w="12700">
            <a:solidFill>
              <a:srgbClr val="C8960A"/>
            </a:solidFill>
            <a:prstDash val="solid"/>
          </a:ln>
        </p:spPr>
      </p:sp>
      <p:sp>
        <p:nvSpPr>
          <p:cNvPr id="21" name="Text 17"/>
          <p:cNvSpPr/>
          <p:nvPr/>
        </p:nvSpPr>
        <p:spPr>
          <a:xfrm>
            <a:off x="3557016" y="6382512"/>
            <a:ext cx="2825496" cy="182880"/>
          </a:xfrm>
          <a:prstGeom prst="rect">
            <a:avLst/>
          </a:prstGeom>
          <a:noFill/>
          <a:ln/>
        </p:spPr>
        <p:txBody>
          <a:bodyPr wrap="square" lIns="0" tIns="0" rIns="0" bIns="0" rtlCol="0" anchor="t"/>
          <a:lstStyle/>
          <a:p>
            <a:pPr marL="0" indent="0" algn="l">
              <a:buNone/>
            </a:pPr>
            <a:r>
              <a:rPr lang="en-US" sz="750" kern="0" spc="150" dirty="0">
                <a:solidFill>
                  <a:srgbClr val="FFF8E6"/>
                </a:solidFill>
                <a:latin typeface="Calibri" pitchFamily="34" charset="0"/>
                <a:ea typeface="Calibri" pitchFamily="34" charset="-122"/>
                <a:cs typeface="Calibri" pitchFamily="34" charset="-120"/>
              </a:rPr>
              <a:t>FUNDED BY</a:t>
            </a:r>
            <a:endParaRPr lang="en-US" sz="750" dirty="0"/>
          </a:p>
        </p:txBody>
      </p:sp>
      <p:sp>
        <p:nvSpPr>
          <p:cNvPr id="22" name="Text 18"/>
          <p:cNvSpPr/>
          <p:nvPr/>
        </p:nvSpPr>
        <p:spPr>
          <a:xfrm>
            <a:off x="3557016" y="6583680"/>
            <a:ext cx="2825496" cy="347472"/>
          </a:xfrm>
          <a:prstGeom prst="rect">
            <a:avLst/>
          </a:prstGeom>
          <a:noFill/>
          <a:ln/>
        </p:spPr>
        <p:txBody>
          <a:bodyPr wrap="square" lIns="0" tIns="0" rIns="0" bIns="0" rtlCol="0" anchor="t"/>
          <a:lstStyle/>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Atlas Copco (India) Pvt. Ltd.</a:t>
            </a:r>
            <a:endParaRPr lang="en-US" sz="1400" dirty="0">
              <a:latin typeface="Felix Titling" panose="04060505060202020A04" pitchFamily="82" charset="0"/>
            </a:endParaRPr>
          </a:p>
        </p:txBody>
      </p:sp>
      <p:sp>
        <p:nvSpPr>
          <p:cNvPr id="23" name="Text 19"/>
          <p:cNvSpPr/>
          <p:nvPr/>
        </p:nvSpPr>
        <p:spPr>
          <a:xfrm>
            <a:off x="3557016" y="7022592"/>
            <a:ext cx="2825496" cy="219456"/>
          </a:xfrm>
          <a:prstGeom prst="rect">
            <a:avLst/>
          </a:prstGeom>
          <a:noFill/>
          <a:ln/>
        </p:spPr>
        <p:txBody>
          <a:bodyPr wrap="square" lIns="0" tIns="0" rIns="0" bIns="0" rtlCol="0" anchor="t"/>
          <a:lstStyle/>
          <a:p>
            <a:pPr marL="0" indent="0" algn="l">
              <a:buNone/>
            </a:pPr>
            <a:r>
              <a:rPr lang="en-US" sz="850" i="1" dirty="0">
                <a:solidFill>
                  <a:srgbClr val="FFF8E6"/>
                </a:solidFill>
                <a:latin typeface="Calibri" pitchFamily="34" charset="0"/>
                <a:ea typeface="Calibri" pitchFamily="34" charset="-122"/>
                <a:cs typeface="Calibri" pitchFamily="34" charset="-120"/>
              </a:rPr>
              <a:t>Corporate Social Responsibility Initiative</a:t>
            </a:r>
            <a:endParaRPr lang="en-US" sz="850" dirty="0"/>
          </a:p>
        </p:txBody>
      </p:sp>
      <p:sp>
        <p:nvSpPr>
          <p:cNvPr id="24" name="Text 20"/>
          <p:cNvSpPr/>
          <p:nvPr/>
        </p:nvSpPr>
        <p:spPr>
          <a:xfrm>
            <a:off x="3557016" y="7187184"/>
            <a:ext cx="2825496" cy="219456"/>
          </a:xfrm>
          <a:prstGeom prst="rect">
            <a:avLst/>
          </a:prstGeom>
          <a:noFill/>
          <a:ln/>
        </p:spPr>
        <p:txBody>
          <a:bodyPr wrap="square" lIns="0" tIns="0" rIns="0" bIns="0" rtlCol="0" anchor="t"/>
          <a:lstStyle/>
          <a:p>
            <a:pPr marL="0" indent="0" algn="l">
              <a:buNone/>
            </a:pPr>
            <a:r>
              <a:rPr lang="en-US" sz="850" dirty="0">
                <a:solidFill>
                  <a:srgbClr val="FFF8E6"/>
                </a:solidFill>
                <a:latin typeface="Calibri" pitchFamily="34" charset="0"/>
                <a:ea typeface="Calibri" pitchFamily="34" charset="-122"/>
                <a:cs typeface="Calibri" pitchFamily="34" charset="-120"/>
              </a:rPr>
              <a:t>Project Period: May 2023 – April 2026</a:t>
            </a:r>
            <a:endParaRPr lang="en-US" sz="850" dirty="0"/>
          </a:p>
        </p:txBody>
      </p:sp>
      <p:sp>
        <p:nvSpPr>
          <p:cNvPr id="25" name="Text 21"/>
          <p:cNvSpPr/>
          <p:nvPr/>
        </p:nvSpPr>
        <p:spPr>
          <a:xfrm>
            <a:off x="256032" y="9208008"/>
            <a:ext cx="6345936" cy="219456"/>
          </a:xfrm>
          <a:prstGeom prst="rect">
            <a:avLst/>
          </a:prstGeom>
          <a:noFill/>
          <a:ln/>
        </p:spPr>
        <p:txBody>
          <a:bodyPr wrap="square" lIns="0" tIns="0" rIns="0" bIns="0" rtlCol="0" anchor="t"/>
          <a:lstStyle/>
          <a:p>
            <a:pPr marL="0" indent="0" algn="ctr">
              <a:buNone/>
            </a:pPr>
            <a:r>
              <a:rPr lang="en-US" sz="750" dirty="0">
                <a:solidFill>
                  <a:srgbClr val="9AAEAE"/>
                </a:solidFill>
                <a:latin typeface="Calibri" pitchFamily="34" charset="0"/>
                <a:ea typeface="Calibri" pitchFamily="34" charset="-122"/>
                <a:cs typeface="Calibri" pitchFamily="34" charset="-120"/>
              </a:rPr>
              <a:t>· For Corporate Presentation Only · © 2026 SJSM &amp; Atlas Copco (India) Pvt. Ltd.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5188</Words>
  <Application>Microsoft Office PowerPoint</Application>
  <PresentationFormat>Custom</PresentationFormat>
  <Paragraphs>753</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Baskerville Old Face</vt:lpstr>
      <vt:lpstr>Calibri</vt:lpstr>
      <vt:lpstr>Cambria Math</vt:lpstr>
      <vt:lpstr>Century Gothic</vt:lpstr>
      <vt:lpstr>Felix Titling</vt:lpstr>
      <vt:lpstr>Footlight MT Light</vt:lpstr>
      <vt:lpstr>Lucida Fax</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Satwik Udupi</cp:lastModifiedBy>
  <cp:revision>11</cp:revision>
  <dcterms:created xsi:type="dcterms:W3CDTF">2026-06-17T08:10:23Z</dcterms:created>
  <dcterms:modified xsi:type="dcterms:W3CDTF">2026-06-22T17:42:56Z</dcterms:modified>
</cp:coreProperties>
</file>