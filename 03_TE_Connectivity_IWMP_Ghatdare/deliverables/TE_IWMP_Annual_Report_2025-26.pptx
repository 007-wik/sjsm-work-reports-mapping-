
<file path=[Content_Types].xml><?xml version="1.0" encoding="utf-8"?>
<Types xmlns="http://schemas.openxmlformats.org/package/2006/content-types">
  <Default Extension="DNG" ContentType="image/png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67" r:id="rId2"/>
    <p:sldId id="257" r:id="rId3"/>
    <p:sldId id="270" r:id="rId4"/>
    <p:sldId id="258" r:id="rId5"/>
    <p:sldId id="259" r:id="rId6"/>
    <p:sldId id="260" r:id="rId7"/>
    <p:sldId id="261" r:id="rId8"/>
    <p:sldId id="262" r:id="rId9"/>
    <p:sldId id="269" r:id="rId10"/>
    <p:sldId id="268" r:id="rId11"/>
    <p:sldId id="263" r:id="rId12"/>
    <p:sldId id="264" r:id="rId13"/>
    <p:sldId id="265" r:id="rId14"/>
  </p:sldIdLst>
  <p:sldSz cx="7556500" cy="10693400"/>
  <p:notesSz cx="7556500" cy="10693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EB049"/>
    <a:srgbClr val="FD9D24"/>
    <a:srgbClr val="183668"/>
    <a:srgbClr val="691A9A"/>
    <a:srgbClr val="00AED9"/>
    <a:srgbClr val="D4A016"/>
    <a:srgbClr val="3F7E44"/>
    <a:srgbClr val="CC9900"/>
    <a:srgbClr val="99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71" autoAdjust="0"/>
    <p:restoredTop sz="94660"/>
  </p:normalViewPr>
  <p:slideViewPr>
    <p:cSldViewPr>
      <p:cViewPr>
        <p:scale>
          <a:sx n="85" d="100"/>
          <a:sy n="85" d="100"/>
        </p:scale>
        <p:origin x="1882" y="-111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5013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79900" y="0"/>
            <a:ext cx="3275013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044F16-A2B4-4135-BEA8-1F63E11C538E}" type="datetimeFigureOut">
              <a:rPr lang="en-IN" smtClean="0"/>
              <a:t>27-04-2026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03488" y="1336675"/>
            <a:ext cx="25495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6675"/>
            <a:ext cx="6045200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6825"/>
            <a:ext cx="3275013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79900" y="10156825"/>
            <a:ext cx="3275013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39428E-43BF-44A1-9B29-D1E1AEB776D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195504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766101-A997-4038-9AC9-3B006CEB4EBA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907306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39428E-43BF-44A1-9B29-D1E1AEB776D3}" type="slidenum">
              <a:rPr lang="en-IN" smtClean="0"/>
              <a:t>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485462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rgbClr val="8C8077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TE</a:t>
            </a:r>
            <a:r>
              <a:rPr spc="-5" dirty="0"/>
              <a:t> </a:t>
            </a:r>
            <a:r>
              <a:rPr dirty="0"/>
              <a:t>Integrated Watershed Management Project</a:t>
            </a:r>
            <a:r>
              <a:rPr spc="210" dirty="0"/>
              <a:t> </a:t>
            </a:r>
            <a:r>
              <a:rPr dirty="0"/>
              <a:t>|</a:t>
            </a:r>
            <a:r>
              <a:rPr spc="210" dirty="0"/>
              <a:t> </a:t>
            </a:r>
            <a:r>
              <a:rPr dirty="0"/>
              <a:t>Ghatdare, Khandala, Satara</a:t>
            </a:r>
            <a:r>
              <a:rPr spc="210" dirty="0"/>
              <a:t> </a:t>
            </a:r>
            <a:r>
              <a:rPr dirty="0"/>
              <a:t>|</a:t>
            </a:r>
            <a:r>
              <a:rPr spc="210" dirty="0"/>
              <a:t> </a:t>
            </a:r>
            <a:r>
              <a:rPr dirty="0"/>
              <a:t>FY 2025-</a:t>
            </a:r>
            <a:r>
              <a:rPr spc="-25" dirty="0"/>
              <a:t>26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4/27/2026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1" i="0">
                <a:solidFill>
                  <a:srgbClr val="C8A84B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Page</a:t>
            </a:r>
            <a:r>
              <a:rPr spc="-20" dirty="0"/>
              <a:t> </a:t>
            </a: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rgbClr val="8C8077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TE</a:t>
            </a:r>
            <a:r>
              <a:rPr spc="-5" dirty="0"/>
              <a:t> </a:t>
            </a:r>
            <a:r>
              <a:rPr dirty="0"/>
              <a:t>Integrated Watershed Management Project</a:t>
            </a:r>
            <a:r>
              <a:rPr spc="210" dirty="0"/>
              <a:t> </a:t>
            </a:r>
            <a:r>
              <a:rPr dirty="0"/>
              <a:t>|</a:t>
            </a:r>
            <a:r>
              <a:rPr spc="210" dirty="0"/>
              <a:t> </a:t>
            </a:r>
            <a:r>
              <a:rPr dirty="0"/>
              <a:t>Ghatdare, Khandala, Satara</a:t>
            </a:r>
            <a:r>
              <a:rPr spc="210" dirty="0"/>
              <a:t> </a:t>
            </a:r>
            <a:r>
              <a:rPr dirty="0"/>
              <a:t>|</a:t>
            </a:r>
            <a:r>
              <a:rPr spc="210" dirty="0"/>
              <a:t> </a:t>
            </a:r>
            <a:r>
              <a:rPr dirty="0"/>
              <a:t>FY 2025-</a:t>
            </a:r>
            <a:r>
              <a:rPr spc="-25" dirty="0"/>
              <a:t>26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4/27/2026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1" i="0">
                <a:solidFill>
                  <a:srgbClr val="C8A84B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Page</a:t>
            </a:r>
            <a:r>
              <a:rPr spc="-20" dirty="0"/>
              <a:t> </a:t>
            </a: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rgbClr val="8C8077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TE</a:t>
            </a:r>
            <a:r>
              <a:rPr spc="-5" dirty="0"/>
              <a:t> </a:t>
            </a:r>
            <a:r>
              <a:rPr dirty="0"/>
              <a:t>Integrated Watershed Management Project</a:t>
            </a:r>
            <a:r>
              <a:rPr spc="210" dirty="0"/>
              <a:t> </a:t>
            </a:r>
            <a:r>
              <a:rPr dirty="0"/>
              <a:t>|</a:t>
            </a:r>
            <a:r>
              <a:rPr spc="210" dirty="0"/>
              <a:t> </a:t>
            </a:r>
            <a:r>
              <a:rPr dirty="0"/>
              <a:t>Ghatdare, Khandala, Satara</a:t>
            </a:r>
            <a:r>
              <a:rPr spc="210" dirty="0"/>
              <a:t> </a:t>
            </a:r>
            <a:r>
              <a:rPr dirty="0"/>
              <a:t>|</a:t>
            </a:r>
            <a:r>
              <a:rPr spc="210" dirty="0"/>
              <a:t> </a:t>
            </a:r>
            <a:r>
              <a:rPr dirty="0"/>
              <a:t>FY 2025-</a:t>
            </a:r>
            <a:r>
              <a:rPr spc="-25" dirty="0"/>
              <a:t>26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4/27/2026</a:t>
            </a:fld>
            <a:endParaRPr lang="en-US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1" i="0">
                <a:solidFill>
                  <a:srgbClr val="C8A84B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Page</a:t>
            </a:r>
            <a:r>
              <a:rPr spc="-20" dirty="0"/>
              <a:t> </a:t>
            </a: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rgbClr val="8C8077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TE</a:t>
            </a:r>
            <a:r>
              <a:rPr spc="-5" dirty="0"/>
              <a:t> </a:t>
            </a:r>
            <a:r>
              <a:rPr dirty="0"/>
              <a:t>Integrated Watershed Management Project</a:t>
            </a:r>
            <a:r>
              <a:rPr spc="210" dirty="0"/>
              <a:t> </a:t>
            </a:r>
            <a:r>
              <a:rPr dirty="0"/>
              <a:t>|</a:t>
            </a:r>
            <a:r>
              <a:rPr spc="210" dirty="0"/>
              <a:t> </a:t>
            </a:r>
            <a:r>
              <a:rPr dirty="0"/>
              <a:t>Ghatdare, Khandala, Satara</a:t>
            </a:r>
            <a:r>
              <a:rPr spc="210" dirty="0"/>
              <a:t> </a:t>
            </a:r>
            <a:r>
              <a:rPr dirty="0"/>
              <a:t>|</a:t>
            </a:r>
            <a:r>
              <a:rPr spc="210" dirty="0"/>
              <a:t> </a:t>
            </a:r>
            <a:r>
              <a:rPr dirty="0"/>
              <a:t>FY 2025-</a:t>
            </a:r>
            <a:r>
              <a:rPr spc="-25" dirty="0"/>
              <a:t>26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4/27/2026</a:t>
            </a:fld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1" i="0">
                <a:solidFill>
                  <a:srgbClr val="C8A84B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Page</a:t>
            </a:r>
            <a:r>
              <a:rPr spc="-20" dirty="0"/>
              <a:t> </a:t>
            </a: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rgbClr val="8C8077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TE</a:t>
            </a:r>
            <a:r>
              <a:rPr spc="-5" dirty="0"/>
              <a:t> </a:t>
            </a:r>
            <a:r>
              <a:rPr dirty="0"/>
              <a:t>Integrated Watershed Management Project</a:t>
            </a:r>
            <a:r>
              <a:rPr spc="210" dirty="0"/>
              <a:t> </a:t>
            </a:r>
            <a:r>
              <a:rPr dirty="0"/>
              <a:t>|</a:t>
            </a:r>
            <a:r>
              <a:rPr spc="210" dirty="0"/>
              <a:t> </a:t>
            </a:r>
            <a:r>
              <a:rPr dirty="0"/>
              <a:t>Ghatdare, Khandala, Satara</a:t>
            </a:r>
            <a:r>
              <a:rPr spc="210" dirty="0"/>
              <a:t> </a:t>
            </a:r>
            <a:r>
              <a:rPr dirty="0"/>
              <a:t>|</a:t>
            </a:r>
            <a:r>
              <a:rPr spc="210" dirty="0"/>
              <a:t> </a:t>
            </a:r>
            <a:r>
              <a:rPr dirty="0"/>
              <a:t>FY 2025-</a:t>
            </a:r>
            <a:r>
              <a:rPr spc="-25" dirty="0"/>
              <a:t>26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4/27/2026</a:t>
            </a:fld>
            <a:endParaRPr lang="en-US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1" i="0">
                <a:solidFill>
                  <a:srgbClr val="C8A84B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Page</a:t>
            </a:r>
            <a:r>
              <a:rPr spc="-20" dirty="0"/>
              <a:t> </a:t>
            </a: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203200" cy="10692130"/>
          </a:xfrm>
          <a:custGeom>
            <a:avLst/>
            <a:gdLst/>
            <a:ahLst/>
            <a:cxnLst/>
            <a:rect l="l" t="t" r="r" b="b"/>
            <a:pathLst>
              <a:path w="203200" h="10692130">
                <a:moveTo>
                  <a:pt x="203200" y="0"/>
                </a:moveTo>
                <a:lnTo>
                  <a:pt x="0" y="0"/>
                </a:lnTo>
                <a:lnTo>
                  <a:pt x="0" y="10692000"/>
                </a:lnTo>
                <a:lnTo>
                  <a:pt x="203200" y="10692000"/>
                </a:lnTo>
                <a:lnTo>
                  <a:pt x="203200" y="0"/>
                </a:lnTo>
                <a:close/>
              </a:path>
            </a:pathLst>
          </a:custGeom>
          <a:solidFill>
            <a:srgbClr val="1A3A2D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bg object 17"/>
          <p:cNvSpPr/>
          <p:nvPr/>
        </p:nvSpPr>
        <p:spPr>
          <a:xfrm>
            <a:off x="152400" y="0"/>
            <a:ext cx="50800" cy="10692130"/>
          </a:xfrm>
          <a:custGeom>
            <a:avLst/>
            <a:gdLst/>
            <a:ahLst/>
            <a:cxnLst/>
            <a:rect l="l" t="t" r="r" b="b"/>
            <a:pathLst>
              <a:path w="50800" h="10692130">
                <a:moveTo>
                  <a:pt x="50800" y="0"/>
                </a:moveTo>
                <a:lnTo>
                  <a:pt x="0" y="0"/>
                </a:lnTo>
                <a:lnTo>
                  <a:pt x="0" y="10692000"/>
                </a:lnTo>
                <a:lnTo>
                  <a:pt x="50800" y="10692000"/>
                </a:lnTo>
                <a:lnTo>
                  <a:pt x="50800" y="0"/>
                </a:lnTo>
                <a:close/>
              </a:path>
            </a:pathLst>
          </a:custGeom>
          <a:solidFill>
            <a:srgbClr val="C8A84B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bg object 18"/>
          <p:cNvSpPr/>
          <p:nvPr/>
        </p:nvSpPr>
        <p:spPr>
          <a:xfrm>
            <a:off x="203200" y="0"/>
            <a:ext cx="7357109" cy="381000"/>
          </a:xfrm>
          <a:custGeom>
            <a:avLst/>
            <a:gdLst/>
            <a:ahLst/>
            <a:cxnLst/>
            <a:rect l="l" t="t" r="r" b="b"/>
            <a:pathLst>
              <a:path w="7357109" h="381000">
                <a:moveTo>
                  <a:pt x="7356800" y="0"/>
                </a:moveTo>
                <a:lnTo>
                  <a:pt x="0" y="0"/>
                </a:lnTo>
                <a:lnTo>
                  <a:pt x="0" y="381000"/>
                </a:lnTo>
                <a:lnTo>
                  <a:pt x="7356800" y="381000"/>
                </a:lnTo>
                <a:lnTo>
                  <a:pt x="7356800" y="0"/>
                </a:lnTo>
                <a:close/>
              </a:path>
            </a:pathLst>
          </a:custGeom>
          <a:solidFill>
            <a:srgbClr val="1A3A2D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142" y="427736"/>
            <a:ext cx="6806565" cy="1710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59482"/>
            <a:ext cx="6806565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810054" y="10491472"/>
            <a:ext cx="3940175" cy="1320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50" b="0" i="0">
                <a:solidFill>
                  <a:srgbClr val="8C8077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TE</a:t>
            </a:r>
            <a:r>
              <a:rPr spc="-5" dirty="0"/>
              <a:t> </a:t>
            </a:r>
            <a:r>
              <a:rPr dirty="0"/>
              <a:t>Integrated Watershed Management Project</a:t>
            </a:r>
            <a:r>
              <a:rPr spc="210" dirty="0"/>
              <a:t> </a:t>
            </a:r>
            <a:r>
              <a:rPr dirty="0"/>
              <a:t>|</a:t>
            </a:r>
            <a:r>
              <a:rPr spc="210" dirty="0"/>
              <a:t> </a:t>
            </a:r>
            <a:r>
              <a:rPr dirty="0"/>
              <a:t>Ghatdare, Khandala, Satara</a:t>
            </a:r>
            <a:r>
              <a:rPr spc="210" dirty="0"/>
              <a:t> </a:t>
            </a:r>
            <a:r>
              <a:rPr dirty="0"/>
              <a:t>|</a:t>
            </a:r>
            <a:r>
              <a:rPr spc="210" dirty="0"/>
              <a:t> </a:t>
            </a:r>
            <a:r>
              <a:rPr dirty="0"/>
              <a:t>FY 2025-</a:t>
            </a:r>
            <a:r>
              <a:rPr spc="-25" dirty="0"/>
              <a:t>26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4/27/2026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036251" y="10485724"/>
            <a:ext cx="447675" cy="1390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1" i="0">
                <a:solidFill>
                  <a:srgbClr val="C8A84B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Page</a:t>
            </a:r>
            <a:r>
              <a:rPr spc="-20" dirty="0"/>
              <a:t> </a:t>
            </a: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hdphoto" Target="../media/hdphoto6.wdp"/><Relationship Id="rId3" Type="http://schemas.openxmlformats.org/officeDocument/2006/relationships/image" Target="../media/image9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6" Type="http://schemas.microsoft.com/office/2007/relationships/hdphoto" Target="../media/hdphoto5.wdp"/><Relationship Id="rId11" Type="http://schemas.microsoft.com/office/2007/relationships/hdphoto" Target="../media/hdphoto7.wdp"/><Relationship Id="rId5" Type="http://schemas.openxmlformats.org/officeDocument/2006/relationships/image" Target="../media/image10.png"/><Relationship Id="rId10" Type="http://schemas.openxmlformats.org/officeDocument/2006/relationships/image" Target="../media/image13.png"/><Relationship Id="rId4" Type="http://schemas.microsoft.com/office/2007/relationships/hdphoto" Target="../media/hdphoto4.wdp"/><Relationship Id="rId9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8.wdp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9.wdp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9.D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2.jpeg"/><Relationship Id="rId4" Type="http://schemas.microsoft.com/office/2007/relationships/hdphoto" Target="../media/hdphoto10.wd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9.jpeg"/><Relationship Id="rId5" Type="http://schemas.openxmlformats.org/officeDocument/2006/relationships/image" Target="../media/image28.jpeg"/><Relationship Id="rId4" Type="http://schemas.openxmlformats.org/officeDocument/2006/relationships/image" Target="../media/image27.jpe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2241550" y="-94154"/>
            <a:ext cx="14614436" cy="11016881"/>
            <a:chOff x="-2150121" y="-117215"/>
            <a:chExt cx="14614436" cy="11130728"/>
          </a:xfrm>
        </p:grpSpPr>
        <p:pic>
          <p:nvPicPr>
            <p:cNvPr id="3" name="object 3"/>
            <p:cNvPicPr/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-20000" contras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2150121" y="-117215"/>
              <a:ext cx="14614436" cy="1107409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6916" y="-117215"/>
              <a:ext cx="2371549" cy="11130728"/>
            </a:xfrm>
            <a:custGeom>
              <a:avLst/>
              <a:gdLst/>
              <a:ahLst/>
              <a:cxnLst/>
              <a:rect l="l" t="t" r="r" b="b"/>
              <a:pathLst>
                <a:path w="4170679" h="10692130">
                  <a:moveTo>
                    <a:pt x="0" y="10692000"/>
                  </a:moveTo>
                  <a:lnTo>
                    <a:pt x="4170099" y="10692000"/>
                  </a:lnTo>
                  <a:lnTo>
                    <a:pt x="4170099" y="0"/>
                  </a:lnTo>
                  <a:lnTo>
                    <a:pt x="0" y="0"/>
                  </a:lnTo>
                  <a:lnTo>
                    <a:pt x="0" y="10692000"/>
                  </a:lnTo>
                  <a:close/>
                </a:path>
              </a:pathLst>
            </a:custGeom>
            <a:solidFill>
              <a:schemeClr val="bg1">
                <a:lumMod val="85000"/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6" name="object 6"/>
            <p:cNvSpPr/>
            <p:nvPr/>
          </p:nvSpPr>
          <p:spPr>
            <a:xfrm>
              <a:off x="4572000" y="0"/>
              <a:ext cx="2988310" cy="2880360"/>
            </a:xfrm>
            <a:custGeom>
              <a:avLst/>
              <a:gdLst/>
              <a:ahLst/>
              <a:cxnLst/>
              <a:rect l="l" t="t" r="r" b="b"/>
              <a:pathLst>
                <a:path w="2988309" h="2880360">
                  <a:moveTo>
                    <a:pt x="2987999" y="0"/>
                  </a:moveTo>
                  <a:lnTo>
                    <a:pt x="155549" y="0"/>
                  </a:lnTo>
                  <a:lnTo>
                    <a:pt x="150945" y="11053"/>
                  </a:lnTo>
                  <a:lnTo>
                    <a:pt x="134222" y="53855"/>
                  </a:lnTo>
                  <a:lnTo>
                    <a:pt x="118419" y="97109"/>
                  </a:lnTo>
                  <a:lnTo>
                    <a:pt x="103548" y="140803"/>
                  </a:lnTo>
                  <a:lnTo>
                    <a:pt x="89622" y="184925"/>
                  </a:lnTo>
                  <a:lnTo>
                    <a:pt x="76653" y="229464"/>
                  </a:lnTo>
                  <a:lnTo>
                    <a:pt x="64652" y="274406"/>
                  </a:lnTo>
                  <a:lnTo>
                    <a:pt x="53631" y="319740"/>
                  </a:lnTo>
                  <a:lnTo>
                    <a:pt x="43603" y="365454"/>
                  </a:lnTo>
                  <a:lnTo>
                    <a:pt x="34580" y="411536"/>
                  </a:lnTo>
                  <a:lnTo>
                    <a:pt x="26573" y="457974"/>
                  </a:lnTo>
                  <a:lnTo>
                    <a:pt x="19595" y="504756"/>
                  </a:lnTo>
                  <a:lnTo>
                    <a:pt x="13658" y="551870"/>
                  </a:lnTo>
                  <a:lnTo>
                    <a:pt x="8773" y="599304"/>
                  </a:lnTo>
                  <a:lnTo>
                    <a:pt x="4952" y="647046"/>
                  </a:lnTo>
                  <a:lnTo>
                    <a:pt x="2209" y="695084"/>
                  </a:lnTo>
                  <a:lnTo>
                    <a:pt x="554" y="743406"/>
                  </a:lnTo>
                  <a:lnTo>
                    <a:pt x="0" y="791999"/>
                  </a:lnTo>
                  <a:lnTo>
                    <a:pt x="554" y="840593"/>
                  </a:lnTo>
                  <a:lnTo>
                    <a:pt x="2209" y="888914"/>
                  </a:lnTo>
                  <a:lnTo>
                    <a:pt x="4952" y="936952"/>
                  </a:lnTo>
                  <a:lnTo>
                    <a:pt x="8773" y="984694"/>
                  </a:lnTo>
                  <a:lnTo>
                    <a:pt x="13658" y="1032128"/>
                  </a:lnTo>
                  <a:lnTo>
                    <a:pt x="19595" y="1079242"/>
                  </a:lnTo>
                  <a:lnTo>
                    <a:pt x="26573" y="1126024"/>
                  </a:lnTo>
                  <a:lnTo>
                    <a:pt x="34580" y="1172462"/>
                  </a:lnTo>
                  <a:lnTo>
                    <a:pt x="43603" y="1218545"/>
                  </a:lnTo>
                  <a:lnTo>
                    <a:pt x="53631" y="1264259"/>
                  </a:lnTo>
                  <a:lnTo>
                    <a:pt x="64652" y="1309593"/>
                  </a:lnTo>
                  <a:lnTo>
                    <a:pt x="76653" y="1354535"/>
                  </a:lnTo>
                  <a:lnTo>
                    <a:pt x="89622" y="1399073"/>
                  </a:lnTo>
                  <a:lnTo>
                    <a:pt x="103548" y="1443196"/>
                  </a:lnTo>
                  <a:lnTo>
                    <a:pt x="118419" y="1486890"/>
                  </a:lnTo>
                  <a:lnTo>
                    <a:pt x="134222" y="1530144"/>
                  </a:lnTo>
                  <a:lnTo>
                    <a:pt x="150945" y="1572946"/>
                  </a:lnTo>
                  <a:lnTo>
                    <a:pt x="168577" y="1615284"/>
                  </a:lnTo>
                  <a:lnTo>
                    <a:pt x="187106" y="1657146"/>
                  </a:lnTo>
                  <a:lnTo>
                    <a:pt x="206519" y="1698519"/>
                  </a:lnTo>
                  <a:lnTo>
                    <a:pt x="226804" y="1739393"/>
                  </a:lnTo>
                  <a:lnTo>
                    <a:pt x="247950" y="1779755"/>
                  </a:lnTo>
                  <a:lnTo>
                    <a:pt x="269944" y="1819592"/>
                  </a:lnTo>
                  <a:lnTo>
                    <a:pt x="292775" y="1858893"/>
                  </a:lnTo>
                  <a:lnTo>
                    <a:pt x="316430" y="1897646"/>
                  </a:lnTo>
                  <a:lnTo>
                    <a:pt x="340898" y="1935839"/>
                  </a:lnTo>
                  <a:lnTo>
                    <a:pt x="366165" y="1973460"/>
                  </a:lnTo>
                  <a:lnTo>
                    <a:pt x="392222" y="2010497"/>
                  </a:lnTo>
                  <a:lnTo>
                    <a:pt x="419054" y="2046937"/>
                  </a:lnTo>
                  <a:lnTo>
                    <a:pt x="446651" y="2082770"/>
                  </a:lnTo>
                  <a:lnTo>
                    <a:pt x="475001" y="2117982"/>
                  </a:lnTo>
                  <a:lnTo>
                    <a:pt x="504090" y="2152562"/>
                  </a:lnTo>
                  <a:lnTo>
                    <a:pt x="533908" y="2186497"/>
                  </a:lnTo>
                  <a:lnTo>
                    <a:pt x="564442" y="2219776"/>
                  </a:lnTo>
                  <a:lnTo>
                    <a:pt x="595681" y="2252387"/>
                  </a:lnTo>
                  <a:lnTo>
                    <a:pt x="627612" y="2284318"/>
                  </a:lnTo>
                  <a:lnTo>
                    <a:pt x="660223" y="2315557"/>
                  </a:lnTo>
                  <a:lnTo>
                    <a:pt x="693502" y="2346091"/>
                  </a:lnTo>
                  <a:lnTo>
                    <a:pt x="727437" y="2375909"/>
                  </a:lnTo>
                  <a:lnTo>
                    <a:pt x="762017" y="2404999"/>
                  </a:lnTo>
                  <a:lnTo>
                    <a:pt x="797229" y="2433348"/>
                  </a:lnTo>
                  <a:lnTo>
                    <a:pt x="833062" y="2460945"/>
                  </a:lnTo>
                  <a:lnTo>
                    <a:pt x="869502" y="2487777"/>
                  </a:lnTo>
                  <a:lnTo>
                    <a:pt x="906539" y="2513834"/>
                  </a:lnTo>
                  <a:lnTo>
                    <a:pt x="944159" y="2539102"/>
                  </a:lnTo>
                  <a:lnTo>
                    <a:pt x="982352" y="2563569"/>
                  </a:lnTo>
                  <a:lnTo>
                    <a:pt x="1021106" y="2587224"/>
                  </a:lnTo>
                  <a:lnTo>
                    <a:pt x="1060407" y="2610055"/>
                  </a:lnTo>
                  <a:lnTo>
                    <a:pt x="1100244" y="2632049"/>
                  </a:lnTo>
                  <a:lnTo>
                    <a:pt x="1140606" y="2653195"/>
                  </a:lnTo>
                  <a:lnTo>
                    <a:pt x="1181479" y="2673480"/>
                  </a:lnTo>
                  <a:lnTo>
                    <a:pt x="1222853" y="2692893"/>
                  </a:lnTo>
                  <a:lnTo>
                    <a:pt x="1264715" y="2711422"/>
                  </a:lnTo>
                  <a:lnTo>
                    <a:pt x="1307053" y="2729054"/>
                  </a:lnTo>
                  <a:lnTo>
                    <a:pt x="1349855" y="2745777"/>
                  </a:lnTo>
                  <a:lnTo>
                    <a:pt x="1393109" y="2761580"/>
                  </a:lnTo>
                  <a:lnTo>
                    <a:pt x="1436803" y="2776451"/>
                  </a:lnTo>
                  <a:lnTo>
                    <a:pt x="1480925" y="2790377"/>
                  </a:lnTo>
                  <a:lnTo>
                    <a:pt x="1525463" y="2803347"/>
                  </a:lnTo>
                  <a:lnTo>
                    <a:pt x="1570405" y="2815348"/>
                  </a:lnTo>
                  <a:lnTo>
                    <a:pt x="1615740" y="2826368"/>
                  </a:lnTo>
                  <a:lnTo>
                    <a:pt x="1661454" y="2836396"/>
                  </a:lnTo>
                  <a:lnTo>
                    <a:pt x="1707536" y="2845419"/>
                  </a:lnTo>
                  <a:lnTo>
                    <a:pt x="1753974" y="2853426"/>
                  </a:lnTo>
                  <a:lnTo>
                    <a:pt x="1800756" y="2860404"/>
                  </a:lnTo>
                  <a:lnTo>
                    <a:pt x="1847870" y="2866342"/>
                  </a:lnTo>
                  <a:lnTo>
                    <a:pt x="1895304" y="2871226"/>
                  </a:lnTo>
                  <a:lnTo>
                    <a:pt x="1943046" y="2875047"/>
                  </a:lnTo>
                  <a:lnTo>
                    <a:pt x="1991084" y="2877790"/>
                  </a:lnTo>
                  <a:lnTo>
                    <a:pt x="2039405" y="2879445"/>
                  </a:lnTo>
                  <a:lnTo>
                    <a:pt x="2087999" y="2880000"/>
                  </a:lnTo>
                  <a:lnTo>
                    <a:pt x="2136592" y="2879445"/>
                  </a:lnTo>
                  <a:lnTo>
                    <a:pt x="2184914" y="2877790"/>
                  </a:lnTo>
                  <a:lnTo>
                    <a:pt x="2232952" y="2875047"/>
                  </a:lnTo>
                  <a:lnTo>
                    <a:pt x="2280694" y="2871226"/>
                  </a:lnTo>
                  <a:lnTo>
                    <a:pt x="2328128" y="2866342"/>
                  </a:lnTo>
                  <a:lnTo>
                    <a:pt x="2375242" y="2860404"/>
                  </a:lnTo>
                  <a:lnTo>
                    <a:pt x="2422024" y="2853426"/>
                  </a:lnTo>
                  <a:lnTo>
                    <a:pt x="2468462" y="2845419"/>
                  </a:lnTo>
                  <a:lnTo>
                    <a:pt x="2514544" y="2836396"/>
                  </a:lnTo>
                  <a:lnTo>
                    <a:pt x="2560259" y="2826368"/>
                  </a:lnTo>
                  <a:lnTo>
                    <a:pt x="2605593" y="2815348"/>
                  </a:lnTo>
                  <a:lnTo>
                    <a:pt x="2650535" y="2803347"/>
                  </a:lnTo>
                  <a:lnTo>
                    <a:pt x="2695073" y="2790377"/>
                  </a:lnTo>
                  <a:lnTo>
                    <a:pt x="2739195" y="2776451"/>
                  </a:lnTo>
                  <a:lnTo>
                    <a:pt x="2782889" y="2761580"/>
                  </a:lnTo>
                  <a:lnTo>
                    <a:pt x="2826144" y="2745777"/>
                  </a:lnTo>
                  <a:lnTo>
                    <a:pt x="2868946" y="2729054"/>
                  </a:lnTo>
                  <a:lnTo>
                    <a:pt x="2911284" y="2711422"/>
                  </a:lnTo>
                  <a:lnTo>
                    <a:pt x="2953145" y="2692893"/>
                  </a:lnTo>
                  <a:lnTo>
                    <a:pt x="2987999" y="2676540"/>
                  </a:lnTo>
                  <a:lnTo>
                    <a:pt x="2987999" y="0"/>
                  </a:lnTo>
                  <a:close/>
                </a:path>
              </a:pathLst>
            </a:custGeom>
            <a:solidFill>
              <a:srgbClr val="51B787">
                <a:alpha val="9999"/>
              </a:srgbClr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8" name="object 8"/>
            <p:cNvSpPr/>
            <p:nvPr/>
          </p:nvSpPr>
          <p:spPr>
            <a:xfrm>
              <a:off x="52559" y="-60582"/>
              <a:ext cx="7703320" cy="10945048"/>
            </a:xfrm>
            <a:custGeom>
              <a:avLst/>
              <a:gdLst/>
              <a:ahLst/>
              <a:cxnLst/>
              <a:rect l="l" t="t" r="r" b="b"/>
              <a:pathLst>
                <a:path w="7560309" h="10692130">
                  <a:moveTo>
                    <a:pt x="2303996" y="529399"/>
                  </a:moveTo>
                  <a:lnTo>
                    <a:pt x="2302002" y="519506"/>
                  </a:lnTo>
                  <a:lnTo>
                    <a:pt x="2296553" y="511429"/>
                  </a:lnTo>
                  <a:lnTo>
                    <a:pt x="2288489" y="505993"/>
                  </a:lnTo>
                  <a:lnTo>
                    <a:pt x="2278596" y="503999"/>
                  </a:lnTo>
                  <a:lnTo>
                    <a:pt x="817397" y="503999"/>
                  </a:lnTo>
                  <a:lnTo>
                    <a:pt x="807504" y="505993"/>
                  </a:lnTo>
                  <a:lnTo>
                    <a:pt x="799426" y="511429"/>
                  </a:lnTo>
                  <a:lnTo>
                    <a:pt x="793991" y="519506"/>
                  </a:lnTo>
                  <a:lnTo>
                    <a:pt x="791997" y="529399"/>
                  </a:lnTo>
                  <a:lnTo>
                    <a:pt x="791997" y="766597"/>
                  </a:lnTo>
                  <a:lnTo>
                    <a:pt x="793991" y="776490"/>
                  </a:lnTo>
                  <a:lnTo>
                    <a:pt x="799426" y="784555"/>
                  </a:lnTo>
                  <a:lnTo>
                    <a:pt x="807504" y="790003"/>
                  </a:lnTo>
                  <a:lnTo>
                    <a:pt x="817397" y="791997"/>
                  </a:lnTo>
                  <a:lnTo>
                    <a:pt x="2278596" y="791997"/>
                  </a:lnTo>
                  <a:lnTo>
                    <a:pt x="2288489" y="790003"/>
                  </a:lnTo>
                  <a:lnTo>
                    <a:pt x="2296553" y="784555"/>
                  </a:lnTo>
                  <a:lnTo>
                    <a:pt x="2302002" y="776490"/>
                  </a:lnTo>
                  <a:lnTo>
                    <a:pt x="2303996" y="766597"/>
                  </a:lnTo>
                  <a:lnTo>
                    <a:pt x="2303996" y="529399"/>
                  </a:lnTo>
                  <a:close/>
                </a:path>
                <a:path w="7560309" h="10692130">
                  <a:moveTo>
                    <a:pt x="7559992" y="0"/>
                  </a:moveTo>
                  <a:lnTo>
                    <a:pt x="63500" y="0"/>
                  </a:lnTo>
                  <a:lnTo>
                    <a:pt x="0" y="0"/>
                  </a:lnTo>
                  <a:lnTo>
                    <a:pt x="0" y="38100"/>
                  </a:lnTo>
                  <a:lnTo>
                    <a:pt x="0" y="10653890"/>
                  </a:lnTo>
                  <a:lnTo>
                    <a:pt x="0" y="10691990"/>
                  </a:lnTo>
                  <a:lnTo>
                    <a:pt x="63500" y="10691990"/>
                  </a:lnTo>
                  <a:lnTo>
                    <a:pt x="7559992" y="10691990"/>
                  </a:lnTo>
                  <a:lnTo>
                    <a:pt x="7559992" y="10653890"/>
                  </a:lnTo>
                  <a:lnTo>
                    <a:pt x="63500" y="10653890"/>
                  </a:lnTo>
                  <a:lnTo>
                    <a:pt x="63500" y="38100"/>
                  </a:lnTo>
                  <a:lnTo>
                    <a:pt x="7559992" y="38100"/>
                  </a:lnTo>
                  <a:lnTo>
                    <a:pt x="7559992" y="0"/>
                  </a:lnTo>
                  <a:close/>
                </a:path>
              </a:pathLst>
            </a:custGeom>
            <a:solidFill>
              <a:srgbClr val="B8850A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236709" y="596920"/>
            <a:ext cx="618490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b="1" dirty="0">
                <a:solidFill>
                  <a:srgbClr val="1A3A2D"/>
                </a:solidFill>
                <a:latin typeface="Calibri"/>
                <a:cs typeface="Calibri"/>
              </a:rPr>
              <a:t>SJSM</a:t>
            </a:r>
            <a:r>
              <a:rPr sz="700" b="1" spc="160" dirty="0">
                <a:solidFill>
                  <a:srgbClr val="1A3A2D"/>
                </a:solidFill>
                <a:latin typeface="Calibri"/>
                <a:cs typeface="Calibri"/>
              </a:rPr>
              <a:t> </a:t>
            </a:r>
            <a:r>
              <a:rPr sz="700" b="1" dirty="0">
                <a:solidFill>
                  <a:srgbClr val="1A3A2D"/>
                </a:solidFill>
                <a:latin typeface="Calibri"/>
                <a:cs typeface="Calibri"/>
              </a:rPr>
              <a:t>·</a:t>
            </a:r>
            <a:r>
              <a:rPr sz="700" b="1" spc="160" dirty="0">
                <a:solidFill>
                  <a:srgbClr val="1A3A2D"/>
                </a:solidFill>
                <a:latin typeface="Calibri"/>
                <a:cs typeface="Calibri"/>
              </a:rPr>
              <a:t> </a:t>
            </a:r>
            <a:r>
              <a:rPr sz="700" b="1" spc="-10" dirty="0">
                <a:solidFill>
                  <a:srgbClr val="1A3A2D"/>
                </a:solidFill>
                <a:latin typeface="Calibri"/>
                <a:cs typeface="Calibri"/>
              </a:rPr>
              <a:t>SATARA</a:t>
            </a:r>
            <a:endParaRPr sz="700" dirty="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79298" y="1050122"/>
            <a:ext cx="6093784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400" b="1" dirty="0">
                <a:solidFill>
                  <a:srgbClr val="FFC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/>
              </a:rPr>
              <a:t>ANNUAL REPORT FY 2025–26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779300" y="1393700"/>
            <a:ext cx="7037550" cy="1304075"/>
          </a:xfrm>
          <a:prstGeom prst="rect">
            <a:avLst/>
          </a:prstGeom>
        </p:spPr>
        <p:txBody>
          <a:bodyPr vert="horz" wrap="square" lIns="0" tIns="204470" rIns="0" bIns="0" rtlCol="0">
            <a:spAutoFit/>
          </a:bodyPr>
          <a:lstStyle/>
          <a:p>
            <a:pPr marL="12700" marR="5080">
              <a:lnSpc>
                <a:spcPct val="73800"/>
              </a:lnSpc>
              <a:spcBef>
                <a:spcPts val="1610"/>
              </a:spcBef>
            </a:pPr>
            <a:r>
              <a:rPr lang="en-IN" sz="3400" b="1" spc="114" dirty="0">
                <a:solidFill>
                  <a:schemeClr val="accent6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elix Titling" panose="04060505060202020A04" pitchFamily="82" charset="0"/>
              </a:rPr>
              <a:t>TE Integrated Watershed</a:t>
            </a:r>
            <a:br>
              <a:rPr lang="en-IN" sz="3400" b="1" spc="114" dirty="0">
                <a:solidFill>
                  <a:schemeClr val="accent6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elix Titling" panose="04060505060202020A04" pitchFamily="82" charset="0"/>
              </a:rPr>
            </a:br>
            <a:r>
              <a:rPr lang="en-IN" sz="3400" b="1" spc="114" dirty="0">
                <a:solidFill>
                  <a:schemeClr val="accent6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elix Titling" panose="04060505060202020A04" pitchFamily="82" charset="0"/>
              </a:rPr>
              <a:t> Management Project </a:t>
            </a:r>
            <a:br>
              <a:rPr lang="en-IN" sz="3600" b="1" spc="114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elix Titling" panose="04060505060202020A04" pitchFamily="82" charset="0"/>
              </a:rPr>
            </a:br>
            <a:r>
              <a:rPr lang="en-US" sz="2800" b="0" i="1" spc="-20" dirty="0">
                <a:solidFill>
                  <a:srgbClr val="F4E6B8"/>
                </a:solidFill>
                <a:latin typeface="Times New Roman"/>
                <a:cs typeface="Times New Roman"/>
              </a:rPr>
              <a:t> (IWMP)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21009" y="2931270"/>
            <a:ext cx="2880360" cy="19050"/>
          </a:xfrm>
          <a:custGeom>
            <a:avLst/>
            <a:gdLst/>
            <a:ahLst/>
            <a:cxnLst/>
            <a:rect l="l" t="t" r="r" b="b"/>
            <a:pathLst>
              <a:path w="2880360" h="19050">
                <a:moveTo>
                  <a:pt x="2880000" y="0"/>
                </a:moveTo>
                <a:lnTo>
                  <a:pt x="0" y="0"/>
                </a:lnTo>
                <a:lnTo>
                  <a:pt x="0" y="19050"/>
                </a:lnTo>
                <a:lnTo>
                  <a:pt x="2880000" y="19050"/>
                </a:lnTo>
                <a:lnTo>
                  <a:pt x="2880000" y="0"/>
                </a:lnTo>
                <a:close/>
              </a:path>
            </a:pathLst>
          </a:custGeom>
          <a:solidFill>
            <a:srgbClr val="B8850A"/>
          </a:solidFill>
        </p:spPr>
        <p:txBody>
          <a:bodyPr wrap="square" lIns="0" tIns="0" rIns="0" bIns="0" rtlCol="0"/>
          <a:lstStyle/>
          <a:p>
            <a:endParaRPr dirty="0">
              <a:latin typeface="Footlight MT Light" panose="0204060206030A020304" pitchFamily="18" charset="0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95560" y="3104659"/>
            <a:ext cx="560551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10" dirty="0">
                <a:solidFill>
                  <a:srgbClr val="FFC000"/>
                </a:solidFill>
                <a:latin typeface="Footlight MT Light" panose="0204060206030A020304" pitchFamily="18" charset="0"/>
                <a:cs typeface="Calibri"/>
              </a:rPr>
              <a:t>LOCATION</a:t>
            </a:r>
            <a:endParaRPr sz="900" dirty="0">
              <a:solidFill>
                <a:srgbClr val="FFC000"/>
              </a:solidFill>
              <a:latin typeface="Footlight MT Light" panose="0204060206030A020304" pitchFamily="18" charset="0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14659" y="3355174"/>
            <a:ext cx="671241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000" b="1" spc="-10" dirty="0">
                <a:solidFill>
                  <a:srgbClr val="FFC000"/>
                </a:solidFill>
                <a:latin typeface="Footlight MT Light" panose="0204060206030A020304" pitchFamily="18" charset="0"/>
                <a:cs typeface="Calibri"/>
              </a:rPr>
              <a:t>CSR Partner: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1511647" y="3104659"/>
            <a:ext cx="3063177" cy="56502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050" dirty="0">
                <a:solidFill>
                  <a:srgbClr val="FFFFFF"/>
                </a:solidFill>
                <a:latin typeface="Felix Titling" panose="04060505060202020A04" pitchFamily="82" charset="0"/>
                <a:cs typeface="Calibri"/>
              </a:rPr>
              <a:t>Ghatdare, Khandala, Dist. Satara</a:t>
            </a:r>
          </a:p>
          <a:p>
            <a:pPr marL="12700" marR="610235">
              <a:lnSpc>
                <a:spcPct val="183700"/>
              </a:lnSpc>
            </a:pPr>
            <a:r>
              <a:rPr lang="en-IN" sz="1600" dirty="0">
                <a:solidFill>
                  <a:srgbClr val="FFFFFF"/>
                </a:solidFill>
                <a:latin typeface="Felix Titling" panose="04060505060202020A04" pitchFamily="82" charset="0"/>
                <a:cs typeface="Calibri"/>
              </a:rPr>
              <a:t>TE Connectivity</a:t>
            </a:r>
          </a:p>
        </p:txBody>
      </p:sp>
      <p:pic>
        <p:nvPicPr>
          <p:cNvPr id="25" name="Picture 2">
            <a:extLst>
              <a:ext uri="{FF2B5EF4-FFF2-40B4-BE49-F238E27FC236}">
                <a16:creationId xmlns:a16="http://schemas.microsoft.com/office/drawing/2014/main" id="{484278BE-86CC-D9EF-C213-E08EE5298D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176" y="5044251"/>
            <a:ext cx="1828830" cy="520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5FB54E4-4E93-0DD3-7412-9C2719EC78A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137" y="3907819"/>
            <a:ext cx="2227144" cy="1113572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500" y="127000"/>
            <a:ext cx="167449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b="1" dirty="0">
                <a:solidFill>
                  <a:srgbClr val="FFFFFF"/>
                </a:solidFill>
                <a:latin typeface="Arial"/>
                <a:cs typeface="Arial"/>
              </a:rPr>
              <a:t>TE</a:t>
            </a:r>
            <a:r>
              <a:rPr sz="80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FFFFFF"/>
                </a:solidFill>
                <a:latin typeface="Arial"/>
                <a:cs typeface="Arial"/>
              </a:rPr>
              <a:t>IWMP</a:t>
            </a:r>
            <a:r>
              <a:rPr sz="80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FFFFFF"/>
                </a:solidFill>
                <a:latin typeface="Arial"/>
                <a:cs typeface="Arial"/>
              </a:rPr>
              <a:t>–</a:t>
            </a:r>
            <a:r>
              <a:rPr sz="80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FFFFFF"/>
                </a:solidFill>
                <a:latin typeface="Arial"/>
                <a:cs typeface="Arial"/>
              </a:rPr>
              <a:t>Annual Report</a:t>
            </a:r>
            <a:r>
              <a:rPr sz="80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800" b="1" spc="-10" dirty="0">
                <a:solidFill>
                  <a:srgbClr val="FFFFFF"/>
                </a:solidFill>
                <a:latin typeface="Arial"/>
                <a:cs typeface="Arial"/>
              </a:rPr>
              <a:t>2025-</a:t>
            </a:r>
            <a:r>
              <a:rPr sz="800" b="1" spc="-25" dirty="0">
                <a:solidFill>
                  <a:srgbClr val="FFFFFF"/>
                </a:solidFill>
                <a:latin typeface="Arial"/>
                <a:cs typeface="Arial"/>
              </a:rPr>
              <a:t>26</a:t>
            </a:r>
            <a:endParaRPr sz="8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968590" y="127000"/>
            <a:ext cx="247777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FFFFFF"/>
                </a:solidFill>
                <a:latin typeface="Arial MT"/>
                <a:cs typeface="Arial MT"/>
              </a:rPr>
              <a:t>TE</a:t>
            </a:r>
            <a:r>
              <a:rPr sz="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FFFFFF"/>
                </a:solidFill>
                <a:latin typeface="Arial MT"/>
                <a:cs typeface="Arial MT"/>
              </a:rPr>
              <a:t>Connectivity</a:t>
            </a:r>
            <a:r>
              <a:rPr sz="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FFFFFF"/>
                </a:solidFill>
                <a:latin typeface="Arial MT"/>
                <a:cs typeface="Arial MT"/>
              </a:rPr>
              <a:t>×</a:t>
            </a:r>
            <a:r>
              <a:rPr sz="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FFFFFF"/>
                </a:solidFill>
                <a:latin typeface="Arial MT"/>
                <a:cs typeface="Arial MT"/>
              </a:rPr>
              <a:t>SJSM</a:t>
            </a:r>
            <a:r>
              <a:rPr sz="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FFFFFF"/>
                </a:solidFill>
                <a:latin typeface="Arial MT"/>
                <a:cs typeface="Arial MT"/>
              </a:rPr>
              <a:t>Satara</a:t>
            </a:r>
            <a:r>
              <a:rPr sz="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FFFFFF"/>
                </a:solidFill>
                <a:latin typeface="Arial MT"/>
                <a:cs typeface="Arial MT"/>
              </a:rPr>
              <a:t>|</a:t>
            </a:r>
            <a:r>
              <a:rPr sz="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FFFFFF"/>
                </a:solidFill>
                <a:latin typeface="Arial MT"/>
                <a:cs typeface="Arial MT"/>
              </a:rPr>
              <a:t>Ghatdare</a:t>
            </a:r>
            <a:r>
              <a:rPr sz="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Arial MT"/>
                <a:cs typeface="Arial MT"/>
              </a:rPr>
              <a:t>Watershed</a:t>
            </a:r>
            <a:endParaRPr sz="800" dirty="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03200" y="10382119"/>
            <a:ext cx="7357109" cy="309880"/>
            <a:chOff x="203200" y="10382119"/>
            <a:chExt cx="7357109" cy="309880"/>
          </a:xfrm>
        </p:grpSpPr>
        <p:sp>
          <p:nvSpPr>
            <p:cNvPr id="5" name="object 5"/>
            <p:cNvSpPr/>
            <p:nvPr/>
          </p:nvSpPr>
          <p:spPr>
            <a:xfrm>
              <a:off x="203200" y="10387199"/>
              <a:ext cx="7357109" cy="304800"/>
            </a:xfrm>
            <a:custGeom>
              <a:avLst/>
              <a:gdLst/>
              <a:ahLst/>
              <a:cxnLst/>
              <a:rect l="l" t="t" r="r" b="b"/>
              <a:pathLst>
                <a:path w="7357109" h="304800">
                  <a:moveTo>
                    <a:pt x="73568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7356800" y="304800"/>
                  </a:lnTo>
                  <a:lnTo>
                    <a:pt x="7356800" y="0"/>
                  </a:lnTo>
                  <a:close/>
                </a:path>
              </a:pathLst>
            </a:custGeom>
            <a:solidFill>
              <a:srgbClr val="F4EFE8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6" name="object 6"/>
            <p:cNvSpPr/>
            <p:nvPr/>
          </p:nvSpPr>
          <p:spPr>
            <a:xfrm>
              <a:off x="203200" y="10387199"/>
              <a:ext cx="7357109" cy="0"/>
            </a:xfrm>
            <a:custGeom>
              <a:avLst/>
              <a:gdLst/>
              <a:ahLst/>
              <a:cxnLst/>
              <a:rect l="l" t="t" r="r" b="b"/>
              <a:pathLst>
                <a:path w="7357109">
                  <a:moveTo>
                    <a:pt x="0" y="0"/>
                  </a:moveTo>
                  <a:lnTo>
                    <a:pt x="7356800" y="0"/>
                  </a:lnTo>
                </a:path>
              </a:pathLst>
            </a:custGeom>
            <a:ln w="10160">
              <a:solidFill>
                <a:srgbClr val="C8A84B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TE</a:t>
            </a:r>
            <a:r>
              <a:rPr spc="-5" dirty="0"/>
              <a:t> </a:t>
            </a:r>
            <a:r>
              <a:rPr dirty="0"/>
              <a:t>Integrated Watershed Management Project</a:t>
            </a:r>
            <a:r>
              <a:rPr spc="210" dirty="0"/>
              <a:t> </a:t>
            </a:r>
            <a:r>
              <a:rPr dirty="0"/>
              <a:t>|</a:t>
            </a:r>
            <a:r>
              <a:rPr spc="210" dirty="0"/>
              <a:t> </a:t>
            </a:r>
            <a:r>
              <a:rPr dirty="0"/>
              <a:t>Ghatdare, Khandala, Satara</a:t>
            </a:r>
            <a:r>
              <a:rPr spc="210" dirty="0"/>
              <a:t> </a:t>
            </a:r>
            <a:r>
              <a:rPr dirty="0"/>
              <a:t>|</a:t>
            </a:r>
            <a:r>
              <a:rPr spc="210" dirty="0"/>
              <a:t> </a:t>
            </a:r>
            <a:r>
              <a:rPr dirty="0"/>
              <a:t>FY 2025-</a:t>
            </a:r>
            <a:r>
              <a:rPr spc="-25" dirty="0"/>
              <a:t>26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xfrm>
            <a:off x="7036251" y="10485724"/>
            <a:ext cx="447675" cy="126317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Page</a:t>
            </a:r>
            <a:r>
              <a:rPr spc="-20" dirty="0"/>
              <a:t> </a:t>
            </a:r>
            <a:r>
              <a:rPr lang="en-IN" spc="-25" dirty="0"/>
              <a:t>2</a:t>
            </a:r>
            <a:endParaRPr spc="-25" dirty="0"/>
          </a:p>
        </p:txBody>
      </p:sp>
      <p:sp>
        <p:nvSpPr>
          <p:cNvPr id="23" name="object 7">
            <a:extLst>
              <a:ext uri="{FF2B5EF4-FFF2-40B4-BE49-F238E27FC236}">
                <a16:creationId xmlns:a16="http://schemas.microsoft.com/office/drawing/2014/main" id="{C9E1C321-9AF1-5D0A-BFF8-7CF466DC5C03}"/>
              </a:ext>
            </a:extLst>
          </p:cNvPr>
          <p:cNvSpPr txBox="1"/>
          <p:nvPr/>
        </p:nvSpPr>
        <p:spPr>
          <a:xfrm>
            <a:off x="779299" y="546400"/>
            <a:ext cx="1348694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B8850A"/>
                </a:solidFill>
                <a:latin typeface="Arial Rounded MT Bold" panose="020F0704030504030204" pitchFamily="34" charset="0"/>
                <a:cs typeface="Calibri"/>
              </a:rPr>
              <a:t>CONTENTS</a:t>
            </a:r>
            <a:endParaRPr sz="1400" dirty="0">
              <a:latin typeface="Arial Rounded MT Bold" panose="020F0704030504030204" pitchFamily="34" charset="0"/>
              <a:cs typeface="Calibri"/>
            </a:endParaRPr>
          </a:p>
        </p:txBody>
      </p:sp>
      <p:sp>
        <p:nvSpPr>
          <p:cNvPr id="24" name="object 8">
            <a:extLst>
              <a:ext uri="{FF2B5EF4-FFF2-40B4-BE49-F238E27FC236}">
                <a16:creationId xmlns:a16="http://schemas.microsoft.com/office/drawing/2014/main" id="{CA1435F6-1840-17FD-A0AE-F1BFF2DD7BE4}"/>
              </a:ext>
            </a:extLst>
          </p:cNvPr>
          <p:cNvSpPr txBox="1">
            <a:spLocks/>
          </p:cNvSpPr>
          <p:nvPr/>
        </p:nvSpPr>
        <p:spPr>
          <a:xfrm>
            <a:off x="779299" y="902299"/>
            <a:ext cx="4294351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sz="3000" dirty="0">
                <a:latin typeface="Tiro Devanagari Marathi" panose="02000000000000000000" pitchFamily="2" charset="0"/>
                <a:cs typeface="Tiro Devanagari Marathi" panose="02000000000000000000" pitchFamily="2" charset="0"/>
              </a:rPr>
              <a:t>Table</a:t>
            </a:r>
            <a:r>
              <a:rPr lang="en-IN" sz="3000" spc="20" dirty="0">
                <a:latin typeface="Tiro Devanagari Marathi" panose="02000000000000000000" pitchFamily="2" charset="0"/>
                <a:cs typeface="Tiro Devanagari Marathi" panose="02000000000000000000" pitchFamily="2" charset="0"/>
              </a:rPr>
              <a:t> </a:t>
            </a:r>
            <a:r>
              <a:rPr lang="en-IN" sz="3000" dirty="0">
                <a:latin typeface="Tiro Devanagari Marathi" panose="02000000000000000000" pitchFamily="2" charset="0"/>
                <a:cs typeface="Tiro Devanagari Marathi" panose="02000000000000000000" pitchFamily="2" charset="0"/>
              </a:rPr>
              <a:t>of</a:t>
            </a:r>
            <a:r>
              <a:rPr lang="en-IN" sz="3000" spc="20" dirty="0">
                <a:latin typeface="Tiro Devanagari Marathi" panose="02000000000000000000" pitchFamily="2" charset="0"/>
                <a:cs typeface="Tiro Devanagari Marathi" panose="02000000000000000000" pitchFamily="2" charset="0"/>
              </a:rPr>
              <a:t> </a:t>
            </a:r>
            <a:r>
              <a:rPr lang="en-IN" sz="3000" spc="-10" dirty="0">
                <a:latin typeface="Tiro Devanagari Marathi" panose="02000000000000000000" pitchFamily="2" charset="0"/>
                <a:cs typeface="Tiro Devanagari Marathi" panose="02000000000000000000" pitchFamily="2" charset="0"/>
              </a:rPr>
              <a:t>Contents</a:t>
            </a:r>
            <a:endParaRPr lang="en-IN" sz="3000" dirty="0">
              <a:latin typeface="Tiro Devanagari Marathi" panose="02000000000000000000" pitchFamily="2" charset="0"/>
              <a:cs typeface="Tiro Devanagari Marathi" panose="02000000000000000000" pitchFamily="2" charset="0"/>
            </a:endParaRPr>
          </a:p>
        </p:txBody>
      </p:sp>
      <p:grpSp>
        <p:nvGrpSpPr>
          <p:cNvPr id="25" name="object 9">
            <a:extLst>
              <a:ext uri="{FF2B5EF4-FFF2-40B4-BE49-F238E27FC236}">
                <a16:creationId xmlns:a16="http://schemas.microsoft.com/office/drawing/2014/main" id="{CF7FA488-2B9C-E5CC-4EA2-8AC45E57072C}"/>
              </a:ext>
            </a:extLst>
          </p:cNvPr>
          <p:cNvGrpSpPr/>
          <p:nvPr/>
        </p:nvGrpSpPr>
        <p:grpSpPr>
          <a:xfrm>
            <a:off x="504000" y="1463300"/>
            <a:ext cx="6876415" cy="840740"/>
            <a:chOff x="504000" y="1463300"/>
            <a:chExt cx="6876415" cy="840740"/>
          </a:xfrm>
        </p:grpSpPr>
        <p:sp>
          <p:nvSpPr>
            <p:cNvPr id="26" name="object 10">
              <a:extLst>
                <a:ext uri="{FF2B5EF4-FFF2-40B4-BE49-F238E27FC236}">
                  <a16:creationId xmlns:a16="http://schemas.microsoft.com/office/drawing/2014/main" id="{5F417FAE-40E2-8A34-62E1-AC2724C88A5A}"/>
                </a:ext>
              </a:extLst>
            </p:cNvPr>
            <p:cNvSpPr/>
            <p:nvPr/>
          </p:nvSpPr>
          <p:spPr>
            <a:xfrm>
              <a:off x="791999" y="1463300"/>
              <a:ext cx="5976620" cy="12700"/>
            </a:xfrm>
            <a:custGeom>
              <a:avLst/>
              <a:gdLst/>
              <a:ahLst/>
              <a:cxnLst/>
              <a:rect l="l" t="t" r="r" b="b"/>
              <a:pathLst>
                <a:path w="5976620" h="12700">
                  <a:moveTo>
                    <a:pt x="5976000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5976000" y="12700"/>
                  </a:lnTo>
                  <a:lnTo>
                    <a:pt x="5976000" y="0"/>
                  </a:lnTo>
                  <a:close/>
                </a:path>
              </a:pathLst>
            </a:custGeom>
            <a:solidFill>
              <a:srgbClr val="B8850A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7" name="object 11">
              <a:extLst>
                <a:ext uri="{FF2B5EF4-FFF2-40B4-BE49-F238E27FC236}">
                  <a16:creationId xmlns:a16="http://schemas.microsoft.com/office/drawing/2014/main" id="{447E3E7B-95EA-E415-26C8-EAC9F2EFEB05}"/>
                </a:ext>
              </a:extLst>
            </p:cNvPr>
            <p:cNvSpPr/>
            <p:nvPr/>
          </p:nvSpPr>
          <p:spPr>
            <a:xfrm>
              <a:off x="504000" y="1908000"/>
              <a:ext cx="6876415" cy="396240"/>
            </a:xfrm>
            <a:custGeom>
              <a:avLst/>
              <a:gdLst/>
              <a:ahLst/>
              <a:cxnLst/>
              <a:rect l="l" t="t" r="r" b="b"/>
              <a:pathLst>
                <a:path w="6876415" h="396239">
                  <a:moveTo>
                    <a:pt x="6850600" y="0"/>
                  </a:moveTo>
                  <a:lnTo>
                    <a:pt x="25400" y="0"/>
                  </a:lnTo>
                  <a:lnTo>
                    <a:pt x="15507" y="1994"/>
                  </a:lnTo>
                  <a:lnTo>
                    <a:pt x="7434" y="7434"/>
                  </a:lnTo>
                  <a:lnTo>
                    <a:pt x="1994" y="15507"/>
                  </a:lnTo>
                  <a:lnTo>
                    <a:pt x="0" y="25400"/>
                  </a:lnTo>
                  <a:lnTo>
                    <a:pt x="0" y="370599"/>
                  </a:lnTo>
                  <a:lnTo>
                    <a:pt x="1994" y="380492"/>
                  </a:lnTo>
                  <a:lnTo>
                    <a:pt x="7434" y="388565"/>
                  </a:lnTo>
                  <a:lnTo>
                    <a:pt x="15507" y="394005"/>
                  </a:lnTo>
                  <a:lnTo>
                    <a:pt x="25400" y="395999"/>
                  </a:lnTo>
                  <a:lnTo>
                    <a:pt x="6850600" y="395999"/>
                  </a:lnTo>
                  <a:lnTo>
                    <a:pt x="6860492" y="394005"/>
                  </a:lnTo>
                  <a:lnTo>
                    <a:pt x="6868565" y="388565"/>
                  </a:lnTo>
                  <a:lnTo>
                    <a:pt x="6874006" y="380492"/>
                  </a:lnTo>
                  <a:lnTo>
                    <a:pt x="6876000" y="370599"/>
                  </a:lnTo>
                  <a:lnTo>
                    <a:pt x="6876000" y="25400"/>
                  </a:lnTo>
                  <a:lnTo>
                    <a:pt x="6874006" y="15507"/>
                  </a:lnTo>
                  <a:lnTo>
                    <a:pt x="6868565" y="7434"/>
                  </a:lnTo>
                  <a:lnTo>
                    <a:pt x="6860492" y="1994"/>
                  </a:lnTo>
                  <a:lnTo>
                    <a:pt x="68506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28" name="object 12">
            <a:extLst>
              <a:ext uri="{FF2B5EF4-FFF2-40B4-BE49-F238E27FC236}">
                <a16:creationId xmlns:a16="http://schemas.microsoft.com/office/drawing/2014/main" id="{806865C0-1CB8-0D3C-21D9-D584D67E335C}"/>
              </a:ext>
            </a:extLst>
          </p:cNvPr>
          <p:cNvSpPr txBox="1"/>
          <p:nvPr/>
        </p:nvSpPr>
        <p:spPr>
          <a:xfrm>
            <a:off x="654051" y="1998450"/>
            <a:ext cx="265256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B8850A"/>
                </a:solidFill>
                <a:latin typeface="Footlight MT Light" panose="0204060206030A020304" pitchFamily="18" charset="0"/>
                <a:cs typeface="Calibri"/>
              </a:rPr>
              <a:t>01</a:t>
            </a:r>
            <a:endParaRPr sz="1200" dirty="0">
              <a:latin typeface="Footlight MT Light" panose="0204060206030A020304" pitchFamily="18" charset="0"/>
              <a:cs typeface="Calibri"/>
            </a:endParaRPr>
          </a:p>
        </p:txBody>
      </p:sp>
      <p:sp>
        <p:nvSpPr>
          <p:cNvPr id="29" name="object 13">
            <a:extLst>
              <a:ext uri="{FF2B5EF4-FFF2-40B4-BE49-F238E27FC236}">
                <a16:creationId xmlns:a16="http://schemas.microsoft.com/office/drawing/2014/main" id="{1D025371-587B-5417-6D90-962E63869C9A}"/>
              </a:ext>
            </a:extLst>
          </p:cNvPr>
          <p:cNvSpPr txBox="1"/>
          <p:nvPr/>
        </p:nvSpPr>
        <p:spPr>
          <a:xfrm>
            <a:off x="1139299" y="1972650"/>
            <a:ext cx="1495951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1A3A2D"/>
                </a:solidFill>
                <a:latin typeface="Footlight MT Light" panose="0204060206030A020304" pitchFamily="18" charset="0"/>
                <a:cs typeface="Calibri"/>
              </a:rPr>
              <a:t>Executive </a:t>
            </a:r>
            <a:r>
              <a:rPr sz="1200" b="1" spc="-10" dirty="0">
                <a:solidFill>
                  <a:srgbClr val="1A3A2D"/>
                </a:solidFill>
                <a:latin typeface="Footlight MT Light" panose="0204060206030A020304" pitchFamily="18" charset="0"/>
                <a:cs typeface="Calibri"/>
              </a:rPr>
              <a:t>Summary</a:t>
            </a:r>
            <a:endParaRPr sz="1200" dirty="0">
              <a:latin typeface="Footlight MT Light" panose="0204060206030A020304" pitchFamily="18" charset="0"/>
              <a:cs typeface="Calibri"/>
            </a:endParaRPr>
          </a:p>
        </p:txBody>
      </p:sp>
      <p:sp>
        <p:nvSpPr>
          <p:cNvPr id="30" name="object 14">
            <a:extLst>
              <a:ext uri="{FF2B5EF4-FFF2-40B4-BE49-F238E27FC236}">
                <a16:creationId xmlns:a16="http://schemas.microsoft.com/office/drawing/2014/main" id="{84F36F48-C201-32B3-3F74-32EB2A498032}"/>
              </a:ext>
            </a:extLst>
          </p:cNvPr>
          <p:cNvSpPr txBox="1"/>
          <p:nvPr/>
        </p:nvSpPr>
        <p:spPr>
          <a:xfrm>
            <a:off x="6700587" y="1985350"/>
            <a:ext cx="8064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200" b="1" spc="-50" dirty="0">
                <a:solidFill>
                  <a:srgbClr val="52B687"/>
                </a:solidFill>
                <a:latin typeface="Footlight MT Light" panose="0204060206030A020304" pitchFamily="18" charset="0"/>
                <a:cs typeface="Calibri"/>
              </a:rPr>
              <a:t>3</a:t>
            </a:r>
            <a:endParaRPr sz="1200" dirty="0">
              <a:latin typeface="Footlight MT Light" panose="0204060206030A020304" pitchFamily="18" charset="0"/>
              <a:cs typeface="Calibri"/>
            </a:endParaRPr>
          </a:p>
        </p:txBody>
      </p:sp>
      <p:grpSp>
        <p:nvGrpSpPr>
          <p:cNvPr id="31" name="object 15">
            <a:extLst>
              <a:ext uri="{FF2B5EF4-FFF2-40B4-BE49-F238E27FC236}">
                <a16:creationId xmlns:a16="http://schemas.microsoft.com/office/drawing/2014/main" id="{57BA445D-3C83-2EF8-3FE5-E2951B1B2210}"/>
              </a:ext>
            </a:extLst>
          </p:cNvPr>
          <p:cNvGrpSpPr/>
          <p:nvPr/>
        </p:nvGrpSpPr>
        <p:grpSpPr>
          <a:xfrm>
            <a:off x="504000" y="2067460"/>
            <a:ext cx="6876415" cy="687070"/>
            <a:chOff x="504000" y="2067460"/>
            <a:chExt cx="6876415" cy="687070"/>
          </a:xfrm>
        </p:grpSpPr>
        <p:sp>
          <p:nvSpPr>
            <p:cNvPr id="32" name="object 16">
              <a:extLst>
                <a:ext uri="{FF2B5EF4-FFF2-40B4-BE49-F238E27FC236}">
                  <a16:creationId xmlns:a16="http://schemas.microsoft.com/office/drawing/2014/main" id="{A41B4271-BAA6-65CD-8E20-F940CCED02C5}"/>
                </a:ext>
              </a:extLst>
            </p:cNvPr>
            <p:cNvSpPr/>
            <p:nvPr/>
          </p:nvSpPr>
          <p:spPr>
            <a:xfrm>
              <a:off x="2244463" y="2070000"/>
              <a:ext cx="4236085" cy="0"/>
            </a:xfrm>
            <a:custGeom>
              <a:avLst/>
              <a:gdLst/>
              <a:ahLst/>
              <a:cxnLst/>
              <a:rect l="l" t="t" r="r" b="b"/>
              <a:pathLst>
                <a:path w="4236085">
                  <a:moveTo>
                    <a:pt x="0" y="0"/>
                  </a:moveTo>
                  <a:lnTo>
                    <a:pt x="4235536" y="0"/>
                  </a:lnTo>
                </a:path>
              </a:pathLst>
            </a:custGeom>
            <a:ln w="5080">
              <a:solidFill>
                <a:srgbClr val="D8F2DB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 sz="1200" dirty="0">
                <a:latin typeface="Footlight MT Light" panose="0204060206030A020304" pitchFamily="18" charset="0"/>
              </a:endParaRPr>
            </a:p>
          </p:txBody>
        </p:sp>
        <p:sp>
          <p:nvSpPr>
            <p:cNvPr id="33" name="object 17">
              <a:extLst>
                <a:ext uri="{FF2B5EF4-FFF2-40B4-BE49-F238E27FC236}">
                  <a16:creationId xmlns:a16="http://schemas.microsoft.com/office/drawing/2014/main" id="{760A09FA-73A3-22BC-193F-A03CFE66DCC4}"/>
                </a:ext>
              </a:extLst>
            </p:cNvPr>
            <p:cNvSpPr/>
            <p:nvPr/>
          </p:nvSpPr>
          <p:spPr>
            <a:xfrm>
              <a:off x="504000" y="2357999"/>
              <a:ext cx="6876415" cy="396240"/>
            </a:xfrm>
            <a:custGeom>
              <a:avLst/>
              <a:gdLst/>
              <a:ahLst/>
              <a:cxnLst/>
              <a:rect l="l" t="t" r="r" b="b"/>
              <a:pathLst>
                <a:path w="6876415" h="396239">
                  <a:moveTo>
                    <a:pt x="6850600" y="0"/>
                  </a:moveTo>
                  <a:lnTo>
                    <a:pt x="25400" y="0"/>
                  </a:lnTo>
                  <a:lnTo>
                    <a:pt x="15507" y="1994"/>
                  </a:lnTo>
                  <a:lnTo>
                    <a:pt x="7434" y="7434"/>
                  </a:lnTo>
                  <a:lnTo>
                    <a:pt x="1994" y="15507"/>
                  </a:lnTo>
                  <a:lnTo>
                    <a:pt x="0" y="25400"/>
                  </a:lnTo>
                  <a:lnTo>
                    <a:pt x="0" y="370599"/>
                  </a:lnTo>
                  <a:lnTo>
                    <a:pt x="1994" y="380492"/>
                  </a:lnTo>
                  <a:lnTo>
                    <a:pt x="7434" y="388565"/>
                  </a:lnTo>
                  <a:lnTo>
                    <a:pt x="15507" y="394005"/>
                  </a:lnTo>
                  <a:lnTo>
                    <a:pt x="25400" y="395999"/>
                  </a:lnTo>
                  <a:lnTo>
                    <a:pt x="6850600" y="395999"/>
                  </a:lnTo>
                  <a:lnTo>
                    <a:pt x="6860492" y="394005"/>
                  </a:lnTo>
                  <a:lnTo>
                    <a:pt x="6868565" y="388565"/>
                  </a:lnTo>
                  <a:lnTo>
                    <a:pt x="6874006" y="380492"/>
                  </a:lnTo>
                  <a:lnTo>
                    <a:pt x="6876000" y="370599"/>
                  </a:lnTo>
                  <a:lnTo>
                    <a:pt x="6876000" y="25400"/>
                  </a:lnTo>
                  <a:lnTo>
                    <a:pt x="6874006" y="15507"/>
                  </a:lnTo>
                  <a:lnTo>
                    <a:pt x="6868565" y="7434"/>
                  </a:lnTo>
                  <a:lnTo>
                    <a:pt x="6860492" y="1994"/>
                  </a:lnTo>
                  <a:lnTo>
                    <a:pt x="6850600" y="0"/>
                  </a:lnTo>
                  <a:close/>
                </a:path>
              </a:pathLst>
            </a:custGeom>
            <a:solidFill>
              <a:srgbClr val="EDF7F0"/>
            </a:solidFill>
          </p:spPr>
          <p:txBody>
            <a:bodyPr wrap="square" lIns="0" tIns="0" rIns="0" bIns="0" rtlCol="0"/>
            <a:lstStyle/>
            <a:p>
              <a:endParaRPr sz="1200" dirty="0">
                <a:latin typeface="Footlight MT Light" panose="0204060206030A020304" pitchFamily="18" charset="0"/>
              </a:endParaRPr>
            </a:p>
          </p:txBody>
        </p:sp>
      </p:grpSp>
      <p:sp>
        <p:nvSpPr>
          <p:cNvPr id="34" name="object 18">
            <a:extLst>
              <a:ext uri="{FF2B5EF4-FFF2-40B4-BE49-F238E27FC236}">
                <a16:creationId xmlns:a16="http://schemas.microsoft.com/office/drawing/2014/main" id="{DF166CA0-C4D7-478B-2099-C9DEB3AF1962}"/>
              </a:ext>
            </a:extLst>
          </p:cNvPr>
          <p:cNvSpPr txBox="1"/>
          <p:nvPr/>
        </p:nvSpPr>
        <p:spPr>
          <a:xfrm>
            <a:off x="654051" y="2448450"/>
            <a:ext cx="265256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B8850A"/>
                </a:solidFill>
                <a:latin typeface="Footlight MT Light" panose="0204060206030A020304" pitchFamily="18" charset="0"/>
                <a:cs typeface="Calibri"/>
              </a:rPr>
              <a:t>02</a:t>
            </a:r>
            <a:endParaRPr sz="1200" dirty="0">
              <a:latin typeface="Footlight MT Light" panose="0204060206030A020304" pitchFamily="18" charset="0"/>
              <a:cs typeface="Calibri"/>
            </a:endParaRPr>
          </a:p>
        </p:txBody>
      </p:sp>
      <p:sp>
        <p:nvSpPr>
          <p:cNvPr id="35" name="object 19">
            <a:extLst>
              <a:ext uri="{FF2B5EF4-FFF2-40B4-BE49-F238E27FC236}">
                <a16:creationId xmlns:a16="http://schemas.microsoft.com/office/drawing/2014/main" id="{B7EDE63B-AB97-14A7-0647-D339A52B1E4A}"/>
              </a:ext>
            </a:extLst>
          </p:cNvPr>
          <p:cNvSpPr txBox="1"/>
          <p:nvPr/>
        </p:nvSpPr>
        <p:spPr>
          <a:xfrm>
            <a:off x="1139298" y="2422650"/>
            <a:ext cx="2334151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1A3A2D"/>
                </a:solidFill>
                <a:latin typeface="Footlight MT Light" panose="0204060206030A020304" pitchFamily="18" charset="0"/>
                <a:cs typeface="Calibri"/>
              </a:rPr>
              <a:t>Background</a:t>
            </a:r>
            <a:r>
              <a:rPr lang="en-IN" sz="1200" b="1" spc="-10" dirty="0">
                <a:solidFill>
                  <a:srgbClr val="1A3A2D"/>
                </a:solidFill>
                <a:latin typeface="Footlight MT Light" panose="0204060206030A020304" pitchFamily="18" charset="0"/>
                <a:cs typeface="Calibri"/>
              </a:rPr>
              <a:t> &amp; Need</a:t>
            </a:r>
            <a:endParaRPr sz="1200" dirty="0">
              <a:latin typeface="Footlight MT Light" panose="0204060206030A020304" pitchFamily="18" charset="0"/>
              <a:cs typeface="Calibri"/>
            </a:endParaRPr>
          </a:p>
        </p:txBody>
      </p:sp>
      <p:sp>
        <p:nvSpPr>
          <p:cNvPr id="36" name="object 20">
            <a:extLst>
              <a:ext uri="{FF2B5EF4-FFF2-40B4-BE49-F238E27FC236}">
                <a16:creationId xmlns:a16="http://schemas.microsoft.com/office/drawing/2014/main" id="{3A355CCC-1429-2DD1-97D2-C743733726C1}"/>
              </a:ext>
            </a:extLst>
          </p:cNvPr>
          <p:cNvSpPr txBox="1"/>
          <p:nvPr/>
        </p:nvSpPr>
        <p:spPr>
          <a:xfrm>
            <a:off x="6700587" y="2435350"/>
            <a:ext cx="8064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52B687"/>
                </a:solidFill>
                <a:latin typeface="Footlight MT Light" panose="0204060206030A020304" pitchFamily="18" charset="0"/>
                <a:cs typeface="Calibri"/>
              </a:rPr>
              <a:t>4</a:t>
            </a:r>
            <a:endParaRPr sz="1200" dirty="0">
              <a:latin typeface="Footlight MT Light" panose="0204060206030A020304" pitchFamily="18" charset="0"/>
              <a:cs typeface="Calibri"/>
            </a:endParaRPr>
          </a:p>
        </p:txBody>
      </p:sp>
      <p:grpSp>
        <p:nvGrpSpPr>
          <p:cNvPr id="37" name="object 21">
            <a:extLst>
              <a:ext uri="{FF2B5EF4-FFF2-40B4-BE49-F238E27FC236}">
                <a16:creationId xmlns:a16="http://schemas.microsoft.com/office/drawing/2014/main" id="{2E5F77CB-46E5-F520-C305-0CB9B29E9C25}"/>
              </a:ext>
            </a:extLst>
          </p:cNvPr>
          <p:cNvGrpSpPr/>
          <p:nvPr/>
        </p:nvGrpSpPr>
        <p:grpSpPr>
          <a:xfrm>
            <a:off x="504000" y="2517459"/>
            <a:ext cx="6876415" cy="687070"/>
            <a:chOff x="504000" y="2517459"/>
            <a:chExt cx="6876415" cy="687070"/>
          </a:xfrm>
        </p:grpSpPr>
        <p:sp>
          <p:nvSpPr>
            <p:cNvPr id="38" name="object 22">
              <a:extLst>
                <a:ext uri="{FF2B5EF4-FFF2-40B4-BE49-F238E27FC236}">
                  <a16:creationId xmlns:a16="http://schemas.microsoft.com/office/drawing/2014/main" id="{901E1312-BD91-B9E0-2266-9E21D92BACA0}"/>
                </a:ext>
              </a:extLst>
            </p:cNvPr>
            <p:cNvSpPr/>
            <p:nvPr/>
          </p:nvSpPr>
          <p:spPr>
            <a:xfrm>
              <a:off x="2857080" y="2519999"/>
              <a:ext cx="3623310" cy="0"/>
            </a:xfrm>
            <a:custGeom>
              <a:avLst/>
              <a:gdLst/>
              <a:ahLst/>
              <a:cxnLst/>
              <a:rect l="l" t="t" r="r" b="b"/>
              <a:pathLst>
                <a:path w="3623310">
                  <a:moveTo>
                    <a:pt x="0" y="0"/>
                  </a:moveTo>
                  <a:lnTo>
                    <a:pt x="3622918" y="0"/>
                  </a:lnTo>
                </a:path>
              </a:pathLst>
            </a:custGeom>
            <a:ln w="5080">
              <a:solidFill>
                <a:srgbClr val="D8F2DB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 sz="1200" dirty="0">
                <a:latin typeface="Footlight MT Light" panose="0204060206030A020304" pitchFamily="18" charset="0"/>
              </a:endParaRPr>
            </a:p>
          </p:txBody>
        </p:sp>
        <p:sp>
          <p:nvSpPr>
            <p:cNvPr id="39" name="object 23">
              <a:extLst>
                <a:ext uri="{FF2B5EF4-FFF2-40B4-BE49-F238E27FC236}">
                  <a16:creationId xmlns:a16="http://schemas.microsoft.com/office/drawing/2014/main" id="{D84CF828-8797-3A38-7037-4C5DCBED6118}"/>
                </a:ext>
              </a:extLst>
            </p:cNvPr>
            <p:cNvSpPr/>
            <p:nvPr/>
          </p:nvSpPr>
          <p:spPr>
            <a:xfrm>
              <a:off x="504000" y="2808000"/>
              <a:ext cx="6876415" cy="396240"/>
            </a:xfrm>
            <a:custGeom>
              <a:avLst/>
              <a:gdLst/>
              <a:ahLst/>
              <a:cxnLst/>
              <a:rect l="l" t="t" r="r" b="b"/>
              <a:pathLst>
                <a:path w="6876415" h="396239">
                  <a:moveTo>
                    <a:pt x="6850600" y="0"/>
                  </a:moveTo>
                  <a:lnTo>
                    <a:pt x="25400" y="0"/>
                  </a:lnTo>
                  <a:lnTo>
                    <a:pt x="15507" y="1994"/>
                  </a:lnTo>
                  <a:lnTo>
                    <a:pt x="7434" y="7434"/>
                  </a:lnTo>
                  <a:lnTo>
                    <a:pt x="1994" y="15507"/>
                  </a:lnTo>
                  <a:lnTo>
                    <a:pt x="0" y="25400"/>
                  </a:lnTo>
                  <a:lnTo>
                    <a:pt x="0" y="370599"/>
                  </a:lnTo>
                  <a:lnTo>
                    <a:pt x="1994" y="380492"/>
                  </a:lnTo>
                  <a:lnTo>
                    <a:pt x="7434" y="388565"/>
                  </a:lnTo>
                  <a:lnTo>
                    <a:pt x="15507" y="394005"/>
                  </a:lnTo>
                  <a:lnTo>
                    <a:pt x="25400" y="395999"/>
                  </a:lnTo>
                  <a:lnTo>
                    <a:pt x="6850600" y="395999"/>
                  </a:lnTo>
                  <a:lnTo>
                    <a:pt x="6860492" y="394005"/>
                  </a:lnTo>
                  <a:lnTo>
                    <a:pt x="6868565" y="388565"/>
                  </a:lnTo>
                  <a:lnTo>
                    <a:pt x="6874006" y="380492"/>
                  </a:lnTo>
                  <a:lnTo>
                    <a:pt x="6876000" y="370599"/>
                  </a:lnTo>
                  <a:lnTo>
                    <a:pt x="6876000" y="25400"/>
                  </a:lnTo>
                  <a:lnTo>
                    <a:pt x="6874006" y="15507"/>
                  </a:lnTo>
                  <a:lnTo>
                    <a:pt x="6868565" y="7434"/>
                  </a:lnTo>
                  <a:lnTo>
                    <a:pt x="6860492" y="1994"/>
                  </a:lnTo>
                  <a:lnTo>
                    <a:pt x="68506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200" dirty="0">
                <a:latin typeface="Footlight MT Light" panose="0204060206030A020304" pitchFamily="18" charset="0"/>
              </a:endParaRPr>
            </a:p>
          </p:txBody>
        </p:sp>
      </p:grpSp>
      <p:sp>
        <p:nvSpPr>
          <p:cNvPr id="40" name="object 24">
            <a:extLst>
              <a:ext uri="{FF2B5EF4-FFF2-40B4-BE49-F238E27FC236}">
                <a16:creationId xmlns:a16="http://schemas.microsoft.com/office/drawing/2014/main" id="{2B211162-6907-88D7-92E8-FF4E069D3E80}"/>
              </a:ext>
            </a:extLst>
          </p:cNvPr>
          <p:cNvSpPr txBox="1"/>
          <p:nvPr/>
        </p:nvSpPr>
        <p:spPr>
          <a:xfrm>
            <a:off x="654051" y="2898449"/>
            <a:ext cx="265256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B8850A"/>
                </a:solidFill>
                <a:latin typeface="Footlight MT Light" panose="0204060206030A020304" pitchFamily="18" charset="0"/>
                <a:cs typeface="Calibri"/>
              </a:rPr>
              <a:t>03</a:t>
            </a:r>
            <a:endParaRPr sz="1200" dirty="0">
              <a:latin typeface="Footlight MT Light" panose="0204060206030A020304" pitchFamily="18" charset="0"/>
              <a:cs typeface="Calibri"/>
            </a:endParaRPr>
          </a:p>
        </p:txBody>
      </p:sp>
      <p:sp>
        <p:nvSpPr>
          <p:cNvPr id="41" name="object 25">
            <a:extLst>
              <a:ext uri="{FF2B5EF4-FFF2-40B4-BE49-F238E27FC236}">
                <a16:creationId xmlns:a16="http://schemas.microsoft.com/office/drawing/2014/main" id="{EDE0CD45-9B61-31DA-035B-7CFF4C459191}"/>
              </a:ext>
            </a:extLst>
          </p:cNvPr>
          <p:cNvSpPr txBox="1"/>
          <p:nvPr/>
        </p:nvSpPr>
        <p:spPr>
          <a:xfrm>
            <a:off x="1139298" y="2872649"/>
            <a:ext cx="2638952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200" b="1" dirty="0">
                <a:solidFill>
                  <a:srgbClr val="1A3A2D"/>
                </a:solidFill>
                <a:latin typeface="Footlight MT Light" panose="0204060206030A020304" pitchFamily="18" charset="0"/>
                <a:cs typeface="Calibri"/>
              </a:rPr>
              <a:t>Project </a:t>
            </a:r>
            <a:r>
              <a:rPr sz="1200" b="1" dirty="0">
                <a:solidFill>
                  <a:srgbClr val="1A3A2D"/>
                </a:solidFill>
                <a:latin typeface="Footlight MT Light" panose="0204060206030A020304" pitchFamily="18" charset="0"/>
                <a:cs typeface="Calibri"/>
              </a:rPr>
              <a:t>Objectives</a:t>
            </a:r>
            <a:r>
              <a:rPr sz="1200" b="1" spc="-5" dirty="0">
                <a:solidFill>
                  <a:srgbClr val="1A3A2D"/>
                </a:solidFill>
                <a:latin typeface="Footlight MT Light" panose="0204060206030A020304" pitchFamily="18" charset="0"/>
                <a:cs typeface="Calibri"/>
              </a:rPr>
              <a:t> </a:t>
            </a:r>
            <a:r>
              <a:rPr sz="1200" b="1" dirty="0">
                <a:solidFill>
                  <a:srgbClr val="1A3A2D"/>
                </a:solidFill>
                <a:latin typeface="Footlight MT Light" panose="0204060206030A020304" pitchFamily="18" charset="0"/>
                <a:cs typeface="Calibri"/>
              </a:rPr>
              <a:t>&amp;</a:t>
            </a:r>
            <a:r>
              <a:rPr sz="1200" b="1" spc="-5" dirty="0">
                <a:solidFill>
                  <a:srgbClr val="1A3A2D"/>
                </a:solidFill>
                <a:latin typeface="Footlight MT Light" panose="0204060206030A020304" pitchFamily="18" charset="0"/>
                <a:cs typeface="Calibri"/>
              </a:rPr>
              <a:t> </a:t>
            </a:r>
            <a:r>
              <a:rPr sz="1200" b="1" spc="-10" dirty="0">
                <a:solidFill>
                  <a:srgbClr val="1A3A2D"/>
                </a:solidFill>
                <a:latin typeface="Footlight MT Light" panose="0204060206030A020304" pitchFamily="18" charset="0"/>
                <a:cs typeface="Calibri"/>
              </a:rPr>
              <a:t>Scope</a:t>
            </a:r>
            <a:endParaRPr sz="1200" dirty="0">
              <a:latin typeface="Footlight MT Light" panose="0204060206030A020304" pitchFamily="18" charset="0"/>
              <a:cs typeface="Calibri"/>
            </a:endParaRPr>
          </a:p>
        </p:txBody>
      </p:sp>
      <p:sp>
        <p:nvSpPr>
          <p:cNvPr id="42" name="object 26">
            <a:extLst>
              <a:ext uri="{FF2B5EF4-FFF2-40B4-BE49-F238E27FC236}">
                <a16:creationId xmlns:a16="http://schemas.microsoft.com/office/drawing/2014/main" id="{3ECE109A-F715-5343-54F4-9ECCA94F4DE9}"/>
              </a:ext>
            </a:extLst>
          </p:cNvPr>
          <p:cNvSpPr txBox="1"/>
          <p:nvPr/>
        </p:nvSpPr>
        <p:spPr>
          <a:xfrm>
            <a:off x="6700587" y="2885349"/>
            <a:ext cx="8064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52B687"/>
                </a:solidFill>
                <a:latin typeface="Footlight MT Light" panose="0204060206030A020304" pitchFamily="18" charset="0"/>
                <a:cs typeface="Calibri"/>
              </a:rPr>
              <a:t>4</a:t>
            </a:r>
            <a:endParaRPr sz="1200" dirty="0">
              <a:latin typeface="Footlight MT Light" panose="0204060206030A020304" pitchFamily="18" charset="0"/>
              <a:cs typeface="Calibri"/>
            </a:endParaRPr>
          </a:p>
        </p:txBody>
      </p:sp>
      <p:grpSp>
        <p:nvGrpSpPr>
          <p:cNvPr id="43" name="object 27">
            <a:extLst>
              <a:ext uri="{FF2B5EF4-FFF2-40B4-BE49-F238E27FC236}">
                <a16:creationId xmlns:a16="http://schemas.microsoft.com/office/drawing/2014/main" id="{CDC1DCC0-B945-1854-82F9-927240901D7D}"/>
              </a:ext>
            </a:extLst>
          </p:cNvPr>
          <p:cNvGrpSpPr/>
          <p:nvPr/>
        </p:nvGrpSpPr>
        <p:grpSpPr>
          <a:xfrm>
            <a:off x="504000" y="2967459"/>
            <a:ext cx="6876415" cy="687070"/>
            <a:chOff x="504000" y="2967459"/>
            <a:chExt cx="6876415" cy="687070"/>
          </a:xfrm>
        </p:grpSpPr>
        <p:sp>
          <p:nvSpPr>
            <p:cNvPr id="44" name="object 28">
              <a:extLst>
                <a:ext uri="{FF2B5EF4-FFF2-40B4-BE49-F238E27FC236}">
                  <a16:creationId xmlns:a16="http://schemas.microsoft.com/office/drawing/2014/main" id="{8662061C-B186-2A86-D843-B1E4C334B64E}"/>
                </a:ext>
              </a:extLst>
            </p:cNvPr>
            <p:cNvSpPr/>
            <p:nvPr/>
          </p:nvSpPr>
          <p:spPr>
            <a:xfrm>
              <a:off x="2223197" y="2969999"/>
              <a:ext cx="4257040" cy="0"/>
            </a:xfrm>
            <a:custGeom>
              <a:avLst/>
              <a:gdLst/>
              <a:ahLst/>
              <a:cxnLst/>
              <a:rect l="l" t="t" r="r" b="b"/>
              <a:pathLst>
                <a:path w="4257040">
                  <a:moveTo>
                    <a:pt x="0" y="0"/>
                  </a:moveTo>
                  <a:lnTo>
                    <a:pt x="4256802" y="0"/>
                  </a:lnTo>
                </a:path>
              </a:pathLst>
            </a:custGeom>
            <a:ln w="5080">
              <a:solidFill>
                <a:srgbClr val="D8F2DB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 sz="1200" dirty="0">
                <a:latin typeface="Footlight MT Light" panose="0204060206030A020304" pitchFamily="18" charset="0"/>
              </a:endParaRPr>
            </a:p>
          </p:txBody>
        </p:sp>
        <p:sp>
          <p:nvSpPr>
            <p:cNvPr id="45" name="object 29">
              <a:extLst>
                <a:ext uri="{FF2B5EF4-FFF2-40B4-BE49-F238E27FC236}">
                  <a16:creationId xmlns:a16="http://schemas.microsoft.com/office/drawing/2014/main" id="{607314D0-DD4F-77FC-B13A-1C8310A8048A}"/>
                </a:ext>
              </a:extLst>
            </p:cNvPr>
            <p:cNvSpPr/>
            <p:nvPr/>
          </p:nvSpPr>
          <p:spPr>
            <a:xfrm>
              <a:off x="504000" y="3258000"/>
              <a:ext cx="6876415" cy="396240"/>
            </a:xfrm>
            <a:custGeom>
              <a:avLst/>
              <a:gdLst/>
              <a:ahLst/>
              <a:cxnLst/>
              <a:rect l="l" t="t" r="r" b="b"/>
              <a:pathLst>
                <a:path w="6876415" h="396239">
                  <a:moveTo>
                    <a:pt x="6850600" y="0"/>
                  </a:moveTo>
                  <a:lnTo>
                    <a:pt x="25400" y="0"/>
                  </a:lnTo>
                  <a:lnTo>
                    <a:pt x="15507" y="1994"/>
                  </a:lnTo>
                  <a:lnTo>
                    <a:pt x="7434" y="7434"/>
                  </a:lnTo>
                  <a:lnTo>
                    <a:pt x="1994" y="15507"/>
                  </a:lnTo>
                  <a:lnTo>
                    <a:pt x="0" y="25400"/>
                  </a:lnTo>
                  <a:lnTo>
                    <a:pt x="0" y="370599"/>
                  </a:lnTo>
                  <a:lnTo>
                    <a:pt x="1994" y="380492"/>
                  </a:lnTo>
                  <a:lnTo>
                    <a:pt x="7434" y="388565"/>
                  </a:lnTo>
                  <a:lnTo>
                    <a:pt x="15507" y="394005"/>
                  </a:lnTo>
                  <a:lnTo>
                    <a:pt x="25400" y="395999"/>
                  </a:lnTo>
                  <a:lnTo>
                    <a:pt x="6850600" y="395999"/>
                  </a:lnTo>
                  <a:lnTo>
                    <a:pt x="6860492" y="394005"/>
                  </a:lnTo>
                  <a:lnTo>
                    <a:pt x="6868565" y="388565"/>
                  </a:lnTo>
                  <a:lnTo>
                    <a:pt x="6874006" y="380492"/>
                  </a:lnTo>
                  <a:lnTo>
                    <a:pt x="6876000" y="370599"/>
                  </a:lnTo>
                  <a:lnTo>
                    <a:pt x="6876000" y="25400"/>
                  </a:lnTo>
                  <a:lnTo>
                    <a:pt x="6874006" y="15507"/>
                  </a:lnTo>
                  <a:lnTo>
                    <a:pt x="6868565" y="7434"/>
                  </a:lnTo>
                  <a:lnTo>
                    <a:pt x="6860492" y="1994"/>
                  </a:lnTo>
                  <a:lnTo>
                    <a:pt x="6850600" y="0"/>
                  </a:lnTo>
                  <a:close/>
                </a:path>
              </a:pathLst>
            </a:custGeom>
            <a:solidFill>
              <a:srgbClr val="EDF7F0"/>
            </a:solidFill>
          </p:spPr>
          <p:txBody>
            <a:bodyPr wrap="square" lIns="0" tIns="0" rIns="0" bIns="0" rtlCol="0"/>
            <a:lstStyle/>
            <a:p>
              <a:endParaRPr sz="1200" dirty="0">
                <a:latin typeface="Footlight MT Light" panose="0204060206030A020304" pitchFamily="18" charset="0"/>
              </a:endParaRPr>
            </a:p>
          </p:txBody>
        </p:sp>
      </p:grpSp>
      <p:sp>
        <p:nvSpPr>
          <p:cNvPr id="46" name="object 30">
            <a:extLst>
              <a:ext uri="{FF2B5EF4-FFF2-40B4-BE49-F238E27FC236}">
                <a16:creationId xmlns:a16="http://schemas.microsoft.com/office/drawing/2014/main" id="{68878EBD-1BC2-8DEC-3594-98C8286C59A1}"/>
              </a:ext>
            </a:extLst>
          </p:cNvPr>
          <p:cNvSpPr txBox="1"/>
          <p:nvPr/>
        </p:nvSpPr>
        <p:spPr>
          <a:xfrm>
            <a:off x="654051" y="3348450"/>
            <a:ext cx="265256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B8850A"/>
                </a:solidFill>
                <a:latin typeface="Footlight MT Light" panose="0204060206030A020304" pitchFamily="18" charset="0"/>
                <a:cs typeface="Calibri"/>
              </a:rPr>
              <a:t>04</a:t>
            </a:r>
            <a:endParaRPr sz="1200" dirty="0">
              <a:latin typeface="Footlight MT Light" panose="0204060206030A020304" pitchFamily="18" charset="0"/>
              <a:cs typeface="Calibri"/>
            </a:endParaRPr>
          </a:p>
        </p:txBody>
      </p:sp>
      <p:sp>
        <p:nvSpPr>
          <p:cNvPr id="47" name="object 31">
            <a:extLst>
              <a:ext uri="{FF2B5EF4-FFF2-40B4-BE49-F238E27FC236}">
                <a16:creationId xmlns:a16="http://schemas.microsoft.com/office/drawing/2014/main" id="{7FCB3CC4-CE63-10AE-862E-F74FB4EAD66A}"/>
              </a:ext>
            </a:extLst>
          </p:cNvPr>
          <p:cNvSpPr txBox="1"/>
          <p:nvPr/>
        </p:nvSpPr>
        <p:spPr>
          <a:xfrm>
            <a:off x="1139298" y="3322649"/>
            <a:ext cx="4162952" cy="1974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200" b="1" dirty="0">
                <a:solidFill>
                  <a:srgbClr val="1A3A2D"/>
                </a:solidFill>
                <a:latin typeface="Footlight MT Light" panose="0204060206030A020304" pitchFamily="18" charset="0"/>
                <a:cs typeface="Calibri"/>
              </a:rPr>
              <a:t>Water Conservation Structures – Progress &amp; Achievement</a:t>
            </a:r>
          </a:p>
        </p:txBody>
      </p:sp>
      <p:sp>
        <p:nvSpPr>
          <p:cNvPr id="48" name="object 32">
            <a:extLst>
              <a:ext uri="{FF2B5EF4-FFF2-40B4-BE49-F238E27FC236}">
                <a16:creationId xmlns:a16="http://schemas.microsoft.com/office/drawing/2014/main" id="{524E9135-8049-2DD3-7F8A-F679DFA9EFED}"/>
              </a:ext>
            </a:extLst>
          </p:cNvPr>
          <p:cNvSpPr txBox="1"/>
          <p:nvPr/>
        </p:nvSpPr>
        <p:spPr>
          <a:xfrm>
            <a:off x="6700587" y="3335349"/>
            <a:ext cx="8064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52B687"/>
                </a:solidFill>
                <a:latin typeface="Footlight MT Light" panose="0204060206030A020304" pitchFamily="18" charset="0"/>
                <a:cs typeface="Calibri"/>
              </a:rPr>
              <a:t>5</a:t>
            </a:r>
            <a:endParaRPr sz="1200" dirty="0">
              <a:latin typeface="Footlight MT Light" panose="0204060206030A020304" pitchFamily="18" charset="0"/>
              <a:cs typeface="Calibri"/>
            </a:endParaRPr>
          </a:p>
        </p:txBody>
      </p:sp>
      <p:grpSp>
        <p:nvGrpSpPr>
          <p:cNvPr id="49" name="object 33">
            <a:extLst>
              <a:ext uri="{FF2B5EF4-FFF2-40B4-BE49-F238E27FC236}">
                <a16:creationId xmlns:a16="http://schemas.microsoft.com/office/drawing/2014/main" id="{B56A44E2-2F9B-3147-F309-BA3D8632D9BC}"/>
              </a:ext>
            </a:extLst>
          </p:cNvPr>
          <p:cNvGrpSpPr/>
          <p:nvPr/>
        </p:nvGrpSpPr>
        <p:grpSpPr>
          <a:xfrm>
            <a:off x="504000" y="3417460"/>
            <a:ext cx="6876415" cy="687070"/>
            <a:chOff x="504000" y="3417460"/>
            <a:chExt cx="6876415" cy="687070"/>
          </a:xfrm>
        </p:grpSpPr>
        <p:sp>
          <p:nvSpPr>
            <p:cNvPr id="50" name="object 34">
              <a:extLst>
                <a:ext uri="{FF2B5EF4-FFF2-40B4-BE49-F238E27FC236}">
                  <a16:creationId xmlns:a16="http://schemas.microsoft.com/office/drawing/2014/main" id="{CEFBC203-D0D5-A1DB-73B5-C3643F5EEB19}"/>
                </a:ext>
              </a:extLst>
            </p:cNvPr>
            <p:cNvSpPr/>
            <p:nvPr/>
          </p:nvSpPr>
          <p:spPr>
            <a:xfrm>
              <a:off x="2769951" y="3420000"/>
              <a:ext cx="3710304" cy="0"/>
            </a:xfrm>
            <a:custGeom>
              <a:avLst/>
              <a:gdLst/>
              <a:ahLst/>
              <a:cxnLst/>
              <a:rect l="l" t="t" r="r" b="b"/>
              <a:pathLst>
                <a:path w="3710304">
                  <a:moveTo>
                    <a:pt x="0" y="0"/>
                  </a:moveTo>
                  <a:lnTo>
                    <a:pt x="3710048" y="0"/>
                  </a:lnTo>
                </a:path>
              </a:pathLst>
            </a:custGeom>
            <a:ln w="5080">
              <a:solidFill>
                <a:srgbClr val="D8F2DB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 sz="1200" dirty="0">
                <a:latin typeface="Footlight MT Light" panose="0204060206030A020304" pitchFamily="18" charset="0"/>
              </a:endParaRPr>
            </a:p>
          </p:txBody>
        </p:sp>
        <p:sp>
          <p:nvSpPr>
            <p:cNvPr id="51" name="object 35">
              <a:extLst>
                <a:ext uri="{FF2B5EF4-FFF2-40B4-BE49-F238E27FC236}">
                  <a16:creationId xmlns:a16="http://schemas.microsoft.com/office/drawing/2014/main" id="{ED058E76-8326-11E1-6C8C-D08E6E4A4592}"/>
                </a:ext>
              </a:extLst>
            </p:cNvPr>
            <p:cNvSpPr/>
            <p:nvPr/>
          </p:nvSpPr>
          <p:spPr>
            <a:xfrm>
              <a:off x="504000" y="3707999"/>
              <a:ext cx="6876415" cy="396240"/>
            </a:xfrm>
            <a:custGeom>
              <a:avLst/>
              <a:gdLst/>
              <a:ahLst/>
              <a:cxnLst/>
              <a:rect l="l" t="t" r="r" b="b"/>
              <a:pathLst>
                <a:path w="6876415" h="396239">
                  <a:moveTo>
                    <a:pt x="6850600" y="0"/>
                  </a:moveTo>
                  <a:lnTo>
                    <a:pt x="25400" y="0"/>
                  </a:lnTo>
                  <a:lnTo>
                    <a:pt x="15507" y="1994"/>
                  </a:lnTo>
                  <a:lnTo>
                    <a:pt x="7434" y="7434"/>
                  </a:lnTo>
                  <a:lnTo>
                    <a:pt x="1994" y="15507"/>
                  </a:lnTo>
                  <a:lnTo>
                    <a:pt x="0" y="25400"/>
                  </a:lnTo>
                  <a:lnTo>
                    <a:pt x="0" y="370599"/>
                  </a:lnTo>
                  <a:lnTo>
                    <a:pt x="1994" y="380492"/>
                  </a:lnTo>
                  <a:lnTo>
                    <a:pt x="7434" y="388565"/>
                  </a:lnTo>
                  <a:lnTo>
                    <a:pt x="15507" y="394005"/>
                  </a:lnTo>
                  <a:lnTo>
                    <a:pt x="25400" y="395999"/>
                  </a:lnTo>
                  <a:lnTo>
                    <a:pt x="6850600" y="395999"/>
                  </a:lnTo>
                  <a:lnTo>
                    <a:pt x="6860492" y="394005"/>
                  </a:lnTo>
                  <a:lnTo>
                    <a:pt x="6868565" y="388565"/>
                  </a:lnTo>
                  <a:lnTo>
                    <a:pt x="6874006" y="380492"/>
                  </a:lnTo>
                  <a:lnTo>
                    <a:pt x="6876000" y="370599"/>
                  </a:lnTo>
                  <a:lnTo>
                    <a:pt x="6876000" y="25400"/>
                  </a:lnTo>
                  <a:lnTo>
                    <a:pt x="6874006" y="15507"/>
                  </a:lnTo>
                  <a:lnTo>
                    <a:pt x="6868565" y="7434"/>
                  </a:lnTo>
                  <a:lnTo>
                    <a:pt x="6860492" y="1994"/>
                  </a:lnTo>
                  <a:lnTo>
                    <a:pt x="68506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200" dirty="0">
                <a:latin typeface="Footlight MT Light" panose="0204060206030A020304" pitchFamily="18" charset="0"/>
              </a:endParaRPr>
            </a:p>
          </p:txBody>
        </p:sp>
      </p:grpSp>
      <p:sp>
        <p:nvSpPr>
          <p:cNvPr id="52" name="object 36">
            <a:extLst>
              <a:ext uri="{FF2B5EF4-FFF2-40B4-BE49-F238E27FC236}">
                <a16:creationId xmlns:a16="http://schemas.microsoft.com/office/drawing/2014/main" id="{B04023EB-9B1C-D107-F003-E4CC8B4BE7E6}"/>
              </a:ext>
            </a:extLst>
          </p:cNvPr>
          <p:cNvSpPr txBox="1"/>
          <p:nvPr/>
        </p:nvSpPr>
        <p:spPr>
          <a:xfrm>
            <a:off x="654051" y="3798450"/>
            <a:ext cx="265256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B8850A"/>
                </a:solidFill>
                <a:latin typeface="Footlight MT Light" panose="0204060206030A020304" pitchFamily="18" charset="0"/>
                <a:cs typeface="Calibri"/>
              </a:rPr>
              <a:t>05</a:t>
            </a:r>
            <a:endParaRPr sz="1200" dirty="0">
              <a:latin typeface="Footlight MT Light" panose="0204060206030A020304" pitchFamily="18" charset="0"/>
              <a:cs typeface="Calibri"/>
            </a:endParaRPr>
          </a:p>
        </p:txBody>
      </p:sp>
      <p:sp>
        <p:nvSpPr>
          <p:cNvPr id="53" name="object 37">
            <a:extLst>
              <a:ext uri="{FF2B5EF4-FFF2-40B4-BE49-F238E27FC236}">
                <a16:creationId xmlns:a16="http://schemas.microsoft.com/office/drawing/2014/main" id="{BEAB618D-13F0-6C6A-8204-2859B245AA80}"/>
              </a:ext>
            </a:extLst>
          </p:cNvPr>
          <p:cNvSpPr txBox="1"/>
          <p:nvPr/>
        </p:nvSpPr>
        <p:spPr>
          <a:xfrm>
            <a:off x="1139299" y="3772650"/>
            <a:ext cx="2257951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200" b="1" dirty="0">
                <a:solidFill>
                  <a:srgbClr val="1A3A2D"/>
                </a:solidFill>
                <a:latin typeface="Footlight MT Light" panose="0204060206030A020304" pitchFamily="18" charset="0"/>
                <a:cs typeface="Calibri"/>
              </a:rPr>
              <a:t>Achievement vs Target — Visual</a:t>
            </a:r>
          </a:p>
        </p:txBody>
      </p:sp>
      <p:sp>
        <p:nvSpPr>
          <p:cNvPr id="54" name="object 38">
            <a:extLst>
              <a:ext uri="{FF2B5EF4-FFF2-40B4-BE49-F238E27FC236}">
                <a16:creationId xmlns:a16="http://schemas.microsoft.com/office/drawing/2014/main" id="{DBD4CFB9-9D0D-DDCF-5611-BDE6175835F0}"/>
              </a:ext>
            </a:extLst>
          </p:cNvPr>
          <p:cNvSpPr txBox="1"/>
          <p:nvPr/>
        </p:nvSpPr>
        <p:spPr>
          <a:xfrm>
            <a:off x="6700587" y="3785350"/>
            <a:ext cx="8064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200" b="1" spc="-50" dirty="0">
                <a:solidFill>
                  <a:srgbClr val="52B687"/>
                </a:solidFill>
                <a:latin typeface="Footlight MT Light" panose="0204060206030A020304" pitchFamily="18" charset="0"/>
                <a:cs typeface="Calibri"/>
              </a:rPr>
              <a:t>5</a:t>
            </a:r>
            <a:endParaRPr sz="1200" dirty="0">
              <a:latin typeface="Footlight MT Light" panose="0204060206030A020304" pitchFamily="18" charset="0"/>
              <a:cs typeface="Calibri"/>
            </a:endParaRPr>
          </a:p>
        </p:txBody>
      </p:sp>
      <p:grpSp>
        <p:nvGrpSpPr>
          <p:cNvPr id="55" name="object 39">
            <a:extLst>
              <a:ext uri="{FF2B5EF4-FFF2-40B4-BE49-F238E27FC236}">
                <a16:creationId xmlns:a16="http://schemas.microsoft.com/office/drawing/2014/main" id="{D1E7030D-6B64-98B3-C7BB-32616A12E48E}"/>
              </a:ext>
            </a:extLst>
          </p:cNvPr>
          <p:cNvGrpSpPr/>
          <p:nvPr/>
        </p:nvGrpSpPr>
        <p:grpSpPr>
          <a:xfrm>
            <a:off x="504000" y="3867459"/>
            <a:ext cx="6876415" cy="687070"/>
            <a:chOff x="504000" y="3867459"/>
            <a:chExt cx="6876415" cy="687070"/>
          </a:xfrm>
        </p:grpSpPr>
        <p:sp>
          <p:nvSpPr>
            <p:cNvPr id="56" name="object 40">
              <a:extLst>
                <a:ext uri="{FF2B5EF4-FFF2-40B4-BE49-F238E27FC236}">
                  <a16:creationId xmlns:a16="http://schemas.microsoft.com/office/drawing/2014/main" id="{63D98EBB-51D9-E593-2C3A-8A7B4EC9B576}"/>
                </a:ext>
              </a:extLst>
            </p:cNvPr>
            <p:cNvSpPr/>
            <p:nvPr/>
          </p:nvSpPr>
          <p:spPr>
            <a:xfrm>
              <a:off x="2874695" y="3869999"/>
              <a:ext cx="3605529" cy="0"/>
            </a:xfrm>
            <a:custGeom>
              <a:avLst/>
              <a:gdLst/>
              <a:ahLst/>
              <a:cxnLst/>
              <a:rect l="l" t="t" r="r" b="b"/>
              <a:pathLst>
                <a:path w="3605529">
                  <a:moveTo>
                    <a:pt x="0" y="0"/>
                  </a:moveTo>
                  <a:lnTo>
                    <a:pt x="3605303" y="0"/>
                  </a:lnTo>
                </a:path>
              </a:pathLst>
            </a:custGeom>
            <a:ln w="5080">
              <a:solidFill>
                <a:srgbClr val="D8F2DB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 sz="1200" dirty="0">
                <a:latin typeface="Footlight MT Light" panose="0204060206030A020304" pitchFamily="18" charset="0"/>
              </a:endParaRPr>
            </a:p>
          </p:txBody>
        </p:sp>
        <p:sp>
          <p:nvSpPr>
            <p:cNvPr id="57" name="object 41">
              <a:extLst>
                <a:ext uri="{FF2B5EF4-FFF2-40B4-BE49-F238E27FC236}">
                  <a16:creationId xmlns:a16="http://schemas.microsoft.com/office/drawing/2014/main" id="{17F9C087-F6AB-F8C7-CB9C-2A9F0EC02201}"/>
                </a:ext>
              </a:extLst>
            </p:cNvPr>
            <p:cNvSpPr/>
            <p:nvPr/>
          </p:nvSpPr>
          <p:spPr>
            <a:xfrm>
              <a:off x="504000" y="4158000"/>
              <a:ext cx="6876415" cy="396240"/>
            </a:xfrm>
            <a:custGeom>
              <a:avLst/>
              <a:gdLst/>
              <a:ahLst/>
              <a:cxnLst/>
              <a:rect l="l" t="t" r="r" b="b"/>
              <a:pathLst>
                <a:path w="6876415" h="396239">
                  <a:moveTo>
                    <a:pt x="6850600" y="0"/>
                  </a:moveTo>
                  <a:lnTo>
                    <a:pt x="25400" y="0"/>
                  </a:lnTo>
                  <a:lnTo>
                    <a:pt x="15507" y="1994"/>
                  </a:lnTo>
                  <a:lnTo>
                    <a:pt x="7434" y="7434"/>
                  </a:lnTo>
                  <a:lnTo>
                    <a:pt x="1994" y="15507"/>
                  </a:lnTo>
                  <a:lnTo>
                    <a:pt x="0" y="25400"/>
                  </a:lnTo>
                  <a:lnTo>
                    <a:pt x="0" y="370599"/>
                  </a:lnTo>
                  <a:lnTo>
                    <a:pt x="1994" y="380492"/>
                  </a:lnTo>
                  <a:lnTo>
                    <a:pt x="7434" y="388565"/>
                  </a:lnTo>
                  <a:lnTo>
                    <a:pt x="15507" y="394005"/>
                  </a:lnTo>
                  <a:lnTo>
                    <a:pt x="25400" y="395999"/>
                  </a:lnTo>
                  <a:lnTo>
                    <a:pt x="6850600" y="395999"/>
                  </a:lnTo>
                  <a:lnTo>
                    <a:pt x="6860492" y="394005"/>
                  </a:lnTo>
                  <a:lnTo>
                    <a:pt x="6868565" y="388565"/>
                  </a:lnTo>
                  <a:lnTo>
                    <a:pt x="6874006" y="380492"/>
                  </a:lnTo>
                  <a:lnTo>
                    <a:pt x="6876000" y="370599"/>
                  </a:lnTo>
                  <a:lnTo>
                    <a:pt x="6876000" y="25400"/>
                  </a:lnTo>
                  <a:lnTo>
                    <a:pt x="6874006" y="15507"/>
                  </a:lnTo>
                  <a:lnTo>
                    <a:pt x="6868565" y="7434"/>
                  </a:lnTo>
                  <a:lnTo>
                    <a:pt x="6860492" y="1994"/>
                  </a:lnTo>
                  <a:lnTo>
                    <a:pt x="6850600" y="0"/>
                  </a:lnTo>
                  <a:close/>
                </a:path>
              </a:pathLst>
            </a:custGeom>
            <a:solidFill>
              <a:srgbClr val="EDF7F0"/>
            </a:solidFill>
          </p:spPr>
          <p:txBody>
            <a:bodyPr wrap="square" lIns="0" tIns="0" rIns="0" bIns="0" rtlCol="0"/>
            <a:lstStyle/>
            <a:p>
              <a:endParaRPr sz="1200" dirty="0">
                <a:latin typeface="Footlight MT Light" panose="0204060206030A020304" pitchFamily="18" charset="0"/>
              </a:endParaRPr>
            </a:p>
          </p:txBody>
        </p:sp>
      </p:grpSp>
      <p:sp>
        <p:nvSpPr>
          <p:cNvPr id="58" name="object 42">
            <a:extLst>
              <a:ext uri="{FF2B5EF4-FFF2-40B4-BE49-F238E27FC236}">
                <a16:creationId xmlns:a16="http://schemas.microsoft.com/office/drawing/2014/main" id="{AE6B9D77-D44E-74A9-4961-3717FEB15153}"/>
              </a:ext>
            </a:extLst>
          </p:cNvPr>
          <p:cNvSpPr txBox="1"/>
          <p:nvPr/>
        </p:nvSpPr>
        <p:spPr>
          <a:xfrm>
            <a:off x="654051" y="4248450"/>
            <a:ext cx="265256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B8850A"/>
                </a:solidFill>
                <a:latin typeface="Footlight MT Light" panose="0204060206030A020304" pitchFamily="18" charset="0"/>
                <a:cs typeface="Calibri"/>
              </a:rPr>
              <a:t>06</a:t>
            </a:r>
            <a:endParaRPr sz="1200" dirty="0">
              <a:latin typeface="Footlight MT Light" panose="0204060206030A020304" pitchFamily="18" charset="0"/>
              <a:cs typeface="Calibri"/>
            </a:endParaRPr>
          </a:p>
        </p:txBody>
      </p:sp>
      <p:sp>
        <p:nvSpPr>
          <p:cNvPr id="59" name="object 43">
            <a:extLst>
              <a:ext uri="{FF2B5EF4-FFF2-40B4-BE49-F238E27FC236}">
                <a16:creationId xmlns:a16="http://schemas.microsoft.com/office/drawing/2014/main" id="{9D6912C2-D1C0-461D-0947-6FC6B1E493BA}"/>
              </a:ext>
            </a:extLst>
          </p:cNvPr>
          <p:cNvSpPr txBox="1"/>
          <p:nvPr/>
        </p:nvSpPr>
        <p:spPr>
          <a:xfrm>
            <a:off x="1139298" y="4222650"/>
            <a:ext cx="3019951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200" b="1" dirty="0">
                <a:solidFill>
                  <a:srgbClr val="1A3A2D"/>
                </a:solidFill>
                <a:latin typeface="Footlight MT Light" panose="0204060206030A020304" pitchFamily="18" charset="0"/>
                <a:cs typeface="Calibri"/>
              </a:rPr>
              <a:t>Annual Water Storage Created by Structure</a:t>
            </a:r>
          </a:p>
        </p:txBody>
      </p:sp>
      <p:sp>
        <p:nvSpPr>
          <p:cNvPr id="60" name="object 44">
            <a:extLst>
              <a:ext uri="{FF2B5EF4-FFF2-40B4-BE49-F238E27FC236}">
                <a16:creationId xmlns:a16="http://schemas.microsoft.com/office/drawing/2014/main" id="{CC022C07-6D6C-4D5A-241C-3F757F13B260}"/>
              </a:ext>
            </a:extLst>
          </p:cNvPr>
          <p:cNvSpPr txBox="1"/>
          <p:nvPr/>
        </p:nvSpPr>
        <p:spPr>
          <a:xfrm>
            <a:off x="6700587" y="4235350"/>
            <a:ext cx="8064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200" b="1" spc="-50" dirty="0">
                <a:solidFill>
                  <a:srgbClr val="52B687"/>
                </a:solidFill>
                <a:latin typeface="Footlight MT Light" panose="0204060206030A020304" pitchFamily="18" charset="0"/>
                <a:cs typeface="Calibri"/>
              </a:rPr>
              <a:t>5</a:t>
            </a:r>
            <a:endParaRPr sz="1200" dirty="0">
              <a:latin typeface="Footlight MT Light" panose="0204060206030A020304" pitchFamily="18" charset="0"/>
              <a:cs typeface="Calibri"/>
            </a:endParaRPr>
          </a:p>
        </p:txBody>
      </p:sp>
      <p:grpSp>
        <p:nvGrpSpPr>
          <p:cNvPr id="61" name="object 45">
            <a:extLst>
              <a:ext uri="{FF2B5EF4-FFF2-40B4-BE49-F238E27FC236}">
                <a16:creationId xmlns:a16="http://schemas.microsoft.com/office/drawing/2014/main" id="{615FB306-A9A6-F729-B41B-84C8BFBA916B}"/>
              </a:ext>
            </a:extLst>
          </p:cNvPr>
          <p:cNvGrpSpPr/>
          <p:nvPr/>
        </p:nvGrpSpPr>
        <p:grpSpPr>
          <a:xfrm>
            <a:off x="504000" y="4317459"/>
            <a:ext cx="6876415" cy="687070"/>
            <a:chOff x="504000" y="4317459"/>
            <a:chExt cx="6876415" cy="687070"/>
          </a:xfrm>
        </p:grpSpPr>
        <p:sp>
          <p:nvSpPr>
            <p:cNvPr id="62" name="object 46">
              <a:extLst>
                <a:ext uri="{FF2B5EF4-FFF2-40B4-BE49-F238E27FC236}">
                  <a16:creationId xmlns:a16="http://schemas.microsoft.com/office/drawing/2014/main" id="{8626318B-3B98-2159-C937-E9C3F2DF763D}"/>
                </a:ext>
              </a:extLst>
            </p:cNvPr>
            <p:cNvSpPr/>
            <p:nvPr/>
          </p:nvSpPr>
          <p:spPr>
            <a:xfrm>
              <a:off x="2257012" y="4319999"/>
              <a:ext cx="4223385" cy="0"/>
            </a:xfrm>
            <a:custGeom>
              <a:avLst/>
              <a:gdLst/>
              <a:ahLst/>
              <a:cxnLst/>
              <a:rect l="l" t="t" r="r" b="b"/>
              <a:pathLst>
                <a:path w="4223385">
                  <a:moveTo>
                    <a:pt x="0" y="0"/>
                  </a:moveTo>
                  <a:lnTo>
                    <a:pt x="4222987" y="0"/>
                  </a:lnTo>
                </a:path>
              </a:pathLst>
            </a:custGeom>
            <a:ln w="5080">
              <a:solidFill>
                <a:srgbClr val="D8F2DB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 sz="1200" dirty="0">
                <a:latin typeface="Footlight MT Light" panose="0204060206030A020304" pitchFamily="18" charset="0"/>
              </a:endParaRPr>
            </a:p>
          </p:txBody>
        </p:sp>
        <p:sp>
          <p:nvSpPr>
            <p:cNvPr id="63" name="object 47">
              <a:extLst>
                <a:ext uri="{FF2B5EF4-FFF2-40B4-BE49-F238E27FC236}">
                  <a16:creationId xmlns:a16="http://schemas.microsoft.com/office/drawing/2014/main" id="{13CB40D7-C477-AA55-B642-171BBADEC442}"/>
                </a:ext>
              </a:extLst>
            </p:cNvPr>
            <p:cNvSpPr/>
            <p:nvPr/>
          </p:nvSpPr>
          <p:spPr>
            <a:xfrm>
              <a:off x="504000" y="4608000"/>
              <a:ext cx="6876415" cy="396240"/>
            </a:xfrm>
            <a:custGeom>
              <a:avLst/>
              <a:gdLst/>
              <a:ahLst/>
              <a:cxnLst/>
              <a:rect l="l" t="t" r="r" b="b"/>
              <a:pathLst>
                <a:path w="6876415" h="396239">
                  <a:moveTo>
                    <a:pt x="6850600" y="0"/>
                  </a:moveTo>
                  <a:lnTo>
                    <a:pt x="25400" y="0"/>
                  </a:lnTo>
                  <a:lnTo>
                    <a:pt x="15507" y="1994"/>
                  </a:lnTo>
                  <a:lnTo>
                    <a:pt x="7434" y="7434"/>
                  </a:lnTo>
                  <a:lnTo>
                    <a:pt x="1994" y="15507"/>
                  </a:lnTo>
                  <a:lnTo>
                    <a:pt x="0" y="25400"/>
                  </a:lnTo>
                  <a:lnTo>
                    <a:pt x="0" y="370599"/>
                  </a:lnTo>
                  <a:lnTo>
                    <a:pt x="1994" y="380492"/>
                  </a:lnTo>
                  <a:lnTo>
                    <a:pt x="7434" y="388565"/>
                  </a:lnTo>
                  <a:lnTo>
                    <a:pt x="15507" y="394005"/>
                  </a:lnTo>
                  <a:lnTo>
                    <a:pt x="25400" y="395999"/>
                  </a:lnTo>
                  <a:lnTo>
                    <a:pt x="6850600" y="395999"/>
                  </a:lnTo>
                  <a:lnTo>
                    <a:pt x="6860492" y="394005"/>
                  </a:lnTo>
                  <a:lnTo>
                    <a:pt x="6868565" y="388565"/>
                  </a:lnTo>
                  <a:lnTo>
                    <a:pt x="6874006" y="380492"/>
                  </a:lnTo>
                  <a:lnTo>
                    <a:pt x="6876000" y="370599"/>
                  </a:lnTo>
                  <a:lnTo>
                    <a:pt x="6876000" y="25400"/>
                  </a:lnTo>
                  <a:lnTo>
                    <a:pt x="6874006" y="15507"/>
                  </a:lnTo>
                  <a:lnTo>
                    <a:pt x="6868565" y="7434"/>
                  </a:lnTo>
                  <a:lnTo>
                    <a:pt x="6860492" y="1994"/>
                  </a:lnTo>
                  <a:lnTo>
                    <a:pt x="68506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200" dirty="0">
                <a:latin typeface="Footlight MT Light" panose="0204060206030A020304" pitchFamily="18" charset="0"/>
              </a:endParaRPr>
            </a:p>
          </p:txBody>
        </p:sp>
      </p:grpSp>
      <p:sp>
        <p:nvSpPr>
          <p:cNvPr id="64" name="object 48">
            <a:extLst>
              <a:ext uri="{FF2B5EF4-FFF2-40B4-BE49-F238E27FC236}">
                <a16:creationId xmlns:a16="http://schemas.microsoft.com/office/drawing/2014/main" id="{DD412158-3A51-7550-36EC-7CCE25CC36B2}"/>
              </a:ext>
            </a:extLst>
          </p:cNvPr>
          <p:cNvSpPr txBox="1"/>
          <p:nvPr/>
        </p:nvSpPr>
        <p:spPr>
          <a:xfrm>
            <a:off x="654051" y="4698449"/>
            <a:ext cx="265256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B8850A"/>
                </a:solidFill>
                <a:latin typeface="Footlight MT Light" panose="0204060206030A020304" pitchFamily="18" charset="0"/>
                <a:cs typeface="Calibri"/>
              </a:rPr>
              <a:t>07</a:t>
            </a:r>
            <a:endParaRPr sz="1200" dirty="0">
              <a:latin typeface="Footlight MT Light" panose="0204060206030A020304" pitchFamily="18" charset="0"/>
              <a:cs typeface="Calibri"/>
            </a:endParaRPr>
          </a:p>
        </p:txBody>
      </p:sp>
      <p:sp>
        <p:nvSpPr>
          <p:cNvPr id="65" name="object 49">
            <a:extLst>
              <a:ext uri="{FF2B5EF4-FFF2-40B4-BE49-F238E27FC236}">
                <a16:creationId xmlns:a16="http://schemas.microsoft.com/office/drawing/2014/main" id="{6C92C8A6-74C4-6DE1-0A88-98E4261A04D8}"/>
              </a:ext>
            </a:extLst>
          </p:cNvPr>
          <p:cNvSpPr txBox="1"/>
          <p:nvPr/>
        </p:nvSpPr>
        <p:spPr>
          <a:xfrm>
            <a:off x="1139299" y="4672649"/>
            <a:ext cx="2105551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200" b="1" dirty="0">
                <a:solidFill>
                  <a:srgbClr val="1A3A2D"/>
                </a:solidFill>
                <a:latin typeface="Footlight MT Light" panose="0204060206030A020304" pitchFamily="18" charset="0"/>
                <a:cs typeface="Calibri"/>
              </a:rPr>
              <a:t>Outcomes &amp; Measured Impact</a:t>
            </a:r>
          </a:p>
        </p:txBody>
      </p:sp>
      <p:sp>
        <p:nvSpPr>
          <p:cNvPr id="66" name="object 50">
            <a:extLst>
              <a:ext uri="{FF2B5EF4-FFF2-40B4-BE49-F238E27FC236}">
                <a16:creationId xmlns:a16="http://schemas.microsoft.com/office/drawing/2014/main" id="{E8524DF9-A1B0-7335-FD2B-D1E3EA50E3B1}"/>
              </a:ext>
            </a:extLst>
          </p:cNvPr>
          <p:cNvSpPr txBox="1"/>
          <p:nvPr/>
        </p:nvSpPr>
        <p:spPr>
          <a:xfrm>
            <a:off x="6700587" y="4685349"/>
            <a:ext cx="8064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200" b="1" spc="-50" dirty="0">
                <a:solidFill>
                  <a:srgbClr val="52B687"/>
                </a:solidFill>
                <a:latin typeface="Footlight MT Light" panose="0204060206030A020304" pitchFamily="18" charset="0"/>
                <a:cs typeface="Calibri"/>
              </a:rPr>
              <a:t>6</a:t>
            </a:r>
            <a:endParaRPr sz="1200" dirty="0">
              <a:latin typeface="Footlight MT Light" panose="0204060206030A020304" pitchFamily="18" charset="0"/>
              <a:cs typeface="Calibri"/>
            </a:endParaRPr>
          </a:p>
        </p:txBody>
      </p:sp>
      <p:grpSp>
        <p:nvGrpSpPr>
          <p:cNvPr id="67" name="object 51">
            <a:extLst>
              <a:ext uri="{FF2B5EF4-FFF2-40B4-BE49-F238E27FC236}">
                <a16:creationId xmlns:a16="http://schemas.microsoft.com/office/drawing/2014/main" id="{9E652C39-444D-CCC7-4FD0-AF442B60EF88}"/>
              </a:ext>
            </a:extLst>
          </p:cNvPr>
          <p:cNvGrpSpPr/>
          <p:nvPr/>
        </p:nvGrpSpPr>
        <p:grpSpPr>
          <a:xfrm>
            <a:off x="504000" y="4767460"/>
            <a:ext cx="6876415" cy="687070"/>
            <a:chOff x="504000" y="4767460"/>
            <a:chExt cx="6876415" cy="687070"/>
          </a:xfrm>
        </p:grpSpPr>
        <p:sp>
          <p:nvSpPr>
            <p:cNvPr id="68" name="object 52">
              <a:extLst>
                <a:ext uri="{FF2B5EF4-FFF2-40B4-BE49-F238E27FC236}">
                  <a16:creationId xmlns:a16="http://schemas.microsoft.com/office/drawing/2014/main" id="{7E5CF7DB-DCFB-8FF4-7D08-899208974C6F}"/>
                </a:ext>
              </a:extLst>
            </p:cNvPr>
            <p:cNvSpPr/>
            <p:nvPr/>
          </p:nvSpPr>
          <p:spPr>
            <a:xfrm>
              <a:off x="2462905" y="4770000"/>
              <a:ext cx="4017645" cy="0"/>
            </a:xfrm>
            <a:custGeom>
              <a:avLst/>
              <a:gdLst/>
              <a:ahLst/>
              <a:cxnLst/>
              <a:rect l="l" t="t" r="r" b="b"/>
              <a:pathLst>
                <a:path w="4017645">
                  <a:moveTo>
                    <a:pt x="0" y="0"/>
                  </a:moveTo>
                  <a:lnTo>
                    <a:pt x="4017093" y="0"/>
                  </a:lnTo>
                </a:path>
              </a:pathLst>
            </a:custGeom>
            <a:ln w="5080">
              <a:solidFill>
                <a:srgbClr val="D8F2DB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 sz="1200" dirty="0">
                <a:latin typeface="Footlight MT Light" panose="0204060206030A020304" pitchFamily="18" charset="0"/>
              </a:endParaRPr>
            </a:p>
          </p:txBody>
        </p:sp>
        <p:sp>
          <p:nvSpPr>
            <p:cNvPr id="69" name="object 53">
              <a:extLst>
                <a:ext uri="{FF2B5EF4-FFF2-40B4-BE49-F238E27FC236}">
                  <a16:creationId xmlns:a16="http://schemas.microsoft.com/office/drawing/2014/main" id="{2A9C10E8-D0A4-377E-53C1-94FAF0B0F7AF}"/>
                </a:ext>
              </a:extLst>
            </p:cNvPr>
            <p:cNvSpPr/>
            <p:nvPr/>
          </p:nvSpPr>
          <p:spPr>
            <a:xfrm>
              <a:off x="504000" y="5058000"/>
              <a:ext cx="6876415" cy="396240"/>
            </a:xfrm>
            <a:custGeom>
              <a:avLst/>
              <a:gdLst/>
              <a:ahLst/>
              <a:cxnLst/>
              <a:rect l="l" t="t" r="r" b="b"/>
              <a:pathLst>
                <a:path w="6876415" h="396239">
                  <a:moveTo>
                    <a:pt x="6850600" y="0"/>
                  </a:moveTo>
                  <a:lnTo>
                    <a:pt x="25400" y="0"/>
                  </a:lnTo>
                  <a:lnTo>
                    <a:pt x="15507" y="1994"/>
                  </a:lnTo>
                  <a:lnTo>
                    <a:pt x="7434" y="7434"/>
                  </a:lnTo>
                  <a:lnTo>
                    <a:pt x="1994" y="15507"/>
                  </a:lnTo>
                  <a:lnTo>
                    <a:pt x="0" y="25400"/>
                  </a:lnTo>
                  <a:lnTo>
                    <a:pt x="0" y="370599"/>
                  </a:lnTo>
                  <a:lnTo>
                    <a:pt x="1994" y="380492"/>
                  </a:lnTo>
                  <a:lnTo>
                    <a:pt x="7434" y="388565"/>
                  </a:lnTo>
                  <a:lnTo>
                    <a:pt x="15507" y="394005"/>
                  </a:lnTo>
                  <a:lnTo>
                    <a:pt x="25400" y="395999"/>
                  </a:lnTo>
                  <a:lnTo>
                    <a:pt x="6850600" y="395999"/>
                  </a:lnTo>
                  <a:lnTo>
                    <a:pt x="6860492" y="394005"/>
                  </a:lnTo>
                  <a:lnTo>
                    <a:pt x="6868565" y="388565"/>
                  </a:lnTo>
                  <a:lnTo>
                    <a:pt x="6874006" y="380492"/>
                  </a:lnTo>
                  <a:lnTo>
                    <a:pt x="6876000" y="370599"/>
                  </a:lnTo>
                  <a:lnTo>
                    <a:pt x="6876000" y="25400"/>
                  </a:lnTo>
                  <a:lnTo>
                    <a:pt x="6874006" y="15507"/>
                  </a:lnTo>
                  <a:lnTo>
                    <a:pt x="6868565" y="7434"/>
                  </a:lnTo>
                  <a:lnTo>
                    <a:pt x="6860492" y="1994"/>
                  </a:lnTo>
                  <a:lnTo>
                    <a:pt x="6850600" y="0"/>
                  </a:lnTo>
                  <a:close/>
                </a:path>
              </a:pathLst>
            </a:custGeom>
            <a:solidFill>
              <a:srgbClr val="EDF7F0"/>
            </a:solidFill>
          </p:spPr>
          <p:txBody>
            <a:bodyPr wrap="square" lIns="0" tIns="0" rIns="0" bIns="0" rtlCol="0"/>
            <a:lstStyle/>
            <a:p>
              <a:endParaRPr sz="1200" dirty="0">
                <a:latin typeface="Footlight MT Light" panose="0204060206030A020304" pitchFamily="18" charset="0"/>
              </a:endParaRPr>
            </a:p>
          </p:txBody>
        </p:sp>
      </p:grpSp>
      <p:sp>
        <p:nvSpPr>
          <p:cNvPr id="70" name="object 54">
            <a:extLst>
              <a:ext uri="{FF2B5EF4-FFF2-40B4-BE49-F238E27FC236}">
                <a16:creationId xmlns:a16="http://schemas.microsoft.com/office/drawing/2014/main" id="{74746932-B859-B631-A7C5-27CCC80B60BD}"/>
              </a:ext>
            </a:extLst>
          </p:cNvPr>
          <p:cNvSpPr txBox="1"/>
          <p:nvPr/>
        </p:nvSpPr>
        <p:spPr>
          <a:xfrm>
            <a:off x="654051" y="5148449"/>
            <a:ext cx="265256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B8850A"/>
                </a:solidFill>
                <a:latin typeface="Footlight MT Light" panose="0204060206030A020304" pitchFamily="18" charset="0"/>
                <a:cs typeface="Calibri"/>
              </a:rPr>
              <a:t>08</a:t>
            </a:r>
            <a:endParaRPr sz="1200" dirty="0">
              <a:latin typeface="Footlight MT Light" panose="0204060206030A020304" pitchFamily="18" charset="0"/>
              <a:cs typeface="Calibri"/>
            </a:endParaRPr>
          </a:p>
        </p:txBody>
      </p:sp>
      <p:sp>
        <p:nvSpPr>
          <p:cNvPr id="71" name="object 55">
            <a:extLst>
              <a:ext uri="{FF2B5EF4-FFF2-40B4-BE49-F238E27FC236}">
                <a16:creationId xmlns:a16="http://schemas.microsoft.com/office/drawing/2014/main" id="{A86B1174-9EDD-1421-3423-498B478956F2}"/>
              </a:ext>
            </a:extLst>
          </p:cNvPr>
          <p:cNvSpPr txBox="1"/>
          <p:nvPr/>
        </p:nvSpPr>
        <p:spPr>
          <a:xfrm>
            <a:off x="1139298" y="5122650"/>
            <a:ext cx="3692946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200" b="1" dirty="0">
                <a:solidFill>
                  <a:srgbClr val="1A3A2D"/>
                </a:solidFill>
                <a:latin typeface="Footlight MT Light" panose="0204060206030A020304" pitchFamily="18" charset="0"/>
                <a:cs typeface="Calibri"/>
              </a:rPr>
              <a:t>Groundwater Monitoring — June 2025 to April 2026</a:t>
            </a:r>
          </a:p>
        </p:txBody>
      </p:sp>
      <p:sp>
        <p:nvSpPr>
          <p:cNvPr id="72" name="object 56">
            <a:extLst>
              <a:ext uri="{FF2B5EF4-FFF2-40B4-BE49-F238E27FC236}">
                <a16:creationId xmlns:a16="http://schemas.microsoft.com/office/drawing/2014/main" id="{E3D49A00-66FE-165E-F7ED-A3CA36735FC3}"/>
              </a:ext>
            </a:extLst>
          </p:cNvPr>
          <p:cNvSpPr txBox="1"/>
          <p:nvPr/>
        </p:nvSpPr>
        <p:spPr>
          <a:xfrm>
            <a:off x="6700587" y="5135350"/>
            <a:ext cx="8064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200" b="1" spc="-50" dirty="0">
                <a:solidFill>
                  <a:srgbClr val="52B687"/>
                </a:solidFill>
                <a:latin typeface="Footlight MT Light" panose="0204060206030A020304" pitchFamily="18" charset="0"/>
                <a:cs typeface="Calibri"/>
              </a:rPr>
              <a:t>6</a:t>
            </a:r>
            <a:endParaRPr sz="1200" dirty="0">
              <a:latin typeface="Footlight MT Light" panose="0204060206030A020304" pitchFamily="18" charset="0"/>
              <a:cs typeface="Calibri"/>
            </a:endParaRPr>
          </a:p>
        </p:txBody>
      </p:sp>
      <p:grpSp>
        <p:nvGrpSpPr>
          <p:cNvPr id="73" name="object 57">
            <a:extLst>
              <a:ext uri="{FF2B5EF4-FFF2-40B4-BE49-F238E27FC236}">
                <a16:creationId xmlns:a16="http://schemas.microsoft.com/office/drawing/2014/main" id="{4B56B956-2B4E-44AF-8BDC-1C8CBBE6D055}"/>
              </a:ext>
            </a:extLst>
          </p:cNvPr>
          <p:cNvGrpSpPr/>
          <p:nvPr/>
        </p:nvGrpSpPr>
        <p:grpSpPr>
          <a:xfrm>
            <a:off x="504000" y="5217460"/>
            <a:ext cx="6876415" cy="687070"/>
            <a:chOff x="504000" y="5217460"/>
            <a:chExt cx="6876415" cy="687070"/>
          </a:xfrm>
        </p:grpSpPr>
        <p:sp>
          <p:nvSpPr>
            <p:cNvPr id="74" name="object 58">
              <a:extLst>
                <a:ext uri="{FF2B5EF4-FFF2-40B4-BE49-F238E27FC236}">
                  <a16:creationId xmlns:a16="http://schemas.microsoft.com/office/drawing/2014/main" id="{265C2222-135C-7464-367E-0972CFC20FDC}"/>
                </a:ext>
              </a:extLst>
            </p:cNvPr>
            <p:cNvSpPr/>
            <p:nvPr/>
          </p:nvSpPr>
          <p:spPr>
            <a:xfrm>
              <a:off x="2077450" y="5220000"/>
              <a:ext cx="4403090" cy="0"/>
            </a:xfrm>
            <a:custGeom>
              <a:avLst/>
              <a:gdLst/>
              <a:ahLst/>
              <a:cxnLst/>
              <a:rect l="l" t="t" r="r" b="b"/>
              <a:pathLst>
                <a:path w="4403090">
                  <a:moveTo>
                    <a:pt x="0" y="0"/>
                  </a:moveTo>
                  <a:lnTo>
                    <a:pt x="4402548" y="0"/>
                  </a:lnTo>
                </a:path>
              </a:pathLst>
            </a:custGeom>
            <a:ln w="5080">
              <a:solidFill>
                <a:srgbClr val="D8F2DB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 sz="1200" dirty="0">
                <a:latin typeface="Footlight MT Light" panose="0204060206030A020304" pitchFamily="18" charset="0"/>
              </a:endParaRPr>
            </a:p>
          </p:txBody>
        </p:sp>
        <p:sp>
          <p:nvSpPr>
            <p:cNvPr id="75" name="object 59">
              <a:extLst>
                <a:ext uri="{FF2B5EF4-FFF2-40B4-BE49-F238E27FC236}">
                  <a16:creationId xmlns:a16="http://schemas.microsoft.com/office/drawing/2014/main" id="{F9CC9C32-32F7-E25D-13BB-5AC714B7E2FF}"/>
                </a:ext>
              </a:extLst>
            </p:cNvPr>
            <p:cNvSpPr/>
            <p:nvPr/>
          </p:nvSpPr>
          <p:spPr>
            <a:xfrm>
              <a:off x="504000" y="5507999"/>
              <a:ext cx="6876415" cy="396240"/>
            </a:xfrm>
            <a:custGeom>
              <a:avLst/>
              <a:gdLst/>
              <a:ahLst/>
              <a:cxnLst/>
              <a:rect l="l" t="t" r="r" b="b"/>
              <a:pathLst>
                <a:path w="6876415" h="396239">
                  <a:moveTo>
                    <a:pt x="6850600" y="0"/>
                  </a:moveTo>
                  <a:lnTo>
                    <a:pt x="25400" y="0"/>
                  </a:lnTo>
                  <a:lnTo>
                    <a:pt x="15507" y="1994"/>
                  </a:lnTo>
                  <a:lnTo>
                    <a:pt x="7434" y="7434"/>
                  </a:lnTo>
                  <a:lnTo>
                    <a:pt x="1994" y="15507"/>
                  </a:lnTo>
                  <a:lnTo>
                    <a:pt x="0" y="25400"/>
                  </a:lnTo>
                  <a:lnTo>
                    <a:pt x="0" y="370599"/>
                  </a:lnTo>
                  <a:lnTo>
                    <a:pt x="1994" y="380492"/>
                  </a:lnTo>
                  <a:lnTo>
                    <a:pt x="7434" y="388565"/>
                  </a:lnTo>
                  <a:lnTo>
                    <a:pt x="15507" y="394005"/>
                  </a:lnTo>
                  <a:lnTo>
                    <a:pt x="25400" y="395999"/>
                  </a:lnTo>
                  <a:lnTo>
                    <a:pt x="6850600" y="395999"/>
                  </a:lnTo>
                  <a:lnTo>
                    <a:pt x="6860492" y="394005"/>
                  </a:lnTo>
                  <a:lnTo>
                    <a:pt x="6868565" y="388565"/>
                  </a:lnTo>
                  <a:lnTo>
                    <a:pt x="6874006" y="380492"/>
                  </a:lnTo>
                  <a:lnTo>
                    <a:pt x="6876000" y="370599"/>
                  </a:lnTo>
                  <a:lnTo>
                    <a:pt x="6876000" y="25400"/>
                  </a:lnTo>
                  <a:lnTo>
                    <a:pt x="6874006" y="15507"/>
                  </a:lnTo>
                  <a:lnTo>
                    <a:pt x="6868565" y="7434"/>
                  </a:lnTo>
                  <a:lnTo>
                    <a:pt x="6860492" y="1994"/>
                  </a:lnTo>
                  <a:lnTo>
                    <a:pt x="68506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200" dirty="0">
                <a:latin typeface="Footlight MT Light" panose="0204060206030A020304" pitchFamily="18" charset="0"/>
              </a:endParaRPr>
            </a:p>
          </p:txBody>
        </p:sp>
      </p:grpSp>
      <p:sp>
        <p:nvSpPr>
          <p:cNvPr id="76" name="object 60">
            <a:extLst>
              <a:ext uri="{FF2B5EF4-FFF2-40B4-BE49-F238E27FC236}">
                <a16:creationId xmlns:a16="http://schemas.microsoft.com/office/drawing/2014/main" id="{A101A85A-2F21-B8B5-41C6-DF0DC864F00A}"/>
              </a:ext>
            </a:extLst>
          </p:cNvPr>
          <p:cNvSpPr txBox="1"/>
          <p:nvPr/>
        </p:nvSpPr>
        <p:spPr>
          <a:xfrm>
            <a:off x="654051" y="5598450"/>
            <a:ext cx="265256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B8850A"/>
                </a:solidFill>
                <a:latin typeface="Footlight MT Light" panose="0204060206030A020304" pitchFamily="18" charset="0"/>
                <a:cs typeface="Calibri"/>
              </a:rPr>
              <a:t>09</a:t>
            </a:r>
            <a:endParaRPr sz="1200" dirty="0">
              <a:latin typeface="Footlight MT Light" panose="0204060206030A020304" pitchFamily="18" charset="0"/>
              <a:cs typeface="Calibri"/>
            </a:endParaRPr>
          </a:p>
        </p:txBody>
      </p:sp>
      <p:sp>
        <p:nvSpPr>
          <p:cNvPr id="77" name="object 61">
            <a:extLst>
              <a:ext uri="{FF2B5EF4-FFF2-40B4-BE49-F238E27FC236}">
                <a16:creationId xmlns:a16="http://schemas.microsoft.com/office/drawing/2014/main" id="{621D3E59-8F20-9A17-4FC1-5E21344CAEE6}"/>
              </a:ext>
            </a:extLst>
          </p:cNvPr>
          <p:cNvSpPr txBox="1"/>
          <p:nvPr/>
        </p:nvSpPr>
        <p:spPr>
          <a:xfrm>
            <a:off x="1139299" y="5572650"/>
            <a:ext cx="398462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200" b="1" spc="-10" dirty="0">
                <a:solidFill>
                  <a:srgbClr val="1A3A2D"/>
                </a:solidFill>
                <a:latin typeface="Footlight MT Light" panose="0204060206030A020304" pitchFamily="18" charset="0"/>
                <a:cs typeface="Calibri"/>
              </a:rPr>
              <a:t>Field Documentation –Nala Deepening &amp; Earthwork</a:t>
            </a:r>
          </a:p>
        </p:txBody>
      </p:sp>
      <p:sp>
        <p:nvSpPr>
          <p:cNvPr id="78" name="object 62">
            <a:extLst>
              <a:ext uri="{FF2B5EF4-FFF2-40B4-BE49-F238E27FC236}">
                <a16:creationId xmlns:a16="http://schemas.microsoft.com/office/drawing/2014/main" id="{806823B1-8539-062A-E9E3-867ACF574DC0}"/>
              </a:ext>
            </a:extLst>
          </p:cNvPr>
          <p:cNvSpPr txBox="1"/>
          <p:nvPr/>
        </p:nvSpPr>
        <p:spPr>
          <a:xfrm>
            <a:off x="6700587" y="5585350"/>
            <a:ext cx="8064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200" b="1" spc="-50" dirty="0">
                <a:solidFill>
                  <a:srgbClr val="52B687"/>
                </a:solidFill>
                <a:latin typeface="Footlight MT Light" panose="0204060206030A020304" pitchFamily="18" charset="0"/>
                <a:cs typeface="Calibri"/>
              </a:rPr>
              <a:t>7</a:t>
            </a:r>
            <a:endParaRPr sz="1200" dirty="0">
              <a:latin typeface="Footlight MT Light" panose="0204060206030A020304" pitchFamily="18" charset="0"/>
              <a:cs typeface="Calibri"/>
            </a:endParaRPr>
          </a:p>
        </p:txBody>
      </p:sp>
      <p:grpSp>
        <p:nvGrpSpPr>
          <p:cNvPr id="79" name="object 63">
            <a:extLst>
              <a:ext uri="{FF2B5EF4-FFF2-40B4-BE49-F238E27FC236}">
                <a16:creationId xmlns:a16="http://schemas.microsoft.com/office/drawing/2014/main" id="{278645DB-575B-8102-123E-B39659BF2F2D}"/>
              </a:ext>
            </a:extLst>
          </p:cNvPr>
          <p:cNvGrpSpPr/>
          <p:nvPr/>
        </p:nvGrpSpPr>
        <p:grpSpPr>
          <a:xfrm>
            <a:off x="504000" y="5667459"/>
            <a:ext cx="6876415" cy="687070"/>
            <a:chOff x="504000" y="5667459"/>
            <a:chExt cx="6876415" cy="687070"/>
          </a:xfrm>
        </p:grpSpPr>
        <p:sp>
          <p:nvSpPr>
            <p:cNvPr id="80" name="object 64">
              <a:extLst>
                <a:ext uri="{FF2B5EF4-FFF2-40B4-BE49-F238E27FC236}">
                  <a16:creationId xmlns:a16="http://schemas.microsoft.com/office/drawing/2014/main" id="{942F6406-9917-2150-747A-AEFA0871F0DF}"/>
                </a:ext>
              </a:extLst>
            </p:cNvPr>
            <p:cNvSpPr/>
            <p:nvPr/>
          </p:nvSpPr>
          <p:spPr>
            <a:xfrm>
              <a:off x="2556929" y="5669999"/>
              <a:ext cx="3923665" cy="0"/>
            </a:xfrm>
            <a:custGeom>
              <a:avLst/>
              <a:gdLst/>
              <a:ahLst/>
              <a:cxnLst/>
              <a:rect l="l" t="t" r="r" b="b"/>
              <a:pathLst>
                <a:path w="3923665">
                  <a:moveTo>
                    <a:pt x="0" y="0"/>
                  </a:moveTo>
                  <a:lnTo>
                    <a:pt x="3923070" y="0"/>
                  </a:lnTo>
                </a:path>
              </a:pathLst>
            </a:custGeom>
            <a:ln w="5080">
              <a:solidFill>
                <a:srgbClr val="D8F2DB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 sz="1200" dirty="0">
                <a:latin typeface="Footlight MT Light" panose="0204060206030A020304" pitchFamily="18" charset="0"/>
              </a:endParaRPr>
            </a:p>
          </p:txBody>
        </p:sp>
        <p:sp>
          <p:nvSpPr>
            <p:cNvPr id="81" name="object 65">
              <a:extLst>
                <a:ext uri="{FF2B5EF4-FFF2-40B4-BE49-F238E27FC236}">
                  <a16:creationId xmlns:a16="http://schemas.microsoft.com/office/drawing/2014/main" id="{3A388D05-7844-44E7-BADA-CD14C7758404}"/>
                </a:ext>
              </a:extLst>
            </p:cNvPr>
            <p:cNvSpPr/>
            <p:nvPr/>
          </p:nvSpPr>
          <p:spPr>
            <a:xfrm>
              <a:off x="504000" y="5958000"/>
              <a:ext cx="6876415" cy="396240"/>
            </a:xfrm>
            <a:custGeom>
              <a:avLst/>
              <a:gdLst/>
              <a:ahLst/>
              <a:cxnLst/>
              <a:rect l="l" t="t" r="r" b="b"/>
              <a:pathLst>
                <a:path w="6876415" h="396239">
                  <a:moveTo>
                    <a:pt x="6850600" y="0"/>
                  </a:moveTo>
                  <a:lnTo>
                    <a:pt x="25400" y="0"/>
                  </a:lnTo>
                  <a:lnTo>
                    <a:pt x="15507" y="1994"/>
                  </a:lnTo>
                  <a:lnTo>
                    <a:pt x="7434" y="7434"/>
                  </a:lnTo>
                  <a:lnTo>
                    <a:pt x="1994" y="15507"/>
                  </a:lnTo>
                  <a:lnTo>
                    <a:pt x="0" y="25400"/>
                  </a:lnTo>
                  <a:lnTo>
                    <a:pt x="0" y="370599"/>
                  </a:lnTo>
                  <a:lnTo>
                    <a:pt x="1994" y="380492"/>
                  </a:lnTo>
                  <a:lnTo>
                    <a:pt x="7434" y="388565"/>
                  </a:lnTo>
                  <a:lnTo>
                    <a:pt x="15507" y="394005"/>
                  </a:lnTo>
                  <a:lnTo>
                    <a:pt x="25400" y="395999"/>
                  </a:lnTo>
                  <a:lnTo>
                    <a:pt x="6850600" y="395999"/>
                  </a:lnTo>
                  <a:lnTo>
                    <a:pt x="6860492" y="394005"/>
                  </a:lnTo>
                  <a:lnTo>
                    <a:pt x="6868565" y="388565"/>
                  </a:lnTo>
                  <a:lnTo>
                    <a:pt x="6874006" y="380492"/>
                  </a:lnTo>
                  <a:lnTo>
                    <a:pt x="6876000" y="370599"/>
                  </a:lnTo>
                  <a:lnTo>
                    <a:pt x="6876000" y="25400"/>
                  </a:lnTo>
                  <a:lnTo>
                    <a:pt x="6874006" y="15507"/>
                  </a:lnTo>
                  <a:lnTo>
                    <a:pt x="6868565" y="7434"/>
                  </a:lnTo>
                  <a:lnTo>
                    <a:pt x="6860492" y="1994"/>
                  </a:lnTo>
                  <a:lnTo>
                    <a:pt x="6850600" y="0"/>
                  </a:lnTo>
                  <a:close/>
                </a:path>
              </a:pathLst>
            </a:custGeom>
            <a:solidFill>
              <a:srgbClr val="EDF7F0"/>
            </a:solidFill>
          </p:spPr>
          <p:txBody>
            <a:bodyPr wrap="square" lIns="0" tIns="0" rIns="0" bIns="0" rtlCol="0"/>
            <a:lstStyle/>
            <a:p>
              <a:endParaRPr sz="1200" dirty="0">
                <a:latin typeface="Footlight MT Light" panose="0204060206030A020304" pitchFamily="18" charset="0"/>
              </a:endParaRPr>
            </a:p>
          </p:txBody>
        </p:sp>
      </p:grpSp>
      <p:sp>
        <p:nvSpPr>
          <p:cNvPr id="82" name="object 66">
            <a:extLst>
              <a:ext uri="{FF2B5EF4-FFF2-40B4-BE49-F238E27FC236}">
                <a16:creationId xmlns:a16="http://schemas.microsoft.com/office/drawing/2014/main" id="{A71868C2-AB37-5547-82A9-390A8367B9F4}"/>
              </a:ext>
            </a:extLst>
          </p:cNvPr>
          <p:cNvSpPr txBox="1"/>
          <p:nvPr/>
        </p:nvSpPr>
        <p:spPr>
          <a:xfrm>
            <a:off x="654051" y="6048449"/>
            <a:ext cx="265256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B8850A"/>
                </a:solidFill>
                <a:latin typeface="Footlight MT Light" panose="0204060206030A020304" pitchFamily="18" charset="0"/>
                <a:cs typeface="Calibri"/>
              </a:rPr>
              <a:t>10</a:t>
            </a:r>
            <a:endParaRPr sz="1200" dirty="0">
              <a:latin typeface="Footlight MT Light" panose="0204060206030A020304" pitchFamily="18" charset="0"/>
              <a:cs typeface="Calibri"/>
            </a:endParaRPr>
          </a:p>
        </p:txBody>
      </p:sp>
      <p:sp>
        <p:nvSpPr>
          <p:cNvPr id="83" name="object 67">
            <a:extLst>
              <a:ext uri="{FF2B5EF4-FFF2-40B4-BE49-F238E27FC236}">
                <a16:creationId xmlns:a16="http://schemas.microsoft.com/office/drawing/2014/main" id="{D89A4277-4E63-676D-8AA4-BFDE6EAFBF95}"/>
              </a:ext>
            </a:extLst>
          </p:cNvPr>
          <p:cNvSpPr txBox="1"/>
          <p:nvPr/>
        </p:nvSpPr>
        <p:spPr>
          <a:xfrm>
            <a:off x="1139299" y="6022649"/>
            <a:ext cx="3553351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200" b="1" dirty="0">
                <a:solidFill>
                  <a:srgbClr val="1A3A2D"/>
                </a:solidFill>
                <a:latin typeface="Footlight MT Light" panose="0204060206030A020304" pitchFamily="18" charset="0"/>
                <a:cs typeface="Calibri"/>
              </a:rPr>
              <a:t>Field Documentation -Aerial View</a:t>
            </a:r>
          </a:p>
        </p:txBody>
      </p:sp>
      <p:sp>
        <p:nvSpPr>
          <p:cNvPr id="84" name="object 68">
            <a:extLst>
              <a:ext uri="{FF2B5EF4-FFF2-40B4-BE49-F238E27FC236}">
                <a16:creationId xmlns:a16="http://schemas.microsoft.com/office/drawing/2014/main" id="{881B6D99-10E2-8E8E-3C28-6B99F9FC879A}"/>
              </a:ext>
            </a:extLst>
          </p:cNvPr>
          <p:cNvSpPr txBox="1"/>
          <p:nvPr/>
        </p:nvSpPr>
        <p:spPr>
          <a:xfrm>
            <a:off x="6638044" y="6004456"/>
            <a:ext cx="351913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200" b="1" spc="-50" dirty="0">
                <a:solidFill>
                  <a:srgbClr val="52B687"/>
                </a:solidFill>
                <a:latin typeface="Footlight MT Light" panose="0204060206030A020304" pitchFamily="18" charset="0"/>
                <a:cs typeface="Calibri"/>
              </a:rPr>
              <a:t>8 -9</a:t>
            </a:r>
            <a:endParaRPr sz="1200" dirty="0">
              <a:latin typeface="Footlight MT Light" panose="0204060206030A020304" pitchFamily="18" charset="0"/>
              <a:cs typeface="Calibri"/>
            </a:endParaRPr>
          </a:p>
        </p:txBody>
      </p:sp>
      <p:grpSp>
        <p:nvGrpSpPr>
          <p:cNvPr id="85" name="object 69">
            <a:extLst>
              <a:ext uri="{FF2B5EF4-FFF2-40B4-BE49-F238E27FC236}">
                <a16:creationId xmlns:a16="http://schemas.microsoft.com/office/drawing/2014/main" id="{E6FA507C-1283-6F42-EFC7-6A22BB258F69}"/>
              </a:ext>
            </a:extLst>
          </p:cNvPr>
          <p:cNvGrpSpPr/>
          <p:nvPr/>
        </p:nvGrpSpPr>
        <p:grpSpPr>
          <a:xfrm>
            <a:off x="504000" y="6117459"/>
            <a:ext cx="6876415" cy="687070"/>
            <a:chOff x="504000" y="6117459"/>
            <a:chExt cx="6876415" cy="687070"/>
          </a:xfrm>
        </p:grpSpPr>
        <p:sp>
          <p:nvSpPr>
            <p:cNvPr id="86" name="object 70">
              <a:extLst>
                <a:ext uri="{FF2B5EF4-FFF2-40B4-BE49-F238E27FC236}">
                  <a16:creationId xmlns:a16="http://schemas.microsoft.com/office/drawing/2014/main" id="{2CBB56CE-553A-F167-49E1-E8DC3697F4AB}"/>
                </a:ext>
              </a:extLst>
            </p:cNvPr>
            <p:cNvSpPr/>
            <p:nvPr/>
          </p:nvSpPr>
          <p:spPr>
            <a:xfrm>
              <a:off x="2495896" y="6119999"/>
              <a:ext cx="3984625" cy="0"/>
            </a:xfrm>
            <a:custGeom>
              <a:avLst/>
              <a:gdLst/>
              <a:ahLst/>
              <a:cxnLst/>
              <a:rect l="l" t="t" r="r" b="b"/>
              <a:pathLst>
                <a:path w="3984625">
                  <a:moveTo>
                    <a:pt x="0" y="0"/>
                  </a:moveTo>
                  <a:lnTo>
                    <a:pt x="3984103" y="0"/>
                  </a:lnTo>
                </a:path>
              </a:pathLst>
            </a:custGeom>
            <a:ln w="5080">
              <a:solidFill>
                <a:srgbClr val="D8F2DB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 sz="1200" dirty="0">
                <a:latin typeface="Footlight MT Light" panose="0204060206030A020304" pitchFamily="18" charset="0"/>
              </a:endParaRPr>
            </a:p>
          </p:txBody>
        </p:sp>
        <p:sp>
          <p:nvSpPr>
            <p:cNvPr id="87" name="object 71">
              <a:extLst>
                <a:ext uri="{FF2B5EF4-FFF2-40B4-BE49-F238E27FC236}">
                  <a16:creationId xmlns:a16="http://schemas.microsoft.com/office/drawing/2014/main" id="{B07F885D-65C5-03DF-2826-851007D0EA77}"/>
                </a:ext>
              </a:extLst>
            </p:cNvPr>
            <p:cNvSpPr/>
            <p:nvPr/>
          </p:nvSpPr>
          <p:spPr>
            <a:xfrm>
              <a:off x="504000" y="6408000"/>
              <a:ext cx="6876415" cy="396240"/>
            </a:xfrm>
            <a:custGeom>
              <a:avLst/>
              <a:gdLst/>
              <a:ahLst/>
              <a:cxnLst/>
              <a:rect l="l" t="t" r="r" b="b"/>
              <a:pathLst>
                <a:path w="6876415" h="396240">
                  <a:moveTo>
                    <a:pt x="6850600" y="0"/>
                  </a:moveTo>
                  <a:lnTo>
                    <a:pt x="25400" y="0"/>
                  </a:lnTo>
                  <a:lnTo>
                    <a:pt x="15507" y="1994"/>
                  </a:lnTo>
                  <a:lnTo>
                    <a:pt x="7434" y="7434"/>
                  </a:lnTo>
                  <a:lnTo>
                    <a:pt x="1994" y="15507"/>
                  </a:lnTo>
                  <a:lnTo>
                    <a:pt x="0" y="25400"/>
                  </a:lnTo>
                  <a:lnTo>
                    <a:pt x="0" y="370599"/>
                  </a:lnTo>
                  <a:lnTo>
                    <a:pt x="1994" y="380492"/>
                  </a:lnTo>
                  <a:lnTo>
                    <a:pt x="7434" y="388565"/>
                  </a:lnTo>
                  <a:lnTo>
                    <a:pt x="15507" y="394005"/>
                  </a:lnTo>
                  <a:lnTo>
                    <a:pt x="25400" y="395999"/>
                  </a:lnTo>
                  <a:lnTo>
                    <a:pt x="6850600" y="395999"/>
                  </a:lnTo>
                  <a:lnTo>
                    <a:pt x="6860492" y="394005"/>
                  </a:lnTo>
                  <a:lnTo>
                    <a:pt x="6868565" y="388565"/>
                  </a:lnTo>
                  <a:lnTo>
                    <a:pt x="6874006" y="380492"/>
                  </a:lnTo>
                  <a:lnTo>
                    <a:pt x="6876000" y="370599"/>
                  </a:lnTo>
                  <a:lnTo>
                    <a:pt x="6876000" y="25400"/>
                  </a:lnTo>
                  <a:lnTo>
                    <a:pt x="6874006" y="15507"/>
                  </a:lnTo>
                  <a:lnTo>
                    <a:pt x="6868565" y="7434"/>
                  </a:lnTo>
                  <a:lnTo>
                    <a:pt x="6860492" y="1994"/>
                  </a:lnTo>
                  <a:lnTo>
                    <a:pt x="68506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200" dirty="0">
                <a:latin typeface="Footlight MT Light" panose="0204060206030A020304" pitchFamily="18" charset="0"/>
              </a:endParaRPr>
            </a:p>
          </p:txBody>
        </p:sp>
      </p:grpSp>
      <p:sp>
        <p:nvSpPr>
          <p:cNvPr id="88" name="object 72">
            <a:extLst>
              <a:ext uri="{FF2B5EF4-FFF2-40B4-BE49-F238E27FC236}">
                <a16:creationId xmlns:a16="http://schemas.microsoft.com/office/drawing/2014/main" id="{2229C76A-96EE-C093-68F7-5E662384AA18}"/>
              </a:ext>
            </a:extLst>
          </p:cNvPr>
          <p:cNvSpPr txBox="1"/>
          <p:nvPr/>
        </p:nvSpPr>
        <p:spPr>
          <a:xfrm>
            <a:off x="654051" y="6498450"/>
            <a:ext cx="265256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B8850A"/>
                </a:solidFill>
                <a:latin typeface="Footlight MT Light" panose="0204060206030A020304" pitchFamily="18" charset="0"/>
                <a:cs typeface="Calibri"/>
              </a:rPr>
              <a:t>11</a:t>
            </a:r>
            <a:endParaRPr sz="1200" dirty="0">
              <a:latin typeface="Footlight MT Light" panose="0204060206030A020304" pitchFamily="18" charset="0"/>
              <a:cs typeface="Calibri"/>
            </a:endParaRPr>
          </a:p>
        </p:txBody>
      </p:sp>
      <p:sp>
        <p:nvSpPr>
          <p:cNvPr id="89" name="object 73">
            <a:extLst>
              <a:ext uri="{FF2B5EF4-FFF2-40B4-BE49-F238E27FC236}">
                <a16:creationId xmlns:a16="http://schemas.microsoft.com/office/drawing/2014/main" id="{DD04E7DB-62E7-D695-A728-988CBEC1849F}"/>
              </a:ext>
            </a:extLst>
          </p:cNvPr>
          <p:cNvSpPr txBox="1"/>
          <p:nvPr/>
        </p:nvSpPr>
        <p:spPr>
          <a:xfrm>
            <a:off x="1139299" y="6472649"/>
            <a:ext cx="293930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200" b="1" dirty="0">
                <a:solidFill>
                  <a:srgbClr val="1A3A2D"/>
                </a:solidFill>
                <a:latin typeface="Footlight MT Light" panose="0204060206030A020304" pitchFamily="18" charset="0"/>
                <a:cs typeface="Calibri"/>
              </a:rPr>
              <a:t>Field Documentation -Launch &amp; Community</a:t>
            </a:r>
          </a:p>
        </p:txBody>
      </p:sp>
      <p:sp>
        <p:nvSpPr>
          <p:cNvPr id="90" name="object 74">
            <a:extLst>
              <a:ext uri="{FF2B5EF4-FFF2-40B4-BE49-F238E27FC236}">
                <a16:creationId xmlns:a16="http://schemas.microsoft.com/office/drawing/2014/main" id="{ADDA030B-3591-B638-F8E6-F19A88AE447F}"/>
              </a:ext>
            </a:extLst>
          </p:cNvPr>
          <p:cNvSpPr txBox="1"/>
          <p:nvPr/>
        </p:nvSpPr>
        <p:spPr>
          <a:xfrm>
            <a:off x="6675960" y="6470369"/>
            <a:ext cx="210543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200" b="1" spc="-50" dirty="0">
                <a:solidFill>
                  <a:srgbClr val="52B687"/>
                </a:solidFill>
                <a:latin typeface="Footlight MT Light" panose="0204060206030A020304" pitchFamily="18" charset="0"/>
                <a:cs typeface="Calibri"/>
              </a:rPr>
              <a:t>10</a:t>
            </a:r>
            <a:endParaRPr sz="1200" dirty="0">
              <a:latin typeface="Footlight MT Light" panose="0204060206030A020304" pitchFamily="18" charset="0"/>
              <a:cs typeface="Calibri"/>
            </a:endParaRPr>
          </a:p>
        </p:txBody>
      </p:sp>
      <p:grpSp>
        <p:nvGrpSpPr>
          <p:cNvPr id="91" name="object 75">
            <a:extLst>
              <a:ext uri="{FF2B5EF4-FFF2-40B4-BE49-F238E27FC236}">
                <a16:creationId xmlns:a16="http://schemas.microsoft.com/office/drawing/2014/main" id="{32B0EEB1-3F82-1317-9874-7D621C072F6B}"/>
              </a:ext>
            </a:extLst>
          </p:cNvPr>
          <p:cNvGrpSpPr/>
          <p:nvPr/>
        </p:nvGrpSpPr>
        <p:grpSpPr>
          <a:xfrm>
            <a:off x="504000" y="6567460"/>
            <a:ext cx="6876415" cy="687070"/>
            <a:chOff x="504000" y="6567460"/>
            <a:chExt cx="6876415" cy="687070"/>
          </a:xfrm>
        </p:grpSpPr>
        <p:sp>
          <p:nvSpPr>
            <p:cNvPr id="92" name="object 76">
              <a:extLst>
                <a:ext uri="{FF2B5EF4-FFF2-40B4-BE49-F238E27FC236}">
                  <a16:creationId xmlns:a16="http://schemas.microsoft.com/office/drawing/2014/main" id="{9061D955-C5B0-2236-651F-8145919C097A}"/>
                </a:ext>
              </a:extLst>
            </p:cNvPr>
            <p:cNvSpPr/>
            <p:nvPr/>
          </p:nvSpPr>
          <p:spPr>
            <a:xfrm>
              <a:off x="2276511" y="6570000"/>
              <a:ext cx="4203700" cy="0"/>
            </a:xfrm>
            <a:custGeom>
              <a:avLst/>
              <a:gdLst/>
              <a:ahLst/>
              <a:cxnLst/>
              <a:rect l="l" t="t" r="r" b="b"/>
              <a:pathLst>
                <a:path w="4203700">
                  <a:moveTo>
                    <a:pt x="0" y="0"/>
                  </a:moveTo>
                  <a:lnTo>
                    <a:pt x="4203487" y="0"/>
                  </a:lnTo>
                </a:path>
              </a:pathLst>
            </a:custGeom>
            <a:ln w="5080">
              <a:solidFill>
                <a:srgbClr val="D8F2DB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 sz="1200" dirty="0">
                <a:latin typeface="Footlight MT Light" panose="0204060206030A020304" pitchFamily="18" charset="0"/>
              </a:endParaRPr>
            </a:p>
          </p:txBody>
        </p:sp>
        <p:sp>
          <p:nvSpPr>
            <p:cNvPr id="93" name="object 77">
              <a:extLst>
                <a:ext uri="{FF2B5EF4-FFF2-40B4-BE49-F238E27FC236}">
                  <a16:creationId xmlns:a16="http://schemas.microsoft.com/office/drawing/2014/main" id="{26FDBE87-73E4-0F94-D534-B935D57F035F}"/>
                </a:ext>
              </a:extLst>
            </p:cNvPr>
            <p:cNvSpPr/>
            <p:nvPr/>
          </p:nvSpPr>
          <p:spPr>
            <a:xfrm>
              <a:off x="504000" y="6857999"/>
              <a:ext cx="6876415" cy="396240"/>
            </a:xfrm>
            <a:custGeom>
              <a:avLst/>
              <a:gdLst/>
              <a:ahLst/>
              <a:cxnLst/>
              <a:rect l="l" t="t" r="r" b="b"/>
              <a:pathLst>
                <a:path w="6876415" h="396240">
                  <a:moveTo>
                    <a:pt x="6850600" y="0"/>
                  </a:moveTo>
                  <a:lnTo>
                    <a:pt x="25400" y="0"/>
                  </a:lnTo>
                  <a:lnTo>
                    <a:pt x="15507" y="1994"/>
                  </a:lnTo>
                  <a:lnTo>
                    <a:pt x="7434" y="7434"/>
                  </a:lnTo>
                  <a:lnTo>
                    <a:pt x="1994" y="15507"/>
                  </a:lnTo>
                  <a:lnTo>
                    <a:pt x="0" y="25399"/>
                  </a:lnTo>
                  <a:lnTo>
                    <a:pt x="0" y="370599"/>
                  </a:lnTo>
                  <a:lnTo>
                    <a:pt x="1994" y="380492"/>
                  </a:lnTo>
                  <a:lnTo>
                    <a:pt x="7434" y="388565"/>
                  </a:lnTo>
                  <a:lnTo>
                    <a:pt x="15507" y="394005"/>
                  </a:lnTo>
                  <a:lnTo>
                    <a:pt x="25400" y="395999"/>
                  </a:lnTo>
                  <a:lnTo>
                    <a:pt x="6850600" y="395999"/>
                  </a:lnTo>
                  <a:lnTo>
                    <a:pt x="6860492" y="394005"/>
                  </a:lnTo>
                  <a:lnTo>
                    <a:pt x="6868565" y="388565"/>
                  </a:lnTo>
                  <a:lnTo>
                    <a:pt x="6874006" y="380492"/>
                  </a:lnTo>
                  <a:lnTo>
                    <a:pt x="6876000" y="370599"/>
                  </a:lnTo>
                  <a:lnTo>
                    <a:pt x="6876000" y="25399"/>
                  </a:lnTo>
                  <a:lnTo>
                    <a:pt x="6874006" y="15507"/>
                  </a:lnTo>
                  <a:lnTo>
                    <a:pt x="6868565" y="7434"/>
                  </a:lnTo>
                  <a:lnTo>
                    <a:pt x="6860492" y="1994"/>
                  </a:lnTo>
                  <a:lnTo>
                    <a:pt x="6850600" y="0"/>
                  </a:lnTo>
                  <a:close/>
                </a:path>
              </a:pathLst>
            </a:custGeom>
            <a:solidFill>
              <a:srgbClr val="EDF7F0"/>
            </a:solidFill>
          </p:spPr>
          <p:txBody>
            <a:bodyPr wrap="square" lIns="0" tIns="0" rIns="0" bIns="0" rtlCol="0"/>
            <a:lstStyle/>
            <a:p>
              <a:endParaRPr sz="1200" dirty="0">
                <a:latin typeface="Footlight MT Light" panose="0204060206030A020304" pitchFamily="18" charset="0"/>
              </a:endParaRPr>
            </a:p>
          </p:txBody>
        </p:sp>
      </p:grpSp>
      <p:sp>
        <p:nvSpPr>
          <p:cNvPr id="94" name="object 78">
            <a:extLst>
              <a:ext uri="{FF2B5EF4-FFF2-40B4-BE49-F238E27FC236}">
                <a16:creationId xmlns:a16="http://schemas.microsoft.com/office/drawing/2014/main" id="{925EBD77-721D-C395-F69B-11DE2DF0160E}"/>
              </a:ext>
            </a:extLst>
          </p:cNvPr>
          <p:cNvSpPr txBox="1"/>
          <p:nvPr/>
        </p:nvSpPr>
        <p:spPr>
          <a:xfrm>
            <a:off x="654051" y="6948450"/>
            <a:ext cx="265256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B8850A"/>
                </a:solidFill>
                <a:latin typeface="Footlight MT Light" panose="0204060206030A020304" pitchFamily="18" charset="0"/>
                <a:cs typeface="Calibri"/>
              </a:rPr>
              <a:t>12</a:t>
            </a:r>
            <a:endParaRPr sz="1200" dirty="0">
              <a:latin typeface="Footlight MT Light" panose="0204060206030A020304" pitchFamily="18" charset="0"/>
              <a:cs typeface="Calibri"/>
            </a:endParaRPr>
          </a:p>
        </p:txBody>
      </p:sp>
      <p:sp>
        <p:nvSpPr>
          <p:cNvPr id="95" name="object 79">
            <a:extLst>
              <a:ext uri="{FF2B5EF4-FFF2-40B4-BE49-F238E27FC236}">
                <a16:creationId xmlns:a16="http://schemas.microsoft.com/office/drawing/2014/main" id="{A59D892D-8472-F589-EC0F-756BC19D0F52}"/>
              </a:ext>
            </a:extLst>
          </p:cNvPr>
          <p:cNvSpPr txBox="1"/>
          <p:nvPr/>
        </p:nvSpPr>
        <p:spPr>
          <a:xfrm>
            <a:off x="1139299" y="6922650"/>
            <a:ext cx="3553351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200" b="1" dirty="0">
                <a:solidFill>
                  <a:srgbClr val="1A3A2D"/>
                </a:solidFill>
                <a:latin typeface="Footlight MT Light" panose="0204060206030A020304" pitchFamily="18" charset="0"/>
                <a:cs typeface="Calibri"/>
              </a:rPr>
              <a:t>Water Purification Unit -Safe Drinking Water</a:t>
            </a:r>
          </a:p>
        </p:txBody>
      </p:sp>
      <p:sp>
        <p:nvSpPr>
          <p:cNvPr id="96" name="object 80">
            <a:extLst>
              <a:ext uri="{FF2B5EF4-FFF2-40B4-BE49-F238E27FC236}">
                <a16:creationId xmlns:a16="http://schemas.microsoft.com/office/drawing/2014/main" id="{8C2644AC-A925-8397-5ECA-980ABB3740C6}"/>
              </a:ext>
            </a:extLst>
          </p:cNvPr>
          <p:cNvSpPr txBox="1"/>
          <p:nvPr/>
        </p:nvSpPr>
        <p:spPr>
          <a:xfrm>
            <a:off x="6645874" y="6935350"/>
            <a:ext cx="25657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52B687"/>
                </a:solidFill>
                <a:latin typeface="Footlight MT Light" panose="0204060206030A020304" pitchFamily="18" charset="0"/>
                <a:cs typeface="Calibri"/>
              </a:rPr>
              <a:t>1</a:t>
            </a:r>
            <a:r>
              <a:rPr lang="en-IN" sz="1200" b="1" spc="-25" dirty="0">
                <a:solidFill>
                  <a:srgbClr val="52B687"/>
                </a:solidFill>
                <a:latin typeface="Footlight MT Light" panose="0204060206030A020304" pitchFamily="18" charset="0"/>
                <a:cs typeface="Calibri"/>
              </a:rPr>
              <a:t>1</a:t>
            </a:r>
            <a:endParaRPr sz="1200" dirty="0">
              <a:latin typeface="Footlight MT Light" panose="0204060206030A020304" pitchFamily="18" charset="0"/>
              <a:cs typeface="Calibri"/>
            </a:endParaRPr>
          </a:p>
        </p:txBody>
      </p:sp>
      <p:grpSp>
        <p:nvGrpSpPr>
          <p:cNvPr id="97" name="object 81">
            <a:extLst>
              <a:ext uri="{FF2B5EF4-FFF2-40B4-BE49-F238E27FC236}">
                <a16:creationId xmlns:a16="http://schemas.microsoft.com/office/drawing/2014/main" id="{ECCD4331-5A07-9469-B1E4-0E81A0D1E868}"/>
              </a:ext>
            </a:extLst>
          </p:cNvPr>
          <p:cNvGrpSpPr/>
          <p:nvPr/>
        </p:nvGrpSpPr>
        <p:grpSpPr>
          <a:xfrm>
            <a:off x="501650" y="7022259"/>
            <a:ext cx="6876415" cy="687070"/>
            <a:chOff x="504000" y="7017459"/>
            <a:chExt cx="6876415" cy="687070"/>
          </a:xfrm>
        </p:grpSpPr>
        <p:sp>
          <p:nvSpPr>
            <p:cNvPr id="98" name="object 82">
              <a:extLst>
                <a:ext uri="{FF2B5EF4-FFF2-40B4-BE49-F238E27FC236}">
                  <a16:creationId xmlns:a16="http://schemas.microsoft.com/office/drawing/2014/main" id="{E103F121-0460-6790-F22B-18D57633CF6C}"/>
                </a:ext>
              </a:extLst>
            </p:cNvPr>
            <p:cNvSpPr/>
            <p:nvPr/>
          </p:nvSpPr>
          <p:spPr>
            <a:xfrm>
              <a:off x="2778080" y="7019999"/>
              <a:ext cx="3702050" cy="0"/>
            </a:xfrm>
            <a:custGeom>
              <a:avLst/>
              <a:gdLst/>
              <a:ahLst/>
              <a:cxnLst/>
              <a:rect l="l" t="t" r="r" b="b"/>
              <a:pathLst>
                <a:path w="3702050">
                  <a:moveTo>
                    <a:pt x="0" y="0"/>
                  </a:moveTo>
                  <a:lnTo>
                    <a:pt x="3701919" y="0"/>
                  </a:lnTo>
                </a:path>
              </a:pathLst>
            </a:custGeom>
            <a:ln w="5080">
              <a:solidFill>
                <a:srgbClr val="D8F2DB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 sz="1200" dirty="0">
                <a:latin typeface="Footlight MT Light" panose="0204060206030A020304" pitchFamily="18" charset="0"/>
              </a:endParaRPr>
            </a:p>
          </p:txBody>
        </p:sp>
        <p:sp>
          <p:nvSpPr>
            <p:cNvPr id="99" name="object 83">
              <a:extLst>
                <a:ext uri="{FF2B5EF4-FFF2-40B4-BE49-F238E27FC236}">
                  <a16:creationId xmlns:a16="http://schemas.microsoft.com/office/drawing/2014/main" id="{D7F9F2BA-6729-D629-9B28-008CAC63341E}"/>
                </a:ext>
              </a:extLst>
            </p:cNvPr>
            <p:cNvSpPr/>
            <p:nvPr/>
          </p:nvSpPr>
          <p:spPr>
            <a:xfrm>
              <a:off x="504000" y="7307999"/>
              <a:ext cx="6876415" cy="396240"/>
            </a:xfrm>
            <a:custGeom>
              <a:avLst/>
              <a:gdLst/>
              <a:ahLst/>
              <a:cxnLst/>
              <a:rect l="l" t="t" r="r" b="b"/>
              <a:pathLst>
                <a:path w="6876415" h="396240">
                  <a:moveTo>
                    <a:pt x="6850600" y="0"/>
                  </a:moveTo>
                  <a:lnTo>
                    <a:pt x="25400" y="0"/>
                  </a:lnTo>
                  <a:lnTo>
                    <a:pt x="15507" y="1994"/>
                  </a:lnTo>
                  <a:lnTo>
                    <a:pt x="7434" y="7434"/>
                  </a:lnTo>
                  <a:lnTo>
                    <a:pt x="1994" y="15507"/>
                  </a:lnTo>
                  <a:lnTo>
                    <a:pt x="0" y="25399"/>
                  </a:lnTo>
                  <a:lnTo>
                    <a:pt x="0" y="370599"/>
                  </a:lnTo>
                  <a:lnTo>
                    <a:pt x="1994" y="380492"/>
                  </a:lnTo>
                  <a:lnTo>
                    <a:pt x="7434" y="388565"/>
                  </a:lnTo>
                  <a:lnTo>
                    <a:pt x="15507" y="394005"/>
                  </a:lnTo>
                  <a:lnTo>
                    <a:pt x="25400" y="395999"/>
                  </a:lnTo>
                  <a:lnTo>
                    <a:pt x="6850600" y="395999"/>
                  </a:lnTo>
                  <a:lnTo>
                    <a:pt x="6860492" y="394005"/>
                  </a:lnTo>
                  <a:lnTo>
                    <a:pt x="6868565" y="388565"/>
                  </a:lnTo>
                  <a:lnTo>
                    <a:pt x="6874006" y="380492"/>
                  </a:lnTo>
                  <a:lnTo>
                    <a:pt x="6876000" y="370599"/>
                  </a:lnTo>
                  <a:lnTo>
                    <a:pt x="6876000" y="25399"/>
                  </a:lnTo>
                  <a:lnTo>
                    <a:pt x="6874006" y="15507"/>
                  </a:lnTo>
                  <a:lnTo>
                    <a:pt x="6868565" y="7434"/>
                  </a:lnTo>
                  <a:lnTo>
                    <a:pt x="6860492" y="1994"/>
                  </a:lnTo>
                  <a:lnTo>
                    <a:pt x="68506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200" dirty="0">
                <a:latin typeface="Footlight MT Light" panose="0204060206030A020304" pitchFamily="18" charset="0"/>
              </a:endParaRPr>
            </a:p>
          </p:txBody>
        </p:sp>
      </p:grpSp>
      <p:sp>
        <p:nvSpPr>
          <p:cNvPr id="100" name="object 84">
            <a:extLst>
              <a:ext uri="{FF2B5EF4-FFF2-40B4-BE49-F238E27FC236}">
                <a16:creationId xmlns:a16="http://schemas.microsoft.com/office/drawing/2014/main" id="{1C48AFDB-A157-320A-3BE7-3D19116A7AF4}"/>
              </a:ext>
            </a:extLst>
          </p:cNvPr>
          <p:cNvSpPr txBox="1"/>
          <p:nvPr/>
        </p:nvSpPr>
        <p:spPr>
          <a:xfrm>
            <a:off x="654051" y="7398449"/>
            <a:ext cx="265256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B8850A"/>
                </a:solidFill>
                <a:latin typeface="Footlight MT Light" panose="0204060206030A020304" pitchFamily="18" charset="0"/>
                <a:cs typeface="Calibri"/>
              </a:rPr>
              <a:t>13</a:t>
            </a:r>
            <a:endParaRPr sz="1200" dirty="0">
              <a:latin typeface="Footlight MT Light" panose="0204060206030A020304" pitchFamily="18" charset="0"/>
              <a:cs typeface="Calibri"/>
            </a:endParaRPr>
          </a:p>
        </p:txBody>
      </p:sp>
      <p:sp>
        <p:nvSpPr>
          <p:cNvPr id="101" name="object 85">
            <a:extLst>
              <a:ext uri="{FF2B5EF4-FFF2-40B4-BE49-F238E27FC236}">
                <a16:creationId xmlns:a16="http://schemas.microsoft.com/office/drawing/2014/main" id="{4C84EE66-43C3-89F0-2220-5E3EAE50FD7D}"/>
              </a:ext>
            </a:extLst>
          </p:cNvPr>
          <p:cNvSpPr txBox="1"/>
          <p:nvPr/>
        </p:nvSpPr>
        <p:spPr>
          <a:xfrm>
            <a:off x="1139299" y="7372650"/>
            <a:ext cx="293930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200" b="1" dirty="0">
                <a:solidFill>
                  <a:srgbClr val="1A3A2D"/>
                </a:solidFill>
                <a:latin typeface="Footlight MT Light" panose="0204060206030A020304" pitchFamily="18" charset="0"/>
                <a:cs typeface="Calibri"/>
              </a:rPr>
              <a:t>Media Coverage Newspaper Reports</a:t>
            </a:r>
          </a:p>
        </p:txBody>
      </p:sp>
      <p:sp>
        <p:nvSpPr>
          <p:cNvPr id="102" name="object 86">
            <a:extLst>
              <a:ext uri="{FF2B5EF4-FFF2-40B4-BE49-F238E27FC236}">
                <a16:creationId xmlns:a16="http://schemas.microsoft.com/office/drawing/2014/main" id="{5CD5D807-4D31-8201-FD78-9524BF0B11C4}"/>
              </a:ext>
            </a:extLst>
          </p:cNvPr>
          <p:cNvSpPr txBox="1"/>
          <p:nvPr/>
        </p:nvSpPr>
        <p:spPr>
          <a:xfrm>
            <a:off x="6645874" y="7385350"/>
            <a:ext cx="332776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52B687"/>
                </a:solidFill>
                <a:latin typeface="Footlight MT Light" panose="0204060206030A020304" pitchFamily="18" charset="0"/>
                <a:cs typeface="Calibri"/>
              </a:rPr>
              <a:t>1</a:t>
            </a:r>
            <a:r>
              <a:rPr lang="en-IN" sz="1200" b="1" spc="-25" dirty="0">
                <a:solidFill>
                  <a:srgbClr val="52B687"/>
                </a:solidFill>
                <a:latin typeface="Footlight MT Light" panose="0204060206030A020304" pitchFamily="18" charset="0"/>
                <a:cs typeface="Calibri"/>
              </a:rPr>
              <a:t>2</a:t>
            </a:r>
            <a:endParaRPr sz="1200" dirty="0">
              <a:latin typeface="Footlight MT Light" panose="0204060206030A020304" pitchFamily="18" charset="0"/>
              <a:cs typeface="Calibri"/>
            </a:endParaRPr>
          </a:p>
        </p:txBody>
      </p:sp>
      <p:grpSp>
        <p:nvGrpSpPr>
          <p:cNvPr id="103" name="object 87">
            <a:extLst>
              <a:ext uri="{FF2B5EF4-FFF2-40B4-BE49-F238E27FC236}">
                <a16:creationId xmlns:a16="http://schemas.microsoft.com/office/drawing/2014/main" id="{2A451BED-4DB4-648F-C560-41184345F1F2}"/>
              </a:ext>
            </a:extLst>
          </p:cNvPr>
          <p:cNvGrpSpPr/>
          <p:nvPr/>
        </p:nvGrpSpPr>
        <p:grpSpPr>
          <a:xfrm>
            <a:off x="504000" y="7467459"/>
            <a:ext cx="6876415" cy="687070"/>
            <a:chOff x="504000" y="7467459"/>
            <a:chExt cx="6876415" cy="687070"/>
          </a:xfrm>
        </p:grpSpPr>
        <p:sp>
          <p:nvSpPr>
            <p:cNvPr id="104" name="object 88">
              <a:extLst>
                <a:ext uri="{FF2B5EF4-FFF2-40B4-BE49-F238E27FC236}">
                  <a16:creationId xmlns:a16="http://schemas.microsoft.com/office/drawing/2014/main" id="{CF461018-CFC7-B28D-5E34-47E04A26AD9C}"/>
                </a:ext>
              </a:extLst>
            </p:cNvPr>
            <p:cNvSpPr/>
            <p:nvPr/>
          </p:nvSpPr>
          <p:spPr>
            <a:xfrm>
              <a:off x="2344671" y="7469999"/>
              <a:ext cx="4135754" cy="0"/>
            </a:xfrm>
            <a:custGeom>
              <a:avLst/>
              <a:gdLst/>
              <a:ahLst/>
              <a:cxnLst/>
              <a:rect l="l" t="t" r="r" b="b"/>
              <a:pathLst>
                <a:path w="4135754">
                  <a:moveTo>
                    <a:pt x="0" y="0"/>
                  </a:moveTo>
                  <a:lnTo>
                    <a:pt x="4135328" y="0"/>
                  </a:lnTo>
                </a:path>
              </a:pathLst>
            </a:custGeom>
            <a:ln w="5080">
              <a:solidFill>
                <a:srgbClr val="D8F2DB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 sz="1200" dirty="0">
                <a:latin typeface="Footlight MT Light" panose="0204060206030A020304" pitchFamily="18" charset="0"/>
              </a:endParaRPr>
            </a:p>
          </p:txBody>
        </p:sp>
        <p:sp>
          <p:nvSpPr>
            <p:cNvPr id="105" name="object 89">
              <a:extLst>
                <a:ext uri="{FF2B5EF4-FFF2-40B4-BE49-F238E27FC236}">
                  <a16:creationId xmlns:a16="http://schemas.microsoft.com/office/drawing/2014/main" id="{95C8D53B-7317-4C49-E336-E9BC55F25570}"/>
                </a:ext>
              </a:extLst>
            </p:cNvPr>
            <p:cNvSpPr/>
            <p:nvPr/>
          </p:nvSpPr>
          <p:spPr>
            <a:xfrm>
              <a:off x="504000" y="7758000"/>
              <a:ext cx="6876415" cy="396240"/>
            </a:xfrm>
            <a:custGeom>
              <a:avLst/>
              <a:gdLst/>
              <a:ahLst/>
              <a:cxnLst/>
              <a:rect l="l" t="t" r="r" b="b"/>
              <a:pathLst>
                <a:path w="6876415" h="396240">
                  <a:moveTo>
                    <a:pt x="6850600" y="0"/>
                  </a:moveTo>
                  <a:lnTo>
                    <a:pt x="25400" y="0"/>
                  </a:lnTo>
                  <a:lnTo>
                    <a:pt x="15507" y="1994"/>
                  </a:lnTo>
                  <a:lnTo>
                    <a:pt x="7434" y="7434"/>
                  </a:lnTo>
                  <a:lnTo>
                    <a:pt x="1994" y="15507"/>
                  </a:lnTo>
                  <a:lnTo>
                    <a:pt x="0" y="25400"/>
                  </a:lnTo>
                  <a:lnTo>
                    <a:pt x="0" y="370599"/>
                  </a:lnTo>
                  <a:lnTo>
                    <a:pt x="1994" y="380492"/>
                  </a:lnTo>
                  <a:lnTo>
                    <a:pt x="7434" y="388565"/>
                  </a:lnTo>
                  <a:lnTo>
                    <a:pt x="15507" y="394005"/>
                  </a:lnTo>
                  <a:lnTo>
                    <a:pt x="25400" y="395999"/>
                  </a:lnTo>
                  <a:lnTo>
                    <a:pt x="6850600" y="395999"/>
                  </a:lnTo>
                  <a:lnTo>
                    <a:pt x="6860492" y="394005"/>
                  </a:lnTo>
                  <a:lnTo>
                    <a:pt x="6868565" y="388565"/>
                  </a:lnTo>
                  <a:lnTo>
                    <a:pt x="6874006" y="380492"/>
                  </a:lnTo>
                  <a:lnTo>
                    <a:pt x="6876000" y="370599"/>
                  </a:lnTo>
                  <a:lnTo>
                    <a:pt x="6876000" y="25400"/>
                  </a:lnTo>
                  <a:lnTo>
                    <a:pt x="6874006" y="15507"/>
                  </a:lnTo>
                  <a:lnTo>
                    <a:pt x="6868565" y="7434"/>
                  </a:lnTo>
                  <a:lnTo>
                    <a:pt x="6860492" y="1994"/>
                  </a:lnTo>
                  <a:lnTo>
                    <a:pt x="6850600" y="0"/>
                  </a:lnTo>
                  <a:close/>
                </a:path>
              </a:pathLst>
            </a:custGeom>
            <a:solidFill>
              <a:srgbClr val="EDF7F0"/>
            </a:solidFill>
          </p:spPr>
          <p:txBody>
            <a:bodyPr wrap="square" lIns="0" tIns="0" rIns="0" bIns="0" rtlCol="0"/>
            <a:lstStyle/>
            <a:p>
              <a:endParaRPr sz="1200" dirty="0">
                <a:latin typeface="Footlight MT Light" panose="0204060206030A020304" pitchFamily="18" charset="0"/>
              </a:endParaRPr>
            </a:p>
          </p:txBody>
        </p:sp>
      </p:grpSp>
      <p:sp>
        <p:nvSpPr>
          <p:cNvPr id="106" name="object 90">
            <a:extLst>
              <a:ext uri="{FF2B5EF4-FFF2-40B4-BE49-F238E27FC236}">
                <a16:creationId xmlns:a16="http://schemas.microsoft.com/office/drawing/2014/main" id="{7E3C7CF3-0DC4-4651-66F4-61AF611D1189}"/>
              </a:ext>
            </a:extLst>
          </p:cNvPr>
          <p:cNvSpPr txBox="1"/>
          <p:nvPr/>
        </p:nvSpPr>
        <p:spPr>
          <a:xfrm>
            <a:off x="654051" y="7848449"/>
            <a:ext cx="265256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B8850A"/>
                </a:solidFill>
                <a:latin typeface="Footlight MT Light" panose="0204060206030A020304" pitchFamily="18" charset="0"/>
                <a:cs typeface="Calibri"/>
              </a:rPr>
              <a:t>14</a:t>
            </a:r>
            <a:endParaRPr sz="1200" dirty="0">
              <a:latin typeface="Footlight MT Light" panose="0204060206030A020304" pitchFamily="18" charset="0"/>
              <a:cs typeface="Calibri"/>
            </a:endParaRPr>
          </a:p>
        </p:txBody>
      </p:sp>
      <p:sp>
        <p:nvSpPr>
          <p:cNvPr id="107" name="object 91">
            <a:extLst>
              <a:ext uri="{FF2B5EF4-FFF2-40B4-BE49-F238E27FC236}">
                <a16:creationId xmlns:a16="http://schemas.microsoft.com/office/drawing/2014/main" id="{4823845F-9A95-EB1E-D956-43B82458ACBC}"/>
              </a:ext>
            </a:extLst>
          </p:cNvPr>
          <p:cNvSpPr txBox="1"/>
          <p:nvPr/>
        </p:nvSpPr>
        <p:spPr>
          <a:xfrm>
            <a:off x="1139298" y="7822649"/>
            <a:ext cx="3829292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200" b="1" dirty="0">
                <a:solidFill>
                  <a:srgbClr val="1A3A2D"/>
                </a:solidFill>
                <a:latin typeface="Footlight MT Light" panose="0204060206030A020304" pitchFamily="18" charset="0"/>
                <a:cs typeface="Calibri"/>
              </a:rPr>
              <a:t>Alignment with UN Sustainable Development Goals</a:t>
            </a:r>
          </a:p>
        </p:txBody>
      </p:sp>
      <p:sp>
        <p:nvSpPr>
          <p:cNvPr id="108" name="object 92">
            <a:extLst>
              <a:ext uri="{FF2B5EF4-FFF2-40B4-BE49-F238E27FC236}">
                <a16:creationId xmlns:a16="http://schemas.microsoft.com/office/drawing/2014/main" id="{1E13DF6B-1E40-CB73-0F63-BDF7EC64A7DF}"/>
              </a:ext>
            </a:extLst>
          </p:cNvPr>
          <p:cNvSpPr txBox="1"/>
          <p:nvPr/>
        </p:nvSpPr>
        <p:spPr>
          <a:xfrm>
            <a:off x="6645874" y="7835349"/>
            <a:ext cx="265256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52B687"/>
                </a:solidFill>
                <a:latin typeface="Footlight MT Light" panose="0204060206030A020304" pitchFamily="18" charset="0"/>
                <a:cs typeface="Calibri"/>
              </a:rPr>
              <a:t>1</a:t>
            </a:r>
            <a:r>
              <a:rPr lang="en-IN" sz="1200" b="1" spc="-25" dirty="0">
                <a:solidFill>
                  <a:srgbClr val="52B687"/>
                </a:solidFill>
                <a:latin typeface="Footlight MT Light" panose="0204060206030A020304" pitchFamily="18" charset="0"/>
                <a:cs typeface="Calibri"/>
              </a:rPr>
              <a:t>3</a:t>
            </a:r>
            <a:endParaRPr sz="1200" dirty="0">
              <a:latin typeface="Footlight MT Light" panose="0204060206030A020304" pitchFamily="18" charset="0"/>
              <a:cs typeface="Calibri"/>
            </a:endParaRPr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4D0925-6FEA-F16E-923B-FCC66EBA73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C271AE45-03B1-97EF-4F19-786DA036F9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20000"/>
                    </a14:imgEffect>
                  </a14:imgLayer>
                </a14:imgProps>
              </a:ext>
            </a:extLst>
          </a:blip>
          <a:srcRect t="50000"/>
          <a:stretch>
            <a:fillRect/>
          </a:stretch>
        </p:blipFill>
        <p:spPr>
          <a:xfrm>
            <a:off x="203200" y="372844"/>
            <a:ext cx="7556500" cy="2832899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4F39F0DC-A271-4CCC-1F3D-2BF47C5D73E6}"/>
              </a:ext>
            </a:extLst>
          </p:cNvPr>
          <p:cNvSpPr txBox="1"/>
          <p:nvPr/>
        </p:nvSpPr>
        <p:spPr>
          <a:xfrm>
            <a:off x="317500" y="127000"/>
            <a:ext cx="167449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b="1" dirty="0">
                <a:solidFill>
                  <a:srgbClr val="FFFFFF"/>
                </a:solidFill>
                <a:latin typeface="Arial"/>
                <a:cs typeface="Arial"/>
              </a:rPr>
              <a:t>TE</a:t>
            </a:r>
            <a:r>
              <a:rPr sz="80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FFFFFF"/>
                </a:solidFill>
                <a:latin typeface="Arial"/>
                <a:cs typeface="Arial"/>
              </a:rPr>
              <a:t>IWMP</a:t>
            </a:r>
            <a:r>
              <a:rPr sz="80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FFFFFF"/>
                </a:solidFill>
                <a:latin typeface="Arial"/>
                <a:cs typeface="Arial"/>
              </a:rPr>
              <a:t>–</a:t>
            </a:r>
            <a:r>
              <a:rPr sz="80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FFFFFF"/>
                </a:solidFill>
                <a:latin typeface="Arial"/>
                <a:cs typeface="Arial"/>
              </a:rPr>
              <a:t>Annual Report</a:t>
            </a:r>
            <a:r>
              <a:rPr sz="80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800" b="1" spc="-10" dirty="0">
                <a:solidFill>
                  <a:srgbClr val="FFFFFF"/>
                </a:solidFill>
                <a:latin typeface="Arial"/>
                <a:cs typeface="Arial"/>
              </a:rPr>
              <a:t>2025-</a:t>
            </a:r>
            <a:r>
              <a:rPr sz="800" b="1" spc="-25" dirty="0">
                <a:solidFill>
                  <a:srgbClr val="FFFFFF"/>
                </a:solidFill>
                <a:latin typeface="Arial"/>
                <a:cs typeface="Arial"/>
              </a:rPr>
              <a:t>26</a:t>
            </a:r>
            <a:endParaRPr sz="800" dirty="0">
              <a:latin typeface="Arial"/>
              <a:cs typeface="Arial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187891DA-B307-678A-9D74-70F7EC231957}"/>
              </a:ext>
            </a:extLst>
          </p:cNvPr>
          <p:cNvSpPr txBox="1"/>
          <p:nvPr/>
        </p:nvSpPr>
        <p:spPr>
          <a:xfrm>
            <a:off x="4968590" y="127000"/>
            <a:ext cx="247777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FFFFFF"/>
                </a:solidFill>
                <a:latin typeface="Arial MT"/>
                <a:cs typeface="Arial MT"/>
              </a:rPr>
              <a:t>TE</a:t>
            </a:r>
            <a:r>
              <a:rPr sz="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FFFFFF"/>
                </a:solidFill>
                <a:latin typeface="Arial MT"/>
                <a:cs typeface="Arial MT"/>
              </a:rPr>
              <a:t>Connectivity</a:t>
            </a:r>
            <a:r>
              <a:rPr sz="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FFFFFF"/>
                </a:solidFill>
                <a:latin typeface="Arial MT"/>
                <a:cs typeface="Arial MT"/>
              </a:rPr>
              <a:t>×</a:t>
            </a:r>
            <a:r>
              <a:rPr sz="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FFFFFF"/>
                </a:solidFill>
                <a:latin typeface="Arial MT"/>
                <a:cs typeface="Arial MT"/>
              </a:rPr>
              <a:t>SJSM</a:t>
            </a:r>
            <a:r>
              <a:rPr sz="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FFFFFF"/>
                </a:solidFill>
                <a:latin typeface="Arial MT"/>
                <a:cs typeface="Arial MT"/>
              </a:rPr>
              <a:t>Satara</a:t>
            </a:r>
            <a:r>
              <a:rPr sz="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FFFFFF"/>
                </a:solidFill>
                <a:latin typeface="Arial MT"/>
                <a:cs typeface="Arial MT"/>
              </a:rPr>
              <a:t>|</a:t>
            </a:r>
            <a:r>
              <a:rPr sz="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FFFFFF"/>
                </a:solidFill>
                <a:latin typeface="Arial MT"/>
                <a:cs typeface="Arial MT"/>
              </a:rPr>
              <a:t>Ghatdare</a:t>
            </a:r>
            <a:r>
              <a:rPr sz="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Arial MT"/>
                <a:cs typeface="Arial MT"/>
              </a:rPr>
              <a:t>Watershed</a:t>
            </a:r>
            <a:endParaRPr sz="800" dirty="0">
              <a:latin typeface="Arial MT"/>
              <a:cs typeface="Arial MT"/>
            </a:endParaRPr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8ECF2C51-82DC-9EF2-1625-1589E448ED79}"/>
              </a:ext>
            </a:extLst>
          </p:cNvPr>
          <p:cNvGrpSpPr/>
          <p:nvPr/>
        </p:nvGrpSpPr>
        <p:grpSpPr>
          <a:xfrm>
            <a:off x="203200" y="10382119"/>
            <a:ext cx="7357109" cy="309880"/>
            <a:chOff x="203200" y="10382119"/>
            <a:chExt cx="7357109" cy="309880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BFFF6868-3E37-091E-2C28-BFFC70B35749}"/>
                </a:ext>
              </a:extLst>
            </p:cNvPr>
            <p:cNvSpPr/>
            <p:nvPr/>
          </p:nvSpPr>
          <p:spPr>
            <a:xfrm>
              <a:off x="203200" y="10387199"/>
              <a:ext cx="7357109" cy="304800"/>
            </a:xfrm>
            <a:custGeom>
              <a:avLst/>
              <a:gdLst/>
              <a:ahLst/>
              <a:cxnLst/>
              <a:rect l="l" t="t" r="r" b="b"/>
              <a:pathLst>
                <a:path w="7357109" h="304800">
                  <a:moveTo>
                    <a:pt x="73568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7356800" y="304800"/>
                  </a:lnTo>
                  <a:lnTo>
                    <a:pt x="7356800" y="0"/>
                  </a:lnTo>
                  <a:close/>
                </a:path>
              </a:pathLst>
            </a:custGeom>
            <a:solidFill>
              <a:srgbClr val="F4EFE8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22E8350F-0BFA-8A5C-5EDF-32E99BCC738A}"/>
                </a:ext>
              </a:extLst>
            </p:cNvPr>
            <p:cNvSpPr/>
            <p:nvPr/>
          </p:nvSpPr>
          <p:spPr>
            <a:xfrm>
              <a:off x="203200" y="10387199"/>
              <a:ext cx="7357109" cy="0"/>
            </a:xfrm>
            <a:custGeom>
              <a:avLst/>
              <a:gdLst/>
              <a:ahLst/>
              <a:cxnLst/>
              <a:rect l="l" t="t" r="r" b="b"/>
              <a:pathLst>
                <a:path w="7357109">
                  <a:moveTo>
                    <a:pt x="0" y="0"/>
                  </a:moveTo>
                  <a:lnTo>
                    <a:pt x="7356800" y="0"/>
                  </a:lnTo>
                </a:path>
              </a:pathLst>
            </a:custGeom>
            <a:ln w="10160">
              <a:solidFill>
                <a:srgbClr val="C8A84B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object 7">
            <a:extLst>
              <a:ext uri="{FF2B5EF4-FFF2-40B4-BE49-F238E27FC236}">
                <a16:creationId xmlns:a16="http://schemas.microsoft.com/office/drawing/2014/main" id="{85B27042-5891-A12E-96AC-EB6457CAB53E}"/>
              </a:ext>
            </a:extLst>
          </p:cNvPr>
          <p:cNvSpPr/>
          <p:nvPr/>
        </p:nvSpPr>
        <p:spPr>
          <a:xfrm>
            <a:off x="779199" y="622299"/>
            <a:ext cx="1241425" cy="63500"/>
          </a:xfrm>
          <a:custGeom>
            <a:avLst/>
            <a:gdLst/>
            <a:ahLst/>
            <a:cxnLst/>
            <a:rect l="l" t="t" r="r" b="b"/>
            <a:pathLst>
              <a:path w="1241425" h="63500">
                <a:moveTo>
                  <a:pt x="1240960" y="0"/>
                </a:moveTo>
                <a:lnTo>
                  <a:pt x="0" y="0"/>
                </a:lnTo>
                <a:lnTo>
                  <a:pt x="0" y="63500"/>
                </a:lnTo>
                <a:lnTo>
                  <a:pt x="1240960" y="63500"/>
                </a:lnTo>
                <a:lnTo>
                  <a:pt x="1240960" y="0"/>
                </a:lnTo>
                <a:close/>
              </a:path>
            </a:pathLst>
          </a:custGeom>
          <a:solidFill>
            <a:srgbClr val="C8A84B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E039BB7C-39E5-F120-3E74-E3A0F8CC413B}"/>
              </a:ext>
            </a:extLst>
          </p:cNvPr>
          <p:cNvSpPr/>
          <p:nvPr/>
        </p:nvSpPr>
        <p:spPr>
          <a:xfrm>
            <a:off x="2082208" y="641349"/>
            <a:ext cx="4902200" cy="19050"/>
          </a:xfrm>
          <a:custGeom>
            <a:avLst/>
            <a:gdLst/>
            <a:ahLst/>
            <a:cxnLst/>
            <a:rect l="l" t="t" r="r" b="b"/>
            <a:pathLst>
              <a:path w="4902200" h="19050">
                <a:moveTo>
                  <a:pt x="4901792" y="0"/>
                </a:moveTo>
                <a:lnTo>
                  <a:pt x="0" y="0"/>
                </a:lnTo>
                <a:lnTo>
                  <a:pt x="0" y="19050"/>
                </a:lnTo>
                <a:lnTo>
                  <a:pt x="4901792" y="19050"/>
                </a:lnTo>
                <a:lnTo>
                  <a:pt x="4901792" y="0"/>
                </a:lnTo>
                <a:close/>
              </a:path>
            </a:pathLst>
          </a:custGeom>
          <a:solidFill>
            <a:srgbClr val="D4C4A0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0F64DBA4-5F64-371C-423F-0055B694255E}"/>
              </a:ext>
            </a:extLst>
          </p:cNvPr>
          <p:cNvSpPr txBox="1"/>
          <p:nvPr/>
        </p:nvSpPr>
        <p:spPr>
          <a:xfrm>
            <a:off x="779199" y="670178"/>
            <a:ext cx="6589243" cy="1968809"/>
          </a:xfrm>
          <a:prstGeom prst="rect">
            <a:avLst/>
          </a:prstGeom>
        </p:spPr>
        <p:txBody>
          <a:bodyPr vert="horz" wrap="square" lIns="0" tIns="15494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600"/>
              </a:spcBef>
            </a:pPr>
            <a:r>
              <a:rPr sz="2800" b="1" dirty="0">
                <a:solidFill>
                  <a:srgbClr val="FFC000"/>
                </a:solidFill>
                <a:latin typeface="Felix Titling" panose="04060505060202020A04" pitchFamily="82" charset="0"/>
                <a:cs typeface="Arial"/>
              </a:rPr>
              <a:t>Executive</a:t>
            </a:r>
            <a:r>
              <a:rPr sz="2800" b="1" spc="-80" dirty="0">
                <a:solidFill>
                  <a:srgbClr val="1A3A2D"/>
                </a:solidFill>
                <a:latin typeface="Felix Titling" panose="04060505060202020A04" pitchFamily="82" charset="0"/>
                <a:cs typeface="Arial"/>
              </a:rPr>
              <a:t> </a:t>
            </a:r>
            <a:r>
              <a:rPr sz="2000" b="1" i="1" spc="-10" dirty="0">
                <a:solidFill>
                  <a:schemeClr val="accent5"/>
                </a:solidFill>
                <a:latin typeface="Tiro Devanagari Marathi" panose="02000000000000000000" pitchFamily="2" charset="0"/>
                <a:cs typeface="Tiro Devanagari Marathi" panose="02000000000000000000" pitchFamily="2" charset="0"/>
              </a:rPr>
              <a:t>Summary</a:t>
            </a:r>
            <a:endParaRPr lang="en-IN" sz="1000" i="1" dirty="0">
              <a:solidFill>
                <a:schemeClr val="accent5"/>
              </a:solidFill>
              <a:latin typeface="Tiro Devanagari Marathi" panose="02000000000000000000" pitchFamily="2" charset="0"/>
              <a:cs typeface="Tiro Devanagari Marathi" panose="02000000000000000000" pitchFamily="2" charset="0"/>
            </a:endParaRPr>
          </a:p>
          <a:p>
            <a:pPr marL="12700" marR="5080" algn="just">
              <a:lnSpc>
                <a:spcPct val="125000"/>
              </a:lnSpc>
              <a:spcBef>
                <a:spcPts val="360"/>
              </a:spcBef>
            </a:pPr>
            <a:r>
              <a:rPr sz="1000" dirty="0">
                <a:solidFill>
                  <a:schemeClr val="bg1"/>
                </a:solidFill>
                <a:latin typeface="Felix Titling" panose="04060505060202020A04" pitchFamily="82" charset="0"/>
                <a:cs typeface="Arial MT"/>
              </a:rPr>
              <a:t>The</a:t>
            </a:r>
            <a:r>
              <a:rPr sz="1000" spc="250" dirty="0">
                <a:solidFill>
                  <a:schemeClr val="bg1"/>
                </a:solidFill>
                <a:latin typeface="Felix Titling" panose="04060505060202020A04" pitchFamily="82" charset="0"/>
                <a:cs typeface="Arial MT"/>
              </a:rPr>
              <a:t> </a:t>
            </a:r>
            <a:r>
              <a:rPr sz="1000" dirty="0">
                <a:solidFill>
                  <a:schemeClr val="bg1"/>
                </a:solidFill>
                <a:latin typeface="Felix Titling" panose="04060505060202020A04" pitchFamily="82" charset="0"/>
                <a:cs typeface="Arial"/>
              </a:rPr>
              <a:t>TE</a:t>
            </a:r>
            <a:r>
              <a:rPr sz="1000" spc="254" dirty="0">
                <a:solidFill>
                  <a:schemeClr val="bg1"/>
                </a:solidFill>
                <a:latin typeface="Felix Titling" panose="04060505060202020A04" pitchFamily="82" charset="0"/>
                <a:cs typeface="Arial"/>
              </a:rPr>
              <a:t> </a:t>
            </a:r>
            <a:r>
              <a:rPr sz="1000" dirty="0">
                <a:solidFill>
                  <a:schemeClr val="bg1"/>
                </a:solidFill>
                <a:latin typeface="Felix Titling" panose="04060505060202020A04" pitchFamily="82" charset="0"/>
                <a:cs typeface="Arial"/>
              </a:rPr>
              <a:t>Integrated</a:t>
            </a:r>
            <a:r>
              <a:rPr sz="1000" spc="250" dirty="0">
                <a:solidFill>
                  <a:schemeClr val="bg1"/>
                </a:solidFill>
                <a:latin typeface="Felix Titling" panose="04060505060202020A04" pitchFamily="82" charset="0"/>
                <a:cs typeface="Arial"/>
              </a:rPr>
              <a:t> </a:t>
            </a:r>
            <a:r>
              <a:rPr sz="1000" dirty="0">
                <a:solidFill>
                  <a:schemeClr val="bg1"/>
                </a:solidFill>
                <a:latin typeface="Felix Titling" panose="04060505060202020A04" pitchFamily="82" charset="0"/>
                <a:cs typeface="Arial"/>
              </a:rPr>
              <a:t>Watershed</a:t>
            </a:r>
            <a:r>
              <a:rPr sz="1000" spc="254" dirty="0">
                <a:solidFill>
                  <a:schemeClr val="bg1"/>
                </a:solidFill>
                <a:latin typeface="Felix Titling" panose="04060505060202020A04" pitchFamily="82" charset="0"/>
                <a:cs typeface="Arial"/>
              </a:rPr>
              <a:t> </a:t>
            </a:r>
            <a:r>
              <a:rPr sz="1000" dirty="0">
                <a:solidFill>
                  <a:schemeClr val="bg1"/>
                </a:solidFill>
                <a:latin typeface="Felix Titling" panose="04060505060202020A04" pitchFamily="82" charset="0"/>
                <a:cs typeface="Arial"/>
              </a:rPr>
              <a:t>Management</a:t>
            </a:r>
            <a:r>
              <a:rPr sz="1000" spc="250" dirty="0">
                <a:solidFill>
                  <a:schemeClr val="bg1"/>
                </a:solidFill>
                <a:latin typeface="Felix Titling" panose="04060505060202020A04" pitchFamily="82" charset="0"/>
                <a:cs typeface="Arial"/>
              </a:rPr>
              <a:t> </a:t>
            </a:r>
            <a:r>
              <a:rPr sz="1000" dirty="0">
                <a:solidFill>
                  <a:schemeClr val="bg1"/>
                </a:solidFill>
                <a:latin typeface="Felix Titling" panose="04060505060202020A04" pitchFamily="82" charset="0"/>
                <a:cs typeface="Arial"/>
              </a:rPr>
              <a:t>Project</a:t>
            </a:r>
            <a:r>
              <a:rPr sz="1000" spc="254" dirty="0">
                <a:solidFill>
                  <a:schemeClr val="bg1"/>
                </a:solidFill>
                <a:latin typeface="Felix Titling" panose="04060505060202020A04" pitchFamily="82" charset="0"/>
                <a:cs typeface="Arial"/>
              </a:rPr>
              <a:t> </a:t>
            </a:r>
            <a:r>
              <a:rPr sz="1000" dirty="0">
                <a:solidFill>
                  <a:schemeClr val="bg1"/>
                </a:solidFill>
                <a:latin typeface="Felix Titling" panose="04060505060202020A04" pitchFamily="82" charset="0"/>
                <a:cs typeface="Arial"/>
              </a:rPr>
              <a:t>(IWMP)</a:t>
            </a:r>
            <a:r>
              <a:rPr sz="1000" spc="254" dirty="0">
                <a:solidFill>
                  <a:schemeClr val="bg1"/>
                </a:solidFill>
                <a:latin typeface="Felix Titling" panose="04060505060202020A04" pitchFamily="82" charset="0"/>
                <a:cs typeface="Arial"/>
              </a:rPr>
              <a:t> </a:t>
            </a:r>
            <a:r>
              <a:rPr sz="1000" dirty="0">
                <a:solidFill>
                  <a:schemeClr val="bg1"/>
                </a:solidFill>
                <a:latin typeface="Felix Titling" panose="04060505060202020A04" pitchFamily="82" charset="0"/>
                <a:cs typeface="Arial MT"/>
              </a:rPr>
              <a:t>at</a:t>
            </a:r>
            <a:r>
              <a:rPr sz="1000" spc="250" dirty="0">
                <a:solidFill>
                  <a:schemeClr val="bg1"/>
                </a:solidFill>
                <a:latin typeface="Felix Titling" panose="04060505060202020A04" pitchFamily="82" charset="0"/>
                <a:cs typeface="Arial MT"/>
              </a:rPr>
              <a:t> </a:t>
            </a:r>
            <a:r>
              <a:rPr sz="1000" dirty="0">
                <a:solidFill>
                  <a:schemeClr val="bg1"/>
                </a:solidFill>
                <a:latin typeface="Felix Titling" panose="04060505060202020A04" pitchFamily="82" charset="0"/>
                <a:cs typeface="Arial MT"/>
              </a:rPr>
              <a:t>Ghatdare</a:t>
            </a:r>
            <a:r>
              <a:rPr sz="1000" spc="254" dirty="0">
                <a:solidFill>
                  <a:schemeClr val="bg1"/>
                </a:solidFill>
                <a:latin typeface="Felix Titling" panose="04060505060202020A04" pitchFamily="82" charset="0"/>
                <a:cs typeface="Arial MT"/>
              </a:rPr>
              <a:t> </a:t>
            </a:r>
            <a:r>
              <a:rPr sz="1000" dirty="0">
                <a:solidFill>
                  <a:schemeClr val="bg1"/>
                </a:solidFill>
                <a:latin typeface="Felix Titling" panose="04060505060202020A04" pitchFamily="82" charset="0"/>
                <a:cs typeface="Arial MT"/>
              </a:rPr>
              <a:t>village,</a:t>
            </a:r>
            <a:r>
              <a:rPr sz="1000" spc="250" dirty="0">
                <a:solidFill>
                  <a:schemeClr val="bg1"/>
                </a:solidFill>
                <a:latin typeface="Felix Titling" panose="04060505060202020A04" pitchFamily="82" charset="0"/>
                <a:cs typeface="Arial MT"/>
              </a:rPr>
              <a:t> </a:t>
            </a:r>
            <a:r>
              <a:rPr sz="1000" dirty="0">
                <a:solidFill>
                  <a:schemeClr val="bg1"/>
                </a:solidFill>
                <a:latin typeface="Felix Titling" panose="04060505060202020A04" pitchFamily="82" charset="0"/>
                <a:cs typeface="Arial MT"/>
              </a:rPr>
              <a:t>Khandala,</a:t>
            </a:r>
            <a:r>
              <a:rPr sz="1000" spc="254" dirty="0">
                <a:solidFill>
                  <a:schemeClr val="bg1"/>
                </a:solidFill>
                <a:latin typeface="Felix Titling" panose="04060505060202020A04" pitchFamily="82" charset="0"/>
                <a:cs typeface="Arial MT"/>
              </a:rPr>
              <a:t> </a:t>
            </a:r>
            <a:r>
              <a:rPr sz="1000" dirty="0">
                <a:solidFill>
                  <a:schemeClr val="bg1"/>
                </a:solidFill>
                <a:latin typeface="Felix Titling" panose="04060505060202020A04" pitchFamily="82" charset="0"/>
                <a:cs typeface="Arial MT"/>
              </a:rPr>
              <a:t>Satara</a:t>
            </a:r>
            <a:r>
              <a:rPr sz="1000" spc="250" dirty="0">
                <a:solidFill>
                  <a:schemeClr val="bg1"/>
                </a:solidFill>
                <a:latin typeface="Felix Titling" panose="04060505060202020A04" pitchFamily="82" charset="0"/>
                <a:cs typeface="Arial MT"/>
              </a:rPr>
              <a:t> </a:t>
            </a:r>
            <a:r>
              <a:rPr sz="1000" spc="-50" dirty="0">
                <a:solidFill>
                  <a:schemeClr val="bg1"/>
                </a:solidFill>
                <a:latin typeface="Felix Titling" panose="04060505060202020A04" pitchFamily="82" charset="0"/>
                <a:cs typeface="Arial MT"/>
              </a:rPr>
              <a:t>— </a:t>
            </a:r>
            <a:r>
              <a:rPr sz="1000" dirty="0">
                <a:solidFill>
                  <a:schemeClr val="bg1"/>
                </a:solidFill>
                <a:latin typeface="Felix Titling" panose="04060505060202020A04" pitchFamily="82" charset="0"/>
                <a:cs typeface="Arial MT"/>
              </a:rPr>
              <a:t>implemented</a:t>
            </a:r>
            <a:r>
              <a:rPr sz="1000" spc="20" dirty="0">
                <a:solidFill>
                  <a:schemeClr val="bg1"/>
                </a:solidFill>
                <a:latin typeface="Felix Titling" panose="04060505060202020A04" pitchFamily="82" charset="0"/>
                <a:cs typeface="Arial MT"/>
              </a:rPr>
              <a:t> </a:t>
            </a:r>
            <a:r>
              <a:rPr sz="1000" dirty="0">
                <a:solidFill>
                  <a:schemeClr val="bg1"/>
                </a:solidFill>
                <a:latin typeface="Felix Titling" panose="04060505060202020A04" pitchFamily="82" charset="0"/>
                <a:cs typeface="Arial MT"/>
              </a:rPr>
              <a:t>by</a:t>
            </a:r>
            <a:r>
              <a:rPr sz="1000" spc="20" dirty="0">
                <a:solidFill>
                  <a:schemeClr val="bg1"/>
                </a:solidFill>
                <a:latin typeface="Felix Titling" panose="04060505060202020A04" pitchFamily="82" charset="0"/>
                <a:cs typeface="Arial MT"/>
              </a:rPr>
              <a:t> </a:t>
            </a:r>
            <a:r>
              <a:rPr sz="1000" dirty="0">
                <a:solidFill>
                  <a:schemeClr val="bg1"/>
                </a:solidFill>
                <a:latin typeface="Felix Titling" panose="04060505060202020A04" pitchFamily="82" charset="0"/>
                <a:cs typeface="Arial"/>
              </a:rPr>
              <a:t>Shramjivi</a:t>
            </a:r>
            <a:r>
              <a:rPr sz="1000" spc="20" dirty="0">
                <a:solidFill>
                  <a:schemeClr val="bg1"/>
                </a:solidFill>
                <a:latin typeface="Felix Titling" panose="04060505060202020A04" pitchFamily="82" charset="0"/>
                <a:cs typeface="Arial"/>
              </a:rPr>
              <a:t> </a:t>
            </a:r>
            <a:r>
              <a:rPr sz="1000" dirty="0">
                <a:solidFill>
                  <a:schemeClr val="bg1"/>
                </a:solidFill>
                <a:latin typeface="Felix Titling" panose="04060505060202020A04" pitchFamily="82" charset="0"/>
                <a:cs typeface="Arial"/>
              </a:rPr>
              <a:t>Janata</a:t>
            </a:r>
            <a:r>
              <a:rPr sz="1000" spc="20" dirty="0">
                <a:solidFill>
                  <a:schemeClr val="bg1"/>
                </a:solidFill>
                <a:latin typeface="Felix Titling" panose="04060505060202020A04" pitchFamily="82" charset="0"/>
                <a:cs typeface="Arial"/>
              </a:rPr>
              <a:t> </a:t>
            </a:r>
            <a:r>
              <a:rPr sz="1000" dirty="0">
                <a:solidFill>
                  <a:schemeClr val="bg1"/>
                </a:solidFill>
                <a:latin typeface="Felix Titling" panose="04060505060202020A04" pitchFamily="82" charset="0"/>
                <a:cs typeface="Arial"/>
              </a:rPr>
              <a:t>Sahayyak</a:t>
            </a:r>
            <a:r>
              <a:rPr sz="1000" spc="20" dirty="0">
                <a:solidFill>
                  <a:schemeClr val="bg1"/>
                </a:solidFill>
                <a:latin typeface="Felix Titling" panose="04060505060202020A04" pitchFamily="82" charset="0"/>
                <a:cs typeface="Arial"/>
              </a:rPr>
              <a:t> </a:t>
            </a:r>
            <a:r>
              <a:rPr sz="1000" dirty="0">
                <a:solidFill>
                  <a:schemeClr val="bg1"/>
                </a:solidFill>
                <a:latin typeface="Felix Titling" panose="04060505060202020A04" pitchFamily="82" charset="0"/>
                <a:cs typeface="Arial"/>
              </a:rPr>
              <a:t>Mandal</a:t>
            </a:r>
            <a:r>
              <a:rPr sz="1000" spc="20" dirty="0">
                <a:solidFill>
                  <a:schemeClr val="bg1"/>
                </a:solidFill>
                <a:latin typeface="Felix Titling" panose="04060505060202020A04" pitchFamily="82" charset="0"/>
                <a:cs typeface="Arial"/>
              </a:rPr>
              <a:t> </a:t>
            </a:r>
            <a:r>
              <a:rPr sz="1000" dirty="0">
                <a:solidFill>
                  <a:schemeClr val="bg1"/>
                </a:solidFill>
                <a:latin typeface="Felix Titling" panose="04060505060202020A04" pitchFamily="82" charset="0"/>
                <a:cs typeface="Arial"/>
              </a:rPr>
              <a:t>(SJSM)</a:t>
            </a:r>
            <a:r>
              <a:rPr sz="1000" spc="20" dirty="0">
                <a:solidFill>
                  <a:schemeClr val="bg1"/>
                </a:solidFill>
                <a:latin typeface="Felix Titling" panose="04060505060202020A04" pitchFamily="82" charset="0"/>
                <a:cs typeface="Arial"/>
              </a:rPr>
              <a:t> </a:t>
            </a:r>
            <a:r>
              <a:rPr sz="1000" dirty="0">
                <a:solidFill>
                  <a:schemeClr val="bg1"/>
                </a:solidFill>
                <a:latin typeface="Felix Titling" panose="04060505060202020A04" pitchFamily="82" charset="0"/>
                <a:cs typeface="Arial MT"/>
              </a:rPr>
              <a:t>under</a:t>
            </a:r>
            <a:r>
              <a:rPr sz="1000" spc="20" dirty="0">
                <a:solidFill>
                  <a:schemeClr val="bg1"/>
                </a:solidFill>
                <a:latin typeface="Felix Titling" panose="04060505060202020A04" pitchFamily="82" charset="0"/>
                <a:cs typeface="Arial MT"/>
              </a:rPr>
              <a:t> </a:t>
            </a:r>
            <a:r>
              <a:rPr sz="1000" dirty="0">
                <a:solidFill>
                  <a:schemeClr val="bg1"/>
                </a:solidFill>
                <a:latin typeface="Felix Titling" panose="04060505060202020A04" pitchFamily="82" charset="0"/>
                <a:cs typeface="Arial MT"/>
              </a:rPr>
              <a:t>the</a:t>
            </a:r>
            <a:r>
              <a:rPr sz="1000" spc="20" dirty="0">
                <a:solidFill>
                  <a:schemeClr val="bg1"/>
                </a:solidFill>
                <a:latin typeface="Felix Titling" panose="04060505060202020A04" pitchFamily="82" charset="0"/>
                <a:cs typeface="Arial MT"/>
              </a:rPr>
              <a:t> </a:t>
            </a:r>
            <a:r>
              <a:rPr sz="1000" dirty="0">
                <a:solidFill>
                  <a:schemeClr val="bg1"/>
                </a:solidFill>
                <a:latin typeface="Felix Titling" panose="04060505060202020A04" pitchFamily="82" charset="0"/>
                <a:cs typeface="Arial MT"/>
              </a:rPr>
              <a:t>CSR</a:t>
            </a:r>
            <a:r>
              <a:rPr sz="1000" spc="20" dirty="0">
                <a:solidFill>
                  <a:schemeClr val="bg1"/>
                </a:solidFill>
                <a:latin typeface="Felix Titling" panose="04060505060202020A04" pitchFamily="82" charset="0"/>
                <a:cs typeface="Arial MT"/>
              </a:rPr>
              <a:t> </a:t>
            </a:r>
            <a:r>
              <a:rPr sz="1000" dirty="0">
                <a:solidFill>
                  <a:schemeClr val="bg1"/>
                </a:solidFill>
                <a:latin typeface="Felix Titling" panose="04060505060202020A04" pitchFamily="82" charset="0"/>
                <a:cs typeface="Arial MT"/>
              </a:rPr>
              <a:t>initiative</a:t>
            </a:r>
            <a:r>
              <a:rPr sz="1000" spc="20" dirty="0">
                <a:solidFill>
                  <a:schemeClr val="bg1"/>
                </a:solidFill>
                <a:latin typeface="Felix Titling" panose="04060505060202020A04" pitchFamily="82" charset="0"/>
                <a:cs typeface="Arial MT"/>
              </a:rPr>
              <a:t> </a:t>
            </a:r>
            <a:r>
              <a:rPr sz="1000" dirty="0">
                <a:solidFill>
                  <a:schemeClr val="bg1"/>
                </a:solidFill>
                <a:latin typeface="Felix Titling" panose="04060505060202020A04" pitchFamily="82" charset="0"/>
                <a:cs typeface="Arial MT"/>
              </a:rPr>
              <a:t>of</a:t>
            </a:r>
            <a:r>
              <a:rPr sz="1000" spc="20" dirty="0">
                <a:solidFill>
                  <a:schemeClr val="bg1"/>
                </a:solidFill>
                <a:latin typeface="Felix Titling" panose="04060505060202020A04" pitchFamily="82" charset="0"/>
                <a:cs typeface="Arial MT"/>
              </a:rPr>
              <a:t> </a:t>
            </a:r>
            <a:r>
              <a:rPr sz="1000" dirty="0">
                <a:solidFill>
                  <a:schemeClr val="bg1"/>
                </a:solidFill>
                <a:latin typeface="Felix Titling" panose="04060505060202020A04" pitchFamily="82" charset="0"/>
                <a:cs typeface="Arial"/>
              </a:rPr>
              <a:t>TE</a:t>
            </a:r>
            <a:r>
              <a:rPr sz="1000" spc="20" dirty="0">
                <a:solidFill>
                  <a:schemeClr val="bg1"/>
                </a:solidFill>
                <a:latin typeface="Felix Titling" panose="04060505060202020A04" pitchFamily="82" charset="0"/>
                <a:cs typeface="Arial"/>
              </a:rPr>
              <a:t> </a:t>
            </a:r>
            <a:r>
              <a:rPr sz="1000" dirty="0">
                <a:solidFill>
                  <a:schemeClr val="bg1"/>
                </a:solidFill>
                <a:latin typeface="Felix Titling" panose="04060505060202020A04" pitchFamily="82" charset="0"/>
                <a:cs typeface="Arial"/>
              </a:rPr>
              <a:t>Connectivity</a:t>
            </a:r>
            <a:r>
              <a:rPr sz="1000" spc="20" dirty="0">
                <a:solidFill>
                  <a:schemeClr val="bg1"/>
                </a:solidFill>
                <a:latin typeface="Felix Titling" panose="04060505060202020A04" pitchFamily="82" charset="0"/>
                <a:cs typeface="Arial"/>
              </a:rPr>
              <a:t> </a:t>
            </a:r>
            <a:r>
              <a:rPr sz="1000" spc="-50" dirty="0">
                <a:solidFill>
                  <a:schemeClr val="bg1"/>
                </a:solidFill>
                <a:latin typeface="Felix Titling" panose="04060505060202020A04" pitchFamily="82" charset="0"/>
                <a:cs typeface="Arial MT"/>
              </a:rPr>
              <a:t>— </a:t>
            </a:r>
            <a:r>
              <a:rPr sz="1000" dirty="0">
                <a:solidFill>
                  <a:schemeClr val="bg1"/>
                </a:solidFill>
                <a:latin typeface="Felix Titling" panose="04060505060202020A04" pitchFamily="82" charset="0"/>
                <a:cs typeface="Arial MT"/>
              </a:rPr>
              <a:t>has</a:t>
            </a:r>
            <a:r>
              <a:rPr sz="1000" spc="114" dirty="0">
                <a:solidFill>
                  <a:schemeClr val="bg1"/>
                </a:solidFill>
                <a:latin typeface="Felix Titling" panose="04060505060202020A04" pitchFamily="82" charset="0"/>
                <a:cs typeface="Arial MT"/>
              </a:rPr>
              <a:t> </a:t>
            </a:r>
            <a:r>
              <a:rPr sz="1000" dirty="0">
                <a:solidFill>
                  <a:schemeClr val="bg1"/>
                </a:solidFill>
                <a:latin typeface="Felix Titling" panose="04060505060202020A04" pitchFamily="82" charset="0"/>
                <a:cs typeface="Arial MT"/>
              </a:rPr>
              <a:t>completed</a:t>
            </a:r>
            <a:r>
              <a:rPr sz="1000" spc="114" dirty="0">
                <a:solidFill>
                  <a:schemeClr val="bg1"/>
                </a:solidFill>
                <a:latin typeface="Felix Titling" panose="04060505060202020A04" pitchFamily="82" charset="0"/>
                <a:cs typeface="Arial MT"/>
              </a:rPr>
              <a:t> </a:t>
            </a:r>
            <a:r>
              <a:rPr sz="1000" dirty="0">
                <a:solidFill>
                  <a:schemeClr val="bg1"/>
                </a:solidFill>
                <a:latin typeface="Felix Titling" panose="04060505060202020A04" pitchFamily="82" charset="0"/>
                <a:cs typeface="Arial MT"/>
              </a:rPr>
              <a:t>its</a:t>
            </a:r>
            <a:r>
              <a:rPr sz="1000" spc="114" dirty="0">
                <a:solidFill>
                  <a:schemeClr val="bg1"/>
                </a:solidFill>
                <a:latin typeface="Felix Titling" panose="04060505060202020A04" pitchFamily="82" charset="0"/>
                <a:cs typeface="Arial MT"/>
              </a:rPr>
              <a:t> </a:t>
            </a:r>
            <a:r>
              <a:rPr sz="1000" dirty="0">
                <a:solidFill>
                  <a:schemeClr val="bg1"/>
                </a:solidFill>
                <a:latin typeface="Felix Titling" panose="04060505060202020A04" pitchFamily="82" charset="0"/>
                <a:cs typeface="Arial MT"/>
              </a:rPr>
              <a:t>first</a:t>
            </a:r>
            <a:r>
              <a:rPr sz="1000" spc="114" dirty="0">
                <a:solidFill>
                  <a:schemeClr val="bg1"/>
                </a:solidFill>
                <a:latin typeface="Felix Titling" panose="04060505060202020A04" pitchFamily="82" charset="0"/>
                <a:cs typeface="Arial MT"/>
              </a:rPr>
              <a:t> </a:t>
            </a:r>
            <a:r>
              <a:rPr sz="1000" dirty="0">
                <a:solidFill>
                  <a:schemeClr val="bg1"/>
                </a:solidFill>
                <a:latin typeface="Felix Titling" panose="04060505060202020A04" pitchFamily="82" charset="0"/>
                <a:cs typeface="Arial MT"/>
              </a:rPr>
              <a:t>full</a:t>
            </a:r>
            <a:r>
              <a:rPr sz="1000" spc="114" dirty="0">
                <a:solidFill>
                  <a:schemeClr val="bg1"/>
                </a:solidFill>
                <a:latin typeface="Felix Titling" panose="04060505060202020A04" pitchFamily="82" charset="0"/>
                <a:cs typeface="Arial MT"/>
              </a:rPr>
              <a:t> </a:t>
            </a:r>
            <a:r>
              <a:rPr sz="1000" dirty="0">
                <a:solidFill>
                  <a:schemeClr val="bg1"/>
                </a:solidFill>
                <a:latin typeface="Felix Titling" panose="04060505060202020A04" pitchFamily="82" charset="0"/>
                <a:cs typeface="Arial MT"/>
              </a:rPr>
              <a:t>year</a:t>
            </a:r>
            <a:r>
              <a:rPr sz="1000" spc="114" dirty="0">
                <a:solidFill>
                  <a:schemeClr val="bg1"/>
                </a:solidFill>
                <a:latin typeface="Felix Titling" panose="04060505060202020A04" pitchFamily="82" charset="0"/>
                <a:cs typeface="Arial MT"/>
              </a:rPr>
              <a:t> </a:t>
            </a:r>
            <a:r>
              <a:rPr sz="1000" dirty="0">
                <a:solidFill>
                  <a:schemeClr val="bg1"/>
                </a:solidFill>
                <a:latin typeface="Felix Titling" panose="04060505060202020A04" pitchFamily="82" charset="0"/>
                <a:cs typeface="Arial MT"/>
              </a:rPr>
              <a:t>(FY</a:t>
            </a:r>
            <a:r>
              <a:rPr sz="1000" spc="114" dirty="0">
                <a:solidFill>
                  <a:schemeClr val="bg1"/>
                </a:solidFill>
                <a:latin typeface="Felix Titling" panose="04060505060202020A04" pitchFamily="82" charset="0"/>
                <a:cs typeface="Arial MT"/>
              </a:rPr>
              <a:t> </a:t>
            </a:r>
            <a:r>
              <a:rPr sz="1000" dirty="0">
                <a:solidFill>
                  <a:schemeClr val="bg1"/>
                </a:solidFill>
                <a:latin typeface="Felix Titling" panose="04060505060202020A04" pitchFamily="82" charset="0"/>
                <a:cs typeface="Arial MT"/>
              </a:rPr>
              <a:t>2025-26)</a:t>
            </a:r>
            <a:r>
              <a:rPr sz="1000" spc="120" dirty="0">
                <a:solidFill>
                  <a:schemeClr val="bg1"/>
                </a:solidFill>
                <a:latin typeface="Felix Titling" panose="04060505060202020A04" pitchFamily="82" charset="0"/>
                <a:cs typeface="Arial MT"/>
              </a:rPr>
              <a:t> </a:t>
            </a:r>
            <a:r>
              <a:rPr sz="1000" dirty="0">
                <a:solidFill>
                  <a:schemeClr val="bg1"/>
                </a:solidFill>
                <a:latin typeface="Felix Titling" panose="04060505060202020A04" pitchFamily="82" charset="0"/>
                <a:cs typeface="Arial MT"/>
              </a:rPr>
              <a:t>with</a:t>
            </a:r>
            <a:r>
              <a:rPr sz="1000" spc="114" dirty="0">
                <a:solidFill>
                  <a:schemeClr val="bg1"/>
                </a:solidFill>
                <a:latin typeface="Felix Titling" panose="04060505060202020A04" pitchFamily="82" charset="0"/>
                <a:cs typeface="Arial MT"/>
              </a:rPr>
              <a:t> </a:t>
            </a:r>
            <a:r>
              <a:rPr sz="1000" dirty="0">
                <a:solidFill>
                  <a:schemeClr val="bg1"/>
                </a:solidFill>
                <a:latin typeface="Felix Titling" panose="04060505060202020A04" pitchFamily="82" charset="0"/>
                <a:cs typeface="Arial"/>
              </a:rPr>
              <a:t>near-100%</a:t>
            </a:r>
            <a:r>
              <a:rPr sz="1000" spc="114" dirty="0">
                <a:solidFill>
                  <a:schemeClr val="bg1"/>
                </a:solidFill>
                <a:latin typeface="Felix Titling" panose="04060505060202020A04" pitchFamily="82" charset="0"/>
                <a:cs typeface="Arial"/>
              </a:rPr>
              <a:t> </a:t>
            </a:r>
            <a:r>
              <a:rPr sz="1000" dirty="0">
                <a:solidFill>
                  <a:schemeClr val="bg1"/>
                </a:solidFill>
                <a:latin typeface="Felix Titling" panose="04060505060202020A04" pitchFamily="82" charset="0"/>
                <a:cs typeface="Arial"/>
              </a:rPr>
              <a:t>achievement</a:t>
            </a:r>
            <a:r>
              <a:rPr sz="1000" spc="114" dirty="0">
                <a:solidFill>
                  <a:schemeClr val="bg1"/>
                </a:solidFill>
                <a:latin typeface="Felix Titling" panose="04060505060202020A04" pitchFamily="82" charset="0"/>
                <a:cs typeface="Arial"/>
              </a:rPr>
              <a:t> </a:t>
            </a:r>
            <a:r>
              <a:rPr sz="1000" dirty="0">
                <a:solidFill>
                  <a:schemeClr val="bg1"/>
                </a:solidFill>
                <a:latin typeface="Felix Titling" panose="04060505060202020A04" pitchFamily="82" charset="0"/>
                <a:cs typeface="Arial MT"/>
              </a:rPr>
              <a:t>across</a:t>
            </a:r>
            <a:r>
              <a:rPr sz="1000" spc="114" dirty="0">
                <a:solidFill>
                  <a:schemeClr val="bg1"/>
                </a:solidFill>
                <a:latin typeface="Felix Titling" panose="04060505060202020A04" pitchFamily="82" charset="0"/>
                <a:cs typeface="Arial MT"/>
              </a:rPr>
              <a:t> </a:t>
            </a:r>
            <a:r>
              <a:rPr sz="1000" dirty="0">
                <a:solidFill>
                  <a:schemeClr val="bg1"/>
                </a:solidFill>
                <a:latin typeface="Felix Titling" panose="04060505060202020A04" pitchFamily="82" charset="0"/>
                <a:cs typeface="Arial MT"/>
              </a:rPr>
              <a:t>all</a:t>
            </a:r>
            <a:r>
              <a:rPr sz="1000" spc="114" dirty="0">
                <a:solidFill>
                  <a:schemeClr val="bg1"/>
                </a:solidFill>
                <a:latin typeface="Felix Titling" panose="04060505060202020A04" pitchFamily="82" charset="0"/>
                <a:cs typeface="Arial MT"/>
              </a:rPr>
              <a:t> </a:t>
            </a:r>
            <a:r>
              <a:rPr sz="1000" dirty="0">
                <a:solidFill>
                  <a:schemeClr val="bg1"/>
                </a:solidFill>
                <a:latin typeface="Felix Titling" panose="04060505060202020A04" pitchFamily="82" charset="0"/>
                <a:cs typeface="Arial MT"/>
              </a:rPr>
              <a:t>primary</a:t>
            </a:r>
            <a:r>
              <a:rPr sz="1000" spc="114" dirty="0">
                <a:solidFill>
                  <a:schemeClr val="bg1"/>
                </a:solidFill>
                <a:latin typeface="Felix Titling" panose="04060505060202020A04" pitchFamily="82" charset="0"/>
                <a:cs typeface="Arial MT"/>
              </a:rPr>
              <a:t> </a:t>
            </a:r>
            <a:r>
              <a:rPr sz="1000" dirty="0">
                <a:solidFill>
                  <a:schemeClr val="bg1"/>
                </a:solidFill>
                <a:latin typeface="Felix Titling" panose="04060505060202020A04" pitchFamily="82" charset="0"/>
                <a:cs typeface="Arial MT"/>
              </a:rPr>
              <a:t>targets.</a:t>
            </a:r>
            <a:r>
              <a:rPr sz="1000" spc="114" dirty="0">
                <a:solidFill>
                  <a:schemeClr val="bg1"/>
                </a:solidFill>
                <a:latin typeface="Felix Titling" panose="04060505060202020A04" pitchFamily="82" charset="0"/>
                <a:cs typeface="Arial MT"/>
              </a:rPr>
              <a:t> </a:t>
            </a:r>
            <a:r>
              <a:rPr sz="1000" spc="-25" dirty="0">
                <a:solidFill>
                  <a:schemeClr val="bg1"/>
                </a:solidFill>
                <a:latin typeface="Felix Titling" panose="04060505060202020A04" pitchFamily="82" charset="0"/>
                <a:cs typeface="Arial MT"/>
              </a:rPr>
              <a:t>The </a:t>
            </a:r>
            <a:r>
              <a:rPr sz="1000" dirty="0">
                <a:solidFill>
                  <a:schemeClr val="bg1"/>
                </a:solidFill>
                <a:latin typeface="Felix Titling" panose="04060505060202020A04" pitchFamily="82" charset="0"/>
                <a:cs typeface="Arial MT"/>
              </a:rPr>
              <a:t>project has</a:t>
            </a:r>
            <a:r>
              <a:rPr sz="1000" spc="5" dirty="0">
                <a:solidFill>
                  <a:schemeClr val="bg1"/>
                </a:solidFill>
                <a:latin typeface="Felix Titling" panose="04060505060202020A04" pitchFamily="82" charset="0"/>
                <a:cs typeface="Arial MT"/>
              </a:rPr>
              <a:t> </a:t>
            </a:r>
            <a:r>
              <a:rPr sz="1000" dirty="0">
                <a:solidFill>
                  <a:schemeClr val="bg1"/>
                </a:solidFill>
                <a:latin typeface="Felix Titling" panose="04060505060202020A04" pitchFamily="82" charset="0"/>
                <a:cs typeface="Arial MT"/>
              </a:rPr>
              <a:t>delivered</a:t>
            </a:r>
            <a:r>
              <a:rPr sz="1000" spc="5" dirty="0">
                <a:solidFill>
                  <a:schemeClr val="bg1"/>
                </a:solidFill>
                <a:latin typeface="Felix Titling" panose="04060505060202020A04" pitchFamily="82" charset="0"/>
                <a:cs typeface="Arial MT"/>
              </a:rPr>
              <a:t> </a:t>
            </a:r>
            <a:r>
              <a:rPr sz="1000" dirty="0">
                <a:solidFill>
                  <a:schemeClr val="bg1"/>
                </a:solidFill>
                <a:latin typeface="Felix Titling" panose="04060505060202020A04" pitchFamily="82" charset="0"/>
                <a:cs typeface="Arial MT"/>
              </a:rPr>
              <a:t>tangible outcomes:</a:t>
            </a:r>
            <a:r>
              <a:rPr sz="1000" spc="5" dirty="0">
                <a:solidFill>
                  <a:schemeClr val="bg1"/>
                </a:solidFill>
                <a:latin typeface="Felix Titling" panose="04060505060202020A04" pitchFamily="82" charset="0"/>
                <a:cs typeface="Arial MT"/>
              </a:rPr>
              <a:t> </a:t>
            </a:r>
            <a:r>
              <a:rPr sz="1000" dirty="0">
                <a:solidFill>
                  <a:schemeClr val="bg1"/>
                </a:solidFill>
                <a:latin typeface="Felix Titling" panose="04060505060202020A04" pitchFamily="82" charset="0"/>
                <a:cs typeface="Arial MT"/>
              </a:rPr>
              <a:t>a</a:t>
            </a:r>
            <a:r>
              <a:rPr sz="1000" spc="5" dirty="0">
                <a:solidFill>
                  <a:schemeClr val="bg1"/>
                </a:solidFill>
                <a:latin typeface="Felix Titling" panose="04060505060202020A04" pitchFamily="82" charset="0"/>
                <a:cs typeface="Arial MT"/>
              </a:rPr>
              <a:t> </a:t>
            </a:r>
            <a:r>
              <a:rPr sz="1000" dirty="0">
                <a:solidFill>
                  <a:schemeClr val="bg1"/>
                </a:solidFill>
                <a:latin typeface="Felix Titling" panose="04060505060202020A04" pitchFamily="82" charset="0"/>
                <a:cs typeface="Arial"/>
              </a:rPr>
              <a:t>2.5–3.2</a:t>
            </a:r>
            <a:r>
              <a:rPr sz="1000" spc="5" dirty="0">
                <a:solidFill>
                  <a:schemeClr val="bg1"/>
                </a:solidFill>
                <a:latin typeface="Felix Titling" panose="04060505060202020A04" pitchFamily="82" charset="0"/>
                <a:cs typeface="Arial"/>
              </a:rPr>
              <a:t> </a:t>
            </a:r>
            <a:r>
              <a:rPr sz="1000" dirty="0">
                <a:solidFill>
                  <a:schemeClr val="bg1"/>
                </a:solidFill>
                <a:latin typeface="Felix Titling" panose="04060505060202020A04" pitchFamily="82" charset="0"/>
                <a:cs typeface="Arial"/>
              </a:rPr>
              <a:t>metre rise</a:t>
            </a:r>
            <a:r>
              <a:rPr sz="1000" spc="5" dirty="0">
                <a:solidFill>
                  <a:schemeClr val="bg1"/>
                </a:solidFill>
                <a:latin typeface="Felix Titling" panose="04060505060202020A04" pitchFamily="82" charset="0"/>
                <a:cs typeface="Arial"/>
              </a:rPr>
              <a:t> </a:t>
            </a:r>
            <a:r>
              <a:rPr sz="1000" dirty="0">
                <a:solidFill>
                  <a:schemeClr val="bg1"/>
                </a:solidFill>
                <a:latin typeface="Felix Titling" panose="04060505060202020A04" pitchFamily="82" charset="0"/>
                <a:cs typeface="Arial MT"/>
              </a:rPr>
              <a:t>in</a:t>
            </a:r>
            <a:r>
              <a:rPr sz="1000" spc="5" dirty="0">
                <a:solidFill>
                  <a:schemeClr val="bg1"/>
                </a:solidFill>
                <a:latin typeface="Felix Titling" panose="04060505060202020A04" pitchFamily="82" charset="0"/>
                <a:cs typeface="Arial MT"/>
              </a:rPr>
              <a:t> </a:t>
            </a:r>
            <a:r>
              <a:rPr sz="1000" dirty="0">
                <a:solidFill>
                  <a:schemeClr val="bg1"/>
                </a:solidFill>
                <a:latin typeface="Felix Titling" panose="04060505060202020A04" pitchFamily="82" charset="0"/>
                <a:cs typeface="Arial MT"/>
              </a:rPr>
              <a:t>groundwater</a:t>
            </a:r>
            <a:r>
              <a:rPr sz="1000" spc="5" dirty="0">
                <a:solidFill>
                  <a:schemeClr val="bg1"/>
                </a:solidFill>
                <a:latin typeface="Felix Titling" panose="04060505060202020A04" pitchFamily="82" charset="0"/>
                <a:cs typeface="Arial MT"/>
              </a:rPr>
              <a:t> </a:t>
            </a:r>
            <a:r>
              <a:rPr sz="1000" dirty="0">
                <a:solidFill>
                  <a:schemeClr val="bg1"/>
                </a:solidFill>
                <a:latin typeface="Felix Titling" panose="04060505060202020A04" pitchFamily="82" charset="0"/>
                <a:cs typeface="Arial MT"/>
              </a:rPr>
              <a:t>levels, </a:t>
            </a:r>
            <a:r>
              <a:rPr sz="1000" dirty="0">
                <a:solidFill>
                  <a:schemeClr val="bg1"/>
                </a:solidFill>
                <a:latin typeface="Felix Titling" panose="04060505060202020A04" pitchFamily="82" charset="0"/>
                <a:cs typeface="Arial"/>
              </a:rPr>
              <a:t>136.43</a:t>
            </a:r>
            <a:r>
              <a:rPr sz="1000" spc="5" dirty="0">
                <a:solidFill>
                  <a:schemeClr val="bg1"/>
                </a:solidFill>
                <a:latin typeface="Felix Titling" panose="04060505060202020A04" pitchFamily="82" charset="0"/>
                <a:cs typeface="Arial"/>
              </a:rPr>
              <a:t> </a:t>
            </a:r>
            <a:r>
              <a:rPr sz="1000" dirty="0">
                <a:solidFill>
                  <a:schemeClr val="bg1"/>
                </a:solidFill>
                <a:latin typeface="Felix Titling" panose="04060505060202020A04" pitchFamily="82" charset="0"/>
                <a:cs typeface="Arial"/>
              </a:rPr>
              <a:t>TCM</a:t>
            </a:r>
            <a:r>
              <a:rPr sz="1000" spc="5" dirty="0">
                <a:solidFill>
                  <a:schemeClr val="bg1"/>
                </a:solidFill>
                <a:latin typeface="Felix Titling" panose="04060505060202020A04" pitchFamily="82" charset="0"/>
                <a:cs typeface="Arial"/>
              </a:rPr>
              <a:t> </a:t>
            </a:r>
            <a:r>
              <a:rPr sz="1000" dirty="0">
                <a:solidFill>
                  <a:schemeClr val="bg1"/>
                </a:solidFill>
                <a:latin typeface="Felix Titling" panose="04060505060202020A04" pitchFamily="82" charset="0"/>
                <a:cs typeface="Arial MT"/>
              </a:rPr>
              <a:t>of</a:t>
            </a:r>
            <a:r>
              <a:rPr sz="1000" spc="5" dirty="0">
                <a:solidFill>
                  <a:schemeClr val="bg1"/>
                </a:solidFill>
                <a:latin typeface="Felix Titling" panose="04060505060202020A04" pitchFamily="82" charset="0"/>
                <a:cs typeface="Arial MT"/>
              </a:rPr>
              <a:t> </a:t>
            </a:r>
            <a:r>
              <a:rPr sz="1000" spc="-10" dirty="0">
                <a:solidFill>
                  <a:schemeClr val="bg1"/>
                </a:solidFill>
                <a:latin typeface="Felix Titling" panose="04060505060202020A04" pitchFamily="82" charset="0"/>
                <a:cs typeface="Arial MT"/>
              </a:rPr>
              <a:t>additional </a:t>
            </a:r>
            <a:r>
              <a:rPr sz="1000" dirty="0">
                <a:solidFill>
                  <a:schemeClr val="bg1"/>
                </a:solidFill>
                <a:latin typeface="Felix Titling" panose="04060505060202020A04" pitchFamily="82" charset="0"/>
                <a:cs typeface="Arial MT"/>
              </a:rPr>
              <a:t>annual water</a:t>
            </a:r>
            <a:r>
              <a:rPr sz="1000" spc="5" dirty="0">
                <a:solidFill>
                  <a:schemeClr val="bg1"/>
                </a:solidFill>
                <a:latin typeface="Felix Titling" panose="04060505060202020A04" pitchFamily="82" charset="0"/>
                <a:cs typeface="Arial MT"/>
              </a:rPr>
              <a:t> </a:t>
            </a:r>
            <a:r>
              <a:rPr sz="1000" dirty="0">
                <a:solidFill>
                  <a:schemeClr val="bg1"/>
                </a:solidFill>
                <a:latin typeface="Felix Titling" panose="04060505060202020A04" pitchFamily="82" charset="0"/>
                <a:cs typeface="Arial MT"/>
              </a:rPr>
              <a:t>storage,</a:t>
            </a:r>
            <a:r>
              <a:rPr sz="1000" spc="5" dirty="0">
                <a:solidFill>
                  <a:schemeClr val="bg1"/>
                </a:solidFill>
                <a:latin typeface="Felix Titling" panose="04060505060202020A04" pitchFamily="82" charset="0"/>
                <a:cs typeface="Arial MT"/>
              </a:rPr>
              <a:t> </a:t>
            </a:r>
            <a:r>
              <a:rPr sz="1000" dirty="0">
                <a:solidFill>
                  <a:schemeClr val="bg1"/>
                </a:solidFill>
                <a:latin typeface="Felix Titling" panose="04060505060202020A04" pitchFamily="82" charset="0"/>
                <a:cs typeface="Arial MT"/>
              </a:rPr>
              <a:t>and</a:t>
            </a:r>
            <a:r>
              <a:rPr sz="1000" spc="5" dirty="0">
                <a:solidFill>
                  <a:schemeClr val="bg1"/>
                </a:solidFill>
                <a:latin typeface="Felix Titling" panose="04060505060202020A04" pitchFamily="82" charset="0"/>
                <a:cs typeface="Arial MT"/>
              </a:rPr>
              <a:t> </a:t>
            </a:r>
            <a:r>
              <a:rPr sz="1000" dirty="0">
                <a:solidFill>
                  <a:schemeClr val="bg1"/>
                </a:solidFill>
                <a:latin typeface="Felix Titling" panose="04060505060202020A04" pitchFamily="82" charset="0"/>
                <a:cs typeface="Arial MT"/>
              </a:rPr>
              <a:t>successful</a:t>
            </a:r>
            <a:r>
              <a:rPr sz="1000" spc="5" dirty="0">
                <a:solidFill>
                  <a:schemeClr val="bg1"/>
                </a:solidFill>
                <a:latin typeface="Felix Titling" panose="04060505060202020A04" pitchFamily="82" charset="0"/>
                <a:cs typeface="Arial MT"/>
              </a:rPr>
              <a:t> </a:t>
            </a:r>
            <a:r>
              <a:rPr sz="1000" dirty="0">
                <a:solidFill>
                  <a:schemeClr val="bg1"/>
                </a:solidFill>
                <a:latin typeface="Felix Titling" panose="04060505060202020A04" pitchFamily="82" charset="0"/>
                <a:cs typeface="Arial MT"/>
              </a:rPr>
              <a:t>community</a:t>
            </a:r>
            <a:r>
              <a:rPr sz="1000" spc="5" dirty="0">
                <a:solidFill>
                  <a:schemeClr val="bg1"/>
                </a:solidFill>
                <a:latin typeface="Felix Titling" panose="04060505060202020A04" pitchFamily="82" charset="0"/>
                <a:cs typeface="Arial MT"/>
              </a:rPr>
              <a:t> </a:t>
            </a:r>
            <a:r>
              <a:rPr sz="1000" dirty="0">
                <a:solidFill>
                  <a:schemeClr val="bg1"/>
                </a:solidFill>
                <a:latin typeface="Felix Titling" panose="04060505060202020A04" pitchFamily="82" charset="0"/>
                <a:cs typeface="Arial MT"/>
              </a:rPr>
              <a:t>mobilisation</a:t>
            </a:r>
            <a:r>
              <a:rPr sz="1000" spc="5" dirty="0">
                <a:solidFill>
                  <a:schemeClr val="bg1"/>
                </a:solidFill>
                <a:latin typeface="Felix Titling" panose="04060505060202020A04" pitchFamily="82" charset="0"/>
                <a:cs typeface="Arial MT"/>
              </a:rPr>
              <a:t> </a:t>
            </a:r>
            <a:r>
              <a:rPr sz="1000" dirty="0">
                <a:solidFill>
                  <a:schemeClr val="bg1"/>
                </a:solidFill>
                <a:latin typeface="Felix Titling" panose="04060505060202020A04" pitchFamily="82" charset="0"/>
                <a:cs typeface="Arial MT"/>
              </a:rPr>
              <a:t>of</a:t>
            </a:r>
            <a:r>
              <a:rPr sz="1000" spc="5" dirty="0">
                <a:solidFill>
                  <a:schemeClr val="bg1"/>
                </a:solidFill>
                <a:latin typeface="Felix Titling" panose="04060505060202020A04" pitchFamily="82" charset="0"/>
                <a:cs typeface="Arial MT"/>
              </a:rPr>
              <a:t> </a:t>
            </a:r>
            <a:r>
              <a:rPr sz="1000" dirty="0">
                <a:solidFill>
                  <a:schemeClr val="bg1"/>
                </a:solidFill>
                <a:latin typeface="Felix Titling" panose="04060505060202020A04" pitchFamily="82" charset="0"/>
                <a:cs typeface="Arial MT"/>
              </a:rPr>
              <a:t>all</a:t>
            </a:r>
            <a:r>
              <a:rPr sz="1000" spc="5" dirty="0">
                <a:solidFill>
                  <a:schemeClr val="bg1"/>
                </a:solidFill>
                <a:latin typeface="Felix Titling" panose="04060505060202020A04" pitchFamily="82" charset="0"/>
                <a:cs typeface="Arial MT"/>
              </a:rPr>
              <a:t> </a:t>
            </a:r>
            <a:r>
              <a:rPr sz="1000" dirty="0">
                <a:solidFill>
                  <a:schemeClr val="bg1"/>
                </a:solidFill>
                <a:latin typeface="Felix Titling" panose="04060505060202020A04" pitchFamily="82" charset="0"/>
                <a:cs typeface="Arial"/>
              </a:rPr>
              <a:t>225 households</a:t>
            </a:r>
            <a:r>
              <a:rPr sz="1000" spc="5" dirty="0">
                <a:solidFill>
                  <a:schemeClr val="bg1"/>
                </a:solidFill>
                <a:latin typeface="Felix Titling" panose="04060505060202020A04" pitchFamily="82" charset="0"/>
                <a:cs typeface="Arial"/>
              </a:rPr>
              <a:t> </a:t>
            </a:r>
            <a:r>
              <a:rPr sz="1000" dirty="0">
                <a:solidFill>
                  <a:schemeClr val="bg1"/>
                </a:solidFill>
                <a:latin typeface="Felix Titling" panose="04060505060202020A04" pitchFamily="82" charset="0"/>
                <a:cs typeface="Arial MT"/>
              </a:rPr>
              <a:t>across</a:t>
            </a:r>
            <a:r>
              <a:rPr sz="1000" spc="5" dirty="0">
                <a:solidFill>
                  <a:schemeClr val="bg1"/>
                </a:solidFill>
                <a:latin typeface="Felix Titling" panose="04060505060202020A04" pitchFamily="82" charset="0"/>
                <a:cs typeface="Arial MT"/>
              </a:rPr>
              <a:t> </a:t>
            </a:r>
            <a:r>
              <a:rPr sz="1000" dirty="0">
                <a:solidFill>
                  <a:schemeClr val="bg1"/>
                </a:solidFill>
                <a:latin typeface="Felix Titling" panose="04060505060202020A04" pitchFamily="82" charset="0"/>
                <a:cs typeface="Arial MT"/>
              </a:rPr>
              <a:t>647</a:t>
            </a:r>
            <a:r>
              <a:rPr sz="1000" spc="5" dirty="0">
                <a:solidFill>
                  <a:schemeClr val="bg1"/>
                </a:solidFill>
                <a:latin typeface="Felix Titling" panose="04060505060202020A04" pitchFamily="82" charset="0"/>
                <a:cs typeface="Arial MT"/>
              </a:rPr>
              <a:t> </a:t>
            </a:r>
            <a:r>
              <a:rPr sz="1000" spc="-10" dirty="0">
                <a:solidFill>
                  <a:schemeClr val="bg1"/>
                </a:solidFill>
                <a:latin typeface="Felix Titling" panose="04060505060202020A04" pitchFamily="82" charset="0"/>
                <a:cs typeface="Arial MT"/>
              </a:rPr>
              <a:t>hectares.</a:t>
            </a:r>
            <a:endParaRPr sz="1000" dirty="0">
              <a:solidFill>
                <a:schemeClr val="bg1"/>
              </a:solidFill>
              <a:latin typeface="Felix Titling" panose="04060505060202020A04" pitchFamily="82" charset="0"/>
              <a:cs typeface="Arial MT"/>
            </a:endParaRPr>
          </a:p>
        </p:txBody>
      </p:sp>
      <p:graphicFrame>
        <p:nvGraphicFramePr>
          <p:cNvPr id="10" name="object 10">
            <a:extLst>
              <a:ext uri="{FF2B5EF4-FFF2-40B4-BE49-F238E27FC236}">
                <a16:creationId xmlns:a16="http://schemas.microsoft.com/office/drawing/2014/main" id="{3A5CA619-4379-C044-9FED-0106ABC169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7211154"/>
              </p:ext>
            </p:extLst>
          </p:nvPr>
        </p:nvGraphicFramePr>
        <p:xfrm>
          <a:off x="793169" y="3441237"/>
          <a:ext cx="6191239" cy="11112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478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78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78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478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1112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50"/>
                        </a:spcBef>
                      </a:pPr>
                      <a:r>
                        <a:rPr sz="2800" b="1" spc="-25" dirty="0">
                          <a:solidFill>
                            <a:srgbClr val="1A3A2D"/>
                          </a:solidFill>
                          <a:latin typeface="Felix Titling" panose="04060505060202020A04" pitchFamily="82" charset="0"/>
                          <a:cs typeface="Arial"/>
                        </a:rPr>
                        <a:t>225</a:t>
                      </a:r>
                      <a:endParaRPr sz="2800" dirty="0">
                        <a:latin typeface="Felix Titling" panose="04060505060202020A04" pitchFamily="82" charset="0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800" b="1" spc="-10" dirty="0">
                          <a:solidFill>
                            <a:srgbClr val="C8A84B"/>
                          </a:solidFill>
                          <a:latin typeface="Felix Titling" panose="04060505060202020A04" pitchFamily="82" charset="0"/>
                          <a:cs typeface="Arial"/>
                        </a:rPr>
                        <a:t>Households</a:t>
                      </a:r>
                      <a:endParaRPr sz="800" dirty="0">
                        <a:latin typeface="Felix Titling" panose="04060505060202020A04" pitchFamily="82" charset="0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endParaRPr sz="800" dirty="0">
                        <a:latin typeface="Felix Titling" panose="04060505060202020A04" pitchFamily="82" charset="0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50" dirty="0">
                          <a:solidFill>
                            <a:schemeClr val="tx1"/>
                          </a:solidFill>
                          <a:latin typeface="Felix Titling" panose="04060505060202020A04" pitchFamily="82" charset="0"/>
                          <a:cs typeface="Arial MT"/>
                        </a:rPr>
                        <a:t>Community </a:t>
                      </a:r>
                      <a:r>
                        <a:rPr sz="750" spc="-10" dirty="0">
                          <a:solidFill>
                            <a:schemeClr val="tx1"/>
                          </a:solidFill>
                          <a:latin typeface="Felix Titling" panose="04060505060202020A04" pitchFamily="82" charset="0"/>
                          <a:cs typeface="Arial MT"/>
                        </a:rPr>
                        <a:t>Reached</a:t>
                      </a:r>
                      <a:endParaRPr sz="750" dirty="0">
                        <a:solidFill>
                          <a:schemeClr val="tx1"/>
                        </a:solidFill>
                        <a:latin typeface="Felix Titling" panose="04060505060202020A04" pitchFamily="82" charset="0"/>
                        <a:cs typeface="Arial MT"/>
                      </a:endParaRPr>
                    </a:p>
                  </a:txBody>
                  <a:tcPr marL="0" marR="0" marT="196850" marB="0">
                    <a:lnT w="76200">
                      <a:solidFill>
                        <a:srgbClr val="C8A84B"/>
                      </a:solidFill>
                      <a:prstDash val="solid"/>
                    </a:lnT>
                    <a:solidFill>
                      <a:srgbClr val="F9F6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50"/>
                        </a:spcBef>
                      </a:pPr>
                      <a:r>
                        <a:rPr sz="2800" b="1" spc="-25" dirty="0">
                          <a:solidFill>
                            <a:srgbClr val="6B4226"/>
                          </a:solidFill>
                          <a:latin typeface="Felix Titling" panose="04060505060202020A04" pitchFamily="82" charset="0"/>
                          <a:cs typeface="Arial"/>
                        </a:rPr>
                        <a:t>647</a:t>
                      </a:r>
                      <a:endParaRPr sz="2800" dirty="0">
                        <a:latin typeface="Felix Titling" panose="04060505060202020A04" pitchFamily="82" charset="0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800" b="1" spc="-10" dirty="0">
                          <a:solidFill>
                            <a:srgbClr val="C8A84B"/>
                          </a:solidFill>
                          <a:latin typeface="Felix Titling" panose="04060505060202020A04" pitchFamily="82" charset="0"/>
                          <a:cs typeface="Arial"/>
                        </a:rPr>
                        <a:t>Hectares</a:t>
                      </a:r>
                      <a:endParaRPr sz="800" dirty="0">
                        <a:latin typeface="Felix Titling" panose="04060505060202020A04" pitchFamily="82" charset="0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endParaRPr sz="800" dirty="0">
                        <a:latin typeface="Felix Titling" panose="04060505060202020A04" pitchFamily="82" charset="0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50" dirty="0">
                          <a:solidFill>
                            <a:schemeClr val="tx1"/>
                          </a:solidFill>
                          <a:latin typeface="Felix Titling" panose="04060505060202020A04" pitchFamily="82" charset="0"/>
                          <a:cs typeface="Arial MT"/>
                        </a:rPr>
                        <a:t>Total Project </a:t>
                      </a:r>
                      <a:r>
                        <a:rPr sz="750" spc="-20" dirty="0">
                          <a:solidFill>
                            <a:schemeClr val="tx1"/>
                          </a:solidFill>
                          <a:latin typeface="Felix Titling" panose="04060505060202020A04" pitchFamily="82" charset="0"/>
                          <a:cs typeface="Arial MT"/>
                        </a:rPr>
                        <a:t>Area</a:t>
                      </a:r>
                      <a:endParaRPr sz="750" dirty="0">
                        <a:solidFill>
                          <a:schemeClr val="tx1"/>
                        </a:solidFill>
                        <a:latin typeface="Felix Titling" panose="04060505060202020A04" pitchFamily="82" charset="0"/>
                        <a:cs typeface="Arial MT"/>
                      </a:endParaRPr>
                    </a:p>
                  </a:txBody>
                  <a:tcPr marL="0" marR="0" marT="196850" marB="0">
                    <a:lnT w="76200">
                      <a:solidFill>
                        <a:srgbClr val="C8A84B"/>
                      </a:solidFill>
                      <a:prstDash val="solid"/>
                    </a:lnT>
                    <a:solidFill>
                      <a:srgbClr val="FBF2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50"/>
                        </a:spcBef>
                      </a:pPr>
                      <a:r>
                        <a:rPr sz="2800" b="1" spc="-10" dirty="0">
                          <a:solidFill>
                            <a:srgbClr val="2D593D"/>
                          </a:solidFill>
                          <a:latin typeface="Felix Titling" panose="04060505060202020A04" pitchFamily="82" charset="0"/>
                          <a:cs typeface="Arial"/>
                        </a:rPr>
                        <a:t>136.43</a:t>
                      </a:r>
                      <a:endParaRPr sz="2800" dirty="0">
                        <a:latin typeface="Felix Titling" panose="04060505060202020A04" pitchFamily="82" charset="0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800" b="1" spc="-10" dirty="0">
                          <a:solidFill>
                            <a:srgbClr val="C8A84B"/>
                          </a:solidFill>
                          <a:latin typeface="Felix Titling" panose="04060505060202020A04" pitchFamily="82" charset="0"/>
                          <a:cs typeface="Arial"/>
                        </a:rPr>
                        <a:t>TCM/Year</a:t>
                      </a:r>
                      <a:endParaRPr sz="800" dirty="0">
                        <a:latin typeface="Felix Titling" panose="04060505060202020A04" pitchFamily="82" charset="0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endParaRPr sz="800" dirty="0">
                        <a:latin typeface="Felix Titling" panose="04060505060202020A04" pitchFamily="82" charset="0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50" dirty="0">
                          <a:solidFill>
                            <a:schemeClr val="tx1"/>
                          </a:solidFill>
                          <a:latin typeface="Felix Titling" panose="04060505060202020A04" pitchFamily="82" charset="0"/>
                          <a:cs typeface="Arial MT"/>
                        </a:rPr>
                        <a:t>Water Storage </a:t>
                      </a:r>
                      <a:r>
                        <a:rPr sz="750" spc="-10" dirty="0">
                          <a:solidFill>
                            <a:schemeClr val="tx1"/>
                          </a:solidFill>
                          <a:latin typeface="Felix Titling" panose="04060505060202020A04" pitchFamily="82" charset="0"/>
                          <a:cs typeface="Arial MT"/>
                        </a:rPr>
                        <a:t>Created</a:t>
                      </a:r>
                      <a:endParaRPr sz="750" dirty="0">
                        <a:solidFill>
                          <a:schemeClr val="tx1"/>
                        </a:solidFill>
                        <a:latin typeface="Felix Titling" panose="04060505060202020A04" pitchFamily="82" charset="0"/>
                        <a:cs typeface="Arial MT"/>
                      </a:endParaRPr>
                    </a:p>
                  </a:txBody>
                  <a:tcPr marL="0" marR="0" marT="196850" marB="0">
                    <a:lnT w="76200">
                      <a:solidFill>
                        <a:srgbClr val="C8A84B"/>
                      </a:solidFill>
                      <a:prstDash val="solid"/>
                    </a:lnT>
                    <a:solidFill>
                      <a:srgbClr val="EFF9F4"/>
                    </a:solidFill>
                  </a:tcPr>
                </a:tc>
                <a:tc>
                  <a:txBody>
                    <a:bodyPr/>
                    <a:lstStyle/>
                    <a:p>
                      <a:pPr marL="307975" algn="l">
                        <a:lnSpc>
                          <a:spcPct val="100000"/>
                        </a:lnSpc>
                        <a:spcBef>
                          <a:spcPts val="1550"/>
                        </a:spcBef>
                      </a:pPr>
                      <a:r>
                        <a:rPr sz="2800" b="1" dirty="0">
                          <a:solidFill>
                            <a:srgbClr val="0C3B6B"/>
                          </a:solidFill>
                          <a:latin typeface="Felix Titling" panose="04060505060202020A04" pitchFamily="82" charset="0"/>
                          <a:cs typeface="Arial"/>
                        </a:rPr>
                        <a:t>3</a:t>
                      </a:r>
                      <a:r>
                        <a:rPr lang="en-IN" sz="2800" b="1" dirty="0">
                          <a:solidFill>
                            <a:srgbClr val="0C3B6B"/>
                          </a:solidFill>
                          <a:latin typeface="Felix Titling" panose="04060505060202020A04" pitchFamily="82" charset="0"/>
                          <a:cs typeface="Arial"/>
                        </a:rPr>
                        <a:t>+</a:t>
                      </a:r>
                      <a:r>
                        <a:rPr lang="en-IN" sz="1400" b="1" spc="-50" dirty="0">
                          <a:solidFill>
                            <a:srgbClr val="0C3B6B"/>
                          </a:solidFill>
                          <a:latin typeface="Aparajita" panose="02020603050405020304" pitchFamily="18" charset="0"/>
                          <a:cs typeface="Aparajita" panose="02020603050405020304" pitchFamily="18" charset="0"/>
                        </a:rPr>
                        <a:t>metres</a:t>
                      </a:r>
                      <a:endParaRPr sz="2800" dirty="0">
                        <a:latin typeface="Aparajita" panose="02020603050405020304" pitchFamily="18" charset="0"/>
                        <a:cs typeface="Aparajita" panose="02020603050405020304" pitchFamily="18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800" b="1" dirty="0">
                          <a:solidFill>
                            <a:srgbClr val="C8A84B"/>
                          </a:solidFill>
                          <a:latin typeface="Felix Titling" panose="04060505060202020A04" pitchFamily="82" charset="0"/>
                          <a:cs typeface="Arial"/>
                        </a:rPr>
                        <a:t>Max</a:t>
                      </a:r>
                      <a:r>
                        <a:rPr sz="800" b="1" spc="-20" dirty="0">
                          <a:solidFill>
                            <a:srgbClr val="C8A84B"/>
                          </a:solidFill>
                          <a:latin typeface="Felix Titling" panose="04060505060202020A04" pitchFamily="82" charset="0"/>
                          <a:cs typeface="Arial"/>
                        </a:rPr>
                        <a:t> </a:t>
                      </a:r>
                      <a:r>
                        <a:rPr lang="en-IN" sz="800" b="1" spc="-20" dirty="0">
                          <a:solidFill>
                            <a:srgbClr val="C8A84B"/>
                          </a:solidFill>
                          <a:latin typeface="Felix Titling" panose="04060505060202020A04" pitchFamily="82" charset="0"/>
                          <a:cs typeface="Arial"/>
                        </a:rPr>
                        <a:t> </a:t>
                      </a:r>
                      <a:r>
                        <a:rPr sz="800" b="1" spc="-20" dirty="0">
                          <a:solidFill>
                            <a:srgbClr val="C8A84B"/>
                          </a:solidFill>
                          <a:latin typeface="Felix Titling" panose="04060505060202020A04" pitchFamily="82" charset="0"/>
                          <a:cs typeface="Arial"/>
                        </a:rPr>
                        <a:t>Rise</a:t>
                      </a:r>
                      <a:endParaRPr sz="800" dirty="0">
                        <a:latin typeface="Felix Titling" panose="04060505060202020A04" pitchFamily="82" charset="0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endParaRPr sz="800" dirty="0">
                        <a:latin typeface="Felix Titling" panose="04060505060202020A04" pitchFamily="82" charset="0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50" dirty="0">
                          <a:solidFill>
                            <a:schemeClr val="tx1"/>
                          </a:solidFill>
                          <a:latin typeface="Felix Titling" panose="04060505060202020A04" pitchFamily="82" charset="0"/>
                          <a:cs typeface="Arial MT"/>
                        </a:rPr>
                        <a:t>Groundwater </a:t>
                      </a:r>
                      <a:r>
                        <a:rPr sz="750" spc="-10" dirty="0">
                          <a:solidFill>
                            <a:schemeClr val="tx1"/>
                          </a:solidFill>
                          <a:latin typeface="Felix Titling" panose="04060505060202020A04" pitchFamily="82" charset="0"/>
                          <a:cs typeface="Arial MT"/>
                        </a:rPr>
                        <a:t>Recharge</a:t>
                      </a:r>
                      <a:endParaRPr sz="750" dirty="0">
                        <a:solidFill>
                          <a:schemeClr val="tx1"/>
                        </a:solidFill>
                        <a:latin typeface="Felix Titling" panose="04060505060202020A04" pitchFamily="82" charset="0"/>
                        <a:cs typeface="Arial MT"/>
                      </a:endParaRPr>
                    </a:p>
                  </a:txBody>
                  <a:tcPr marL="0" marR="0" marT="196850" marB="0">
                    <a:lnT w="76200">
                      <a:solidFill>
                        <a:srgbClr val="C8A84B"/>
                      </a:solidFill>
                      <a:prstDash val="solid"/>
                    </a:lnT>
                    <a:solidFill>
                      <a:srgbClr val="BADD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" name="object 11">
            <a:extLst>
              <a:ext uri="{FF2B5EF4-FFF2-40B4-BE49-F238E27FC236}">
                <a16:creationId xmlns:a16="http://schemas.microsoft.com/office/drawing/2014/main" id="{CE62F2F5-58CF-8DA5-7BE9-2DABFBEA8FC1}"/>
              </a:ext>
            </a:extLst>
          </p:cNvPr>
          <p:cNvSpPr/>
          <p:nvPr/>
        </p:nvSpPr>
        <p:spPr>
          <a:xfrm>
            <a:off x="1135160" y="4285200"/>
            <a:ext cx="915669" cy="15240"/>
          </a:xfrm>
          <a:custGeom>
            <a:avLst/>
            <a:gdLst/>
            <a:ahLst/>
            <a:cxnLst/>
            <a:rect l="l" t="t" r="r" b="b"/>
            <a:pathLst>
              <a:path w="915669" h="15239">
                <a:moveTo>
                  <a:pt x="915480" y="0"/>
                </a:moveTo>
                <a:lnTo>
                  <a:pt x="0" y="0"/>
                </a:lnTo>
                <a:lnTo>
                  <a:pt x="0" y="15240"/>
                </a:lnTo>
                <a:lnTo>
                  <a:pt x="915480" y="15240"/>
                </a:lnTo>
                <a:lnTo>
                  <a:pt x="915480" y="0"/>
                </a:lnTo>
                <a:close/>
              </a:path>
            </a:pathLst>
          </a:custGeom>
          <a:solidFill>
            <a:srgbClr val="D4C4A0"/>
          </a:solidFill>
        </p:spPr>
        <p:txBody>
          <a:bodyPr wrap="square" lIns="0" tIns="0" rIns="0" bIns="0" rtlCol="0"/>
          <a:lstStyle/>
          <a:p>
            <a:endParaRPr dirty="0">
              <a:latin typeface="Felix Titling" panose="04060505060202020A04" pitchFamily="82" charset="0"/>
            </a:endParaRPr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39BFD339-35ED-7092-1926-D720C1F948F9}"/>
              </a:ext>
            </a:extLst>
          </p:cNvPr>
          <p:cNvSpPr/>
          <p:nvPr/>
        </p:nvSpPr>
        <p:spPr>
          <a:xfrm>
            <a:off x="2660959" y="4285200"/>
            <a:ext cx="915669" cy="15240"/>
          </a:xfrm>
          <a:custGeom>
            <a:avLst/>
            <a:gdLst/>
            <a:ahLst/>
            <a:cxnLst/>
            <a:rect l="l" t="t" r="r" b="b"/>
            <a:pathLst>
              <a:path w="915670" h="15239">
                <a:moveTo>
                  <a:pt x="915480" y="0"/>
                </a:moveTo>
                <a:lnTo>
                  <a:pt x="0" y="0"/>
                </a:lnTo>
                <a:lnTo>
                  <a:pt x="0" y="15240"/>
                </a:lnTo>
                <a:lnTo>
                  <a:pt x="915480" y="15240"/>
                </a:lnTo>
                <a:lnTo>
                  <a:pt x="915480" y="0"/>
                </a:lnTo>
                <a:close/>
              </a:path>
            </a:pathLst>
          </a:custGeom>
          <a:solidFill>
            <a:srgbClr val="D4C4A0"/>
          </a:solidFill>
        </p:spPr>
        <p:txBody>
          <a:bodyPr wrap="square" lIns="0" tIns="0" rIns="0" bIns="0" rtlCol="0"/>
          <a:lstStyle/>
          <a:p>
            <a:endParaRPr dirty="0">
              <a:latin typeface="Felix Titling" panose="04060505060202020A04" pitchFamily="82" charset="0"/>
            </a:endParaRPr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9EC92FE1-CC12-4A93-CA6C-713164AE872B}"/>
              </a:ext>
            </a:extLst>
          </p:cNvPr>
          <p:cNvSpPr/>
          <p:nvPr/>
        </p:nvSpPr>
        <p:spPr>
          <a:xfrm>
            <a:off x="4186760" y="4285200"/>
            <a:ext cx="915669" cy="15240"/>
          </a:xfrm>
          <a:custGeom>
            <a:avLst/>
            <a:gdLst/>
            <a:ahLst/>
            <a:cxnLst/>
            <a:rect l="l" t="t" r="r" b="b"/>
            <a:pathLst>
              <a:path w="915670" h="15239">
                <a:moveTo>
                  <a:pt x="915480" y="0"/>
                </a:moveTo>
                <a:lnTo>
                  <a:pt x="0" y="0"/>
                </a:lnTo>
                <a:lnTo>
                  <a:pt x="0" y="15240"/>
                </a:lnTo>
                <a:lnTo>
                  <a:pt x="915480" y="15240"/>
                </a:lnTo>
                <a:lnTo>
                  <a:pt x="915480" y="0"/>
                </a:lnTo>
                <a:close/>
              </a:path>
            </a:pathLst>
          </a:custGeom>
          <a:solidFill>
            <a:srgbClr val="D4C4A0"/>
          </a:solidFill>
        </p:spPr>
        <p:txBody>
          <a:bodyPr wrap="square" lIns="0" tIns="0" rIns="0" bIns="0" rtlCol="0"/>
          <a:lstStyle/>
          <a:p>
            <a:endParaRPr dirty="0">
              <a:latin typeface="Felix Titling" panose="04060505060202020A04" pitchFamily="82" charset="0"/>
            </a:endParaRPr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C082DCE2-668C-8B8C-1DB9-C1418721A859}"/>
              </a:ext>
            </a:extLst>
          </p:cNvPr>
          <p:cNvSpPr/>
          <p:nvPr/>
        </p:nvSpPr>
        <p:spPr>
          <a:xfrm>
            <a:off x="5712560" y="4285200"/>
            <a:ext cx="915669" cy="15240"/>
          </a:xfrm>
          <a:custGeom>
            <a:avLst/>
            <a:gdLst/>
            <a:ahLst/>
            <a:cxnLst/>
            <a:rect l="l" t="t" r="r" b="b"/>
            <a:pathLst>
              <a:path w="915670" h="15239">
                <a:moveTo>
                  <a:pt x="915480" y="0"/>
                </a:moveTo>
                <a:lnTo>
                  <a:pt x="0" y="0"/>
                </a:lnTo>
                <a:lnTo>
                  <a:pt x="0" y="15240"/>
                </a:lnTo>
                <a:lnTo>
                  <a:pt x="915480" y="15240"/>
                </a:lnTo>
                <a:lnTo>
                  <a:pt x="915480" y="0"/>
                </a:lnTo>
                <a:close/>
              </a:path>
            </a:pathLst>
          </a:custGeom>
          <a:solidFill>
            <a:srgbClr val="D4C4A0"/>
          </a:solidFill>
        </p:spPr>
        <p:txBody>
          <a:bodyPr wrap="square" lIns="0" tIns="0" rIns="0" bIns="0" rtlCol="0"/>
          <a:lstStyle/>
          <a:p>
            <a:endParaRPr dirty="0">
              <a:latin typeface="Felix Titling" panose="04060505060202020A04" pitchFamily="82" charset="0"/>
            </a:endParaRPr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307D3634-FE22-9653-E46E-A05F1161439A}"/>
              </a:ext>
            </a:extLst>
          </p:cNvPr>
          <p:cNvSpPr/>
          <p:nvPr/>
        </p:nvSpPr>
        <p:spPr>
          <a:xfrm>
            <a:off x="779199" y="4694140"/>
            <a:ext cx="1241425" cy="63500"/>
          </a:xfrm>
          <a:custGeom>
            <a:avLst/>
            <a:gdLst/>
            <a:ahLst/>
            <a:cxnLst/>
            <a:rect l="l" t="t" r="r" b="b"/>
            <a:pathLst>
              <a:path w="1241425" h="63500">
                <a:moveTo>
                  <a:pt x="1240960" y="0"/>
                </a:moveTo>
                <a:lnTo>
                  <a:pt x="0" y="0"/>
                </a:lnTo>
                <a:lnTo>
                  <a:pt x="0" y="63500"/>
                </a:lnTo>
                <a:lnTo>
                  <a:pt x="1240960" y="63500"/>
                </a:lnTo>
                <a:lnTo>
                  <a:pt x="1240960" y="0"/>
                </a:lnTo>
                <a:close/>
              </a:path>
            </a:pathLst>
          </a:custGeom>
          <a:solidFill>
            <a:srgbClr val="C8A84B"/>
          </a:solidFill>
        </p:spPr>
        <p:txBody>
          <a:bodyPr wrap="square" lIns="0" tIns="0" rIns="0" bIns="0" rtlCol="0"/>
          <a:lstStyle/>
          <a:p>
            <a:endParaRPr dirty="0">
              <a:latin typeface="Felix Titling" panose="04060505060202020A04" pitchFamily="82" charset="0"/>
            </a:endParaRPr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514E550A-F7A5-3886-12DA-0ABF90204995}"/>
              </a:ext>
            </a:extLst>
          </p:cNvPr>
          <p:cNvSpPr/>
          <p:nvPr/>
        </p:nvSpPr>
        <p:spPr>
          <a:xfrm>
            <a:off x="2082208" y="4713190"/>
            <a:ext cx="4902200" cy="19050"/>
          </a:xfrm>
          <a:custGeom>
            <a:avLst/>
            <a:gdLst/>
            <a:ahLst/>
            <a:cxnLst/>
            <a:rect l="l" t="t" r="r" b="b"/>
            <a:pathLst>
              <a:path w="4902200" h="19050">
                <a:moveTo>
                  <a:pt x="4901792" y="0"/>
                </a:moveTo>
                <a:lnTo>
                  <a:pt x="0" y="0"/>
                </a:lnTo>
                <a:lnTo>
                  <a:pt x="0" y="19050"/>
                </a:lnTo>
                <a:lnTo>
                  <a:pt x="4901792" y="19050"/>
                </a:lnTo>
                <a:lnTo>
                  <a:pt x="4901792" y="0"/>
                </a:lnTo>
                <a:close/>
              </a:path>
            </a:pathLst>
          </a:custGeom>
          <a:solidFill>
            <a:srgbClr val="D4C4A0"/>
          </a:solidFill>
        </p:spPr>
        <p:txBody>
          <a:bodyPr wrap="square" lIns="0" tIns="0" rIns="0" bIns="0" rtlCol="0"/>
          <a:lstStyle/>
          <a:p>
            <a:endParaRPr dirty="0">
              <a:latin typeface="Felix Titling" panose="04060505060202020A04" pitchFamily="82" charset="0"/>
            </a:endParaRPr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E217FDF9-6E85-B306-3A55-8E6E5EF1D487}"/>
              </a:ext>
            </a:extLst>
          </p:cNvPr>
          <p:cNvSpPr txBox="1"/>
          <p:nvPr/>
        </p:nvSpPr>
        <p:spPr>
          <a:xfrm>
            <a:off x="829999" y="5227361"/>
            <a:ext cx="3240650" cy="2744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dirty="0">
                <a:solidFill>
                  <a:srgbClr val="1A3A2D"/>
                </a:solidFill>
                <a:latin typeface="Felix Titling" panose="04060505060202020A04" pitchFamily="82" charset="0"/>
                <a:cs typeface="Arial"/>
              </a:rPr>
              <a:t>Project</a:t>
            </a:r>
            <a:r>
              <a:rPr sz="1700" b="1" spc="-60" dirty="0">
                <a:solidFill>
                  <a:srgbClr val="1A3A2D"/>
                </a:solidFill>
                <a:latin typeface="Felix Titling" panose="04060505060202020A04" pitchFamily="82" charset="0"/>
                <a:cs typeface="Arial"/>
              </a:rPr>
              <a:t> </a:t>
            </a:r>
            <a:r>
              <a:rPr sz="1700" b="1" spc="-10" dirty="0">
                <a:solidFill>
                  <a:srgbClr val="1A3A2D"/>
                </a:solidFill>
                <a:latin typeface="Felix Titling" panose="04060505060202020A04" pitchFamily="82" charset="0"/>
                <a:cs typeface="Arial"/>
              </a:rPr>
              <a:t>Overview</a:t>
            </a:r>
            <a:endParaRPr sz="1700" dirty="0">
              <a:latin typeface="Felix Titling" panose="04060505060202020A04" pitchFamily="82" charset="0"/>
              <a:cs typeface="Arial"/>
            </a:endParaRPr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D3FC5429-6BE8-498F-9C4C-DB967F027635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TE</a:t>
            </a:r>
            <a:r>
              <a:rPr spc="-5" dirty="0"/>
              <a:t> </a:t>
            </a:r>
            <a:r>
              <a:rPr dirty="0"/>
              <a:t>Integrated Watershed Management Project</a:t>
            </a:r>
            <a:r>
              <a:rPr spc="210" dirty="0"/>
              <a:t> </a:t>
            </a:r>
            <a:r>
              <a:rPr dirty="0"/>
              <a:t>|</a:t>
            </a:r>
            <a:r>
              <a:rPr spc="210" dirty="0"/>
              <a:t> </a:t>
            </a:r>
            <a:r>
              <a:rPr dirty="0"/>
              <a:t>Ghatdare, Khandala, Satara</a:t>
            </a:r>
            <a:r>
              <a:rPr spc="210" dirty="0"/>
              <a:t> </a:t>
            </a:r>
            <a:r>
              <a:rPr dirty="0"/>
              <a:t>|</a:t>
            </a:r>
            <a:r>
              <a:rPr spc="210" dirty="0"/>
              <a:t> </a:t>
            </a:r>
            <a:r>
              <a:rPr dirty="0"/>
              <a:t>FY 2025-</a:t>
            </a:r>
            <a:r>
              <a:rPr spc="-25" dirty="0"/>
              <a:t>26</a:t>
            </a:r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AB4B186B-ECBC-5923-9094-AB43A4E5A8B9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Page</a:t>
            </a:r>
            <a:r>
              <a:rPr spc="-20" dirty="0"/>
              <a:t> </a:t>
            </a:r>
            <a:fld id="{81D60167-4931-47E6-BA6A-407CBD079E47}" type="slidenum">
              <a:rPr spc="-25" dirty="0"/>
              <a:t>3</a:t>
            </a:fld>
            <a:endParaRPr spc="-25" dirty="0"/>
          </a:p>
        </p:txBody>
      </p:sp>
      <p:graphicFrame>
        <p:nvGraphicFramePr>
          <p:cNvPr id="18" name="object 18">
            <a:extLst>
              <a:ext uri="{FF2B5EF4-FFF2-40B4-BE49-F238E27FC236}">
                <a16:creationId xmlns:a16="http://schemas.microsoft.com/office/drawing/2014/main" id="{45FBF935-02FC-C9D3-4A38-19B8A25287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2819007"/>
              </p:ext>
            </p:extLst>
          </p:nvPr>
        </p:nvGraphicFramePr>
        <p:xfrm>
          <a:off x="793169" y="5823202"/>
          <a:ext cx="6204585" cy="25139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67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8765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sz="900" b="1" dirty="0">
                          <a:solidFill>
                            <a:srgbClr val="2A2A2A"/>
                          </a:solidFill>
                          <a:latin typeface="Aptos Display" panose="020B0004020202020204" pitchFamily="34" charset="0"/>
                          <a:cs typeface="Arial"/>
                        </a:rPr>
                        <a:t>Project </a:t>
                      </a:r>
                      <a:r>
                        <a:rPr sz="900" b="1" spc="-10" dirty="0">
                          <a:solidFill>
                            <a:srgbClr val="2A2A2A"/>
                          </a:solidFill>
                          <a:latin typeface="Aptos Display" panose="020B0004020202020204" pitchFamily="34" charset="0"/>
                          <a:cs typeface="Arial"/>
                        </a:rPr>
                        <a:t>Title</a:t>
                      </a:r>
                      <a:endParaRPr sz="900" dirty="0">
                        <a:latin typeface="Aptos Display" panose="020B0004020202020204" pitchFamily="34" charset="0"/>
                        <a:cs typeface="Arial"/>
                      </a:endParaRPr>
                    </a:p>
                  </a:txBody>
                  <a:tcPr marL="0" marR="0" marT="63500" marB="0">
                    <a:lnL w="6350">
                      <a:solidFill>
                        <a:srgbClr val="D4C4A0"/>
                      </a:solidFill>
                      <a:prstDash val="solid"/>
                    </a:lnL>
                    <a:lnR w="6350">
                      <a:solidFill>
                        <a:srgbClr val="D4C4A0"/>
                      </a:solidFill>
                      <a:prstDash val="solid"/>
                    </a:lnR>
                    <a:lnT w="6350">
                      <a:solidFill>
                        <a:srgbClr val="D4C4A0"/>
                      </a:solidFill>
                      <a:prstDash val="solid"/>
                    </a:lnT>
                    <a:lnB w="6350">
                      <a:solidFill>
                        <a:srgbClr val="D4C4A0"/>
                      </a:solidFill>
                      <a:prstDash val="solid"/>
                    </a:lnB>
                    <a:solidFill>
                      <a:srgbClr val="EFF9F4"/>
                    </a:solidFill>
                  </a:tcPr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sz="900" dirty="0">
                          <a:solidFill>
                            <a:srgbClr val="2A2A2A"/>
                          </a:solidFill>
                          <a:latin typeface="Aptos Display" panose="020B0004020202020204" pitchFamily="34" charset="0"/>
                          <a:cs typeface="Arial MT"/>
                        </a:rPr>
                        <a:t>TE</a:t>
                      </a:r>
                      <a:r>
                        <a:rPr sz="900" spc="-5" dirty="0">
                          <a:solidFill>
                            <a:srgbClr val="2A2A2A"/>
                          </a:solidFill>
                          <a:latin typeface="Aptos Display" panose="020B0004020202020204" pitchFamily="34" charset="0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2A2A2A"/>
                          </a:solidFill>
                          <a:latin typeface="Aptos Display" panose="020B0004020202020204" pitchFamily="34" charset="0"/>
                          <a:cs typeface="Arial MT"/>
                        </a:rPr>
                        <a:t>Integrated</a:t>
                      </a:r>
                      <a:r>
                        <a:rPr sz="900" spc="-5" dirty="0">
                          <a:solidFill>
                            <a:srgbClr val="2A2A2A"/>
                          </a:solidFill>
                          <a:latin typeface="Aptos Display" panose="020B0004020202020204" pitchFamily="34" charset="0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2A2A2A"/>
                          </a:solidFill>
                          <a:latin typeface="Aptos Display" panose="020B0004020202020204" pitchFamily="34" charset="0"/>
                          <a:cs typeface="Arial MT"/>
                        </a:rPr>
                        <a:t>Watershed</a:t>
                      </a:r>
                      <a:r>
                        <a:rPr sz="900" spc="-5" dirty="0">
                          <a:solidFill>
                            <a:srgbClr val="2A2A2A"/>
                          </a:solidFill>
                          <a:latin typeface="Aptos Display" panose="020B0004020202020204" pitchFamily="34" charset="0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2A2A2A"/>
                          </a:solidFill>
                          <a:latin typeface="Aptos Display" panose="020B0004020202020204" pitchFamily="34" charset="0"/>
                          <a:cs typeface="Arial MT"/>
                        </a:rPr>
                        <a:t>Management</a:t>
                      </a:r>
                      <a:r>
                        <a:rPr sz="900" spc="-5" dirty="0">
                          <a:solidFill>
                            <a:srgbClr val="2A2A2A"/>
                          </a:solidFill>
                          <a:latin typeface="Aptos Display" panose="020B0004020202020204" pitchFamily="34" charset="0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2A2A2A"/>
                          </a:solidFill>
                          <a:latin typeface="Aptos Display" panose="020B0004020202020204" pitchFamily="34" charset="0"/>
                          <a:cs typeface="Arial MT"/>
                        </a:rPr>
                        <a:t>Project</a:t>
                      </a:r>
                      <a:r>
                        <a:rPr sz="900" spc="-5" dirty="0">
                          <a:solidFill>
                            <a:srgbClr val="2A2A2A"/>
                          </a:solidFill>
                          <a:latin typeface="Aptos Display" panose="020B0004020202020204" pitchFamily="34" charset="0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2A2A2A"/>
                          </a:solidFill>
                          <a:latin typeface="Aptos Display" panose="020B0004020202020204" pitchFamily="34" charset="0"/>
                          <a:cs typeface="Arial MT"/>
                        </a:rPr>
                        <a:t>(IWMP), Village</a:t>
                      </a:r>
                      <a:r>
                        <a:rPr sz="900" spc="-5" dirty="0">
                          <a:solidFill>
                            <a:srgbClr val="2A2A2A"/>
                          </a:solidFill>
                          <a:latin typeface="Aptos Display" panose="020B0004020202020204" pitchFamily="34" charset="0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2A2A2A"/>
                          </a:solidFill>
                          <a:latin typeface="Aptos Display" panose="020B0004020202020204" pitchFamily="34" charset="0"/>
                          <a:cs typeface="Arial MT"/>
                        </a:rPr>
                        <a:t>–</a:t>
                      </a:r>
                      <a:r>
                        <a:rPr sz="900" spc="-5" dirty="0">
                          <a:solidFill>
                            <a:srgbClr val="2A2A2A"/>
                          </a:solidFill>
                          <a:latin typeface="Aptos Display" panose="020B0004020202020204" pitchFamily="34" charset="0"/>
                          <a:cs typeface="Arial MT"/>
                        </a:rPr>
                        <a:t> </a:t>
                      </a:r>
                      <a:r>
                        <a:rPr sz="900" spc="-10" dirty="0">
                          <a:solidFill>
                            <a:srgbClr val="2A2A2A"/>
                          </a:solidFill>
                          <a:latin typeface="Aptos Display" panose="020B0004020202020204" pitchFamily="34" charset="0"/>
                          <a:cs typeface="Arial MT"/>
                        </a:rPr>
                        <a:t>Ghatdare</a:t>
                      </a:r>
                      <a:endParaRPr sz="900" dirty="0">
                        <a:latin typeface="Aptos Display" panose="020B0004020202020204" pitchFamily="34" charset="0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D4C4A0"/>
                      </a:solidFill>
                      <a:prstDash val="solid"/>
                    </a:lnL>
                    <a:lnR w="6350">
                      <a:solidFill>
                        <a:srgbClr val="D4C4A0"/>
                      </a:solidFill>
                      <a:prstDash val="solid"/>
                    </a:lnR>
                    <a:lnT w="6350">
                      <a:solidFill>
                        <a:srgbClr val="D4C4A0"/>
                      </a:solidFill>
                      <a:prstDash val="solid"/>
                    </a:lnT>
                    <a:lnB w="6350">
                      <a:solidFill>
                        <a:srgbClr val="D4C4A0"/>
                      </a:solidFill>
                      <a:prstDash val="solid"/>
                    </a:lnB>
                    <a:solidFill>
                      <a:srgbClr val="F4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sz="900" b="1" dirty="0">
                          <a:solidFill>
                            <a:srgbClr val="2A2A2A"/>
                          </a:solidFill>
                          <a:latin typeface="Aptos Display" panose="020B0004020202020204" pitchFamily="34" charset="0"/>
                          <a:cs typeface="Arial"/>
                        </a:rPr>
                        <a:t>CSR </a:t>
                      </a:r>
                      <a:r>
                        <a:rPr sz="900" b="1" spc="-10" dirty="0">
                          <a:solidFill>
                            <a:srgbClr val="2A2A2A"/>
                          </a:solidFill>
                          <a:latin typeface="Aptos Display" panose="020B0004020202020204" pitchFamily="34" charset="0"/>
                          <a:cs typeface="Arial"/>
                        </a:rPr>
                        <a:t>Partner</a:t>
                      </a:r>
                      <a:endParaRPr sz="900" dirty="0">
                        <a:latin typeface="Aptos Display" panose="020B0004020202020204" pitchFamily="34" charset="0"/>
                        <a:cs typeface="Arial"/>
                      </a:endParaRPr>
                    </a:p>
                  </a:txBody>
                  <a:tcPr marL="0" marR="0" marT="63500" marB="0">
                    <a:lnL w="6350">
                      <a:solidFill>
                        <a:srgbClr val="D4C4A0"/>
                      </a:solidFill>
                      <a:prstDash val="solid"/>
                    </a:lnL>
                    <a:lnR w="6350">
                      <a:solidFill>
                        <a:srgbClr val="D4C4A0"/>
                      </a:solidFill>
                      <a:prstDash val="solid"/>
                    </a:lnR>
                    <a:lnT w="6350">
                      <a:solidFill>
                        <a:srgbClr val="D4C4A0"/>
                      </a:solidFill>
                      <a:prstDash val="solid"/>
                    </a:lnT>
                    <a:lnB w="6350">
                      <a:solidFill>
                        <a:srgbClr val="D4C4A0"/>
                      </a:solidFill>
                      <a:prstDash val="solid"/>
                    </a:lnB>
                    <a:solidFill>
                      <a:srgbClr val="EFF9F4"/>
                    </a:solidFill>
                  </a:tcPr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sz="900" dirty="0">
                          <a:solidFill>
                            <a:srgbClr val="2A2A2A"/>
                          </a:solidFill>
                          <a:latin typeface="Aptos Display" panose="020B0004020202020204" pitchFamily="34" charset="0"/>
                          <a:cs typeface="Arial MT"/>
                        </a:rPr>
                        <a:t>TE </a:t>
                      </a:r>
                      <a:r>
                        <a:rPr sz="900" spc="-10" dirty="0">
                          <a:solidFill>
                            <a:srgbClr val="2A2A2A"/>
                          </a:solidFill>
                          <a:latin typeface="Aptos Display" panose="020B0004020202020204" pitchFamily="34" charset="0"/>
                          <a:cs typeface="Arial MT"/>
                        </a:rPr>
                        <a:t>Connectivity</a:t>
                      </a:r>
                      <a:endParaRPr sz="900" dirty="0">
                        <a:latin typeface="Aptos Display" panose="020B0004020202020204" pitchFamily="34" charset="0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D4C4A0"/>
                      </a:solidFill>
                      <a:prstDash val="solid"/>
                    </a:lnL>
                    <a:lnR w="6350">
                      <a:solidFill>
                        <a:srgbClr val="D4C4A0"/>
                      </a:solidFill>
                      <a:prstDash val="solid"/>
                    </a:lnR>
                    <a:lnT w="6350">
                      <a:solidFill>
                        <a:srgbClr val="D4C4A0"/>
                      </a:solidFill>
                      <a:prstDash val="solid"/>
                    </a:lnT>
                    <a:lnB w="6350">
                      <a:solidFill>
                        <a:srgbClr val="D4C4A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sz="900" b="1" dirty="0">
                          <a:solidFill>
                            <a:srgbClr val="2A2A2A"/>
                          </a:solidFill>
                          <a:latin typeface="Aptos Display" panose="020B0004020202020204" pitchFamily="34" charset="0"/>
                          <a:cs typeface="Arial"/>
                        </a:rPr>
                        <a:t>Implementing </a:t>
                      </a:r>
                      <a:r>
                        <a:rPr sz="900" b="1" spc="-10" dirty="0">
                          <a:solidFill>
                            <a:srgbClr val="2A2A2A"/>
                          </a:solidFill>
                          <a:latin typeface="Aptos Display" panose="020B0004020202020204" pitchFamily="34" charset="0"/>
                          <a:cs typeface="Arial"/>
                        </a:rPr>
                        <a:t>Partner</a:t>
                      </a:r>
                      <a:endParaRPr sz="900" dirty="0">
                        <a:latin typeface="Aptos Display" panose="020B0004020202020204" pitchFamily="34" charset="0"/>
                        <a:cs typeface="Arial"/>
                      </a:endParaRPr>
                    </a:p>
                  </a:txBody>
                  <a:tcPr marL="0" marR="0" marT="63500" marB="0">
                    <a:lnL w="6350">
                      <a:solidFill>
                        <a:srgbClr val="D4C4A0"/>
                      </a:solidFill>
                      <a:prstDash val="solid"/>
                    </a:lnL>
                    <a:lnR w="6350">
                      <a:solidFill>
                        <a:srgbClr val="D4C4A0"/>
                      </a:solidFill>
                      <a:prstDash val="solid"/>
                    </a:lnR>
                    <a:lnT w="6350">
                      <a:solidFill>
                        <a:srgbClr val="D4C4A0"/>
                      </a:solidFill>
                      <a:prstDash val="solid"/>
                    </a:lnT>
                    <a:lnB w="6350">
                      <a:solidFill>
                        <a:srgbClr val="D4C4A0"/>
                      </a:solidFill>
                      <a:prstDash val="solid"/>
                    </a:lnB>
                    <a:solidFill>
                      <a:srgbClr val="EFF9F4"/>
                    </a:solidFill>
                  </a:tcPr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sz="900" dirty="0">
                          <a:solidFill>
                            <a:srgbClr val="2A2A2A"/>
                          </a:solidFill>
                          <a:latin typeface="Aptos Display" panose="020B0004020202020204" pitchFamily="34" charset="0"/>
                          <a:cs typeface="Arial MT"/>
                        </a:rPr>
                        <a:t>Shramjivi Janata Sahayyak Mandal (SJSM), </a:t>
                      </a:r>
                      <a:r>
                        <a:rPr sz="900" spc="-10" dirty="0">
                          <a:solidFill>
                            <a:srgbClr val="2A2A2A"/>
                          </a:solidFill>
                          <a:latin typeface="Aptos Display" panose="020B0004020202020204" pitchFamily="34" charset="0"/>
                          <a:cs typeface="Arial MT"/>
                        </a:rPr>
                        <a:t>Satara</a:t>
                      </a:r>
                      <a:endParaRPr sz="900" dirty="0">
                        <a:latin typeface="Aptos Display" panose="020B0004020202020204" pitchFamily="34" charset="0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D4C4A0"/>
                      </a:solidFill>
                      <a:prstDash val="solid"/>
                    </a:lnL>
                    <a:lnR w="6350">
                      <a:solidFill>
                        <a:srgbClr val="D4C4A0"/>
                      </a:solidFill>
                      <a:prstDash val="solid"/>
                    </a:lnR>
                    <a:lnT w="6350">
                      <a:solidFill>
                        <a:srgbClr val="D4C4A0"/>
                      </a:solidFill>
                      <a:prstDash val="solid"/>
                    </a:lnT>
                    <a:lnB w="6350">
                      <a:solidFill>
                        <a:srgbClr val="D4C4A0"/>
                      </a:solidFill>
                      <a:prstDash val="solid"/>
                    </a:lnB>
                    <a:solidFill>
                      <a:srgbClr val="F4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sz="900" b="1" spc="-10" dirty="0">
                          <a:solidFill>
                            <a:srgbClr val="2A2A2A"/>
                          </a:solidFill>
                          <a:latin typeface="Aptos Display" panose="020B0004020202020204" pitchFamily="34" charset="0"/>
                          <a:cs typeface="Arial"/>
                        </a:rPr>
                        <a:t>Location</a:t>
                      </a:r>
                      <a:endParaRPr sz="900" dirty="0">
                        <a:latin typeface="Aptos Display" panose="020B0004020202020204" pitchFamily="34" charset="0"/>
                        <a:cs typeface="Arial"/>
                      </a:endParaRPr>
                    </a:p>
                  </a:txBody>
                  <a:tcPr marL="0" marR="0" marT="63500" marB="0">
                    <a:lnL w="6350">
                      <a:solidFill>
                        <a:srgbClr val="D4C4A0"/>
                      </a:solidFill>
                      <a:prstDash val="solid"/>
                    </a:lnL>
                    <a:lnR w="6350">
                      <a:solidFill>
                        <a:srgbClr val="D4C4A0"/>
                      </a:solidFill>
                      <a:prstDash val="solid"/>
                    </a:lnR>
                    <a:lnT w="6350">
                      <a:solidFill>
                        <a:srgbClr val="D4C4A0"/>
                      </a:solidFill>
                      <a:prstDash val="solid"/>
                    </a:lnT>
                    <a:lnB w="6350">
                      <a:solidFill>
                        <a:srgbClr val="D4C4A0"/>
                      </a:solidFill>
                      <a:prstDash val="solid"/>
                    </a:lnB>
                    <a:solidFill>
                      <a:srgbClr val="EFF9F4"/>
                    </a:solidFill>
                  </a:tcPr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sz="900" dirty="0">
                          <a:solidFill>
                            <a:srgbClr val="2A2A2A"/>
                          </a:solidFill>
                          <a:latin typeface="Aptos Display" panose="020B0004020202020204" pitchFamily="34" charset="0"/>
                          <a:cs typeface="Arial MT"/>
                        </a:rPr>
                        <a:t>Ghatdare,</a:t>
                      </a:r>
                      <a:r>
                        <a:rPr sz="900" spc="-5" dirty="0">
                          <a:solidFill>
                            <a:srgbClr val="2A2A2A"/>
                          </a:solidFill>
                          <a:latin typeface="Aptos Display" panose="020B0004020202020204" pitchFamily="34" charset="0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2A2A2A"/>
                          </a:solidFill>
                          <a:latin typeface="Aptos Display" panose="020B0004020202020204" pitchFamily="34" charset="0"/>
                          <a:cs typeface="Arial MT"/>
                        </a:rPr>
                        <a:t>Taluka</a:t>
                      </a:r>
                      <a:r>
                        <a:rPr sz="900" spc="-5" dirty="0">
                          <a:solidFill>
                            <a:srgbClr val="2A2A2A"/>
                          </a:solidFill>
                          <a:latin typeface="Aptos Display" panose="020B0004020202020204" pitchFamily="34" charset="0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2A2A2A"/>
                          </a:solidFill>
                          <a:latin typeface="Aptos Display" panose="020B0004020202020204" pitchFamily="34" charset="0"/>
                          <a:cs typeface="Arial MT"/>
                        </a:rPr>
                        <a:t>–</a:t>
                      </a:r>
                      <a:r>
                        <a:rPr sz="900" spc="-5" dirty="0">
                          <a:solidFill>
                            <a:srgbClr val="2A2A2A"/>
                          </a:solidFill>
                          <a:latin typeface="Aptos Display" panose="020B0004020202020204" pitchFamily="34" charset="0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2A2A2A"/>
                          </a:solidFill>
                          <a:latin typeface="Aptos Display" panose="020B0004020202020204" pitchFamily="34" charset="0"/>
                          <a:cs typeface="Arial MT"/>
                        </a:rPr>
                        <a:t>Khandala,</a:t>
                      </a:r>
                      <a:r>
                        <a:rPr sz="900" spc="-5" dirty="0">
                          <a:solidFill>
                            <a:srgbClr val="2A2A2A"/>
                          </a:solidFill>
                          <a:latin typeface="Aptos Display" panose="020B0004020202020204" pitchFamily="34" charset="0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2A2A2A"/>
                          </a:solidFill>
                          <a:latin typeface="Aptos Display" panose="020B0004020202020204" pitchFamily="34" charset="0"/>
                          <a:cs typeface="Arial MT"/>
                        </a:rPr>
                        <a:t>District</a:t>
                      </a:r>
                      <a:r>
                        <a:rPr sz="900" spc="-5" dirty="0">
                          <a:solidFill>
                            <a:srgbClr val="2A2A2A"/>
                          </a:solidFill>
                          <a:latin typeface="Aptos Display" panose="020B0004020202020204" pitchFamily="34" charset="0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2A2A2A"/>
                          </a:solidFill>
                          <a:latin typeface="Aptos Display" panose="020B0004020202020204" pitchFamily="34" charset="0"/>
                          <a:cs typeface="Arial MT"/>
                        </a:rPr>
                        <a:t>Satara,</a:t>
                      </a:r>
                      <a:r>
                        <a:rPr sz="900" spc="-5" dirty="0">
                          <a:solidFill>
                            <a:srgbClr val="2A2A2A"/>
                          </a:solidFill>
                          <a:latin typeface="Aptos Display" panose="020B0004020202020204" pitchFamily="34" charset="0"/>
                          <a:cs typeface="Arial MT"/>
                        </a:rPr>
                        <a:t> </a:t>
                      </a:r>
                      <a:r>
                        <a:rPr sz="900" spc="-10" dirty="0">
                          <a:solidFill>
                            <a:srgbClr val="2A2A2A"/>
                          </a:solidFill>
                          <a:latin typeface="Aptos Display" panose="020B0004020202020204" pitchFamily="34" charset="0"/>
                          <a:cs typeface="Arial MT"/>
                        </a:rPr>
                        <a:t>Maharashtra</a:t>
                      </a:r>
                      <a:endParaRPr sz="900" dirty="0">
                        <a:latin typeface="Aptos Display" panose="020B0004020202020204" pitchFamily="34" charset="0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D4C4A0"/>
                      </a:solidFill>
                      <a:prstDash val="solid"/>
                    </a:lnL>
                    <a:lnR w="6350">
                      <a:solidFill>
                        <a:srgbClr val="D4C4A0"/>
                      </a:solidFill>
                      <a:prstDash val="solid"/>
                    </a:lnR>
                    <a:lnT w="6350">
                      <a:solidFill>
                        <a:srgbClr val="D4C4A0"/>
                      </a:solidFill>
                      <a:prstDash val="solid"/>
                    </a:lnT>
                    <a:lnB w="6350">
                      <a:solidFill>
                        <a:srgbClr val="D4C4A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sz="900" b="1" dirty="0">
                          <a:solidFill>
                            <a:srgbClr val="2A2A2A"/>
                          </a:solidFill>
                          <a:latin typeface="Aptos Display" panose="020B0004020202020204" pitchFamily="34" charset="0"/>
                          <a:cs typeface="Arial"/>
                        </a:rPr>
                        <a:t>Project </a:t>
                      </a:r>
                      <a:r>
                        <a:rPr sz="900" b="1" spc="-10" dirty="0">
                          <a:solidFill>
                            <a:srgbClr val="2A2A2A"/>
                          </a:solidFill>
                          <a:latin typeface="Aptos Display" panose="020B0004020202020204" pitchFamily="34" charset="0"/>
                          <a:cs typeface="Arial"/>
                        </a:rPr>
                        <a:t>Launch</a:t>
                      </a:r>
                      <a:endParaRPr sz="900" dirty="0">
                        <a:latin typeface="Aptos Display" panose="020B0004020202020204" pitchFamily="34" charset="0"/>
                        <a:cs typeface="Arial"/>
                      </a:endParaRPr>
                    </a:p>
                  </a:txBody>
                  <a:tcPr marL="0" marR="0" marT="63500" marB="0">
                    <a:lnL w="6350">
                      <a:solidFill>
                        <a:srgbClr val="D4C4A0"/>
                      </a:solidFill>
                      <a:prstDash val="solid"/>
                    </a:lnL>
                    <a:lnR w="6350">
                      <a:solidFill>
                        <a:srgbClr val="D4C4A0"/>
                      </a:solidFill>
                      <a:prstDash val="solid"/>
                    </a:lnR>
                    <a:lnT w="6350">
                      <a:solidFill>
                        <a:srgbClr val="D4C4A0"/>
                      </a:solidFill>
                      <a:prstDash val="solid"/>
                    </a:lnT>
                    <a:lnB w="6350">
                      <a:solidFill>
                        <a:srgbClr val="D4C4A0"/>
                      </a:solidFill>
                      <a:prstDash val="solid"/>
                    </a:lnB>
                    <a:solidFill>
                      <a:srgbClr val="EFF9F4"/>
                    </a:solidFill>
                  </a:tcPr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sz="900" dirty="0">
                          <a:solidFill>
                            <a:srgbClr val="2A2A2A"/>
                          </a:solidFill>
                          <a:latin typeface="Aptos Display" panose="020B0004020202020204" pitchFamily="34" charset="0"/>
                          <a:cs typeface="Arial MT"/>
                        </a:rPr>
                        <a:t>1 April </a:t>
                      </a:r>
                      <a:r>
                        <a:rPr sz="900" spc="-20" dirty="0">
                          <a:solidFill>
                            <a:srgbClr val="2A2A2A"/>
                          </a:solidFill>
                          <a:latin typeface="Aptos Display" panose="020B0004020202020204" pitchFamily="34" charset="0"/>
                          <a:cs typeface="Arial MT"/>
                        </a:rPr>
                        <a:t>2025</a:t>
                      </a:r>
                      <a:endParaRPr sz="900" dirty="0">
                        <a:latin typeface="Aptos Display" panose="020B0004020202020204" pitchFamily="34" charset="0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D4C4A0"/>
                      </a:solidFill>
                      <a:prstDash val="solid"/>
                    </a:lnL>
                    <a:lnR w="6350">
                      <a:solidFill>
                        <a:srgbClr val="D4C4A0"/>
                      </a:solidFill>
                      <a:prstDash val="solid"/>
                    </a:lnR>
                    <a:lnT w="6350">
                      <a:solidFill>
                        <a:srgbClr val="D4C4A0"/>
                      </a:solidFill>
                      <a:prstDash val="solid"/>
                    </a:lnT>
                    <a:lnB w="6350">
                      <a:solidFill>
                        <a:srgbClr val="D4C4A0"/>
                      </a:solidFill>
                      <a:prstDash val="solid"/>
                    </a:lnB>
                    <a:solidFill>
                      <a:srgbClr val="F4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sz="900" b="1" dirty="0">
                          <a:solidFill>
                            <a:srgbClr val="2A2A2A"/>
                          </a:solidFill>
                          <a:latin typeface="Aptos Display" panose="020B0004020202020204" pitchFamily="34" charset="0"/>
                          <a:cs typeface="Arial"/>
                        </a:rPr>
                        <a:t>Reporting</a:t>
                      </a:r>
                      <a:r>
                        <a:rPr sz="900" b="1" spc="-45" dirty="0">
                          <a:solidFill>
                            <a:srgbClr val="2A2A2A"/>
                          </a:solidFill>
                          <a:latin typeface="Aptos Display" panose="020B0004020202020204" pitchFamily="34" charset="0"/>
                          <a:cs typeface="Arial"/>
                        </a:rPr>
                        <a:t> </a:t>
                      </a:r>
                      <a:r>
                        <a:rPr sz="900" b="1" spc="-10" dirty="0">
                          <a:solidFill>
                            <a:srgbClr val="2A2A2A"/>
                          </a:solidFill>
                          <a:latin typeface="Aptos Display" panose="020B0004020202020204" pitchFamily="34" charset="0"/>
                          <a:cs typeface="Arial"/>
                        </a:rPr>
                        <a:t>Period</a:t>
                      </a:r>
                      <a:endParaRPr sz="900" dirty="0">
                        <a:latin typeface="Aptos Display" panose="020B0004020202020204" pitchFamily="34" charset="0"/>
                        <a:cs typeface="Arial"/>
                      </a:endParaRPr>
                    </a:p>
                  </a:txBody>
                  <a:tcPr marL="0" marR="0" marT="63500" marB="0">
                    <a:lnL w="6350">
                      <a:solidFill>
                        <a:srgbClr val="D4C4A0"/>
                      </a:solidFill>
                      <a:prstDash val="solid"/>
                    </a:lnL>
                    <a:lnR w="6350">
                      <a:solidFill>
                        <a:srgbClr val="D4C4A0"/>
                      </a:solidFill>
                      <a:prstDash val="solid"/>
                    </a:lnR>
                    <a:lnT w="6350">
                      <a:solidFill>
                        <a:srgbClr val="D4C4A0"/>
                      </a:solidFill>
                      <a:prstDash val="solid"/>
                    </a:lnT>
                    <a:lnB w="6350">
                      <a:solidFill>
                        <a:srgbClr val="D4C4A0"/>
                      </a:solidFill>
                      <a:prstDash val="solid"/>
                    </a:lnB>
                    <a:solidFill>
                      <a:srgbClr val="EFF9F4"/>
                    </a:solidFill>
                  </a:tcPr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sz="900" dirty="0">
                          <a:solidFill>
                            <a:srgbClr val="2A2A2A"/>
                          </a:solidFill>
                          <a:latin typeface="Aptos Display" panose="020B0004020202020204" pitchFamily="34" charset="0"/>
                          <a:cs typeface="Arial MT"/>
                        </a:rPr>
                        <a:t>April</a:t>
                      </a:r>
                      <a:r>
                        <a:rPr sz="900" spc="-5" dirty="0">
                          <a:solidFill>
                            <a:srgbClr val="2A2A2A"/>
                          </a:solidFill>
                          <a:latin typeface="Aptos Display" panose="020B0004020202020204" pitchFamily="34" charset="0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2A2A2A"/>
                          </a:solidFill>
                          <a:latin typeface="Aptos Display" panose="020B0004020202020204" pitchFamily="34" charset="0"/>
                          <a:cs typeface="Arial MT"/>
                        </a:rPr>
                        <a:t>2025 –</a:t>
                      </a:r>
                      <a:r>
                        <a:rPr sz="900" spc="-5" dirty="0">
                          <a:solidFill>
                            <a:srgbClr val="2A2A2A"/>
                          </a:solidFill>
                          <a:latin typeface="Aptos Display" panose="020B0004020202020204" pitchFamily="34" charset="0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2A2A2A"/>
                          </a:solidFill>
                          <a:latin typeface="Aptos Display" panose="020B0004020202020204" pitchFamily="34" charset="0"/>
                          <a:cs typeface="Arial MT"/>
                        </a:rPr>
                        <a:t>March 2026</a:t>
                      </a:r>
                      <a:r>
                        <a:rPr sz="900" spc="-5" dirty="0">
                          <a:solidFill>
                            <a:srgbClr val="2A2A2A"/>
                          </a:solidFill>
                          <a:latin typeface="Aptos Display" panose="020B0004020202020204" pitchFamily="34" charset="0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2A2A2A"/>
                          </a:solidFill>
                          <a:latin typeface="Aptos Display" panose="020B0004020202020204" pitchFamily="34" charset="0"/>
                          <a:cs typeface="Arial MT"/>
                        </a:rPr>
                        <a:t>(FY 2025-</a:t>
                      </a:r>
                      <a:r>
                        <a:rPr sz="900" spc="-25" dirty="0">
                          <a:solidFill>
                            <a:srgbClr val="2A2A2A"/>
                          </a:solidFill>
                          <a:latin typeface="Aptos Display" panose="020B0004020202020204" pitchFamily="34" charset="0"/>
                          <a:cs typeface="Arial MT"/>
                        </a:rPr>
                        <a:t>26)</a:t>
                      </a:r>
                      <a:endParaRPr sz="900" dirty="0">
                        <a:latin typeface="Aptos Display" panose="020B0004020202020204" pitchFamily="34" charset="0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D4C4A0"/>
                      </a:solidFill>
                      <a:prstDash val="solid"/>
                    </a:lnL>
                    <a:lnR w="6350">
                      <a:solidFill>
                        <a:srgbClr val="D4C4A0"/>
                      </a:solidFill>
                      <a:prstDash val="solid"/>
                    </a:lnR>
                    <a:lnT w="6350">
                      <a:solidFill>
                        <a:srgbClr val="D4C4A0"/>
                      </a:solidFill>
                      <a:prstDash val="solid"/>
                    </a:lnT>
                    <a:lnB w="6350">
                      <a:solidFill>
                        <a:srgbClr val="D4C4A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lang="en-IN" sz="900" b="1" dirty="0">
                          <a:solidFill>
                            <a:srgbClr val="2A2A2A"/>
                          </a:solidFill>
                          <a:latin typeface="Aptos Display" panose="020B0004020202020204" pitchFamily="34" charset="0"/>
                          <a:cs typeface="Arial"/>
                        </a:rPr>
                        <a:t> Head Operations </a:t>
                      </a:r>
                      <a:endParaRPr sz="900" dirty="0">
                        <a:latin typeface="Aptos Display" panose="020B0004020202020204" pitchFamily="34" charset="0"/>
                        <a:cs typeface="Arial"/>
                      </a:endParaRPr>
                    </a:p>
                  </a:txBody>
                  <a:tcPr marL="0" marR="0" marT="63500" marB="0">
                    <a:lnL w="6350">
                      <a:solidFill>
                        <a:srgbClr val="D4C4A0"/>
                      </a:solidFill>
                      <a:prstDash val="solid"/>
                    </a:lnL>
                    <a:lnR w="6350">
                      <a:solidFill>
                        <a:srgbClr val="D4C4A0"/>
                      </a:solidFill>
                      <a:prstDash val="solid"/>
                    </a:lnR>
                    <a:lnT w="6350">
                      <a:solidFill>
                        <a:srgbClr val="D4C4A0"/>
                      </a:solidFill>
                      <a:prstDash val="solid"/>
                    </a:lnT>
                    <a:lnB w="6350">
                      <a:solidFill>
                        <a:srgbClr val="D4C4A0"/>
                      </a:solidFill>
                      <a:prstDash val="solid"/>
                    </a:lnB>
                    <a:solidFill>
                      <a:srgbClr val="EFF9F4"/>
                    </a:solidFill>
                  </a:tcPr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sz="900" dirty="0">
                          <a:solidFill>
                            <a:srgbClr val="2A2A2A"/>
                          </a:solidFill>
                          <a:latin typeface="Aptos Display" panose="020B0004020202020204" pitchFamily="34" charset="0"/>
                          <a:cs typeface="Arial MT"/>
                        </a:rPr>
                        <a:t>Mr.</a:t>
                      </a:r>
                      <a:r>
                        <a:rPr sz="900" spc="-5" dirty="0">
                          <a:solidFill>
                            <a:srgbClr val="2A2A2A"/>
                          </a:solidFill>
                          <a:latin typeface="Aptos Display" panose="020B0004020202020204" pitchFamily="34" charset="0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2A2A2A"/>
                          </a:solidFill>
                          <a:latin typeface="Aptos Display" panose="020B0004020202020204" pitchFamily="34" charset="0"/>
                          <a:cs typeface="Arial MT"/>
                        </a:rPr>
                        <a:t>Ram</a:t>
                      </a:r>
                      <a:r>
                        <a:rPr sz="900" spc="-5" dirty="0">
                          <a:solidFill>
                            <a:srgbClr val="2A2A2A"/>
                          </a:solidFill>
                          <a:latin typeface="Aptos Display" panose="020B0004020202020204" pitchFamily="34" charset="0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2A2A2A"/>
                          </a:solidFill>
                          <a:latin typeface="Aptos Display" panose="020B0004020202020204" pitchFamily="34" charset="0"/>
                          <a:cs typeface="Arial MT"/>
                        </a:rPr>
                        <a:t>Kolekar</a:t>
                      </a:r>
                      <a:r>
                        <a:rPr sz="900" spc="-5" dirty="0">
                          <a:solidFill>
                            <a:srgbClr val="2A2A2A"/>
                          </a:solidFill>
                          <a:latin typeface="Aptos Display" panose="020B0004020202020204" pitchFamily="34" charset="0"/>
                          <a:cs typeface="Arial MT"/>
                        </a:rPr>
                        <a:t> </a:t>
                      </a:r>
                      <a:endParaRPr sz="900" dirty="0">
                        <a:latin typeface="Aptos Display" panose="020B0004020202020204" pitchFamily="34" charset="0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D4C4A0"/>
                      </a:solidFill>
                      <a:prstDash val="solid"/>
                    </a:lnL>
                    <a:lnR w="6350">
                      <a:solidFill>
                        <a:srgbClr val="D4C4A0"/>
                      </a:solidFill>
                      <a:prstDash val="solid"/>
                    </a:lnR>
                    <a:lnT w="6350">
                      <a:solidFill>
                        <a:srgbClr val="D4C4A0"/>
                      </a:solidFill>
                      <a:prstDash val="solid"/>
                    </a:lnT>
                    <a:lnB w="6350">
                      <a:solidFill>
                        <a:srgbClr val="D4C4A0"/>
                      </a:solidFill>
                      <a:prstDash val="solid"/>
                    </a:lnB>
                    <a:solidFill>
                      <a:srgbClr val="F4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sz="900" b="1" dirty="0">
                          <a:solidFill>
                            <a:srgbClr val="2A2A2A"/>
                          </a:solidFill>
                          <a:latin typeface="Aptos Display" panose="020B0004020202020204" pitchFamily="34" charset="0"/>
                          <a:cs typeface="Arial"/>
                        </a:rPr>
                        <a:t>Total</a:t>
                      </a:r>
                      <a:r>
                        <a:rPr sz="900" b="1" spc="-25" dirty="0">
                          <a:solidFill>
                            <a:srgbClr val="2A2A2A"/>
                          </a:solidFill>
                          <a:latin typeface="Aptos Display" panose="020B0004020202020204" pitchFamily="34" charset="0"/>
                          <a:cs typeface="Arial"/>
                        </a:rPr>
                        <a:t> </a:t>
                      </a:r>
                      <a:r>
                        <a:rPr sz="900" b="1" spc="-20" dirty="0">
                          <a:solidFill>
                            <a:srgbClr val="2A2A2A"/>
                          </a:solidFill>
                          <a:latin typeface="Aptos Display" panose="020B0004020202020204" pitchFamily="34" charset="0"/>
                          <a:cs typeface="Arial"/>
                        </a:rPr>
                        <a:t>Area</a:t>
                      </a:r>
                      <a:endParaRPr sz="900" dirty="0">
                        <a:latin typeface="Aptos Display" panose="020B0004020202020204" pitchFamily="34" charset="0"/>
                        <a:cs typeface="Arial"/>
                      </a:endParaRPr>
                    </a:p>
                  </a:txBody>
                  <a:tcPr marL="0" marR="0" marT="63500" marB="0">
                    <a:lnL w="6350">
                      <a:solidFill>
                        <a:srgbClr val="D4C4A0"/>
                      </a:solidFill>
                      <a:prstDash val="solid"/>
                    </a:lnL>
                    <a:lnR w="6350">
                      <a:solidFill>
                        <a:srgbClr val="D4C4A0"/>
                      </a:solidFill>
                      <a:prstDash val="solid"/>
                    </a:lnR>
                    <a:lnT w="6350">
                      <a:solidFill>
                        <a:srgbClr val="D4C4A0"/>
                      </a:solidFill>
                      <a:prstDash val="solid"/>
                    </a:lnT>
                    <a:lnB w="6350">
                      <a:solidFill>
                        <a:srgbClr val="D4C4A0"/>
                      </a:solidFill>
                      <a:prstDash val="solid"/>
                    </a:lnB>
                    <a:solidFill>
                      <a:srgbClr val="EFF9F4"/>
                    </a:solidFill>
                  </a:tcPr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sz="900" dirty="0">
                          <a:solidFill>
                            <a:srgbClr val="2A2A2A"/>
                          </a:solidFill>
                          <a:latin typeface="Aptos Display" panose="020B0004020202020204" pitchFamily="34" charset="0"/>
                          <a:cs typeface="Arial MT"/>
                        </a:rPr>
                        <a:t>647 </a:t>
                      </a:r>
                      <a:r>
                        <a:rPr sz="900" spc="-10" dirty="0">
                          <a:solidFill>
                            <a:srgbClr val="2A2A2A"/>
                          </a:solidFill>
                          <a:latin typeface="Aptos Display" panose="020B0004020202020204" pitchFamily="34" charset="0"/>
                          <a:cs typeface="Arial MT"/>
                        </a:rPr>
                        <a:t>Hectares</a:t>
                      </a:r>
                      <a:endParaRPr sz="900" dirty="0">
                        <a:latin typeface="Aptos Display" panose="020B0004020202020204" pitchFamily="34" charset="0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D4C4A0"/>
                      </a:solidFill>
                      <a:prstDash val="solid"/>
                    </a:lnL>
                    <a:lnR w="6350">
                      <a:solidFill>
                        <a:srgbClr val="D4C4A0"/>
                      </a:solidFill>
                      <a:prstDash val="solid"/>
                    </a:lnR>
                    <a:lnT w="6350">
                      <a:solidFill>
                        <a:srgbClr val="D4C4A0"/>
                      </a:solidFill>
                      <a:prstDash val="solid"/>
                    </a:lnT>
                    <a:lnB w="6350">
                      <a:solidFill>
                        <a:srgbClr val="D4C4A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sz="900" b="1" spc="-10" dirty="0">
                          <a:solidFill>
                            <a:srgbClr val="2A2A2A"/>
                          </a:solidFill>
                          <a:latin typeface="Aptos Display" panose="020B0004020202020204" pitchFamily="34" charset="0"/>
                          <a:cs typeface="Arial"/>
                        </a:rPr>
                        <a:t>Households</a:t>
                      </a:r>
                      <a:endParaRPr sz="900" dirty="0">
                        <a:latin typeface="Aptos Display" panose="020B0004020202020204" pitchFamily="34" charset="0"/>
                        <a:cs typeface="Arial"/>
                      </a:endParaRPr>
                    </a:p>
                  </a:txBody>
                  <a:tcPr marL="0" marR="0" marT="63500" marB="0">
                    <a:lnL w="6350">
                      <a:solidFill>
                        <a:srgbClr val="D4C4A0"/>
                      </a:solidFill>
                      <a:prstDash val="solid"/>
                    </a:lnL>
                    <a:lnR w="6350">
                      <a:solidFill>
                        <a:srgbClr val="D4C4A0"/>
                      </a:solidFill>
                      <a:prstDash val="solid"/>
                    </a:lnR>
                    <a:lnT w="6350">
                      <a:solidFill>
                        <a:srgbClr val="D4C4A0"/>
                      </a:solidFill>
                      <a:prstDash val="solid"/>
                    </a:lnT>
                    <a:lnB w="6350">
                      <a:solidFill>
                        <a:srgbClr val="D4C4A0"/>
                      </a:solidFill>
                      <a:prstDash val="solid"/>
                    </a:lnB>
                    <a:solidFill>
                      <a:srgbClr val="EFF9F4"/>
                    </a:solidFill>
                  </a:tcPr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sz="900" dirty="0">
                          <a:solidFill>
                            <a:srgbClr val="2A2A2A"/>
                          </a:solidFill>
                          <a:latin typeface="Aptos Display" panose="020B0004020202020204" pitchFamily="34" charset="0"/>
                          <a:cs typeface="Arial MT"/>
                        </a:rPr>
                        <a:t>225</a:t>
                      </a:r>
                      <a:r>
                        <a:rPr sz="900" spc="-5" dirty="0">
                          <a:solidFill>
                            <a:srgbClr val="2A2A2A"/>
                          </a:solidFill>
                          <a:latin typeface="Aptos Display" panose="020B0004020202020204" pitchFamily="34" charset="0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2A2A2A"/>
                          </a:solidFill>
                          <a:latin typeface="Aptos Display" panose="020B0004020202020204" pitchFamily="34" charset="0"/>
                          <a:cs typeface="Arial MT"/>
                        </a:rPr>
                        <a:t>Households | Gram Panchayat Ghatdare–</a:t>
                      </a:r>
                      <a:r>
                        <a:rPr sz="900" spc="-10" dirty="0">
                          <a:solidFill>
                            <a:srgbClr val="2A2A2A"/>
                          </a:solidFill>
                          <a:latin typeface="Aptos Display" panose="020B0004020202020204" pitchFamily="34" charset="0"/>
                          <a:cs typeface="Arial MT"/>
                        </a:rPr>
                        <a:t>Bhoslewadi</a:t>
                      </a:r>
                      <a:endParaRPr sz="900" dirty="0">
                        <a:latin typeface="Aptos Display" panose="020B0004020202020204" pitchFamily="34" charset="0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D4C4A0"/>
                      </a:solidFill>
                      <a:prstDash val="solid"/>
                    </a:lnL>
                    <a:lnR w="6350">
                      <a:solidFill>
                        <a:srgbClr val="D4C4A0"/>
                      </a:solidFill>
                      <a:prstDash val="solid"/>
                    </a:lnR>
                    <a:lnT w="6350">
                      <a:solidFill>
                        <a:srgbClr val="D4C4A0"/>
                      </a:solidFill>
                      <a:prstDash val="solid"/>
                    </a:lnT>
                    <a:lnB w="6350">
                      <a:solidFill>
                        <a:srgbClr val="D4C4A0"/>
                      </a:solidFill>
                      <a:prstDash val="solid"/>
                    </a:lnB>
                    <a:solidFill>
                      <a:srgbClr val="F4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0014627"/>
      </p:ext>
    </p:extLst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500" y="127000"/>
            <a:ext cx="167449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b="1" dirty="0">
                <a:solidFill>
                  <a:srgbClr val="FFFFFF"/>
                </a:solidFill>
                <a:latin typeface="Arial"/>
                <a:cs typeface="Arial"/>
              </a:rPr>
              <a:t>TE</a:t>
            </a:r>
            <a:r>
              <a:rPr sz="80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FFFFFF"/>
                </a:solidFill>
                <a:latin typeface="Arial"/>
                <a:cs typeface="Arial"/>
              </a:rPr>
              <a:t>IWMP</a:t>
            </a:r>
            <a:r>
              <a:rPr sz="80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FFFFFF"/>
                </a:solidFill>
                <a:latin typeface="Arial"/>
                <a:cs typeface="Arial"/>
              </a:rPr>
              <a:t>–</a:t>
            </a:r>
            <a:r>
              <a:rPr sz="80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FFFFFF"/>
                </a:solidFill>
                <a:latin typeface="Arial"/>
                <a:cs typeface="Arial"/>
              </a:rPr>
              <a:t>Annual Report</a:t>
            </a:r>
            <a:r>
              <a:rPr sz="80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800" b="1" spc="-10" dirty="0">
                <a:solidFill>
                  <a:srgbClr val="FFFFFF"/>
                </a:solidFill>
                <a:latin typeface="Arial"/>
                <a:cs typeface="Arial"/>
              </a:rPr>
              <a:t>2025-</a:t>
            </a:r>
            <a:r>
              <a:rPr sz="800" b="1" spc="-25" dirty="0">
                <a:solidFill>
                  <a:srgbClr val="FFFFFF"/>
                </a:solidFill>
                <a:latin typeface="Arial"/>
                <a:cs typeface="Arial"/>
              </a:rPr>
              <a:t>26</a:t>
            </a:r>
            <a:endParaRPr sz="8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968590" y="127000"/>
            <a:ext cx="247777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FFFFFF"/>
                </a:solidFill>
                <a:latin typeface="Arial MT"/>
                <a:cs typeface="Arial MT"/>
              </a:rPr>
              <a:t>TE</a:t>
            </a:r>
            <a:r>
              <a:rPr sz="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FFFFFF"/>
                </a:solidFill>
                <a:latin typeface="Arial MT"/>
                <a:cs typeface="Arial MT"/>
              </a:rPr>
              <a:t>Connectivity</a:t>
            </a:r>
            <a:r>
              <a:rPr sz="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FFFFFF"/>
                </a:solidFill>
                <a:latin typeface="Arial MT"/>
                <a:cs typeface="Arial MT"/>
              </a:rPr>
              <a:t>×</a:t>
            </a:r>
            <a:r>
              <a:rPr sz="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FFFFFF"/>
                </a:solidFill>
                <a:latin typeface="Arial MT"/>
                <a:cs typeface="Arial MT"/>
              </a:rPr>
              <a:t>SJSM</a:t>
            </a:r>
            <a:r>
              <a:rPr sz="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FFFFFF"/>
                </a:solidFill>
                <a:latin typeface="Arial MT"/>
                <a:cs typeface="Arial MT"/>
              </a:rPr>
              <a:t>Satara</a:t>
            </a:r>
            <a:r>
              <a:rPr sz="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FFFFFF"/>
                </a:solidFill>
                <a:latin typeface="Arial MT"/>
                <a:cs typeface="Arial MT"/>
              </a:rPr>
              <a:t>|</a:t>
            </a:r>
            <a:r>
              <a:rPr sz="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FFFFFF"/>
                </a:solidFill>
                <a:latin typeface="Arial MT"/>
                <a:cs typeface="Arial MT"/>
              </a:rPr>
              <a:t>Ghatdare</a:t>
            </a:r>
            <a:r>
              <a:rPr sz="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Arial MT"/>
                <a:cs typeface="Arial MT"/>
              </a:rPr>
              <a:t>Watershed</a:t>
            </a:r>
            <a:endParaRPr sz="800" dirty="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03200" y="10382119"/>
            <a:ext cx="7357109" cy="309880"/>
            <a:chOff x="203200" y="10382119"/>
            <a:chExt cx="7357109" cy="309880"/>
          </a:xfrm>
        </p:grpSpPr>
        <p:sp>
          <p:nvSpPr>
            <p:cNvPr id="5" name="object 5"/>
            <p:cNvSpPr/>
            <p:nvPr/>
          </p:nvSpPr>
          <p:spPr>
            <a:xfrm>
              <a:off x="203200" y="10387199"/>
              <a:ext cx="7357109" cy="304800"/>
            </a:xfrm>
            <a:custGeom>
              <a:avLst/>
              <a:gdLst/>
              <a:ahLst/>
              <a:cxnLst/>
              <a:rect l="l" t="t" r="r" b="b"/>
              <a:pathLst>
                <a:path w="7357109" h="304800">
                  <a:moveTo>
                    <a:pt x="73568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7356800" y="304800"/>
                  </a:lnTo>
                  <a:lnTo>
                    <a:pt x="7356800" y="0"/>
                  </a:lnTo>
                  <a:close/>
                </a:path>
              </a:pathLst>
            </a:custGeom>
            <a:solidFill>
              <a:srgbClr val="F4EFE8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6" name="object 6"/>
            <p:cNvSpPr/>
            <p:nvPr/>
          </p:nvSpPr>
          <p:spPr>
            <a:xfrm>
              <a:off x="203200" y="10387199"/>
              <a:ext cx="7357109" cy="0"/>
            </a:xfrm>
            <a:custGeom>
              <a:avLst/>
              <a:gdLst/>
              <a:ahLst/>
              <a:cxnLst/>
              <a:rect l="l" t="t" r="r" b="b"/>
              <a:pathLst>
                <a:path w="7357109">
                  <a:moveTo>
                    <a:pt x="0" y="0"/>
                  </a:moveTo>
                  <a:lnTo>
                    <a:pt x="7356800" y="0"/>
                  </a:lnTo>
                </a:path>
              </a:pathLst>
            </a:custGeom>
            <a:ln w="10160">
              <a:solidFill>
                <a:srgbClr val="C8A84B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object 7"/>
          <p:cNvSpPr/>
          <p:nvPr/>
        </p:nvSpPr>
        <p:spPr>
          <a:xfrm>
            <a:off x="779199" y="622299"/>
            <a:ext cx="1241425" cy="63500"/>
          </a:xfrm>
          <a:custGeom>
            <a:avLst/>
            <a:gdLst/>
            <a:ahLst/>
            <a:cxnLst/>
            <a:rect l="l" t="t" r="r" b="b"/>
            <a:pathLst>
              <a:path w="1241425" h="63500">
                <a:moveTo>
                  <a:pt x="1240960" y="0"/>
                </a:moveTo>
                <a:lnTo>
                  <a:pt x="0" y="0"/>
                </a:lnTo>
                <a:lnTo>
                  <a:pt x="0" y="63500"/>
                </a:lnTo>
                <a:lnTo>
                  <a:pt x="1240960" y="63500"/>
                </a:lnTo>
                <a:lnTo>
                  <a:pt x="1240960" y="0"/>
                </a:lnTo>
                <a:close/>
              </a:path>
            </a:pathLst>
          </a:custGeom>
          <a:solidFill>
            <a:srgbClr val="C8A84B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8"/>
          <p:cNvSpPr/>
          <p:nvPr/>
        </p:nvSpPr>
        <p:spPr>
          <a:xfrm>
            <a:off x="2082208" y="641349"/>
            <a:ext cx="4902200" cy="19050"/>
          </a:xfrm>
          <a:custGeom>
            <a:avLst/>
            <a:gdLst/>
            <a:ahLst/>
            <a:cxnLst/>
            <a:rect l="l" t="t" r="r" b="b"/>
            <a:pathLst>
              <a:path w="4902200" h="19050">
                <a:moveTo>
                  <a:pt x="4901792" y="0"/>
                </a:moveTo>
                <a:lnTo>
                  <a:pt x="0" y="0"/>
                </a:lnTo>
                <a:lnTo>
                  <a:pt x="0" y="19050"/>
                </a:lnTo>
                <a:lnTo>
                  <a:pt x="4901792" y="19050"/>
                </a:lnTo>
                <a:lnTo>
                  <a:pt x="4901792" y="0"/>
                </a:lnTo>
                <a:close/>
              </a:path>
            </a:pathLst>
          </a:custGeom>
          <a:solidFill>
            <a:srgbClr val="D4C4A0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10" name="object 10"/>
          <p:cNvPicPr/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 contrast="-40000"/>
                    </a14:imgEffect>
                  </a14:imgLayer>
                </a14:imgProps>
              </a:ext>
            </a:extLst>
          </a:blip>
          <a:srcRect b="21863"/>
          <a:stretch>
            <a:fillRect/>
          </a:stretch>
        </p:blipFill>
        <p:spPr>
          <a:xfrm>
            <a:off x="203200" y="373687"/>
            <a:ext cx="7353300" cy="3235314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766498" y="825500"/>
            <a:ext cx="6269753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dirty="0">
                <a:solidFill>
                  <a:srgbClr val="CC9900"/>
                </a:solidFill>
                <a:latin typeface="Felix Titling" panose="04060505060202020A04" pitchFamily="82" charset="0"/>
                <a:cs typeface="Arial"/>
              </a:rPr>
              <a:t>Background</a:t>
            </a:r>
            <a:r>
              <a:rPr sz="3600" b="1" spc="-50" dirty="0">
                <a:solidFill>
                  <a:srgbClr val="CC9900"/>
                </a:solidFill>
                <a:latin typeface="Felix Titling" panose="04060505060202020A04" pitchFamily="82" charset="0"/>
                <a:cs typeface="Arial"/>
              </a:rPr>
              <a:t> </a:t>
            </a:r>
            <a:r>
              <a:rPr sz="3600" b="1" dirty="0">
                <a:solidFill>
                  <a:srgbClr val="CC9900"/>
                </a:solidFill>
                <a:latin typeface="Felix Titling" panose="04060505060202020A04" pitchFamily="82" charset="0"/>
                <a:cs typeface="Arial"/>
              </a:rPr>
              <a:t>&amp;</a:t>
            </a:r>
            <a:r>
              <a:rPr sz="3600" b="1" spc="-50" dirty="0">
                <a:solidFill>
                  <a:srgbClr val="CC9900"/>
                </a:solidFill>
                <a:latin typeface="Felix Titling" panose="04060505060202020A04" pitchFamily="82" charset="0"/>
                <a:cs typeface="Arial"/>
              </a:rPr>
              <a:t> </a:t>
            </a:r>
            <a:r>
              <a:rPr sz="3600" b="1" spc="-20" dirty="0">
                <a:solidFill>
                  <a:srgbClr val="CC9900"/>
                </a:solidFill>
                <a:latin typeface="Felix Titling" panose="04060505060202020A04" pitchFamily="82" charset="0"/>
                <a:cs typeface="Arial"/>
              </a:rPr>
              <a:t>Need</a:t>
            </a:r>
            <a:endParaRPr sz="3600" dirty="0">
              <a:solidFill>
                <a:srgbClr val="CC9900"/>
              </a:solidFill>
              <a:latin typeface="Felix Titling" panose="04060505060202020A04" pitchFamily="82" charset="0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79199" y="3598530"/>
            <a:ext cx="6574101" cy="1577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25000"/>
              </a:lnSpc>
              <a:spcBef>
                <a:spcPts val="100"/>
              </a:spcBef>
            </a:pPr>
            <a:r>
              <a:rPr lang="en-IN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G</a:t>
            </a:r>
            <a:r>
              <a:rPr sz="1000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hatdare village has historically faced </a:t>
            </a:r>
            <a:r>
              <a:rPr sz="1000" b="1" dirty="0">
                <a:solidFill>
                  <a:srgbClr val="2A2A2A"/>
                </a:solidFill>
                <a:latin typeface="Felix Titling" panose="04060505060202020A04" pitchFamily="82" charset="0"/>
                <a:cs typeface="Arial"/>
              </a:rPr>
              <a:t>acute </a:t>
            </a:r>
            <a:r>
              <a:rPr sz="1000" b="1" spc="-10" dirty="0">
                <a:solidFill>
                  <a:srgbClr val="2A2A2A"/>
                </a:solidFill>
                <a:latin typeface="Felix Titling" panose="04060505060202020A04" pitchFamily="82" charset="0"/>
                <a:cs typeface="Arial"/>
              </a:rPr>
              <a:t>water </a:t>
            </a:r>
            <a:r>
              <a:rPr sz="1000" b="1" dirty="0">
                <a:solidFill>
                  <a:srgbClr val="2A2A2A"/>
                </a:solidFill>
                <a:latin typeface="Felix Titling" panose="04060505060202020A04" pitchFamily="82" charset="0"/>
                <a:cs typeface="Arial"/>
              </a:rPr>
              <a:t>scarcity</a:t>
            </a:r>
            <a:r>
              <a:rPr sz="1000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, declining</a:t>
            </a:r>
            <a:r>
              <a:rPr sz="1000" spc="5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 </a:t>
            </a:r>
            <a:r>
              <a:rPr sz="1000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groundwater levels,</a:t>
            </a:r>
            <a:r>
              <a:rPr sz="1000" spc="5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 </a:t>
            </a:r>
            <a:r>
              <a:rPr sz="1000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and</a:t>
            </a:r>
            <a:r>
              <a:rPr sz="1000" spc="5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 </a:t>
            </a:r>
            <a:r>
              <a:rPr sz="1000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severe </a:t>
            </a:r>
            <a:r>
              <a:rPr sz="1000" spc="-20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soil </a:t>
            </a:r>
            <a:r>
              <a:rPr sz="1000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erosion</a:t>
            </a:r>
            <a:r>
              <a:rPr sz="1000" spc="5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 </a:t>
            </a:r>
            <a:r>
              <a:rPr sz="1000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that</a:t>
            </a:r>
            <a:r>
              <a:rPr sz="1000" spc="5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 </a:t>
            </a:r>
            <a:r>
              <a:rPr sz="1000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reduced</a:t>
            </a:r>
            <a:r>
              <a:rPr sz="1000" spc="5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 </a:t>
            </a:r>
            <a:r>
              <a:rPr sz="1000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agricultural</a:t>
            </a:r>
            <a:r>
              <a:rPr sz="1000" spc="5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 </a:t>
            </a:r>
            <a:r>
              <a:rPr sz="1000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productivity</a:t>
            </a:r>
            <a:r>
              <a:rPr sz="1000" spc="5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 </a:t>
            </a:r>
            <a:r>
              <a:rPr sz="1000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and</a:t>
            </a:r>
            <a:r>
              <a:rPr sz="1000" spc="5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 </a:t>
            </a:r>
            <a:r>
              <a:rPr sz="1000" spc="-10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increased </a:t>
            </a:r>
            <a:r>
              <a:rPr sz="1000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drought </a:t>
            </a:r>
            <a:r>
              <a:rPr sz="1000" spc="-10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vulnerability.</a:t>
            </a:r>
            <a:endParaRPr sz="1000" dirty="0">
              <a:latin typeface="Felix Titling" panose="04060505060202020A04" pitchFamily="82" charset="0"/>
              <a:cs typeface="Arial MT"/>
            </a:endParaRPr>
          </a:p>
          <a:p>
            <a:pPr algn="just">
              <a:lnSpc>
                <a:spcPct val="100000"/>
              </a:lnSpc>
              <a:spcBef>
                <a:spcPts val="350"/>
              </a:spcBef>
            </a:pPr>
            <a:endParaRPr sz="1000" dirty="0">
              <a:latin typeface="Felix Titling" panose="04060505060202020A04" pitchFamily="82" charset="0"/>
              <a:cs typeface="Arial MT"/>
            </a:endParaRPr>
          </a:p>
          <a:p>
            <a:pPr marL="12700" marR="25400" algn="just">
              <a:lnSpc>
                <a:spcPct val="125000"/>
              </a:lnSpc>
            </a:pPr>
            <a:r>
              <a:rPr sz="1000" b="1" dirty="0">
                <a:solidFill>
                  <a:schemeClr val="tx1"/>
                </a:solidFill>
                <a:latin typeface="Felix Titling" panose="04060505060202020A04" pitchFamily="82" charset="0"/>
                <a:cs typeface="Arial MT"/>
              </a:rPr>
              <a:t>TE Connectivity</a:t>
            </a:r>
            <a:r>
              <a:rPr sz="1000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, in</a:t>
            </a:r>
            <a:r>
              <a:rPr sz="1000" spc="5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 </a:t>
            </a:r>
            <a:r>
              <a:rPr sz="1000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partnership with</a:t>
            </a:r>
            <a:r>
              <a:rPr sz="1000" spc="5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 </a:t>
            </a:r>
            <a:r>
              <a:rPr sz="1000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SJSM and</a:t>
            </a:r>
            <a:r>
              <a:rPr sz="1000" spc="5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 </a:t>
            </a:r>
            <a:r>
              <a:rPr sz="1000" spc="-20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Gram </a:t>
            </a:r>
            <a:r>
              <a:rPr sz="1000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Panchayat Ghatdare–Bhoslewadi, launched this </a:t>
            </a:r>
            <a:r>
              <a:rPr sz="1000" spc="-10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integrated </a:t>
            </a:r>
            <a:r>
              <a:rPr sz="1000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watershed programme </a:t>
            </a:r>
            <a:r>
              <a:rPr sz="1000" spc="-25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to:</a:t>
            </a:r>
            <a:endParaRPr sz="1000" dirty="0">
              <a:latin typeface="Felix Titling" panose="04060505060202020A04" pitchFamily="82" charset="0"/>
              <a:cs typeface="Arial MT"/>
            </a:endParaRPr>
          </a:p>
          <a:p>
            <a:pPr algn="just">
              <a:lnSpc>
                <a:spcPct val="100000"/>
              </a:lnSpc>
              <a:spcBef>
                <a:spcPts val="650"/>
              </a:spcBef>
            </a:pPr>
            <a:endParaRPr sz="1000" dirty="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39074" y="5037132"/>
            <a:ext cx="6324600" cy="987450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92075" indent="-79375" algn="just">
              <a:lnSpc>
                <a:spcPct val="100000"/>
              </a:lnSpc>
              <a:buChar char="•"/>
              <a:tabLst>
                <a:tab pos="92075" algn="l"/>
              </a:tabLst>
            </a:pPr>
            <a:r>
              <a:rPr lang="en-US" sz="1000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Restore the</a:t>
            </a:r>
            <a:r>
              <a:rPr lang="en-US" sz="1000" spc="5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 </a:t>
            </a:r>
            <a:r>
              <a:rPr lang="en-US" sz="1000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natural</a:t>
            </a:r>
            <a:r>
              <a:rPr lang="en-US" sz="1000" spc="5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 </a:t>
            </a:r>
            <a:r>
              <a:rPr lang="en-US" sz="1000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water </a:t>
            </a:r>
            <a:r>
              <a:rPr lang="en-US" sz="1000" spc="-10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balance</a:t>
            </a:r>
            <a:endParaRPr lang="en-US" sz="1000" dirty="0">
              <a:latin typeface="Felix Titling" panose="04060505060202020A04" pitchFamily="82" charset="0"/>
              <a:cs typeface="Arial MT"/>
            </a:endParaRPr>
          </a:p>
          <a:p>
            <a:pPr marL="92075" indent="-79375" algn="just">
              <a:lnSpc>
                <a:spcPct val="100000"/>
              </a:lnSpc>
              <a:spcBef>
                <a:spcPts val="300"/>
              </a:spcBef>
              <a:buChar char="•"/>
              <a:tabLst>
                <a:tab pos="92075" algn="l"/>
              </a:tabLst>
            </a:pPr>
            <a:r>
              <a:rPr lang="en-US" sz="1000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Control soil erosion through ridge-to-valley </a:t>
            </a:r>
            <a:r>
              <a:rPr lang="en-US" sz="1000" spc="-10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treatment</a:t>
            </a:r>
            <a:endParaRPr lang="en-IN" sz="1000" dirty="0">
              <a:solidFill>
                <a:srgbClr val="2A2A2A"/>
              </a:solidFill>
              <a:latin typeface="Felix Titling" panose="04060505060202020A04" pitchFamily="82" charset="0"/>
              <a:cs typeface="Arial MT"/>
            </a:endParaRPr>
          </a:p>
          <a:p>
            <a:pPr marL="92075" indent="-79375">
              <a:lnSpc>
                <a:spcPct val="100000"/>
              </a:lnSpc>
              <a:spcBef>
                <a:spcPts val="400"/>
              </a:spcBef>
              <a:buChar char="•"/>
              <a:tabLst>
                <a:tab pos="92075" algn="l"/>
              </a:tabLst>
            </a:pPr>
            <a:r>
              <a:rPr sz="1000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Bring 647</a:t>
            </a:r>
            <a:r>
              <a:rPr sz="1000" spc="5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 </a:t>
            </a:r>
            <a:r>
              <a:rPr sz="1000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Ha</a:t>
            </a:r>
            <a:r>
              <a:rPr sz="1000" spc="5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 </a:t>
            </a:r>
            <a:r>
              <a:rPr sz="1000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of farmland</a:t>
            </a:r>
            <a:r>
              <a:rPr sz="1000" spc="5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 </a:t>
            </a:r>
            <a:r>
              <a:rPr sz="1000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under</a:t>
            </a:r>
            <a:r>
              <a:rPr sz="1000" spc="5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 </a:t>
            </a:r>
            <a:r>
              <a:rPr sz="1000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assured </a:t>
            </a:r>
            <a:r>
              <a:rPr sz="1000" spc="-10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irrigation</a:t>
            </a:r>
            <a:endParaRPr sz="1000" dirty="0">
              <a:latin typeface="Felix Titling" panose="04060505060202020A04" pitchFamily="82" charset="0"/>
              <a:cs typeface="Arial MT"/>
            </a:endParaRPr>
          </a:p>
          <a:p>
            <a:pPr marL="92075" indent="-79375">
              <a:lnSpc>
                <a:spcPct val="100000"/>
              </a:lnSpc>
              <a:spcBef>
                <a:spcPts val="300"/>
              </a:spcBef>
              <a:buChar char="•"/>
              <a:tabLst>
                <a:tab pos="92075" algn="l"/>
              </a:tabLst>
            </a:pPr>
            <a:r>
              <a:rPr sz="1000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Provide safe</a:t>
            </a:r>
            <a:r>
              <a:rPr sz="1000" spc="5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 </a:t>
            </a:r>
            <a:r>
              <a:rPr sz="1000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drinking</a:t>
            </a:r>
            <a:r>
              <a:rPr sz="1000" spc="5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 </a:t>
            </a:r>
            <a:r>
              <a:rPr sz="1000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water</a:t>
            </a:r>
            <a:r>
              <a:rPr sz="1000" spc="5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 </a:t>
            </a:r>
            <a:r>
              <a:rPr sz="1000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to</a:t>
            </a:r>
            <a:r>
              <a:rPr sz="1000" spc="5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 </a:t>
            </a:r>
            <a:r>
              <a:rPr sz="1000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225 </a:t>
            </a:r>
            <a:r>
              <a:rPr sz="1000" spc="-10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households</a:t>
            </a:r>
            <a:endParaRPr sz="1000" dirty="0">
              <a:latin typeface="Felix Titling" panose="04060505060202020A04" pitchFamily="82" charset="0"/>
              <a:cs typeface="Arial MT"/>
            </a:endParaRPr>
          </a:p>
          <a:p>
            <a:pPr marL="92075" indent="-79375">
              <a:lnSpc>
                <a:spcPct val="100000"/>
              </a:lnSpc>
              <a:spcBef>
                <a:spcPts val="300"/>
              </a:spcBef>
              <a:buChar char="•"/>
              <a:tabLst>
                <a:tab pos="92075" algn="l"/>
              </a:tabLst>
            </a:pPr>
            <a:r>
              <a:rPr sz="1000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Build climate</a:t>
            </a:r>
            <a:r>
              <a:rPr sz="1000" spc="5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 </a:t>
            </a:r>
            <a:r>
              <a:rPr sz="1000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resilience and</a:t>
            </a:r>
            <a:r>
              <a:rPr sz="1000" spc="5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 </a:t>
            </a:r>
            <a:r>
              <a:rPr sz="1000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improve crop</a:t>
            </a:r>
            <a:r>
              <a:rPr sz="1000" spc="5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 </a:t>
            </a:r>
            <a:r>
              <a:rPr sz="1000" spc="-10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productivity</a:t>
            </a:r>
            <a:endParaRPr sz="1000" dirty="0">
              <a:latin typeface="Felix Titling" panose="04060505060202020A04" pitchFamily="82" charset="0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66498" y="3350355"/>
            <a:ext cx="3100895" cy="14234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95960" marR="5080" indent="-683895" algn="l">
              <a:lnSpc>
                <a:spcPct val="114599"/>
              </a:lnSpc>
              <a:spcBef>
                <a:spcPts val="100"/>
              </a:spcBef>
            </a:pPr>
            <a:r>
              <a:rPr sz="800" i="1" dirty="0">
                <a:solidFill>
                  <a:schemeClr val="bg1"/>
                </a:solidFill>
                <a:latin typeface="Arial"/>
                <a:cs typeface="Arial"/>
              </a:rPr>
              <a:t>Ghatdare</a:t>
            </a:r>
            <a:r>
              <a:rPr sz="800" i="1" spc="-2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800" i="1" dirty="0">
                <a:solidFill>
                  <a:schemeClr val="bg1"/>
                </a:solidFill>
                <a:latin typeface="Arial"/>
                <a:cs typeface="Arial"/>
              </a:rPr>
              <a:t>Village</a:t>
            </a:r>
            <a:r>
              <a:rPr sz="800" i="1" spc="-2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800" i="1" dirty="0">
                <a:solidFill>
                  <a:schemeClr val="bg1"/>
                </a:solidFill>
                <a:latin typeface="Arial"/>
                <a:cs typeface="Arial"/>
              </a:rPr>
              <a:t>—</a:t>
            </a:r>
            <a:r>
              <a:rPr sz="800" i="1" spc="-2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800" i="1" dirty="0">
                <a:solidFill>
                  <a:schemeClr val="bg1"/>
                </a:solidFill>
                <a:latin typeface="Arial"/>
                <a:cs typeface="Arial"/>
              </a:rPr>
              <a:t>Google</a:t>
            </a:r>
            <a:r>
              <a:rPr sz="800" i="1" spc="-2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800" i="1" dirty="0">
                <a:solidFill>
                  <a:schemeClr val="bg1"/>
                </a:solidFill>
                <a:latin typeface="Arial"/>
                <a:cs typeface="Arial"/>
              </a:rPr>
              <a:t>Earth</a:t>
            </a:r>
            <a:r>
              <a:rPr sz="800" i="1" spc="-2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800" i="1" dirty="0">
                <a:solidFill>
                  <a:schemeClr val="bg1"/>
                </a:solidFill>
                <a:latin typeface="Arial"/>
                <a:cs typeface="Arial"/>
              </a:rPr>
              <a:t>Satellite</a:t>
            </a:r>
            <a:r>
              <a:rPr sz="800" i="1" spc="-2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800" i="1" spc="-20" dirty="0">
                <a:solidFill>
                  <a:schemeClr val="bg1"/>
                </a:solidFill>
                <a:latin typeface="Arial"/>
                <a:cs typeface="Arial"/>
              </a:rPr>
              <a:t>View</a:t>
            </a:r>
            <a:r>
              <a:rPr lang="en-IN" sz="800" i="1" spc="-2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800" i="1" spc="-10" dirty="0">
                <a:solidFill>
                  <a:schemeClr val="bg1"/>
                </a:solidFill>
                <a:latin typeface="Arial"/>
                <a:cs typeface="Arial"/>
              </a:rPr>
              <a:t>(Pre-intervention)</a:t>
            </a:r>
            <a:endParaRPr sz="800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739516" y="6210811"/>
            <a:ext cx="1241425" cy="63500"/>
          </a:xfrm>
          <a:custGeom>
            <a:avLst/>
            <a:gdLst/>
            <a:ahLst/>
            <a:cxnLst/>
            <a:rect l="l" t="t" r="r" b="b"/>
            <a:pathLst>
              <a:path w="1241425" h="63500">
                <a:moveTo>
                  <a:pt x="1240960" y="0"/>
                </a:moveTo>
                <a:lnTo>
                  <a:pt x="0" y="0"/>
                </a:lnTo>
                <a:lnTo>
                  <a:pt x="0" y="63500"/>
                </a:lnTo>
                <a:lnTo>
                  <a:pt x="1240960" y="63500"/>
                </a:lnTo>
                <a:lnTo>
                  <a:pt x="1240960" y="0"/>
                </a:lnTo>
                <a:close/>
              </a:path>
            </a:pathLst>
          </a:custGeom>
          <a:solidFill>
            <a:srgbClr val="C8A84B"/>
          </a:solidFill>
        </p:spPr>
        <p:txBody>
          <a:bodyPr wrap="square" lIns="0" tIns="0" rIns="0" bIns="0" rtlCol="0"/>
          <a:lstStyle/>
          <a:p>
            <a:endParaRPr dirty="0">
              <a:latin typeface="Felix Titling" panose="04060505060202020A04" pitchFamily="82" charset="0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042525" y="6229861"/>
            <a:ext cx="4902200" cy="19050"/>
          </a:xfrm>
          <a:custGeom>
            <a:avLst/>
            <a:gdLst/>
            <a:ahLst/>
            <a:cxnLst/>
            <a:rect l="l" t="t" r="r" b="b"/>
            <a:pathLst>
              <a:path w="4902200" h="19050">
                <a:moveTo>
                  <a:pt x="4901792" y="0"/>
                </a:moveTo>
                <a:lnTo>
                  <a:pt x="0" y="0"/>
                </a:lnTo>
                <a:lnTo>
                  <a:pt x="0" y="19050"/>
                </a:lnTo>
                <a:lnTo>
                  <a:pt x="4901792" y="19050"/>
                </a:lnTo>
                <a:lnTo>
                  <a:pt x="4901792" y="0"/>
                </a:lnTo>
                <a:close/>
              </a:path>
            </a:pathLst>
          </a:custGeom>
          <a:solidFill>
            <a:srgbClr val="D4C4A0"/>
          </a:solidFill>
        </p:spPr>
        <p:txBody>
          <a:bodyPr wrap="square" lIns="0" tIns="0" rIns="0" bIns="0" rtlCol="0"/>
          <a:lstStyle/>
          <a:p>
            <a:endParaRPr dirty="0">
              <a:latin typeface="Felix Titling" panose="04060505060202020A04" pitchFamily="82" charset="0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44991" y="6377495"/>
            <a:ext cx="6574100" cy="1010533"/>
          </a:xfrm>
          <a:prstGeom prst="rect">
            <a:avLst/>
          </a:prstGeom>
        </p:spPr>
        <p:txBody>
          <a:bodyPr vert="horz" wrap="square" lIns="0" tIns="142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20"/>
              </a:spcBef>
            </a:pPr>
            <a:r>
              <a:rPr sz="1700" b="1" dirty="0">
                <a:solidFill>
                  <a:srgbClr val="CC9900"/>
                </a:solidFill>
                <a:latin typeface="Felix Titling" panose="04060505060202020A04" pitchFamily="82" charset="0"/>
                <a:cs typeface="Arial"/>
              </a:rPr>
              <a:t>Project</a:t>
            </a:r>
            <a:r>
              <a:rPr sz="1700" b="1" spc="-60" dirty="0">
                <a:solidFill>
                  <a:srgbClr val="CC9900"/>
                </a:solidFill>
                <a:latin typeface="Felix Titling" panose="04060505060202020A04" pitchFamily="82" charset="0"/>
                <a:cs typeface="Arial"/>
              </a:rPr>
              <a:t> </a:t>
            </a:r>
            <a:r>
              <a:rPr sz="1700" b="1" spc="-10" dirty="0">
                <a:solidFill>
                  <a:srgbClr val="CC9900"/>
                </a:solidFill>
                <a:latin typeface="Felix Titling" panose="04060505060202020A04" pitchFamily="82" charset="0"/>
                <a:cs typeface="Arial"/>
              </a:rPr>
              <a:t>Objectives</a:t>
            </a:r>
            <a:endParaRPr sz="1700" dirty="0">
              <a:solidFill>
                <a:srgbClr val="CC9900"/>
              </a:solidFill>
              <a:latin typeface="Felix Titling" panose="04060505060202020A04" pitchFamily="82" charset="0"/>
              <a:cs typeface="Arial"/>
            </a:endParaRPr>
          </a:p>
          <a:p>
            <a:pPr marL="12700" algn="just">
              <a:lnSpc>
                <a:spcPct val="100000"/>
              </a:lnSpc>
              <a:spcBef>
                <a:spcPts val="660"/>
              </a:spcBef>
              <a:tabLst>
                <a:tab pos="189230" algn="l"/>
              </a:tabLst>
            </a:pPr>
            <a:r>
              <a:rPr sz="1650" b="1" baseline="-5050" dirty="0">
                <a:solidFill>
                  <a:srgbClr val="1A3A2D"/>
                </a:solidFill>
                <a:latin typeface="Felix Titling" panose="04060505060202020A04" pitchFamily="82" charset="0"/>
                <a:cs typeface="Arial"/>
              </a:rPr>
              <a:t>Groundwater</a:t>
            </a:r>
            <a:r>
              <a:rPr sz="1650" b="1" spc="-15" baseline="-5050" dirty="0">
                <a:solidFill>
                  <a:srgbClr val="1A3A2D"/>
                </a:solidFill>
                <a:latin typeface="Felix Titling" panose="04060505060202020A04" pitchFamily="82" charset="0"/>
                <a:cs typeface="Arial"/>
              </a:rPr>
              <a:t> Recharge</a:t>
            </a:r>
            <a:r>
              <a:rPr sz="1650" b="1" spc="-254" baseline="-5050" dirty="0">
                <a:solidFill>
                  <a:srgbClr val="1A3A2D"/>
                </a:solidFill>
                <a:latin typeface="Felix Titling" panose="04060505060202020A04" pitchFamily="82" charset="0"/>
                <a:cs typeface="Arial"/>
              </a:rPr>
              <a:t> </a:t>
            </a:r>
            <a:r>
              <a:rPr sz="1000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Increase</a:t>
            </a:r>
            <a:r>
              <a:rPr sz="1000" spc="5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 </a:t>
            </a:r>
            <a:r>
              <a:rPr sz="1000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groundwater</a:t>
            </a:r>
            <a:r>
              <a:rPr sz="1000" spc="5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 </a:t>
            </a:r>
            <a:r>
              <a:rPr sz="1000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recharge</a:t>
            </a:r>
            <a:r>
              <a:rPr sz="1000" spc="5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 </a:t>
            </a:r>
            <a:r>
              <a:rPr sz="1000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and</a:t>
            </a:r>
            <a:r>
              <a:rPr sz="1000" spc="5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 </a:t>
            </a:r>
            <a:r>
              <a:rPr sz="1000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create</a:t>
            </a:r>
            <a:r>
              <a:rPr sz="1000" spc="10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 </a:t>
            </a:r>
            <a:r>
              <a:rPr sz="1000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decentralized</a:t>
            </a:r>
            <a:r>
              <a:rPr sz="1000" spc="5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 </a:t>
            </a:r>
            <a:r>
              <a:rPr lang="en-IN" sz="1000" spc="5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                          			       </a:t>
            </a:r>
            <a:r>
              <a:rPr sz="1000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water</a:t>
            </a:r>
            <a:r>
              <a:rPr sz="1000" spc="5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 </a:t>
            </a:r>
            <a:r>
              <a:rPr sz="1000" spc="-10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storage</a:t>
            </a:r>
            <a:r>
              <a:rPr lang="en-IN" sz="1000" spc="-10" dirty="0">
                <a:latin typeface="Felix Titling" panose="04060505060202020A04" pitchFamily="82" charset="0"/>
                <a:cs typeface="Arial MT"/>
              </a:rPr>
              <a:t> </a:t>
            </a:r>
            <a:r>
              <a:rPr sz="1000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through</a:t>
            </a:r>
            <a:r>
              <a:rPr sz="1000" spc="10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 </a:t>
            </a:r>
            <a:r>
              <a:rPr sz="1000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Nala</a:t>
            </a:r>
            <a:r>
              <a:rPr sz="1000" spc="15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 </a:t>
            </a:r>
            <a:r>
              <a:rPr sz="1000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deepening</a:t>
            </a:r>
            <a:r>
              <a:rPr sz="1000" spc="10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 </a:t>
            </a:r>
            <a:r>
              <a:rPr sz="1000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and</a:t>
            </a:r>
            <a:r>
              <a:rPr sz="1000" spc="15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 </a:t>
            </a:r>
            <a:r>
              <a:rPr sz="1000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Contour</a:t>
            </a:r>
            <a:r>
              <a:rPr sz="1000" spc="10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 </a:t>
            </a:r>
            <a:r>
              <a:rPr lang="en-IN" sz="1000" spc="10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 				       </a:t>
            </a:r>
            <a:r>
              <a:rPr sz="1000" spc="-10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Trenches.</a:t>
            </a:r>
            <a:endParaRPr sz="1000" dirty="0">
              <a:latin typeface="Felix Titling" panose="04060505060202020A04" pitchFamily="82" charset="0"/>
              <a:cs typeface="Arial MT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TE</a:t>
            </a:r>
            <a:r>
              <a:rPr spc="-5" dirty="0"/>
              <a:t> </a:t>
            </a:r>
            <a:r>
              <a:rPr dirty="0"/>
              <a:t>Integrated Watershed Management Project</a:t>
            </a:r>
            <a:r>
              <a:rPr spc="210" dirty="0"/>
              <a:t> </a:t>
            </a:r>
            <a:r>
              <a:rPr dirty="0"/>
              <a:t>|</a:t>
            </a:r>
            <a:r>
              <a:rPr spc="210" dirty="0"/>
              <a:t> </a:t>
            </a:r>
            <a:r>
              <a:rPr dirty="0"/>
              <a:t>Ghatdare, Khandala, Satara</a:t>
            </a:r>
            <a:r>
              <a:rPr spc="210" dirty="0"/>
              <a:t> </a:t>
            </a:r>
            <a:r>
              <a:rPr dirty="0"/>
              <a:t>|</a:t>
            </a:r>
            <a:r>
              <a:rPr spc="210" dirty="0"/>
              <a:t> </a:t>
            </a:r>
            <a:r>
              <a:rPr dirty="0"/>
              <a:t>FY 2025-</a:t>
            </a:r>
            <a:r>
              <a:rPr spc="-25" dirty="0"/>
              <a:t>26</a:t>
            </a:r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Page</a:t>
            </a:r>
            <a:r>
              <a:rPr spc="-20" dirty="0"/>
              <a:t> </a:t>
            </a:r>
            <a:fld id="{81D60167-4931-47E6-BA6A-407CBD079E47}" type="slidenum">
              <a:rPr spc="-25" dirty="0"/>
              <a:t>4</a:t>
            </a:fld>
            <a:endParaRPr spc="-25" dirty="0"/>
          </a:p>
        </p:txBody>
      </p:sp>
      <p:sp>
        <p:nvSpPr>
          <p:cNvPr id="17" name="object 17"/>
          <p:cNvSpPr txBox="1"/>
          <p:nvPr/>
        </p:nvSpPr>
        <p:spPr>
          <a:xfrm>
            <a:off x="779198" y="7419520"/>
            <a:ext cx="2195059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91135" algn="l"/>
              </a:tabLst>
            </a:pPr>
            <a:r>
              <a:rPr sz="1100" b="1" dirty="0">
                <a:solidFill>
                  <a:srgbClr val="1A3A2D"/>
                </a:solidFill>
                <a:latin typeface="Felix Titling" panose="04060505060202020A04" pitchFamily="82" charset="0"/>
                <a:cs typeface="Arial"/>
              </a:rPr>
              <a:t>Soil </a:t>
            </a:r>
            <a:r>
              <a:rPr sz="1100" b="1" spc="-10" dirty="0">
                <a:solidFill>
                  <a:srgbClr val="1A3A2D"/>
                </a:solidFill>
                <a:latin typeface="Felix Titling" panose="04060505060202020A04" pitchFamily="82" charset="0"/>
                <a:cs typeface="Arial"/>
              </a:rPr>
              <a:t>Conservation</a:t>
            </a:r>
            <a:endParaRPr sz="1100" dirty="0">
              <a:latin typeface="Felix Titling" panose="04060505060202020A04" pitchFamily="82" charset="0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39074" y="8010655"/>
            <a:ext cx="2282351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91135" algn="l"/>
              </a:tabLst>
            </a:pPr>
            <a:r>
              <a:rPr sz="1100" b="1" dirty="0">
                <a:solidFill>
                  <a:srgbClr val="1A3A2D"/>
                </a:solidFill>
                <a:latin typeface="Felix Titling" panose="04060505060202020A04" pitchFamily="82" charset="0"/>
                <a:cs typeface="Arial"/>
              </a:rPr>
              <a:t>Irrigation </a:t>
            </a:r>
            <a:r>
              <a:rPr sz="1100" b="1" spc="-10" dirty="0">
                <a:solidFill>
                  <a:srgbClr val="1A3A2D"/>
                </a:solidFill>
                <a:latin typeface="Felix Titling" panose="04060505060202020A04" pitchFamily="82" charset="0"/>
                <a:cs typeface="Arial"/>
              </a:rPr>
              <a:t>Expansion</a:t>
            </a:r>
            <a:endParaRPr sz="1100" dirty="0">
              <a:latin typeface="Felix Titling" panose="04060505060202020A04" pitchFamily="82" charset="0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66498" y="8437841"/>
            <a:ext cx="2282351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91135" algn="l"/>
              </a:tabLst>
            </a:pPr>
            <a:r>
              <a:rPr sz="1100" b="1" dirty="0">
                <a:solidFill>
                  <a:srgbClr val="1A3A2D"/>
                </a:solidFill>
                <a:latin typeface="Felix Titling" panose="04060505060202020A04" pitchFamily="82" charset="0"/>
                <a:cs typeface="Arial"/>
              </a:rPr>
              <a:t>Safe</a:t>
            </a:r>
            <a:r>
              <a:rPr sz="1100" b="1" spc="-35" dirty="0">
                <a:solidFill>
                  <a:srgbClr val="1A3A2D"/>
                </a:solidFill>
                <a:latin typeface="Felix Titling" panose="04060505060202020A04" pitchFamily="82" charset="0"/>
                <a:cs typeface="Arial"/>
              </a:rPr>
              <a:t> </a:t>
            </a:r>
            <a:r>
              <a:rPr sz="1100" b="1" dirty="0">
                <a:solidFill>
                  <a:srgbClr val="1A3A2D"/>
                </a:solidFill>
                <a:latin typeface="Felix Titling" panose="04060505060202020A04" pitchFamily="82" charset="0"/>
                <a:cs typeface="Arial"/>
              </a:rPr>
              <a:t>Drinking</a:t>
            </a:r>
            <a:r>
              <a:rPr sz="1100" b="1" spc="-35" dirty="0">
                <a:solidFill>
                  <a:srgbClr val="1A3A2D"/>
                </a:solidFill>
                <a:latin typeface="Felix Titling" panose="04060505060202020A04" pitchFamily="82" charset="0"/>
                <a:cs typeface="Arial"/>
              </a:rPr>
              <a:t> </a:t>
            </a:r>
            <a:r>
              <a:rPr sz="1100" b="1" spc="-10" dirty="0">
                <a:solidFill>
                  <a:srgbClr val="1A3A2D"/>
                </a:solidFill>
                <a:latin typeface="Felix Titling" panose="04060505060202020A04" pitchFamily="82" charset="0"/>
                <a:cs typeface="Arial"/>
              </a:rPr>
              <a:t>Water</a:t>
            </a:r>
            <a:endParaRPr sz="1100" dirty="0">
              <a:latin typeface="Felix Titling" panose="04060505060202020A04" pitchFamily="82" charset="0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79198" y="8833691"/>
            <a:ext cx="2389451" cy="20140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1200"/>
              </a:lnSpc>
              <a:spcBef>
                <a:spcPts val="100"/>
              </a:spcBef>
            </a:pPr>
            <a:r>
              <a:rPr sz="1100" b="1" spc="-10" dirty="0">
                <a:solidFill>
                  <a:srgbClr val="1A3A2D"/>
                </a:solidFill>
                <a:latin typeface="Felix Titling" panose="04060505060202020A04" pitchFamily="82" charset="0"/>
                <a:cs typeface="Arial"/>
              </a:rPr>
              <a:t>Community Governance</a:t>
            </a:r>
            <a:endParaRPr sz="1100" dirty="0">
              <a:latin typeface="Felix Titling" panose="04060505060202020A04" pitchFamily="82" charset="0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827370" y="7393762"/>
            <a:ext cx="4282440" cy="20354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68580" algn="just">
              <a:lnSpc>
                <a:spcPct val="125000"/>
              </a:lnSpc>
              <a:spcBef>
                <a:spcPts val="100"/>
              </a:spcBef>
            </a:pPr>
            <a:r>
              <a:rPr sz="1000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Control soil erosion through comprehensive ridge-to-valley treatment </a:t>
            </a:r>
            <a:r>
              <a:rPr sz="1000" spc="-10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using </a:t>
            </a:r>
            <a:r>
              <a:rPr sz="1000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Gabion, Loose</a:t>
            </a:r>
            <a:r>
              <a:rPr sz="1000" spc="5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 </a:t>
            </a:r>
            <a:r>
              <a:rPr sz="1000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Boulder, and</a:t>
            </a:r>
            <a:r>
              <a:rPr sz="1000" spc="5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 </a:t>
            </a:r>
            <a:r>
              <a:rPr sz="1000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SCT</a:t>
            </a:r>
            <a:r>
              <a:rPr sz="1000" spc="5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 </a:t>
            </a:r>
            <a:r>
              <a:rPr sz="1000" spc="-10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structures.</a:t>
            </a:r>
            <a:endParaRPr sz="1000" dirty="0">
              <a:latin typeface="Felix Titling" panose="04060505060202020A04" pitchFamily="82" charset="0"/>
              <a:cs typeface="Arial MT"/>
            </a:endParaRPr>
          </a:p>
          <a:p>
            <a:pPr marL="12700" marR="5080" algn="just">
              <a:lnSpc>
                <a:spcPct val="125000"/>
              </a:lnSpc>
              <a:spcBef>
                <a:spcPts val="300"/>
              </a:spcBef>
            </a:pPr>
            <a:r>
              <a:rPr sz="1000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Bring 250</a:t>
            </a:r>
            <a:r>
              <a:rPr sz="1000" spc="5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 </a:t>
            </a:r>
            <a:r>
              <a:rPr sz="1000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hectares of</a:t>
            </a:r>
            <a:r>
              <a:rPr sz="1000" spc="5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 </a:t>
            </a:r>
            <a:r>
              <a:rPr sz="1000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farmland under</a:t>
            </a:r>
            <a:r>
              <a:rPr sz="1000" spc="5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 </a:t>
            </a:r>
            <a:r>
              <a:rPr sz="1000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assured irrigation,</a:t>
            </a:r>
            <a:r>
              <a:rPr sz="1000" spc="5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 </a:t>
            </a:r>
            <a:r>
              <a:rPr sz="1000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progressing </a:t>
            </a:r>
            <a:r>
              <a:rPr sz="1000" spc="-10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toward </a:t>
            </a:r>
            <a:r>
              <a:rPr sz="1000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647 Ha</a:t>
            </a:r>
            <a:r>
              <a:rPr sz="1000" spc="5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 </a:t>
            </a:r>
            <a:r>
              <a:rPr sz="1000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total</a:t>
            </a:r>
            <a:r>
              <a:rPr sz="1000" spc="5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 </a:t>
            </a:r>
            <a:r>
              <a:rPr sz="1000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area</a:t>
            </a:r>
            <a:r>
              <a:rPr sz="1000" spc="5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 </a:t>
            </a:r>
            <a:r>
              <a:rPr sz="1000" spc="-10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target.</a:t>
            </a:r>
            <a:endParaRPr sz="1000" dirty="0">
              <a:latin typeface="Felix Titling" panose="04060505060202020A04" pitchFamily="82" charset="0"/>
              <a:cs typeface="Arial MT"/>
            </a:endParaRPr>
          </a:p>
          <a:p>
            <a:pPr marL="12700" marR="160655" algn="just">
              <a:lnSpc>
                <a:spcPct val="125000"/>
              </a:lnSpc>
              <a:spcBef>
                <a:spcPts val="300"/>
              </a:spcBef>
            </a:pPr>
            <a:r>
              <a:rPr sz="1000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Install and</a:t>
            </a:r>
            <a:r>
              <a:rPr sz="1000" spc="5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 </a:t>
            </a:r>
            <a:r>
              <a:rPr sz="1000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commission a</a:t>
            </a:r>
            <a:r>
              <a:rPr sz="1000" spc="5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 </a:t>
            </a:r>
            <a:r>
              <a:rPr sz="1000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Water</a:t>
            </a:r>
            <a:r>
              <a:rPr sz="1000" spc="5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 </a:t>
            </a:r>
            <a:r>
              <a:rPr sz="1000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Purification Unit</a:t>
            </a:r>
            <a:r>
              <a:rPr sz="1000" spc="5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 </a:t>
            </a:r>
            <a:r>
              <a:rPr sz="1000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to provide</a:t>
            </a:r>
            <a:r>
              <a:rPr sz="1000" spc="5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 </a:t>
            </a:r>
            <a:r>
              <a:rPr sz="1000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clean</a:t>
            </a:r>
            <a:r>
              <a:rPr sz="1000" spc="5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 </a:t>
            </a:r>
            <a:r>
              <a:rPr sz="1000" spc="-10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drinking </a:t>
            </a:r>
            <a:r>
              <a:rPr sz="1000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water</a:t>
            </a:r>
            <a:r>
              <a:rPr sz="1000" spc="5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 </a:t>
            </a:r>
            <a:r>
              <a:rPr sz="1000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to</a:t>
            </a:r>
            <a:r>
              <a:rPr sz="1000" spc="5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 </a:t>
            </a:r>
            <a:r>
              <a:rPr sz="1000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all</a:t>
            </a:r>
            <a:r>
              <a:rPr sz="1000" spc="5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 </a:t>
            </a:r>
            <a:r>
              <a:rPr sz="1000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225</a:t>
            </a:r>
            <a:r>
              <a:rPr sz="1000" spc="5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 </a:t>
            </a:r>
            <a:r>
              <a:rPr sz="1000" spc="-10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households.</a:t>
            </a:r>
            <a:endParaRPr sz="1000" dirty="0">
              <a:latin typeface="Felix Titling" panose="04060505060202020A04" pitchFamily="82" charset="0"/>
              <a:cs typeface="Arial MT"/>
            </a:endParaRPr>
          </a:p>
          <a:p>
            <a:pPr marL="12700" marR="358140" algn="just">
              <a:lnSpc>
                <a:spcPct val="125000"/>
              </a:lnSpc>
              <a:spcBef>
                <a:spcPts val="300"/>
              </a:spcBef>
            </a:pPr>
            <a:r>
              <a:rPr sz="1000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Build climate resilience through community mobilisation, Gram </a:t>
            </a:r>
            <a:r>
              <a:rPr sz="1000" spc="-10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Sabha </a:t>
            </a:r>
            <a:r>
              <a:rPr sz="1000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approvals, and</a:t>
            </a:r>
            <a:r>
              <a:rPr sz="1000" spc="5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 </a:t>
            </a:r>
            <a:r>
              <a:rPr sz="1000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local</a:t>
            </a:r>
            <a:r>
              <a:rPr sz="1000" spc="5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 </a:t>
            </a:r>
            <a:r>
              <a:rPr sz="1000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ownership</a:t>
            </a:r>
            <a:r>
              <a:rPr sz="1000" spc="5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 </a:t>
            </a:r>
            <a:r>
              <a:rPr sz="1000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of</a:t>
            </a:r>
            <a:r>
              <a:rPr sz="1000" spc="5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 </a:t>
            </a:r>
            <a:r>
              <a:rPr sz="1000" spc="-10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infrastructure.</a:t>
            </a:r>
            <a:endParaRPr sz="1000" dirty="0">
              <a:latin typeface="Felix Titling" panose="04060505060202020A04" pitchFamily="82" charset="0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500" y="127000"/>
            <a:ext cx="167449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b="1" dirty="0">
                <a:solidFill>
                  <a:srgbClr val="FFFFFF"/>
                </a:solidFill>
                <a:latin typeface="Arial"/>
                <a:cs typeface="Arial"/>
              </a:rPr>
              <a:t>TE</a:t>
            </a:r>
            <a:r>
              <a:rPr sz="80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FFFFFF"/>
                </a:solidFill>
                <a:latin typeface="Arial"/>
                <a:cs typeface="Arial"/>
              </a:rPr>
              <a:t>IWMP</a:t>
            </a:r>
            <a:r>
              <a:rPr sz="80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FFFFFF"/>
                </a:solidFill>
                <a:latin typeface="Arial"/>
                <a:cs typeface="Arial"/>
              </a:rPr>
              <a:t>–</a:t>
            </a:r>
            <a:r>
              <a:rPr sz="80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FFFFFF"/>
                </a:solidFill>
                <a:latin typeface="Arial"/>
                <a:cs typeface="Arial"/>
              </a:rPr>
              <a:t>Annual Report</a:t>
            </a:r>
            <a:r>
              <a:rPr sz="80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800" b="1" spc="-10" dirty="0">
                <a:solidFill>
                  <a:srgbClr val="FFFFFF"/>
                </a:solidFill>
                <a:latin typeface="Arial"/>
                <a:cs typeface="Arial"/>
              </a:rPr>
              <a:t>2025-</a:t>
            </a:r>
            <a:r>
              <a:rPr sz="800" b="1" spc="-25" dirty="0">
                <a:solidFill>
                  <a:srgbClr val="FFFFFF"/>
                </a:solidFill>
                <a:latin typeface="Arial"/>
                <a:cs typeface="Arial"/>
              </a:rPr>
              <a:t>26</a:t>
            </a:r>
            <a:endParaRPr sz="8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968590" y="127000"/>
            <a:ext cx="247777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FFFFFF"/>
                </a:solidFill>
                <a:latin typeface="Arial MT"/>
                <a:cs typeface="Arial MT"/>
              </a:rPr>
              <a:t>TE</a:t>
            </a:r>
            <a:r>
              <a:rPr sz="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FFFFFF"/>
                </a:solidFill>
                <a:latin typeface="Arial MT"/>
                <a:cs typeface="Arial MT"/>
              </a:rPr>
              <a:t>Connectivity</a:t>
            </a:r>
            <a:r>
              <a:rPr sz="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FFFFFF"/>
                </a:solidFill>
                <a:latin typeface="Arial MT"/>
                <a:cs typeface="Arial MT"/>
              </a:rPr>
              <a:t>×</a:t>
            </a:r>
            <a:r>
              <a:rPr sz="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FFFFFF"/>
                </a:solidFill>
                <a:latin typeface="Arial MT"/>
                <a:cs typeface="Arial MT"/>
              </a:rPr>
              <a:t>SJSM</a:t>
            </a:r>
            <a:r>
              <a:rPr sz="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FFFFFF"/>
                </a:solidFill>
                <a:latin typeface="Arial MT"/>
                <a:cs typeface="Arial MT"/>
              </a:rPr>
              <a:t>Satara</a:t>
            </a:r>
            <a:r>
              <a:rPr sz="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FFFFFF"/>
                </a:solidFill>
                <a:latin typeface="Arial MT"/>
                <a:cs typeface="Arial MT"/>
              </a:rPr>
              <a:t>|</a:t>
            </a:r>
            <a:r>
              <a:rPr sz="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FFFFFF"/>
                </a:solidFill>
                <a:latin typeface="Arial MT"/>
                <a:cs typeface="Arial MT"/>
              </a:rPr>
              <a:t>Ghatdare</a:t>
            </a:r>
            <a:r>
              <a:rPr sz="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Arial MT"/>
                <a:cs typeface="Arial MT"/>
              </a:rPr>
              <a:t>Watershed</a:t>
            </a:r>
            <a:endParaRPr sz="800" dirty="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03200" y="10382119"/>
            <a:ext cx="7357109" cy="309880"/>
            <a:chOff x="203200" y="10382119"/>
            <a:chExt cx="7357109" cy="309880"/>
          </a:xfrm>
        </p:grpSpPr>
        <p:sp>
          <p:nvSpPr>
            <p:cNvPr id="5" name="object 5"/>
            <p:cNvSpPr/>
            <p:nvPr/>
          </p:nvSpPr>
          <p:spPr>
            <a:xfrm>
              <a:off x="203200" y="10387199"/>
              <a:ext cx="7357109" cy="304800"/>
            </a:xfrm>
            <a:custGeom>
              <a:avLst/>
              <a:gdLst/>
              <a:ahLst/>
              <a:cxnLst/>
              <a:rect l="l" t="t" r="r" b="b"/>
              <a:pathLst>
                <a:path w="7357109" h="304800">
                  <a:moveTo>
                    <a:pt x="73568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7356800" y="304800"/>
                  </a:lnTo>
                  <a:lnTo>
                    <a:pt x="7356800" y="0"/>
                  </a:lnTo>
                  <a:close/>
                </a:path>
              </a:pathLst>
            </a:custGeom>
            <a:solidFill>
              <a:srgbClr val="F4EFE8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6" name="object 6"/>
            <p:cNvSpPr/>
            <p:nvPr/>
          </p:nvSpPr>
          <p:spPr>
            <a:xfrm>
              <a:off x="203200" y="10387199"/>
              <a:ext cx="7357109" cy="0"/>
            </a:xfrm>
            <a:custGeom>
              <a:avLst/>
              <a:gdLst/>
              <a:ahLst/>
              <a:cxnLst/>
              <a:rect l="l" t="t" r="r" b="b"/>
              <a:pathLst>
                <a:path w="7357109">
                  <a:moveTo>
                    <a:pt x="0" y="0"/>
                  </a:moveTo>
                  <a:lnTo>
                    <a:pt x="7356800" y="0"/>
                  </a:lnTo>
                </a:path>
              </a:pathLst>
            </a:custGeom>
            <a:ln w="10160">
              <a:solidFill>
                <a:srgbClr val="C8A84B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object 7"/>
          <p:cNvSpPr/>
          <p:nvPr/>
        </p:nvSpPr>
        <p:spPr>
          <a:xfrm>
            <a:off x="779199" y="622299"/>
            <a:ext cx="1241425" cy="63500"/>
          </a:xfrm>
          <a:custGeom>
            <a:avLst/>
            <a:gdLst/>
            <a:ahLst/>
            <a:cxnLst/>
            <a:rect l="l" t="t" r="r" b="b"/>
            <a:pathLst>
              <a:path w="1241425" h="63500">
                <a:moveTo>
                  <a:pt x="1240960" y="0"/>
                </a:moveTo>
                <a:lnTo>
                  <a:pt x="0" y="0"/>
                </a:lnTo>
                <a:lnTo>
                  <a:pt x="0" y="63500"/>
                </a:lnTo>
                <a:lnTo>
                  <a:pt x="1240960" y="63500"/>
                </a:lnTo>
                <a:lnTo>
                  <a:pt x="1240960" y="0"/>
                </a:lnTo>
                <a:close/>
              </a:path>
            </a:pathLst>
          </a:custGeom>
          <a:solidFill>
            <a:srgbClr val="C8A84B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8"/>
          <p:cNvSpPr/>
          <p:nvPr/>
        </p:nvSpPr>
        <p:spPr>
          <a:xfrm>
            <a:off x="2082208" y="641349"/>
            <a:ext cx="4902200" cy="19050"/>
          </a:xfrm>
          <a:custGeom>
            <a:avLst/>
            <a:gdLst/>
            <a:ahLst/>
            <a:cxnLst/>
            <a:rect l="l" t="t" r="r" b="b"/>
            <a:pathLst>
              <a:path w="4902200" h="19050">
                <a:moveTo>
                  <a:pt x="4901792" y="0"/>
                </a:moveTo>
                <a:lnTo>
                  <a:pt x="0" y="0"/>
                </a:lnTo>
                <a:lnTo>
                  <a:pt x="0" y="19050"/>
                </a:lnTo>
                <a:lnTo>
                  <a:pt x="4901792" y="19050"/>
                </a:lnTo>
                <a:lnTo>
                  <a:pt x="4901792" y="0"/>
                </a:lnTo>
                <a:close/>
              </a:path>
            </a:pathLst>
          </a:custGeom>
          <a:solidFill>
            <a:srgbClr val="D4C4A0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object 9"/>
          <p:cNvSpPr txBox="1"/>
          <p:nvPr/>
        </p:nvSpPr>
        <p:spPr>
          <a:xfrm>
            <a:off x="766499" y="825500"/>
            <a:ext cx="6000750" cy="5360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dirty="0">
                <a:solidFill>
                  <a:srgbClr val="CC9900"/>
                </a:solidFill>
                <a:latin typeface="Felix Titling" panose="04060505060202020A04" pitchFamily="82" charset="0"/>
                <a:cs typeface="Arial"/>
              </a:rPr>
              <a:t>Water</a:t>
            </a:r>
            <a:r>
              <a:rPr sz="1700" b="1" spc="-55" dirty="0">
                <a:solidFill>
                  <a:srgbClr val="CC9900"/>
                </a:solidFill>
                <a:latin typeface="Felix Titling" panose="04060505060202020A04" pitchFamily="82" charset="0"/>
                <a:cs typeface="Arial"/>
              </a:rPr>
              <a:t> </a:t>
            </a:r>
            <a:r>
              <a:rPr sz="1700" b="1" dirty="0">
                <a:solidFill>
                  <a:srgbClr val="CC9900"/>
                </a:solidFill>
                <a:latin typeface="Felix Titling" panose="04060505060202020A04" pitchFamily="82" charset="0"/>
                <a:cs typeface="Arial"/>
              </a:rPr>
              <a:t>Conservation</a:t>
            </a:r>
            <a:r>
              <a:rPr sz="1700" b="1" spc="-55" dirty="0">
                <a:solidFill>
                  <a:srgbClr val="CC9900"/>
                </a:solidFill>
                <a:latin typeface="Felix Titling" panose="04060505060202020A04" pitchFamily="82" charset="0"/>
                <a:cs typeface="Arial"/>
              </a:rPr>
              <a:t> </a:t>
            </a:r>
            <a:r>
              <a:rPr sz="1700" b="1" dirty="0">
                <a:solidFill>
                  <a:srgbClr val="CC9900"/>
                </a:solidFill>
                <a:latin typeface="Felix Titling" panose="04060505060202020A04" pitchFamily="82" charset="0"/>
                <a:cs typeface="Arial"/>
              </a:rPr>
              <a:t>Structures</a:t>
            </a:r>
            <a:r>
              <a:rPr sz="1700" b="1" spc="-55" dirty="0">
                <a:solidFill>
                  <a:srgbClr val="CC9900"/>
                </a:solidFill>
                <a:latin typeface="Felix Titling" panose="04060505060202020A04" pitchFamily="82" charset="0"/>
                <a:cs typeface="Arial"/>
              </a:rPr>
              <a:t> </a:t>
            </a:r>
            <a:r>
              <a:rPr sz="1700" b="1" dirty="0">
                <a:solidFill>
                  <a:srgbClr val="CC9900"/>
                </a:solidFill>
                <a:latin typeface="Felix Titling" panose="04060505060202020A04" pitchFamily="82" charset="0"/>
                <a:cs typeface="Arial"/>
              </a:rPr>
              <a:t>–</a:t>
            </a:r>
            <a:r>
              <a:rPr sz="1700" b="1" spc="-55" dirty="0">
                <a:solidFill>
                  <a:srgbClr val="CC9900"/>
                </a:solidFill>
                <a:latin typeface="Felix Titling" panose="04060505060202020A04" pitchFamily="82" charset="0"/>
                <a:cs typeface="Arial"/>
              </a:rPr>
              <a:t> </a:t>
            </a:r>
            <a:r>
              <a:rPr sz="1700" b="1" dirty="0">
                <a:solidFill>
                  <a:srgbClr val="CC9900"/>
                </a:solidFill>
                <a:latin typeface="Felix Titling" panose="04060505060202020A04" pitchFamily="82" charset="0"/>
                <a:cs typeface="Arial"/>
              </a:rPr>
              <a:t>Progress</a:t>
            </a:r>
            <a:r>
              <a:rPr sz="1700" b="1" spc="-55" dirty="0">
                <a:solidFill>
                  <a:srgbClr val="CC9900"/>
                </a:solidFill>
                <a:latin typeface="Felix Titling" panose="04060505060202020A04" pitchFamily="82" charset="0"/>
                <a:cs typeface="Arial"/>
              </a:rPr>
              <a:t> </a:t>
            </a:r>
            <a:r>
              <a:rPr sz="1700" b="1" dirty="0">
                <a:solidFill>
                  <a:srgbClr val="CC9900"/>
                </a:solidFill>
                <a:latin typeface="Felix Titling" panose="04060505060202020A04" pitchFamily="82" charset="0"/>
                <a:cs typeface="Arial"/>
              </a:rPr>
              <a:t>&amp;</a:t>
            </a:r>
            <a:r>
              <a:rPr sz="1700" b="1" spc="-50" dirty="0">
                <a:solidFill>
                  <a:srgbClr val="CC9900"/>
                </a:solidFill>
                <a:latin typeface="Felix Titling" panose="04060505060202020A04" pitchFamily="82" charset="0"/>
                <a:cs typeface="Arial"/>
              </a:rPr>
              <a:t> </a:t>
            </a:r>
            <a:r>
              <a:rPr sz="1700" b="1" spc="-10" dirty="0">
                <a:solidFill>
                  <a:srgbClr val="CC9900"/>
                </a:solidFill>
                <a:latin typeface="Felix Titling" panose="04060505060202020A04" pitchFamily="82" charset="0"/>
                <a:cs typeface="Arial"/>
              </a:rPr>
              <a:t>Achievement</a:t>
            </a:r>
            <a:endParaRPr sz="1700" dirty="0">
              <a:solidFill>
                <a:srgbClr val="CC9900"/>
              </a:solidFill>
              <a:latin typeface="Felix Titling" panose="04060505060202020A04" pitchFamily="82" charset="0"/>
              <a:cs typeface="Arial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9508983"/>
              </p:ext>
            </p:extLst>
          </p:nvPr>
        </p:nvGraphicFramePr>
        <p:xfrm>
          <a:off x="759329" y="1444080"/>
          <a:ext cx="6206487" cy="2286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05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583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31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31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13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  <a:p>
                      <a:pPr marR="5080" algn="ctr">
                        <a:lnSpc>
                          <a:spcPct val="100000"/>
                        </a:lnSpc>
                      </a:pPr>
                      <a:r>
                        <a:rPr sz="9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Sr.</a:t>
                      </a:r>
                      <a:endParaRPr sz="900" dirty="0">
                        <a:latin typeface="Arial"/>
                        <a:cs typeface="Arial"/>
                      </a:endParaRPr>
                    </a:p>
                  </a:txBody>
                  <a:tcPr marL="0" marR="0" marT="20955" marB="0">
                    <a:lnL w="6350">
                      <a:solidFill>
                        <a:srgbClr val="D4C4A0"/>
                      </a:solidFill>
                      <a:prstDash val="solid"/>
                    </a:lnL>
                    <a:lnR w="6350">
                      <a:solidFill>
                        <a:srgbClr val="D4C4A0"/>
                      </a:solidFill>
                      <a:prstDash val="solid"/>
                    </a:lnR>
                    <a:lnT w="6350">
                      <a:solidFill>
                        <a:srgbClr val="D4C4A0"/>
                      </a:solidFill>
                      <a:prstDash val="solid"/>
                    </a:lnT>
                    <a:lnB w="6350">
                      <a:solidFill>
                        <a:srgbClr val="D4C4A0"/>
                      </a:solidFill>
                      <a:prstDash val="solid"/>
                    </a:lnB>
                    <a:solidFill>
                      <a:srgbClr val="1A3A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  <a:p>
                      <a:pPr marL="591185">
                        <a:lnSpc>
                          <a:spcPct val="100000"/>
                        </a:lnSpc>
                      </a:pPr>
                      <a:r>
                        <a:rPr sz="9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Activity / </a:t>
                      </a:r>
                      <a:r>
                        <a:rPr sz="9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Intervention</a:t>
                      </a:r>
                      <a:endParaRPr sz="900" dirty="0">
                        <a:latin typeface="Arial"/>
                        <a:cs typeface="Arial"/>
                      </a:endParaRPr>
                    </a:p>
                  </a:txBody>
                  <a:tcPr marL="0" marR="0" marT="20955" marB="0">
                    <a:lnL w="6350">
                      <a:solidFill>
                        <a:srgbClr val="D4C4A0"/>
                      </a:solidFill>
                      <a:prstDash val="solid"/>
                    </a:lnL>
                    <a:lnR w="6350">
                      <a:solidFill>
                        <a:srgbClr val="D4C4A0"/>
                      </a:solidFill>
                      <a:prstDash val="solid"/>
                    </a:lnR>
                    <a:lnT w="6350">
                      <a:solidFill>
                        <a:srgbClr val="D4C4A0"/>
                      </a:solidFill>
                      <a:prstDash val="solid"/>
                    </a:lnT>
                    <a:lnB w="6350">
                      <a:solidFill>
                        <a:srgbClr val="D4C4A0"/>
                      </a:solidFill>
                      <a:prstDash val="solid"/>
                    </a:lnB>
                    <a:solidFill>
                      <a:srgbClr val="1A3A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  <a:p>
                      <a:pPr marR="5080" algn="ctr">
                        <a:lnSpc>
                          <a:spcPct val="100000"/>
                        </a:lnSpc>
                      </a:pPr>
                      <a:r>
                        <a:rPr sz="9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Plan </a:t>
                      </a:r>
                      <a:r>
                        <a:rPr sz="9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(Target)</a:t>
                      </a:r>
                      <a:endParaRPr sz="900" dirty="0">
                        <a:latin typeface="Arial"/>
                        <a:cs typeface="Arial"/>
                      </a:endParaRPr>
                    </a:p>
                  </a:txBody>
                  <a:tcPr marL="0" marR="0" marT="20955" marB="0">
                    <a:lnL w="6350">
                      <a:solidFill>
                        <a:srgbClr val="D4C4A0"/>
                      </a:solidFill>
                      <a:prstDash val="solid"/>
                    </a:lnL>
                    <a:lnR w="6350">
                      <a:solidFill>
                        <a:srgbClr val="D4C4A0"/>
                      </a:solidFill>
                      <a:prstDash val="solid"/>
                    </a:lnR>
                    <a:lnT w="6350">
                      <a:solidFill>
                        <a:srgbClr val="D4C4A0"/>
                      </a:solidFill>
                      <a:prstDash val="solid"/>
                    </a:lnT>
                    <a:lnB w="6350">
                      <a:solidFill>
                        <a:srgbClr val="D4C4A0"/>
                      </a:solidFill>
                      <a:prstDash val="solid"/>
                    </a:lnB>
                    <a:solidFill>
                      <a:srgbClr val="1A3A2D"/>
                    </a:solidFill>
                  </a:tcPr>
                </a:tc>
                <a:tc>
                  <a:txBody>
                    <a:bodyPr/>
                    <a:lstStyle/>
                    <a:p>
                      <a:pPr marL="197485" marR="202565" indent="117475">
                        <a:lnSpc>
                          <a:spcPct val="111100"/>
                        </a:lnSpc>
                        <a:spcBef>
                          <a:spcPts val="480"/>
                        </a:spcBef>
                      </a:pPr>
                      <a:r>
                        <a:rPr sz="9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Actual (Achieved)</a:t>
                      </a:r>
                      <a:endParaRPr sz="900" dirty="0">
                        <a:latin typeface="Arial"/>
                        <a:cs typeface="Arial"/>
                      </a:endParaRPr>
                    </a:p>
                  </a:txBody>
                  <a:tcPr marL="0" marR="0" marT="60960" marB="0">
                    <a:lnL w="6350">
                      <a:solidFill>
                        <a:srgbClr val="D4C4A0"/>
                      </a:solidFill>
                      <a:prstDash val="solid"/>
                    </a:lnL>
                    <a:lnR w="6350">
                      <a:solidFill>
                        <a:srgbClr val="D4C4A0"/>
                      </a:solidFill>
                      <a:prstDash val="solid"/>
                    </a:lnR>
                    <a:lnT w="6350">
                      <a:solidFill>
                        <a:srgbClr val="D4C4A0"/>
                      </a:solidFill>
                      <a:prstDash val="solid"/>
                    </a:lnT>
                    <a:lnB w="6350">
                      <a:solidFill>
                        <a:srgbClr val="D4C4A0"/>
                      </a:solidFill>
                      <a:prstDash val="solid"/>
                    </a:lnB>
                    <a:solidFill>
                      <a:srgbClr val="1A3A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  <a:p>
                      <a:pPr marR="4445" algn="ctr">
                        <a:lnSpc>
                          <a:spcPct val="100000"/>
                        </a:lnSpc>
                      </a:pPr>
                      <a:r>
                        <a:rPr sz="9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Water Storage </a:t>
                      </a:r>
                      <a:r>
                        <a:rPr sz="9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(TCM/year)</a:t>
                      </a:r>
                      <a:endParaRPr sz="900" dirty="0">
                        <a:latin typeface="Arial"/>
                        <a:cs typeface="Arial"/>
                      </a:endParaRPr>
                    </a:p>
                  </a:txBody>
                  <a:tcPr marL="0" marR="0" marT="20955" marB="0">
                    <a:lnL w="6350">
                      <a:solidFill>
                        <a:srgbClr val="D4C4A0"/>
                      </a:solidFill>
                      <a:prstDash val="solid"/>
                    </a:lnL>
                    <a:lnR w="6350">
                      <a:solidFill>
                        <a:srgbClr val="D4C4A0"/>
                      </a:solidFill>
                      <a:prstDash val="solid"/>
                    </a:lnR>
                    <a:lnT w="6350">
                      <a:solidFill>
                        <a:srgbClr val="D4C4A0"/>
                      </a:solidFill>
                      <a:prstDash val="solid"/>
                    </a:lnT>
                    <a:lnB w="6350">
                      <a:solidFill>
                        <a:srgbClr val="D4C4A0"/>
                      </a:solidFill>
                      <a:prstDash val="solid"/>
                    </a:lnB>
                    <a:solidFill>
                      <a:srgbClr val="1A3A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R="4445"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25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2a</a:t>
                      </a:r>
                      <a:endParaRPr sz="900" dirty="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D4C4A0"/>
                      </a:solidFill>
                      <a:prstDash val="solid"/>
                    </a:lnL>
                    <a:lnR w="6350">
                      <a:solidFill>
                        <a:srgbClr val="D4C4A0"/>
                      </a:solidFill>
                      <a:prstDash val="solid"/>
                    </a:lnR>
                    <a:lnT w="6350">
                      <a:solidFill>
                        <a:srgbClr val="D4C4A0"/>
                      </a:solidFill>
                      <a:prstDash val="solid"/>
                    </a:lnT>
                    <a:lnB w="6350">
                      <a:solidFill>
                        <a:srgbClr val="D4C4A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Deep SCT – Staggered Contour </a:t>
                      </a:r>
                      <a:r>
                        <a:rPr sz="900" spc="-10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Trenches</a:t>
                      </a:r>
                      <a:endParaRPr sz="900" dirty="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D4C4A0"/>
                      </a:solidFill>
                      <a:prstDash val="solid"/>
                    </a:lnL>
                    <a:lnR w="6350">
                      <a:solidFill>
                        <a:srgbClr val="D4C4A0"/>
                      </a:solidFill>
                      <a:prstDash val="solid"/>
                    </a:lnR>
                    <a:lnT w="6350">
                      <a:solidFill>
                        <a:srgbClr val="D4C4A0"/>
                      </a:solidFill>
                      <a:prstDash val="solid"/>
                    </a:lnT>
                    <a:lnB w="6350">
                      <a:solidFill>
                        <a:srgbClr val="D4C4A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445"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375 </a:t>
                      </a:r>
                      <a:r>
                        <a:rPr sz="900" spc="-20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Pits</a:t>
                      </a:r>
                      <a:endParaRPr sz="900" dirty="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D4C4A0"/>
                      </a:solidFill>
                      <a:prstDash val="solid"/>
                    </a:lnL>
                    <a:lnR w="6350">
                      <a:solidFill>
                        <a:srgbClr val="D4C4A0"/>
                      </a:solidFill>
                      <a:prstDash val="solid"/>
                    </a:lnR>
                    <a:lnT w="6350">
                      <a:solidFill>
                        <a:srgbClr val="D4C4A0"/>
                      </a:solidFill>
                      <a:prstDash val="solid"/>
                    </a:lnT>
                    <a:lnB w="6350">
                      <a:solidFill>
                        <a:srgbClr val="D4C4A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445"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375 </a:t>
                      </a:r>
                      <a:r>
                        <a:rPr sz="900" spc="-20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Pits</a:t>
                      </a:r>
                      <a:endParaRPr sz="900" dirty="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D4C4A0"/>
                      </a:solidFill>
                      <a:prstDash val="solid"/>
                    </a:lnL>
                    <a:lnR w="6350">
                      <a:solidFill>
                        <a:srgbClr val="D4C4A0"/>
                      </a:solidFill>
                      <a:prstDash val="solid"/>
                    </a:lnR>
                    <a:lnT w="6350">
                      <a:solidFill>
                        <a:srgbClr val="D4C4A0"/>
                      </a:solidFill>
                      <a:prstDash val="solid"/>
                    </a:lnT>
                    <a:lnB w="6350">
                      <a:solidFill>
                        <a:srgbClr val="D4C4A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445"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10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18.75</a:t>
                      </a:r>
                      <a:endParaRPr sz="900" dirty="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D4C4A0"/>
                      </a:solidFill>
                      <a:prstDash val="solid"/>
                    </a:lnL>
                    <a:lnR w="6350">
                      <a:solidFill>
                        <a:srgbClr val="D4C4A0"/>
                      </a:solidFill>
                      <a:prstDash val="solid"/>
                    </a:lnR>
                    <a:lnT w="6350">
                      <a:solidFill>
                        <a:srgbClr val="D4C4A0"/>
                      </a:solidFill>
                      <a:prstDash val="solid"/>
                    </a:lnT>
                    <a:lnB w="6350">
                      <a:solidFill>
                        <a:srgbClr val="D4C4A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R="4445"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25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2b</a:t>
                      </a:r>
                      <a:endParaRPr sz="900" dirty="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D4C4A0"/>
                      </a:solidFill>
                      <a:prstDash val="solid"/>
                    </a:lnL>
                    <a:lnR w="6350">
                      <a:solidFill>
                        <a:srgbClr val="D4C4A0"/>
                      </a:solidFill>
                      <a:prstDash val="solid"/>
                    </a:lnR>
                    <a:lnT w="6350">
                      <a:solidFill>
                        <a:srgbClr val="D4C4A0"/>
                      </a:solidFill>
                      <a:prstDash val="solid"/>
                    </a:lnT>
                    <a:lnB w="6350">
                      <a:solidFill>
                        <a:srgbClr val="D4C4A0"/>
                      </a:solidFill>
                      <a:prstDash val="solid"/>
                    </a:lnB>
                    <a:solidFill>
                      <a:srgbClr val="EFF9F4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Nala Deepening &amp; </a:t>
                      </a:r>
                      <a:r>
                        <a:rPr sz="900" spc="-10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Widening</a:t>
                      </a:r>
                      <a:endParaRPr sz="900" dirty="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D4C4A0"/>
                      </a:solidFill>
                      <a:prstDash val="solid"/>
                    </a:lnL>
                    <a:lnR w="6350">
                      <a:solidFill>
                        <a:srgbClr val="D4C4A0"/>
                      </a:solidFill>
                      <a:prstDash val="solid"/>
                    </a:lnR>
                    <a:lnT w="6350">
                      <a:solidFill>
                        <a:srgbClr val="D4C4A0"/>
                      </a:solidFill>
                      <a:prstDash val="solid"/>
                    </a:lnT>
                    <a:lnB w="6350">
                      <a:solidFill>
                        <a:srgbClr val="D4C4A0"/>
                      </a:solidFill>
                      <a:prstDash val="solid"/>
                    </a:lnB>
                    <a:solidFill>
                      <a:srgbClr val="EFF9F4"/>
                    </a:solidFill>
                  </a:tcPr>
                </a:tc>
                <a:tc>
                  <a:txBody>
                    <a:bodyPr/>
                    <a:lstStyle/>
                    <a:p>
                      <a:pPr marR="4445"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25,000 </a:t>
                      </a:r>
                      <a:r>
                        <a:rPr sz="900" spc="-25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m³</a:t>
                      </a:r>
                      <a:endParaRPr sz="900" dirty="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D4C4A0"/>
                      </a:solidFill>
                      <a:prstDash val="solid"/>
                    </a:lnL>
                    <a:lnR w="6350">
                      <a:solidFill>
                        <a:srgbClr val="D4C4A0"/>
                      </a:solidFill>
                      <a:prstDash val="solid"/>
                    </a:lnR>
                    <a:lnT w="6350">
                      <a:solidFill>
                        <a:srgbClr val="D4C4A0"/>
                      </a:solidFill>
                      <a:prstDash val="solid"/>
                    </a:lnT>
                    <a:lnB w="6350">
                      <a:solidFill>
                        <a:srgbClr val="D4C4A0"/>
                      </a:solidFill>
                      <a:prstDash val="solid"/>
                    </a:lnB>
                    <a:solidFill>
                      <a:srgbClr val="EFF9F4"/>
                    </a:solidFill>
                  </a:tcPr>
                </a:tc>
                <a:tc>
                  <a:txBody>
                    <a:bodyPr/>
                    <a:lstStyle/>
                    <a:p>
                      <a:pPr marR="4445"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24,990 </a:t>
                      </a:r>
                      <a:r>
                        <a:rPr sz="900" spc="-25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m³</a:t>
                      </a:r>
                      <a:endParaRPr sz="900" dirty="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D4C4A0"/>
                      </a:solidFill>
                      <a:prstDash val="solid"/>
                    </a:lnL>
                    <a:lnR w="6350">
                      <a:solidFill>
                        <a:srgbClr val="D4C4A0"/>
                      </a:solidFill>
                      <a:prstDash val="solid"/>
                    </a:lnR>
                    <a:lnT w="6350">
                      <a:solidFill>
                        <a:srgbClr val="D4C4A0"/>
                      </a:solidFill>
                      <a:prstDash val="solid"/>
                    </a:lnT>
                    <a:lnB w="6350">
                      <a:solidFill>
                        <a:srgbClr val="D4C4A0"/>
                      </a:solidFill>
                      <a:prstDash val="solid"/>
                    </a:lnB>
                    <a:solidFill>
                      <a:srgbClr val="EFF9F4"/>
                    </a:solidFill>
                  </a:tcPr>
                </a:tc>
                <a:tc>
                  <a:txBody>
                    <a:bodyPr/>
                    <a:lstStyle/>
                    <a:p>
                      <a:pPr marR="4445"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10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74.97</a:t>
                      </a:r>
                      <a:endParaRPr sz="900" dirty="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D4C4A0"/>
                      </a:solidFill>
                      <a:prstDash val="solid"/>
                    </a:lnL>
                    <a:lnR w="6350">
                      <a:solidFill>
                        <a:srgbClr val="D4C4A0"/>
                      </a:solidFill>
                      <a:prstDash val="solid"/>
                    </a:lnR>
                    <a:lnT w="6350">
                      <a:solidFill>
                        <a:srgbClr val="D4C4A0"/>
                      </a:solidFill>
                      <a:prstDash val="solid"/>
                    </a:lnT>
                    <a:lnB w="6350">
                      <a:solidFill>
                        <a:srgbClr val="D4C4A0"/>
                      </a:solidFill>
                      <a:prstDash val="solid"/>
                    </a:lnB>
                    <a:solidFill>
                      <a:srgbClr val="EF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R="4445"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25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2c</a:t>
                      </a:r>
                      <a:endParaRPr sz="900" dirty="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D4C4A0"/>
                      </a:solidFill>
                      <a:prstDash val="solid"/>
                    </a:lnL>
                    <a:lnR w="6350">
                      <a:solidFill>
                        <a:srgbClr val="D4C4A0"/>
                      </a:solidFill>
                      <a:prstDash val="solid"/>
                    </a:lnR>
                    <a:lnT w="6350">
                      <a:solidFill>
                        <a:srgbClr val="D4C4A0"/>
                      </a:solidFill>
                      <a:prstDash val="solid"/>
                    </a:lnT>
                    <a:lnB w="6350">
                      <a:solidFill>
                        <a:srgbClr val="D4C4A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Desilting of Existing Water Bodies </a:t>
                      </a:r>
                      <a:r>
                        <a:rPr sz="900" spc="-10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(ENB)</a:t>
                      </a:r>
                      <a:endParaRPr sz="900" dirty="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D4C4A0"/>
                      </a:solidFill>
                      <a:prstDash val="solid"/>
                    </a:lnL>
                    <a:lnR w="6350">
                      <a:solidFill>
                        <a:srgbClr val="D4C4A0"/>
                      </a:solidFill>
                      <a:prstDash val="solid"/>
                    </a:lnR>
                    <a:lnT w="6350">
                      <a:solidFill>
                        <a:srgbClr val="D4C4A0"/>
                      </a:solidFill>
                      <a:prstDash val="solid"/>
                    </a:lnT>
                    <a:lnB w="6350">
                      <a:solidFill>
                        <a:srgbClr val="D4C4A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445"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9,635 </a:t>
                      </a:r>
                      <a:r>
                        <a:rPr sz="900" spc="-25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m³</a:t>
                      </a:r>
                      <a:endParaRPr sz="900" dirty="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D4C4A0"/>
                      </a:solidFill>
                      <a:prstDash val="solid"/>
                    </a:lnL>
                    <a:lnR w="6350">
                      <a:solidFill>
                        <a:srgbClr val="D4C4A0"/>
                      </a:solidFill>
                      <a:prstDash val="solid"/>
                    </a:lnR>
                    <a:lnT w="6350">
                      <a:solidFill>
                        <a:srgbClr val="D4C4A0"/>
                      </a:solidFill>
                      <a:prstDash val="solid"/>
                    </a:lnT>
                    <a:lnB w="6350">
                      <a:solidFill>
                        <a:srgbClr val="D4C4A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445"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9,635 </a:t>
                      </a:r>
                      <a:r>
                        <a:rPr sz="900" spc="-25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m³</a:t>
                      </a:r>
                      <a:endParaRPr sz="900" dirty="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D4C4A0"/>
                      </a:solidFill>
                      <a:prstDash val="solid"/>
                    </a:lnL>
                    <a:lnR w="6350">
                      <a:solidFill>
                        <a:srgbClr val="D4C4A0"/>
                      </a:solidFill>
                      <a:prstDash val="solid"/>
                    </a:lnR>
                    <a:lnT w="6350">
                      <a:solidFill>
                        <a:srgbClr val="D4C4A0"/>
                      </a:solidFill>
                      <a:prstDash val="solid"/>
                    </a:lnT>
                    <a:lnB w="6350">
                      <a:solidFill>
                        <a:srgbClr val="D4C4A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445"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10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28.91</a:t>
                      </a:r>
                      <a:endParaRPr sz="900" dirty="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D4C4A0"/>
                      </a:solidFill>
                      <a:prstDash val="solid"/>
                    </a:lnL>
                    <a:lnR w="6350">
                      <a:solidFill>
                        <a:srgbClr val="D4C4A0"/>
                      </a:solidFill>
                      <a:prstDash val="solid"/>
                    </a:lnR>
                    <a:lnT w="6350">
                      <a:solidFill>
                        <a:srgbClr val="D4C4A0"/>
                      </a:solidFill>
                      <a:prstDash val="solid"/>
                    </a:lnT>
                    <a:lnB w="6350">
                      <a:solidFill>
                        <a:srgbClr val="D4C4A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R="4445"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25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2d</a:t>
                      </a:r>
                      <a:endParaRPr sz="900" dirty="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D4C4A0"/>
                      </a:solidFill>
                      <a:prstDash val="solid"/>
                    </a:lnL>
                    <a:lnR w="6350">
                      <a:solidFill>
                        <a:srgbClr val="D4C4A0"/>
                      </a:solidFill>
                      <a:prstDash val="solid"/>
                    </a:lnR>
                    <a:lnT w="6350">
                      <a:solidFill>
                        <a:srgbClr val="D4C4A0"/>
                      </a:solidFill>
                      <a:prstDash val="solid"/>
                    </a:lnT>
                    <a:lnB w="6350">
                      <a:solidFill>
                        <a:srgbClr val="D4C4A0"/>
                      </a:solidFill>
                      <a:prstDash val="solid"/>
                    </a:lnB>
                    <a:solidFill>
                      <a:srgbClr val="EFF9F4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Gabion </a:t>
                      </a:r>
                      <a:r>
                        <a:rPr sz="900" spc="-10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Structures</a:t>
                      </a:r>
                      <a:endParaRPr sz="900" dirty="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D4C4A0"/>
                      </a:solidFill>
                      <a:prstDash val="solid"/>
                    </a:lnL>
                    <a:lnR w="6350">
                      <a:solidFill>
                        <a:srgbClr val="D4C4A0"/>
                      </a:solidFill>
                      <a:prstDash val="solid"/>
                    </a:lnR>
                    <a:lnT w="6350">
                      <a:solidFill>
                        <a:srgbClr val="D4C4A0"/>
                      </a:solidFill>
                      <a:prstDash val="solid"/>
                    </a:lnT>
                    <a:lnB w="6350">
                      <a:solidFill>
                        <a:srgbClr val="D4C4A0"/>
                      </a:solidFill>
                      <a:prstDash val="solid"/>
                    </a:lnB>
                    <a:solidFill>
                      <a:srgbClr val="EFF9F4"/>
                    </a:solidFill>
                  </a:tcPr>
                </a:tc>
                <a:tc>
                  <a:txBody>
                    <a:bodyPr/>
                    <a:lstStyle/>
                    <a:p>
                      <a:pPr marR="4445"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5 </a:t>
                      </a:r>
                      <a:r>
                        <a:rPr sz="900" spc="-25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Nos</a:t>
                      </a:r>
                      <a:endParaRPr sz="900" dirty="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D4C4A0"/>
                      </a:solidFill>
                      <a:prstDash val="solid"/>
                    </a:lnL>
                    <a:lnR w="6350">
                      <a:solidFill>
                        <a:srgbClr val="D4C4A0"/>
                      </a:solidFill>
                      <a:prstDash val="solid"/>
                    </a:lnR>
                    <a:lnT w="6350">
                      <a:solidFill>
                        <a:srgbClr val="D4C4A0"/>
                      </a:solidFill>
                      <a:prstDash val="solid"/>
                    </a:lnT>
                    <a:lnB w="6350">
                      <a:solidFill>
                        <a:srgbClr val="D4C4A0"/>
                      </a:solidFill>
                      <a:prstDash val="solid"/>
                    </a:lnB>
                    <a:solidFill>
                      <a:srgbClr val="EFF9F4"/>
                    </a:solidFill>
                  </a:tcPr>
                </a:tc>
                <a:tc>
                  <a:txBody>
                    <a:bodyPr/>
                    <a:lstStyle/>
                    <a:p>
                      <a:pPr marR="4445"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5 </a:t>
                      </a:r>
                      <a:r>
                        <a:rPr sz="900" spc="-25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Nos</a:t>
                      </a:r>
                      <a:endParaRPr sz="900" dirty="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D4C4A0"/>
                      </a:solidFill>
                      <a:prstDash val="solid"/>
                    </a:lnL>
                    <a:lnR w="6350">
                      <a:solidFill>
                        <a:srgbClr val="D4C4A0"/>
                      </a:solidFill>
                      <a:prstDash val="solid"/>
                    </a:lnR>
                    <a:lnT w="6350">
                      <a:solidFill>
                        <a:srgbClr val="D4C4A0"/>
                      </a:solidFill>
                      <a:prstDash val="solid"/>
                    </a:lnT>
                    <a:lnB w="6350">
                      <a:solidFill>
                        <a:srgbClr val="D4C4A0"/>
                      </a:solidFill>
                      <a:prstDash val="solid"/>
                    </a:lnB>
                    <a:solidFill>
                      <a:srgbClr val="EFF9F4"/>
                    </a:solidFill>
                  </a:tcPr>
                </a:tc>
                <a:tc>
                  <a:txBody>
                    <a:bodyPr/>
                    <a:lstStyle/>
                    <a:p>
                      <a:pPr marR="4445"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20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7.50</a:t>
                      </a:r>
                      <a:endParaRPr sz="900" dirty="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D4C4A0"/>
                      </a:solidFill>
                      <a:prstDash val="solid"/>
                    </a:lnL>
                    <a:lnR w="6350">
                      <a:solidFill>
                        <a:srgbClr val="D4C4A0"/>
                      </a:solidFill>
                      <a:prstDash val="solid"/>
                    </a:lnR>
                    <a:lnT w="6350">
                      <a:solidFill>
                        <a:srgbClr val="D4C4A0"/>
                      </a:solidFill>
                      <a:prstDash val="solid"/>
                    </a:lnT>
                    <a:lnB w="6350">
                      <a:solidFill>
                        <a:srgbClr val="D4C4A0"/>
                      </a:solidFill>
                      <a:prstDash val="solid"/>
                    </a:lnB>
                    <a:solidFill>
                      <a:srgbClr val="EF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R="4445"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25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2e</a:t>
                      </a:r>
                      <a:endParaRPr sz="900" dirty="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D4C4A0"/>
                      </a:solidFill>
                      <a:prstDash val="solid"/>
                    </a:lnL>
                    <a:lnR w="6350">
                      <a:solidFill>
                        <a:srgbClr val="D4C4A0"/>
                      </a:solidFill>
                      <a:prstDash val="solid"/>
                    </a:lnR>
                    <a:lnT w="6350">
                      <a:solidFill>
                        <a:srgbClr val="D4C4A0"/>
                      </a:solidFill>
                      <a:prstDash val="solid"/>
                    </a:lnT>
                    <a:lnB w="6350">
                      <a:solidFill>
                        <a:srgbClr val="D4C4A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Loose Boulder Structures </a:t>
                      </a:r>
                      <a:r>
                        <a:rPr sz="900" spc="-10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(LBS)</a:t>
                      </a:r>
                      <a:endParaRPr sz="900" dirty="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D4C4A0"/>
                      </a:solidFill>
                      <a:prstDash val="solid"/>
                    </a:lnL>
                    <a:lnR w="6350">
                      <a:solidFill>
                        <a:srgbClr val="D4C4A0"/>
                      </a:solidFill>
                      <a:prstDash val="solid"/>
                    </a:lnR>
                    <a:lnT w="6350">
                      <a:solidFill>
                        <a:srgbClr val="D4C4A0"/>
                      </a:solidFill>
                      <a:prstDash val="solid"/>
                    </a:lnT>
                    <a:lnB w="6350">
                      <a:solidFill>
                        <a:srgbClr val="D4C4A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445"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30 </a:t>
                      </a:r>
                      <a:r>
                        <a:rPr sz="900" spc="-25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Nos</a:t>
                      </a:r>
                      <a:endParaRPr sz="900" dirty="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D4C4A0"/>
                      </a:solidFill>
                      <a:prstDash val="solid"/>
                    </a:lnL>
                    <a:lnR w="6350">
                      <a:solidFill>
                        <a:srgbClr val="D4C4A0"/>
                      </a:solidFill>
                      <a:prstDash val="solid"/>
                    </a:lnR>
                    <a:lnT w="6350">
                      <a:solidFill>
                        <a:srgbClr val="D4C4A0"/>
                      </a:solidFill>
                      <a:prstDash val="solid"/>
                    </a:lnT>
                    <a:lnB w="6350">
                      <a:solidFill>
                        <a:srgbClr val="D4C4A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445"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30 </a:t>
                      </a:r>
                      <a:r>
                        <a:rPr sz="900" spc="-25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Nos</a:t>
                      </a:r>
                      <a:endParaRPr sz="900" dirty="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D4C4A0"/>
                      </a:solidFill>
                      <a:prstDash val="solid"/>
                    </a:lnL>
                    <a:lnR w="6350">
                      <a:solidFill>
                        <a:srgbClr val="D4C4A0"/>
                      </a:solidFill>
                      <a:prstDash val="solid"/>
                    </a:lnR>
                    <a:lnT w="6350">
                      <a:solidFill>
                        <a:srgbClr val="D4C4A0"/>
                      </a:solidFill>
                      <a:prstDash val="solid"/>
                    </a:lnT>
                    <a:lnB w="6350">
                      <a:solidFill>
                        <a:srgbClr val="D4C4A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445"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20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6.30</a:t>
                      </a:r>
                      <a:endParaRPr sz="900" dirty="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D4C4A0"/>
                      </a:solidFill>
                      <a:prstDash val="solid"/>
                    </a:lnL>
                    <a:lnR w="6350">
                      <a:solidFill>
                        <a:srgbClr val="D4C4A0"/>
                      </a:solidFill>
                      <a:prstDash val="solid"/>
                    </a:lnR>
                    <a:lnT w="6350">
                      <a:solidFill>
                        <a:srgbClr val="D4C4A0"/>
                      </a:solidFill>
                      <a:prstDash val="solid"/>
                    </a:lnT>
                    <a:lnB w="6350">
                      <a:solidFill>
                        <a:srgbClr val="D4C4A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D4C4A0"/>
                      </a:solidFill>
                      <a:prstDash val="solid"/>
                    </a:lnL>
                    <a:lnR w="6350">
                      <a:solidFill>
                        <a:srgbClr val="D4C4A0"/>
                      </a:solidFill>
                      <a:prstDash val="solid"/>
                    </a:lnR>
                    <a:lnT w="6350">
                      <a:solidFill>
                        <a:srgbClr val="D4C4A0"/>
                      </a:solidFill>
                      <a:prstDash val="solid"/>
                    </a:lnT>
                    <a:lnB w="6350">
                      <a:solidFill>
                        <a:srgbClr val="D4C4A0"/>
                      </a:solidFill>
                      <a:prstDash val="solid"/>
                    </a:lnB>
                    <a:solidFill>
                      <a:srgbClr val="FBF2D4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b="1" dirty="0">
                          <a:solidFill>
                            <a:srgbClr val="2A2A2A"/>
                          </a:solidFill>
                          <a:latin typeface="Arial"/>
                          <a:cs typeface="Arial"/>
                        </a:rPr>
                        <a:t>TOTAL</a:t>
                      </a:r>
                      <a:r>
                        <a:rPr sz="900" b="1" spc="-35" dirty="0">
                          <a:solidFill>
                            <a:srgbClr val="2A2A2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dirty="0">
                          <a:solidFill>
                            <a:srgbClr val="2A2A2A"/>
                          </a:solidFill>
                          <a:latin typeface="Arial"/>
                          <a:cs typeface="Arial"/>
                        </a:rPr>
                        <a:t>ANNUAL</a:t>
                      </a:r>
                      <a:r>
                        <a:rPr sz="900" b="1" spc="-35" dirty="0">
                          <a:solidFill>
                            <a:srgbClr val="2A2A2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dirty="0">
                          <a:solidFill>
                            <a:srgbClr val="2A2A2A"/>
                          </a:solidFill>
                          <a:latin typeface="Arial"/>
                          <a:cs typeface="Arial"/>
                        </a:rPr>
                        <a:t>WATER</a:t>
                      </a:r>
                      <a:r>
                        <a:rPr sz="900" b="1" spc="-35" dirty="0">
                          <a:solidFill>
                            <a:srgbClr val="2A2A2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spc="-10" dirty="0">
                          <a:solidFill>
                            <a:srgbClr val="2A2A2A"/>
                          </a:solidFill>
                          <a:latin typeface="Arial"/>
                          <a:cs typeface="Arial"/>
                        </a:rPr>
                        <a:t>STORAGE</a:t>
                      </a:r>
                      <a:endParaRPr sz="900" dirty="0">
                        <a:latin typeface="Arial"/>
                        <a:cs typeface="Arial"/>
                      </a:endParaRPr>
                    </a:p>
                  </a:txBody>
                  <a:tcPr marL="0" marR="0" marT="76200" marB="0">
                    <a:lnL w="6350">
                      <a:solidFill>
                        <a:srgbClr val="D4C4A0"/>
                      </a:solidFill>
                      <a:prstDash val="solid"/>
                    </a:lnL>
                    <a:lnR w="6350">
                      <a:solidFill>
                        <a:srgbClr val="D4C4A0"/>
                      </a:solidFill>
                      <a:prstDash val="solid"/>
                    </a:lnR>
                    <a:lnT w="6350">
                      <a:solidFill>
                        <a:srgbClr val="D4C4A0"/>
                      </a:solidFill>
                      <a:prstDash val="solid"/>
                    </a:lnT>
                    <a:lnB w="6350">
                      <a:solidFill>
                        <a:srgbClr val="D4C4A0"/>
                      </a:solidFill>
                      <a:prstDash val="solid"/>
                    </a:lnB>
                    <a:solidFill>
                      <a:srgbClr val="FBF2D4"/>
                    </a:solidFill>
                  </a:tcPr>
                </a:tc>
                <a:tc>
                  <a:txBody>
                    <a:bodyPr/>
                    <a:lstStyle/>
                    <a:p>
                      <a:pPr marR="4445"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–</a:t>
                      </a:r>
                      <a:endParaRPr sz="900" dirty="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D4C4A0"/>
                      </a:solidFill>
                      <a:prstDash val="solid"/>
                    </a:lnL>
                    <a:lnR w="6350">
                      <a:solidFill>
                        <a:srgbClr val="D4C4A0"/>
                      </a:solidFill>
                      <a:prstDash val="solid"/>
                    </a:lnR>
                    <a:lnT w="6350">
                      <a:solidFill>
                        <a:srgbClr val="D4C4A0"/>
                      </a:solidFill>
                      <a:prstDash val="solid"/>
                    </a:lnT>
                    <a:lnB w="6350">
                      <a:solidFill>
                        <a:srgbClr val="D4C4A0"/>
                      </a:solidFill>
                      <a:prstDash val="solid"/>
                    </a:lnB>
                    <a:solidFill>
                      <a:srgbClr val="FBF2D4"/>
                    </a:solidFill>
                  </a:tcPr>
                </a:tc>
                <a:tc>
                  <a:txBody>
                    <a:bodyPr/>
                    <a:lstStyle/>
                    <a:p>
                      <a:pPr marR="4445"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–</a:t>
                      </a:r>
                      <a:endParaRPr sz="900" dirty="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D4C4A0"/>
                      </a:solidFill>
                      <a:prstDash val="solid"/>
                    </a:lnL>
                    <a:lnR w="6350">
                      <a:solidFill>
                        <a:srgbClr val="D4C4A0"/>
                      </a:solidFill>
                      <a:prstDash val="solid"/>
                    </a:lnR>
                    <a:lnT w="6350">
                      <a:solidFill>
                        <a:srgbClr val="D4C4A0"/>
                      </a:solidFill>
                      <a:prstDash val="solid"/>
                    </a:lnT>
                    <a:lnB w="6350">
                      <a:solidFill>
                        <a:srgbClr val="D4C4A0"/>
                      </a:solidFill>
                      <a:prstDash val="solid"/>
                    </a:lnB>
                    <a:solidFill>
                      <a:srgbClr val="FBF2D4"/>
                    </a:solidFill>
                  </a:tcPr>
                </a:tc>
                <a:tc>
                  <a:txBody>
                    <a:bodyPr/>
                    <a:lstStyle/>
                    <a:p>
                      <a:pPr marL="454659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b="1" dirty="0">
                          <a:solidFill>
                            <a:srgbClr val="2A2A2A"/>
                          </a:solidFill>
                          <a:latin typeface="Arial"/>
                          <a:cs typeface="Arial"/>
                        </a:rPr>
                        <a:t>136.43 </a:t>
                      </a:r>
                      <a:r>
                        <a:rPr sz="900" b="1" spc="-25" dirty="0">
                          <a:solidFill>
                            <a:srgbClr val="2A2A2A"/>
                          </a:solidFill>
                          <a:latin typeface="Arial"/>
                          <a:cs typeface="Arial"/>
                        </a:rPr>
                        <a:t>TCM</a:t>
                      </a:r>
                      <a:endParaRPr sz="900" dirty="0">
                        <a:latin typeface="Arial"/>
                        <a:cs typeface="Arial"/>
                      </a:endParaRPr>
                    </a:p>
                  </a:txBody>
                  <a:tcPr marL="0" marR="0" marT="76200" marB="0">
                    <a:lnL w="6350">
                      <a:solidFill>
                        <a:srgbClr val="D4C4A0"/>
                      </a:solidFill>
                      <a:prstDash val="solid"/>
                    </a:lnL>
                    <a:lnR w="6350">
                      <a:solidFill>
                        <a:srgbClr val="D4C4A0"/>
                      </a:solidFill>
                      <a:prstDash val="solid"/>
                    </a:lnR>
                    <a:lnT w="6350">
                      <a:solidFill>
                        <a:srgbClr val="D4C4A0"/>
                      </a:solidFill>
                      <a:prstDash val="solid"/>
                    </a:lnT>
                    <a:lnB w="6350">
                      <a:solidFill>
                        <a:srgbClr val="D4C4A0"/>
                      </a:solidFill>
                      <a:prstDash val="solid"/>
                    </a:lnB>
                    <a:solidFill>
                      <a:srgbClr val="FBF2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" name="object 11"/>
          <p:cNvSpPr/>
          <p:nvPr/>
        </p:nvSpPr>
        <p:spPr>
          <a:xfrm>
            <a:off x="807004" y="3822699"/>
            <a:ext cx="1241425" cy="63500"/>
          </a:xfrm>
          <a:custGeom>
            <a:avLst/>
            <a:gdLst/>
            <a:ahLst/>
            <a:cxnLst/>
            <a:rect l="l" t="t" r="r" b="b"/>
            <a:pathLst>
              <a:path w="1241425" h="63500">
                <a:moveTo>
                  <a:pt x="1240960" y="0"/>
                </a:moveTo>
                <a:lnTo>
                  <a:pt x="0" y="0"/>
                </a:lnTo>
                <a:lnTo>
                  <a:pt x="0" y="63500"/>
                </a:lnTo>
                <a:lnTo>
                  <a:pt x="1240960" y="63500"/>
                </a:lnTo>
                <a:lnTo>
                  <a:pt x="1240960" y="0"/>
                </a:lnTo>
                <a:close/>
              </a:path>
            </a:pathLst>
          </a:custGeom>
          <a:solidFill>
            <a:srgbClr val="C8A84B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2" name="object 12"/>
          <p:cNvSpPr/>
          <p:nvPr/>
        </p:nvSpPr>
        <p:spPr>
          <a:xfrm>
            <a:off x="2110013" y="3841749"/>
            <a:ext cx="4902200" cy="19050"/>
          </a:xfrm>
          <a:custGeom>
            <a:avLst/>
            <a:gdLst/>
            <a:ahLst/>
            <a:cxnLst/>
            <a:rect l="l" t="t" r="r" b="b"/>
            <a:pathLst>
              <a:path w="4902200" h="19050">
                <a:moveTo>
                  <a:pt x="4901792" y="0"/>
                </a:moveTo>
                <a:lnTo>
                  <a:pt x="0" y="0"/>
                </a:lnTo>
                <a:lnTo>
                  <a:pt x="0" y="19050"/>
                </a:lnTo>
                <a:lnTo>
                  <a:pt x="4901792" y="19050"/>
                </a:lnTo>
                <a:lnTo>
                  <a:pt x="4901792" y="0"/>
                </a:lnTo>
                <a:close/>
              </a:path>
            </a:pathLst>
          </a:custGeom>
          <a:solidFill>
            <a:srgbClr val="D4C4A0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3" name="object 13"/>
          <p:cNvSpPr txBox="1"/>
          <p:nvPr/>
        </p:nvSpPr>
        <p:spPr>
          <a:xfrm>
            <a:off x="766498" y="3995420"/>
            <a:ext cx="4552304" cy="2744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dirty="0">
                <a:solidFill>
                  <a:schemeClr val="accent3">
                    <a:lumMod val="75000"/>
                  </a:schemeClr>
                </a:solidFill>
                <a:latin typeface="Felix Titling" panose="04060505060202020A04" pitchFamily="82" charset="0"/>
                <a:cs typeface="Arial"/>
              </a:rPr>
              <a:t>Achievement</a:t>
            </a:r>
            <a:r>
              <a:rPr sz="1700" b="1" spc="-45" dirty="0">
                <a:solidFill>
                  <a:schemeClr val="accent3">
                    <a:lumMod val="75000"/>
                  </a:schemeClr>
                </a:solidFill>
                <a:latin typeface="Felix Titling" panose="04060505060202020A04" pitchFamily="82" charset="0"/>
                <a:cs typeface="Arial"/>
              </a:rPr>
              <a:t> </a:t>
            </a:r>
            <a:r>
              <a:rPr sz="1700" b="1" dirty="0">
                <a:solidFill>
                  <a:schemeClr val="accent3">
                    <a:lumMod val="75000"/>
                  </a:schemeClr>
                </a:solidFill>
                <a:latin typeface="Felix Titling" panose="04060505060202020A04" pitchFamily="82" charset="0"/>
                <a:cs typeface="Arial"/>
              </a:rPr>
              <a:t>vs</a:t>
            </a:r>
            <a:r>
              <a:rPr sz="1700" b="1" spc="-45" dirty="0">
                <a:solidFill>
                  <a:schemeClr val="accent3">
                    <a:lumMod val="75000"/>
                  </a:schemeClr>
                </a:solidFill>
                <a:latin typeface="Felix Titling" panose="04060505060202020A04" pitchFamily="82" charset="0"/>
                <a:cs typeface="Arial"/>
              </a:rPr>
              <a:t> </a:t>
            </a:r>
            <a:r>
              <a:rPr sz="1700" b="1" dirty="0">
                <a:solidFill>
                  <a:schemeClr val="accent3">
                    <a:lumMod val="75000"/>
                  </a:schemeClr>
                </a:solidFill>
                <a:latin typeface="Felix Titling" panose="04060505060202020A04" pitchFamily="82" charset="0"/>
                <a:cs typeface="Arial"/>
              </a:rPr>
              <a:t>Target</a:t>
            </a:r>
            <a:r>
              <a:rPr sz="1700" b="1" spc="-45" dirty="0">
                <a:solidFill>
                  <a:schemeClr val="accent3">
                    <a:lumMod val="75000"/>
                  </a:schemeClr>
                </a:solidFill>
                <a:latin typeface="Felix Titling" panose="04060505060202020A04" pitchFamily="82" charset="0"/>
                <a:cs typeface="Arial"/>
              </a:rPr>
              <a:t> </a:t>
            </a:r>
            <a:r>
              <a:rPr sz="1700" b="1" dirty="0">
                <a:solidFill>
                  <a:schemeClr val="accent3">
                    <a:lumMod val="75000"/>
                  </a:schemeClr>
                </a:solidFill>
                <a:latin typeface="Felix Titling" panose="04060505060202020A04" pitchFamily="82" charset="0"/>
                <a:cs typeface="Arial"/>
              </a:rPr>
              <a:t>—</a:t>
            </a:r>
            <a:r>
              <a:rPr sz="1700" b="1" spc="-45" dirty="0">
                <a:solidFill>
                  <a:schemeClr val="accent3">
                    <a:lumMod val="75000"/>
                  </a:schemeClr>
                </a:solidFill>
                <a:latin typeface="Felix Titling" panose="04060505060202020A04" pitchFamily="82" charset="0"/>
                <a:cs typeface="Arial"/>
              </a:rPr>
              <a:t> </a:t>
            </a:r>
            <a:r>
              <a:rPr sz="1700" b="1" spc="-10" dirty="0">
                <a:solidFill>
                  <a:schemeClr val="accent3">
                    <a:lumMod val="75000"/>
                  </a:schemeClr>
                </a:solidFill>
                <a:latin typeface="Felix Titling" panose="04060505060202020A04" pitchFamily="82" charset="0"/>
                <a:cs typeface="Arial"/>
              </a:rPr>
              <a:t>Visual</a:t>
            </a:r>
            <a:endParaRPr sz="1700" dirty="0">
              <a:solidFill>
                <a:schemeClr val="accent3">
                  <a:lumMod val="75000"/>
                </a:schemeClr>
              </a:solidFill>
              <a:latin typeface="Felix Titling" panose="04060505060202020A04" pitchFamily="82" charset="0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07004" y="7035800"/>
            <a:ext cx="1241425" cy="63500"/>
          </a:xfrm>
          <a:custGeom>
            <a:avLst/>
            <a:gdLst/>
            <a:ahLst/>
            <a:cxnLst/>
            <a:rect l="l" t="t" r="r" b="b"/>
            <a:pathLst>
              <a:path w="1241425" h="63500">
                <a:moveTo>
                  <a:pt x="1240960" y="0"/>
                </a:moveTo>
                <a:lnTo>
                  <a:pt x="0" y="0"/>
                </a:lnTo>
                <a:lnTo>
                  <a:pt x="0" y="63499"/>
                </a:lnTo>
                <a:lnTo>
                  <a:pt x="1240960" y="63499"/>
                </a:lnTo>
                <a:lnTo>
                  <a:pt x="1240960" y="0"/>
                </a:lnTo>
                <a:close/>
              </a:path>
            </a:pathLst>
          </a:custGeom>
          <a:solidFill>
            <a:srgbClr val="C8A84B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6" name="object 16"/>
          <p:cNvSpPr/>
          <p:nvPr/>
        </p:nvSpPr>
        <p:spPr>
          <a:xfrm>
            <a:off x="2110013" y="7054850"/>
            <a:ext cx="4902200" cy="19050"/>
          </a:xfrm>
          <a:custGeom>
            <a:avLst/>
            <a:gdLst/>
            <a:ahLst/>
            <a:cxnLst/>
            <a:rect l="l" t="t" r="r" b="b"/>
            <a:pathLst>
              <a:path w="4902200" h="19050">
                <a:moveTo>
                  <a:pt x="4901792" y="0"/>
                </a:moveTo>
                <a:lnTo>
                  <a:pt x="0" y="0"/>
                </a:lnTo>
                <a:lnTo>
                  <a:pt x="0" y="19049"/>
                </a:lnTo>
                <a:lnTo>
                  <a:pt x="4901792" y="19049"/>
                </a:lnTo>
                <a:lnTo>
                  <a:pt x="4901792" y="0"/>
                </a:lnTo>
                <a:close/>
              </a:path>
            </a:pathLst>
          </a:custGeom>
          <a:solidFill>
            <a:srgbClr val="D4C4A0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object 17"/>
          <p:cNvSpPr txBox="1"/>
          <p:nvPr/>
        </p:nvSpPr>
        <p:spPr>
          <a:xfrm>
            <a:off x="759329" y="7269095"/>
            <a:ext cx="6062286" cy="2744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dirty="0">
                <a:solidFill>
                  <a:schemeClr val="accent5">
                    <a:lumMod val="75000"/>
                  </a:schemeClr>
                </a:solidFill>
                <a:latin typeface="Felix Titling" panose="04060505060202020A04" pitchFamily="82" charset="0"/>
                <a:cs typeface="Arial"/>
              </a:rPr>
              <a:t>Annual</a:t>
            </a:r>
            <a:r>
              <a:rPr sz="1700" b="1" spc="-55" dirty="0">
                <a:solidFill>
                  <a:schemeClr val="accent5">
                    <a:lumMod val="75000"/>
                  </a:schemeClr>
                </a:solidFill>
                <a:latin typeface="Felix Titling" panose="04060505060202020A04" pitchFamily="82" charset="0"/>
                <a:cs typeface="Arial"/>
              </a:rPr>
              <a:t> </a:t>
            </a:r>
            <a:r>
              <a:rPr sz="1700" b="1" dirty="0">
                <a:solidFill>
                  <a:schemeClr val="accent5">
                    <a:lumMod val="75000"/>
                  </a:schemeClr>
                </a:solidFill>
                <a:latin typeface="Felix Titling" panose="04060505060202020A04" pitchFamily="82" charset="0"/>
                <a:cs typeface="Arial"/>
              </a:rPr>
              <a:t>Water</a:t>
            </a:r>
            <a:r>
              <a:rPr sz="1700" b="1" spc="-50" dirty="0">
                <a:solidFill>
                  <a:schemeClr val="accent5">
                    <a:lumMod val="75000"/>
                  </a:schemeClr>
                </a:solidFill>
                <a:latin typeface="Felix Titling" panose="04060505060202020A04" pitchFamily="82" charset="0"/>
                <a:cs typeface="Arial"/>
              </a:rPr>
              <a:t> </a:t>
            </a:r>
            <a:r>
              <a:rPr sz="1700" b="1" dirty="0">
                <a:solidFill>
                  <a:schemeClr val="accent5">
                    <a:lumMod val="75000"/>
                  </a:schemeClr>
                </a:solidFill>
                <a:latin typeface="Felix Titling" panose="04060505060202020A04" pitchFamily="82" charset="0"/>
                <a:cs typeface="Arial"/>
              </a:rPr>
              <a:t>Storage</a:t>
            </a:r>
            <a:r>
              <a:rPr sz="1700" b="1" spc="-50" dirty="0">
                <a:solidFill>
                  <a:schemeClr val="accent5">
                    <a:lumMod val="75000"/>
                  </a:schemeClr>
                </a:solidFill>
                <a:latin typeface="Felix Titling" panose="04060505060202020A04" pitchFamily="82" charset="0"/>
                <a:cs typeface="Arial"/>
              </a:rPr>
              <a:t> </a:t>
            </a:r>
            <a:r>
              <a:rPr sz="1700" b="1" dirty="0">
                <a:solidFill>
                  <a:schemeClr val="accent5">
                    <a:lumMod val="75000"/>
                  </a:schemeClr>
                </a:solidFill>
                <a:latin typeface="Felix Titling" panose="04060505060202020A04" pitchFamily="82" charset="0"/>
                <a:cs typeface="Arial"/>
              </a:rPr>
              <a:t>Created</a:t>
            </a:r>
            <a:r>
              <a:rPr sz="1700" b="1" spc="-50" dirty="0">
                <a:solidFill>
                  <a:schemeClr val="accent5">
                    <a:lumMod val="75000"/>
                  </a:schemeClr>
                </a:solidFill>
                <a:latin typeface="Felix Titling" panose="04060505060202020A04" pitchFamily="82" charset="0"/>
                <a:cs typeface="Arial"/>
              </a:rPr>
              <a:t> </a:t>
            </a:r>
            <a:r>
              <a:rPr sz="1700" b="1" dirty="0">
                <a:solidFill>
                  <a:schemeClr val="accent5">
                    <a:lumMod val="75000"/>
                  </a:schemeClr>
                </a:solidFill>
                <a:latin typeface="Felix Titling" panose="04060505060202020A04" pitchFamily="82" charset="0"/>
                <a:cs typeface="Arial"/>
              </a:rPr>
              <a:t>by</a:t>
            </a:r>
            <a:r>
              <a:rPr sz="1700" b="1" spc="-50" dirty="0">
                <a:solidFill>
                  <a:schemeClr val="accent5">
                    <a:lumMod val="75000"/>
                  </a:schemeClr>
                </a:solidFill>
                <a:latin typeface="Felix Titling" panose="04060505060202020A04" pitchFamily="82" charset="0"/>
                <a:cs typeface="Arial"/>
              </a:rPr>
              <a:t> </a:t>
            </a:r>
            <a:r>
              <a:rPr sz="1700" b="1" spc="-10" dirty="0">
                <a:solidFill>
                  <a:schemeClr val="accent5">
                    <a:lumMod val="75000"/>
                  </a:schemeClr>
                </a:solidFill>
                <a:latin typeface="Felix Titling" panose="04060505060202020A04" pitchFamily="82" charset="0"/>
                <a:cs typeface="Arial"/>
              </a:rPr>
              <a:t>Structure</a:t>
            </a:r>
            <a:endParaRPr sz="1700" dirty="0">
              <a:solidFill>
                <a:schemeClr val="accent5">
                  <a:lumMod val="75000"/>
                </a:schemeClr>
              </a:solidFill>
              <a:latin typeface="Felix Titling" panose="04060505060202020A04" pitchFamily="82" charset="0"/>
              <a:cs typeface="Arial"/>
            </a:endParaRPr>
          </a:p>
        </p:txBody>
      </p:sp>
      <p:pic>
        <p:nvPicPr>
          <p:cNvPr id="18" name="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1535" y="7675651"/>
            <a:ext cx="6041207" cy="2395450"/>
          </a:xfrm>
          <a:prstGeom prst="rect">
            <a:avLst/>
          </a:prstGeom>
        </p:spPr>
      </p:pic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TE</a:t>
            </a:r>
            <a:r>
              <a:rPr spc="-5" dirty="0"/>
              <a:t> </a:t>
            </a:r>
            <a:r>
              <a:rPr dirty="0"/>
              <a:t>Integrated Watershed Management Project</a:t>
            </a:r>
            <a:r>
              <a:rPr spc="210" dirty="0"/>
              <a:t> </a:t>
            </a:r>
            <a:r>
              <a:rPr dirty="0"/>
              <a:t>|</a:t>
            </a:r>
            <a:r>
              <a:rPr spc="210" dirty="0"/>
              <a:t> </a:t>
            </a:r>
            <a:r>
              <a:rPr dirty="0"/>
              <a:t>Ghatdare, Khandala, Satara</a:t>
            </a:r>
            <a:r>
              <a:rPr spc="210" dirty="0"/>
              <a:t> </a:t>
            </a:r>
            <a:r>
              <a:rPr dirty="0"/>
              <a:t>|</a:t>
            </a:r>
            <a:r>
              <a:rPr spc="210" dirty="0"/>
              <a:t> </a:t>
            </a:r>
            <a:r>
              <a:rPr dirty="0"/>
              <a:t>FY 2025-</a:t>
            </a:r>
            <a:r>
              <a:rPr spc="-25" dirty="0"/>
              <a:t>26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xfrm>
            <a:off x="7036251" y="10485724"/>
            <a:ext cx="447675" cy="126317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Page</a:t>
            </a:r>
            <a:r>
              <a:rPr spc="-20" dirty="0"/>
              <a:t> </a:t>
            </a:r>
            <a:r>
              <a:rPr lang="en-IN" spc="-25" dirty="0"/>
              <a:t>5</a:t>
            </a:r>
            <a:endParaRPr spc="-25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CC485FD3-1693-9779-C23F-4EB5D13095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913" y="4535194"/>
            <a:ext cx="6289300" cy="2351272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500" y="127000"/>
            <a:ext cx="167449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b="1" dirty="0">
                <a:solidFill>
                  <a:srgbClr val="FFFFFF"/>
                </a:solidFill>
                <a:latin typeface="Arial"/>
                <a:cs typeface="Arial"/>
              </a:rPr>
              <a:t>TE</a:t>
            </a:r>
            <a:r>
              <a:rPr sz="80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FFFFFF"/>
                </a:solidFill>
                <a:latin typeface="Arial"/>
                <a:cs typeface="Arial"/>
              </a:rPr>
              <a:t>IWMP</a:t>
            </a:r>
            <a:r>
              <a:rPr sz="80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FFFFFF"/>
                </a:solidFill>
                <a:latin typeface="Arial"/>
                <a:cs typeface="Arial"/>
              </a:rPr>
              <a:t>–</a:t>
            </a:r>
            <a:r>
              <a:rPr sz="80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FFFFFF"/>
                </a:solidFill>
                <a:latin typeface="Arial"/>
                <a:cs typeface="Arial"/>
              </a:rPr>
              <a:t>Annual Report</a:t>
            </a:r>
            <a:r>
              <a:rPr sz="80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800" b="1" spc="-10" dirty="0">
                <a:solidFill>
                  <a:srgbClr val="FFFFFF"/>
                </a:solidFill>
                <a:latin typeface="Arial"/>
                <a:cs typeface="Arial"/>
              </a:rPr>
              <a:t>2025-</a:t>
            </a:r>
            <a:r>
              <a:rPr sz="800" b="1" spc="-25" dirty="0">
                <a:solidFill>
                  <a:srgbClr val="FFFFFF"/>
                </a:solidFill>
                <a:latin typeface="Arial"/>
                <a:cs typeface="Arial"/>
              </a:rPr>
              <a:t>26</a:t>
            </a:r>
            <a:endParaRPr sz="8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968590" y="127000"/>
            <a:ext cx="247777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FFFFFF"/>
                </a:solidFill>
                <a:latin typeface="Arial MT"/>
                <a:cs typeface="Arial MT"/>
              </a:rPr>
              <a:t>TE</a:t>
            </a:r>
            <a:r>
              <a:rPr sz="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FFFFFF"/>
                </a:solidFill>
                <a:latin typeface="Arial MT"/>
                <a:cs typeface="Arial MT"/>
              </a:rPr>
              <a:t>Connectivity</a:t>
            </a:r>
            <a:r>
              <a:rPr sz="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FFFFFF"/>
                </a:solidFill>
                <a:latin typeface="Arial MT"/>
                <a:cs typeface="Arial MT"/>
              </a:rPr>
              <a:t>×</a:t>
            </a:r>
            <a:r>
              <a:rPr sz="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FFFFFF"/>
                </a:solidFill>
                <a:latin typeface="Arial MT"/>
                <a:cs typeface="Arial MT"/>
              </a:rPr>
              <a:t>SJSM</a:t>
            </a:r>
            <a:r>
              <a:rPr sz="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FFFFFF"/>
                </a:solidFill>
                <a:latin typeface="Arial MT"/>
                <a:cs typeface="Arial MT"/>
              </a:rPr>
              <a:t>Satara</a:t>
            </a:r>
            <a:r>
              <a:rPr sz="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FFFFFF"/>
                </a:solidFill>
                <a:latin typeface="Arial MT"/>
                <a:cs typeface="Arial MT"/>
              </a:rPr>
              <a:t>|</a:t>
            </a:r>
            <a:r>
              <a:rPr sz="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FFFFFF"/>
                </a:solidFill>
                <a:latin typeface="Arial MT"/>
                <a:cs typeface="Arial MT"/>
              </a:rPr>
              <a:t>Ghatdare</a:t>
            </a:r>
            <a:r>
              <a:rPr sz="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Arial MT"/>
                <a:cs typeface="Arial MT"/>
              </a:rPr>
              <a:t>Watershed</a:t>
            </a:r>
            <a:endParaRPr sz="800" dirty="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03200" y="10382119"/>
            <a:ext cx="7357109" cy="309880"/>
            <a:chOff x="203200" y="10382119"/>
            <a:chExt cx="7357109" cy="309880"/>
          </a:xfrm>
        </p:grpSpPr>
        <p:sp>
          <p:nvSpPr>
            <p:cNvPr id="5" name="object 5"/>
            <p:cNvSpPr/>
            <p:nvPr/>
          </p:nvSpPr>
          <p:spPr>
            <a:xfrm>
              <a:off x="203200" y="10387199"/>
              <a:ext cx="7357109" cy="304800"/>
            </a:xfrm>
            <a:custGeom>
              <a:avLst/>
              <a:gdLst/>
              <a:ahLst/>
              <a:cxnLst/>
              <a:rect l="l" t="t" r="r" b="b"/>
              <a:pathLst>
                <a:path w="7357109" h="304800">
                  <a:moveTo>
                    <a:pt x="73568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7356800" y="304800"/>
                  </a:lnTo>
                  <a:lnTo>
                    <a:pt x="7356800" y="0"/>
                  </a:lnTo>
                  <a:close/>
                </a:path>
              </a:pathLst>
            </a:custGeom>
            <a:solidFill>
              <a:srgbClr val="F4EFE8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6" name="object 6"/>
            <p:cNvSpPr/>
            <p:nvPr/>
          </p:nvSpPr>
          <p:spPr>
            <a:xfrm>
              <a:off x="203200" y="10387199"/>
              <a:ext cx="7357109" cy="0"/>
            </a:xfrm>
            <a:custGeom>
              <a:avLst/>
              <a:gdLst/>
              <a:ahLst/>
              <a:cxnLst/>
              <a:rect l="l" t="t" r="r" b="b"/>
              <a:pathLst>
                <a:path w="7357109">
                  <a:moveTo>
                    <a:pt x="0" y="0"/>
                  </a:moveTo>
                  <a:lnTo>
                    <a:pt x="7356800" y="0"/>
                  </a:lnTo>
                </a:path>
              </a:pathLst>
            </a:custGeom>
            <a:ln w="10160">
              <a:solidFill>
                <a:srgbClr val="C8A84B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object 7"/>
          <p:cNvSpPr/>
          <p:nvPr/>
        </p:nvSpPr>
        <p:spPr>
          <a:xfrm>
            <a:off x="779199" y="622299"/>
            <a:ext cx="1241425" cy="63500"/>
          </a:xfrm>
          <a:custGeom>
            <a:avLst/>
            <a:gdLst/>
            <a:ahLst/>
            <a:cxnLst/>
            <a:rect l="l" t="t" r="r" b="b"/>
            <a:pathLst>
              <a:path w="1241425" h="63500">
                <a:moveTo>
                  <a:pt x="1240960" y="0"/>
                </a:moveTo>
                <a:lnTo>
                  <a:pt x="0" y="0"/>
                </a:lnTo>
                <a:lnTo>
                  <a:pt x="0" y="63500"/>
                </a:lnTo>
                <a:lnTo>
                  <a:pt x="1240960" y="63500"/>
                </a:lnTo>
                <a:lnTo>
                  <a:pt x="1240960" y="0"/>
                </a:lnTo>
                <a:close/>
              </a:path>
            </a:pathLst>
          </a:custGeom>
          <a:solidFill>
            <a:srgbClr val="C8A84B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8"/>
          <p:cNvSpPr/>
          <p:nvPr/>
        </p:nvSpPr>
        <p:spPr>
          <a:xfrm>
            <a:off x="2082208" y="641349"/>
            <a:ext cx="4902200" cy="19050"/>
          </a:xfrm>
          <a:custGeom>
            <a:avLst/>
            <a:gdLst/>
            <a:ahLst/>
            <a:cxnLst/>
            <a:rect l="l" t="t" r="r" b="b"/>
            <a:pathLst>
              <a:path w="4902200" h="19050">
                <a:moveTo>
                  <a:pt x="4901792" y="0"/>
                </a:moveTo>
                <a:lnTo>
                  <a:pt x="0" y="0"/>
                </a:lnTo>
                <a:lnTo>
                  <a:pt x="0" y="19050"/>
                </a:lnTo>
                <a:lnTo>
                  <a:pt x="4901792" y="19050"/>
                </a:lnTo>
                <a:lnTo>
                  <a:pt x="4901792" y="0"/>
                </a:lnTo>
                <a:close/>
              </a:path>
            </a:pathLst>
          </a:custGeom>
          <a:solidFill>
            <a:srgbClr val="D4C4A0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object 9"/>
          <p:cNvSpPr txBox="1"/>
          <p:nvPr/>
        </p:nvSpPr>
        <p:spPr>
          <a:xfrm>
            <a:off x="766499" y="825500"/>
            <a:ext cx="5831151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CC9900"/>
                </a:solidFill>
                <a:latin typeface="Felix Titling" panose="04060505060202020A04" pitchFamily="82" charset="0"/>
                <a:cs typeface="Arial"/>
              </a:rPr>
              <a:t>Outcomes</a:t>
            </a:r>
            <a:r>
              <a:rPr sz="2400" b="1" spc="-55" dirty="0">
                <a:solidFill>
                  <a:srgbClr val="CC9900"/>
                </a:solidFill>
                <a:latin typeface="Felix Titling" panose="04060505060202020A04" pitchFamily="82" charset="0"/>
                <a:cs typeface="Arial"/>
              </a:rPr>
              <a:t> </a:t>
            </a:r>
            <a:r>
              <a:rPr sz="2400" b="1" dirty="0">
                <a:solidFill>
                  <a:srgbClr val="CC9900"/>
                </a:solidFill>
                <a:latin typeface="Felix Titling" panose="04060505060202020A04" pitchFamily="82" charset="0"/>
                <a:cs typeface="Arial"/>
              </a:rPr>
              <a:t>&amp;</a:t>
            </a:r>
            <a:r>
              <a:rPr sz="2400" b="1" spc="-55" dirty="0">
                <a:solidFill>
                  <a:srgbClr val="CC9900"/>
                </a:solidFill>
                <a:latin typeface="Felix Titling" panose="04060505060202020A04" pitchFamily="82" charset="0"/>
                <a:cs typeface="Arial"/>
              </a:rPr>
              <a:t> </a:t>
            </a:r>
            <a:r>
              <a:rPr lang="en-IN" sz="2400" b="1" dirty="0">
                <a:solidFill>
                  <a:srgbClr val="CC9900"/>
                </a:solidFill>
                <a:latin typeface="Felix Titling" panose="04060505060202020A04" pitchFamily="82" charset="0"/>
                <a:cs typeface="Arial"/>
              </a:rPr>
              <a:t>Measurable</a:t>
            </a:r>
            <a:r>
              <a:rPr sz="2400" b="1" spc="-55" dirty="0">
                <a:solidFill>
                  <a:srgbClr val="CC9900"/>
                </a:solidFill>
                <a:latin typeface="Felix Titling" panose="04060505060202020A04" pitchFamily="82" charset="0"/>
                <a:cs typeface="Arial"/>
              </a:rPr>
              <a:t> </a:t>
            </a:r>
            <a:r>
              <a:rPr sz="2400" b="1" spc="-10" dirty="0">
                <a:solidFill>
                  <a:srgbClr val="CC9900"/>
                </a:solidFill>
                <a:latin typeface="Felix Titling" panose="04060505060202020A04" pitchFamily="82" charset="0"/>
                <a:cs typeface="Arial"/>
              </a:rPr>
              <a:t>Impact</a:t>
            </a:r>
            <a:endParaRPr sz="2400" dirty="0">
              <a:solidFill>
                <a:srgbClr val="CC9900"/>
              </a:solidFill>
              <a:latin typeface="Felix Titling" panose="04060505060202020A04" pitchFamily="82" charset="0"/>
              <a:cs typeface="Arial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1653556"/>
              </p:ext>
            </p:extLst>
          </p:nvPr>
        </p:nvGraphicFramePr>
        <p:xfrm>
          <a:off x="774119" y="1176019"/>
          <a:ext cx="6204585" cy="42157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849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196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17550">
                <a:tc>
                  <a:txBody>
                    <a:bodyPr/>
                    <a:lstStyle/>
                    <a:p>
                      <a:pPr marL="88900" marR="530860" indent="0">
                        <a:lnSpc>
                          <a:spcPct val="121200"/>
                        </a:lnSpc>
                        <a:spcBef>
                          <a:spcPts val="220"/>
                        </a:spcBef>
                        <a:buFont typeface="MS Gothic"/>
                        <a:buNone/>
                        <a:tabLst>
                          <a:tab pos="267335" algn="l"/>
                        </a:tabLst>
                      </a:pPr>
                      <a:r>
                        <a:rPr sz="1000" b="1" spc="-10" dirty="0">
                          <a:solidFill>
                            <a:srgbClr val="0C3B6B"/>
                          </a:solidFill>
                          <a:latin typeface="Felix Titling" panose="04060505060202020A04" pitchFamily="82" charset="0"/>
                          <a:cs typeface="Arial"/>
                        </a:rPr>
                        <a:t>Groundwater Recharge</a:t>
                      </a:r>
                      <a:endParaRPr sz="1000" dirty="0">
                        <a:latin typeface="Felix Titling" panose="04060505060202020A04" pitchFamily="82" charset="0"/>
                        <a:cs typeface="Arial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2D593D"/>
                      </a:solidFill>
                      <a:prstDash val="solid"/>
                    </a:lnL>
                    <a:lnT w="12700">
                      <a:solidFill>
                        <a:srgbClr val="2D593D"/>
                      </a:solidFill>
                      <a:prstDash val="solid"/>
                    </a:lnT>
                    <a:lnB w="12700">
                      <a:solidFill>
                        <a:srgbClr val="2D593D"/>
                      </a:solidFill>
                      <a:prstDash val="solid"/>
                    </a:lnB>
                    <a:solidFill>
                      <a:srgbClr val="BADDFB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140970" algn="just">
                        <a:lnSpc>
                          <a:spcPct val="125000"/>
                        </a:lnSpc>
                        <a:spcBef>
                          <a:spcPts val="200"/>
                        </a:spcBef>
                      </a:pPr>
                      <a:r>
                        <a:rPr sz="800" b="1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Arial"/>
                        </a:rPr>
                        <a:t>2.5 –</a:t>
                      </a:r>
                      <a:r>
                        <a:rPr sz="800" b="1" spc="5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Arial"/>
                        </a:rPr>
                        <a:t> </a:t>
                      </a:r>
                      <a:r>
                        <a:rPr sz="800" b="1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Arial"/>
                        </a:rPr>
                        <a:t>3.2 metre</a:t>
                      </a:r>
                      <a:r>
                        <a:rPr sz="800" b="1" spc="5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Arial"/>
                        </a:rPr>
                        <a:t> </a:t>
                      </a:r>
                      <a:r>
                        <a:rPr sz="800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Arial MT"/>
                        </a:rPr>
                        <a:t>average post-monsoon</a:t>
                      </a:r>
                      <a:r>
                        <a:rPr sz="800" spc="5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Arial MT"/>
                        </a:rPr>
                        <a:t> </a:t>
                      </a:r>
                      <a:r>
                        <a:rPr sz="800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Arial MT"/>
                        </a:rPr>
                        <a:t>rise observed</a:t>
                      </a:r>
                      <a:r>
                        <a:rPr sz="800" spc="5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Arial MT"/>
                        </a:rPr>
                        <a:t> </a:t>
                      </a:r>
                      <a:r>
                        <a:rPr sz="800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Arial MT"/>
                        </a:rPr>
                        <a:t>across</a:t>
                      </a:r>
                      <a:r>
                        <a:rPr sz="800" spc="5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Arial MT"/>
                        </a:rPr>
                        <a:t> </a:t>
                      </a:r>
                      <a:r>
                        <a:rPr sz="800" b="1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Arial"/>
                        </a:rPr>
                        <a:t>21 </a:t>
                      </a:r>
                      <a:r>
                        <a:rPr sz="800" b="1" spc="-10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Arial"/>
                        </a:rPr>
                        <a:t>monitoring </a:t>
                      </a:r>
                      <a:r>
                        <a:rPr sz="800" b="1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Arial"/>
                        </a:rPr>
                        <a:t>wells </a:t>
                      </a:r>
                      <a:r>
                        <a:rPr sz="800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Arial MT"/>
                        </a:rPr>
                        <a:t>in</a:t>
                      </a:r>
                      <a:r>
                        <a:rPr sz="800" spc="5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Arial MT"/>
                        </a:rPr>
                        <a:t> </a:t>
                      </a:r>
                      <a:r>
                        <a:rPr sz="800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Arial MT"/>
                        </a:rPr>
                        <a:t>Ghatdare. Peak</a:t>
                      </a:r>
                      <a:r>
                        <a:rPr sz="800" spc="5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Arial MT"/>
                        </a:rPr>
                        <a:t> </a:t>
                      </a:r>
                      <a:r>
                        <a:rPr sz="800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Arial MT"/>
                        </a:rPr>
                        <a:t>recharge</a:t>
                      </a:r>
                      <a:r>
                        <a:rPr sz="800" spc="5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Arial MT"/>
                        </a:rPr>
                        <a:t> </a:t>
                      </a:r>
                      <a:r>
                        <a:rPr sz="800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Arial MT"/>
                        </a:rPr>
                        <a:t>recorded July–October</a:t>
                      </a:r>
                      <a:r>
                        <a:rPr sz="800" spc="5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Arial MT"/>
                        </a:rPr>
                        <a:t> </a:t>
                      </a:r>
                      <a:r>
                        <a:rPr sz="800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Arial MT"/>
                        </a:rPr>
                        <a:t>2025. </a:t>
                      </a:r>
                      <a:r>
                        <a:rPr sz="800" spc="-10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Arial MT"/>
                        </a:rPr>
                        <a:t>Highest </a:t>
                      </a:r>
                      <a:r>
                        <a:rPr sz="800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Arial MT"/>
                        </a:rPr>
                        <a:t>recharge zones</a:t>
                      </a:r>
                      <a:r>
                        <a:rPr sz="800" spc="5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Arial MT"/>
                        </a:rPr>
                        <a:t> </a:t>
                      </a:r>
                      <a:r>
                        <a:rPr sz="800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Arial MT"/>
                        </a:rPr>
                        <a:t>adjacent to</a:t>
                      </a:r>
                      <a:r>
                        <a:rPr sz="800" spc="5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Arial MT"/>
                        </a:rPr>
                        <a:t> </a:t>
                      </a:r>
                      <a:r>
                        <a:rPr sz="800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Arial MT"/>
                        </a:rPr>
                        <a:t>Nala Deepening</a:t>
                      </a:r>
                      <a:r>
                        <a:rPr sz="800" spc="5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Arial MT"/>
                        </a:rPr>
                        <a:t> </a:t>
                      </a:r>
                      <a:r>
                        <a:rPr sz="800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Arial MT"/>
                        </a:rPr>
                        <a:t>and ENB</a:t>
                      </a:r>
                      <a:r>
                        <a:rPr sz="800" spc="5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Arial MT"/>
                        </a:rPr>
                        <a:t> </a:t>
                      </a:r>
                      <a:r>
                        <a:rPr sz="800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Arial MT"/>
                        </a:rPr>
                        <a:t>desilting </a:t>
                      </a:r>
                      <a:r>
                        <a:rPr sz="800" spc="-10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Arial MT"/>
                        </a:rPr>
                        <a:t>sites.</a:t>
                      </a:r>
                      <a:endParaRPr sz="800" dirty="0">
                        <a:latin typeface="Felix Titling" panose="04060505060202020A04" pitchFamily="82" charset="0"/>
                        <a:cs typeface="Arial MT"/>
                      </a:endParaRPr>
                    </a:p>
                  </a:txBody>
                  <a:tcPr marL="0" marR="0" marT="25400" marB="0">
                    <a:lnR w="12700">
                      <a:solidFill>
                        <a:srgbClr val="2D593D"/>
                      </a:solidFill>
                      <a:prstDash val="solid"/>
                    </a:lnR>
                    <a:lnT w="12700">
                      <a:solidFill>
                        <a:srgbClr val="2D593D"/>
                      </a:solidFill>
                      <a:prstDash val="solid"/>
                    </a:lnT>
                    <a:lnB w="12700">
                      <a:solidFill>
                        <a:srgbClr val="2D593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6600">
                <a:tc>
                  <a:txBody>
                    <a:bodyPr/>
                    <a:lstStyle/>
                    <a:p>
                      <a:pPr marL="88900" marR="452755" indent="0">
                        <a:lnSpc>
                          <a:spcPct val="121200"/>
                        </a:lnSpc>
                        <a:spcBef>
                          <a:spcPts val="370"/>
                        </a:spcBef>
                        <a:buFont typeface="MS Gothic"/>
                        <a:buNone/>
                        <a:tabLst>
                          <a:tab pos="267335" algn="l"/>
                        </a:tabLst>
                      </a:pPr>
                      <a:r>
                        <a:rPr sz="1000" b="1" dirty="0">
                          <a:solidFill>
                            <a:srgbClr val="00695B"/>
                          </a:solidFill>
                          <a:latin typeface="Felix Titling" panose="04060505060202020A04" pitchFamily="82" charset="0"/>
                          <a:cs typeface="Arial"/>
                        </a:rPr>
                        <a:t>Water </a:t>
                      </a:r>
                      <a:r>
                        <a:rPr sz="1000" b="1" spc="-10" dirty="0">
                          <a:solidFill>
                            <a:srgbClr val="00695B"/>
                          </a:solidFill>
                          <a:latin typeface="Felix Titling" panose="04060505060202020A04" pitchFamily="82" charset="0"/>
                          <a:cs typeface="Arial"/>
                        </a:rPr>
                        <a:t>Storage Created</a:t>
                      </a:r>
                      <a:endParaRPr sz="1000" dirty="0">
                        <a:latin typeface="Felix Titling" panose="04060505060202020A04" pitchFamily="82" charset="0"/>
                        <a:cs typeface="Arial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2D593D"/>
                      </a:solidFill>
                      <a:prstDash val="solid"/>
                    </a:lnL>
                    <a:lnT w="12700">
                      <a:solidFill>
                        <a:srgbClr val="2D593D"/>
                      </a:solidFill>
                      <a:prstDash val="solid"/>
                    </a:lnT>
                    <a:lnB w="12700">
                      <a:solidFill>
                        <a:srgbClr val="2D593D"/>
                      </a:solidFill>
                      <a:prstDash val="solid"/>
                    </a:lnB>
                    <a:solidFill>
                      <a:srgbClr val="EFF9F4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196850" algn="just">
                        <a:lnSpc>
                          <a:spcPct val="125000"/>
                        </a:lnSpc>
                        <a:spcBef>
                          <a:spcPts val="350"/>
                        </a:spcBef>
                      </a:pPr>
                      <a:r>
                        <a:rPr sz="800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Arial MT"/>
                        </a:rPr>
                        <a:t>Total additional annual</a:t>
                      </a:r>
                      <a:r>
                        <a:rPr sz="800" spc="5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Arial MT"/>
                        </a:rPr>
                        <a:t> </a:t>
                      </a:r>
                      <a:r>
                        <a:rPr sz="800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Arial MT"/>
                        </a:rPr>
                        <a:t>water storage of</a:t>
                      </a:r>
                      <a:r>
                        <a:rPr sz="800" spc="5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Arial MT"/>
                        </a:rPr>
                        <a:t> </a:t>
                      </a:r>
                      <a:r>
                        <a:rPr sz="800" b="1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Arial"/>
                        </a:rPr>
                        <a:t>136.43 TCM </a:t>
                      </a:r>
                      <a:r>
                        <a:rPr sz="800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Arial MT"/>
                        </a:rPr>
                        <a:t>created</a:t>
                      </a:r>
                      <a:r>
                        <a:rPr sz="800" spc="5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Arial MT"/>
                        </a:rPr>
                        <a:t> </a:t>
                      </a:r>
                      <a:r>
                        <a:rPr sz="800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Arial MT"/>
                        </a:rPr>
                        <a:t>— </a:t>
                      </a:r>
                      <a:r>
                        <a:rPr sz="800" spc="-10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Arial MT"/>
                        </a:rPr>
                        <a:t>providing </a:t>
                      </a:r>
                      <a:r>
                        <a:rPr sz="800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Arial MT"/>
                        </a:rPr>
                        <a:t>groundwater recharge</a:t>
                      </a:r>
                      <a:r>
                        <a:rPr sz="800" spc="5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Arial MT"/>
                        </a:rPr>
                        <a:t> </a:t>
                      </a:r>
                      <a:r>
                        <a:rPr sz="800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Arial MT"/>
                        </a:rPr>
                        <a:t>and</a:t>
                      </a:r>
                      <a:r>
                        <a:rPr sz="800" spc="5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Arial MT"/>
                        </a:rPr>
                        <a:t> </a:t>
                      </a:r>
                      <a:r>
                        <a:rPr sz="800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Arial MT"/>
                        </a:rPr>
                        <a:t>reliable</a:t>
                      </a:r>
                      <a:r>
                        <a:rPr sz="800" spc="5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Arial MT"/>
                        </a:rPr>
                        <a:t> </a:t>
                      </a:r>
                      <a:r>
                        <a:rPr sz="800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Arial MT"/>
                        </a:rPr>
                        <a:t>irrigation</a:t>
                      </a:r>
                      <a:r>
                        <a:rPr sz="800" spc="5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Arial MT"/>
                        </a:rPr>
                        <a:t> </a:t>
                      </a:r>
                      <a:r>
                        <a:rPr sz="800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Arial MT"/>
                        </a:rPr>
                        <a:t>buffer</a:t>
                      </a:r>
                      <a:r>
                        <a:rPr sz="800" spc="5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Arial MT"/>
                        </a:rPr>
                        <a:t> </a:t>
                      </a:r>
                      <a:r>
                        <a:rPr sz="800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Arial MT"/>
                        </a:rPr>
                        <a:t>across</a:t>
                      </a:r>
                      <a:r>
                        <a:rPr sz="800" spc="5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Arial MT"/>
                        </a:rPr>
                        <a:t> </a:t>
                      </a:r>
                      <a:r>
                        <a:rPr sz="800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Arial MT"/>
                        </a:rPr>
                        <a:t>the</a:t>
                      </a:r>
                      <a:r>
                        <a:rPr sz="800" spc="5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Arial MT"/>
                        </a:rPr>
                        <a:t> </a:t>
                      </a:r>
                      <a:r>
                        <a:rPr sz="800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Arial MT"/>
                        </a:rPr>
                        <a:t>entire</a:t>
                      </a:r>
                      <a:r>
                        <a:rPr sz="800" spc="5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Arial MT"/>
                        </a:rPr>
                        <a:t> </a:t>
                      </a:r>
                      <a:r>
                        <a:rPr sz="800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Arial MT"/>
                        </a:rPr>
                        <a:t>647</a:t>
                      </a:r>
                      <a:r>
                        <a:rPr sz="800" spc="5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Arial MT"/>
                        </a:rPr>
                        <a:t> </a:t>
                      </a:r>
                      <a:r>
                        <a:rPr sz="800" spc="-25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Arial MT"/>
                        </a:rPr>
                        <a:t>Ha </a:t>
                      </a:r>
                      <a:r>
                        <a:rPr sz="800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Arial MT"/>
                        </a:rPr>
                        <a:t>watershed </a:t>
                      </a:r>
                      <a:r>
                        <a:rPr sz="800" spc="-10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Arial MT"/>
                        </a:rPr>
                        <a:t>area.</a:t>
                      </a:r>
                      <a:endParaRPr sz="800" dirty="0">
                        <a:latin typeface="Felix Titling" panose="04060505060202020A04" pitchFamily="82" charset="0"/>
                        <a:cs typeface="Arial MT"/>
                      </a:endParaRPr>
                    </a:p>
                  </a:txBody>
                  <a:tcPr marL="0" marR="0" marT="44450" marB="0">
                    <a:lnR w="12700">
                      <a:solidFill>
                        <a:srgbClr val="2D593D"/>
                      </a:solidFill>
                      <a:prstDash val="solid"/>
                    </a:lnR>
                    <a:lnT w="12700">
                      <a:solidFill>
                        <a:srgbClr val="2D593D"/>
                      </a:solidFill>
                      <a:prstDash val="solid"/>
                    </a:lnT>
                    <a:lnB w="12700">
                      <a:solidFill>
                        <a:srgbClr val="2D593D"/>
                      </a:solidFill>
                      <a:prstDash val="solid"/>
                    </a:lnB>
                    <a:solidFill>
                      <a:srgbClr val="F4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6600">
                <a:tc>
                  <a:txBody>
                    <a:bodyPr/>
                    <a:lstStyle/>
                    <a:p>
                      <a:pPr marL="88900" indent="0">
                        <a:lnSpc>
                          <a:spcPct val="100000"/>
                        </a:lnSpc>
                        <a:spcBef>
                          <a:spcPts val="650"/>
                        </a:spcBef>
                        <a:buFont typeface="MS Gothic"/>
                        <a:buNone/>
                        <a:tabLst>
                          <a:tab pos="267335" algn="l"/>
                        </a:tabLst>
                      </a:pPr>
                      <a:r>
                        <a:rPr sz="1000" b="1" dirty="0">
                          <a:solidFill>
                            <a:srgbClr val="6B4226"/>
                          </a:solidFill>
                          <a:latin typeface="Felix Titling" panose="04060505060202020A04" pitchFamily="82" charset="0"/>
                          <a:cs typeface="Arial"/>
                        </a:rPr>
                        <a:t>Irrigation </a:t>
                      </a:r>
                      <a:r>
                        <a:rPr sz="1000" b="1" spc="-10" dirty="0">
                          <a:solidFill>
                            <a:srgbClr val="6B4226"/>
                          </a:solidFill>
                          <a:latin typeface="Felix Titling" panose="04060505060202020A04" pitchFamily="82" charset="0"/>
                          <a:cs typeface="Arial"/>
                        </a:rPr>
                        <a:t>Potential</a:t>
                      </a:r>
                      <a:endParaRPr sz="1000" dirty="0">
                        <a:latin typeface="Felix Titling" panose="04060505060202020A04" pitchFamily="82" charset="0"/>
                        <a:cs typeface="Arial"/>
                      </a:endParaRPr>
                    </a:p>
                  </a:txBody>
                  <a:tcPr marL="0" marR="0" marT="82550" marB="0">
                    <a:lnL w="12700">
                      <a:solidFill>
                        <a:srgbClr val="2D593D"/>
                      </a:solidFill>
                      <a:prstDash val="solid"/>
                    </a:lnL>
                    <a:lnT w="12700">
                      <a:solidFill>
                        <a:srgbClr val="2D593D"/>
                      </a:solidFill>
                      <a:prstDash val="solid"/>
                    </a:lnT>
                    <a:lnB w="12700">
                      <a:solidFill>
                        <a:srgbClr val="2D593D"/>
                      </a:solidFill>
                      <a:prstDash val="solid"/>
                    </a:lnB>
                    <a:solidFill>
                      <a:srgbClr val="FBF2D4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112395" algn="just">
                        <a:lnSpc>
                          <a:spcPct val="125000"/>
                        </a:lnSpc>
                        <a:spcBef>
                          <a:spcPts val="350"/>
                        </a:spcBef>
                      </a:pPr>
                      <a:r>
                        <a:rPr sz="800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Arial MT"/>
                        </a:rPr>
                        <a:t>Significant improvement in</a:t>
                      </a:r>
                      <a:r>
                        <a:rPr sz="800" spc="5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Arial MT"/>
                        </a:rPr>
                        <a:t> </a:t>
                      </a:r>
                      <a:r>
                        <a:rPr sz="800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Arial MT"/>
                        </a:rPr>
                        <a:t>irrigation potential with</a:t>
                      </a:r>
                      <a:r>
                        <a:rPr sz="800" spc="5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Arial MT"/>
                        </a:rPr>
                        <a:t> </a:t>
                      </a:r>
                      <a:r>
                        <a:rPr sz="800" b="1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Arial"/>
                        </a:rPr>
                        <a:t>100 Ha </a:t>
                      </a:r>
                      <a:r>
                        <a:rPr sz="800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Arial MT"/>
                        </a:rPr>
                        <a:t>directly</a:t>
                      </a:r>
                      <a:r>
                        <a:rPr sz="800" spc="5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Arial MT"/>
                        </a:rPr>
                        <a:t> </a:t>
                      </a:r>
                      <a:r>
                        <a:rPr sz="800" spc="-10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Arial MT"/>
                        </a:rPr>
                        <a:t>under </a:t>
                      </a:r>
                      <a:r>
                        <a:rPr sz="800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Arial MT"/>
                        </a:rPr>
                        <a:t>assured irrigation;</a:t>
                      </a:r>
                      <a:r>
                        <a:rPr sz="800" spc="5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Arial MT"/>
                        </a:rPr>
                        <a:t> </a:t>
                      </a:r>
                      <a:r>
                        <a:rPr sz="800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Arial MT"/>
                        </a:rPr>
                        <a:t>progressive</a:t>
                      </a:r>
                      <a:r>
                        <a:rPr sz="800" spc="5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Arial MT"/>
                        </a:rPr>
                        <a:t> </a:t>
                      </a:r>
                      <a:r>
                        <a:rPr sz="800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Arial MT"/>
                        </a:rPr>
                        <a:t>expansion toward</a:t>
                      </a:r>
                      <a:r>
                        <a:rPr sz="800" spc="5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Arial MT"/>
                        </a:rPr>
                        <a:t> </a:t>
                      </a:r>
                      <a:r>
                        <a:rPr sz="800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Arial MT"/>
                        </a:rPr>
                        <a:t>the</a:t>
                      </a:r>
                      <a:r>
                        <a:rPr sz="800" spc="5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Arial MT"/>
                        </a:rPr>
                        <a:t> </a:t>
                      </a:r>
                      <a:r>
                        <a:rPr sz="800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Arial MT"/>
                        </a:rPr>
                        <a:t>647 Ha</a:t>
                      </a:r>
                      <a:r>
                        <a:rPr sz="800" spc="5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Arial MT"/>
                        </a:rPr>
                        <a:t> </a:t>
                      </a:r>
                      <a:r>
                        <a:rPr sz="800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Arial MT"/>
                        </a:rPr>
                        <a:t>long-term</a:t>
                      </a:r>
                      <a:r>
                        <a:rPr sz="800" spc="5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Arial MT"/>
                        </a:rPr>
                        <a:t> </a:t>
                      </a:r>
                      <a:r>
                        <a:rPr sz="800" spc="-10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Arial MT"/>
                        </a:rPr>
                        <a:t>target </a:t>
                      </a:r>
                      <a:r>
                        <a:rPr sz="800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Arial MT"/>
                        </a:rPr>
                        <a:t>as treatment zones </a:t>
                      </a:r>
                      <a:r>
                        <a:rPr sz="800" spc="-10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Arial MT"/>
                        </a:rPr>
                        <a:t>mature.</a:t>
                      </a:r>
                      <a:endParaRPr sz="800" dirty="0">
                        <a:latin typeface="Felix Titling" panose="04060505060202020A04" pitchFamily="82" charset="0"/>
                        <a:cs typeface="Arial MT"/>
                      </a:endParaRPr>
                    </a:p>
                  </a:txBody>
                  <a:tcPr marL="0" marR="0" marT="44450" marB="0">
                    <a:lnR w="12700">
                      <a:solidFill>
                        <a:srgbClr val="2D593D"/>
                      </a:solidFill>
                      <a:prstDash val="solid"/>
                    </a:lnR>
                    <a:lnT w="12700">
                      <a:solidFill>
                        <a:srgbClr val="2D593D"/>
                      </a:solidFill>
                      <a:prstDash val="solid"/>
                    </a:lnT>
                    <a:lnB w="12700">
                      <a:solidFill>
                        <a:srgbClr val="2D593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6600">
                <a:tc>
                  <a:txBody>
                    <a:bodyPr/>
                    <a:lstStyle/>
                    <a:p>
                      <a:pPr marL="88900" indent="0">
                        <a:lnSpc>
                          <a:spcPct val="100000"/>
                        </a:lnSpc>
                        <a:spcBef>
                          <a:spcPts val="650"/>
                        </a:spcBef>
                        <a:buFont typeface="MS Gothic"/>
                        <a:buNone/>
                        <a:tabLst>
                          <a:tab pos="267335" algn="l"/>
                        </a:tabLst>
                      </a:pPr>
                      <a:r>
                        <a:rPr sz="1000" b="1" dirty="0">
                          <a:solidFill>
                            <a:srgbClr val="2D593D"/>
                          </a:solidFill>
                          <a:latin typeface="Felix Titling" panose="04060505060202020A04" pitchFamily="82" charset="0"/>
                          <a:cs typeface="Arial"/>
                        </a:rPr>
                        <a:t>Soil</a:t>
                      </a:r>
                      <a:r>
                        <a:rPr sz="1000" b="1" spc="-25" dirty="0">
                          <a:solidFill>
                            <a:srgbClr val="2D593D"/>
                          </a:solidFill>
                          <a:latin typeface="Felix Titling" panose="04060505060202020A04" pitchFamily="82" charset="0"/>
                          <a:cs typeface="Arial"/>
                        </a:rPr>
                        <a:t> </a:t>
                      </a:r>
                      <a:r>
                        <a:rPr sz="1000" b="1" dirty="0">
                          <a:solidFill>
                            <a:srgbClr val="2D593D"/>
                          </a:solidFill>
                          <a:latin typeface="Felix Titling" panose="04060505060202020A04" pitchFamily="82" charset="0"/>
                          <a:cs typeface="Arial"/>
                        </a:rPr>
                        <a:t>Erosion</a:t>
                      </a:r>
                      <a:r>
                        <a:rPr sz="1000" b="1" spc="-20" dirty="0">
                          <a:solidFill>
                            <a:srgbClr val="2D593D"/>
                          </a:solidFill>
                          <a:latin typeface="Felix Titling" panose="04060505060202020A04" pitchFamily="82" charset="0"/>
                          <a:cs typeface="Arial"/>
                        </a:rPr>
                        <a:t> </a:t>
                      </a:r>
                      <a:r>
                        <a:rPr sz="1000" b="1" spc="-10" dirty="0">
                          <a:solidFill>
                            <a:srgbClr val="2D593D"/>
                          </a:solidFill>
                          <a:latin typeface="Felix Titling" panose="04060505060202020A04" pitchFamily="82" charset="0"/>
                          <a:cs typeface="Arial"/>
                        </a:rPr>
                        <a:t>Control</a:t>
                      </a:r>
                      <a:endParaRPr sz="1000" dirty="0">
                        <a:latin typeface="Felix Titling" panose="04060505060202020A04" pitchFamily="82" charset="0"/>
                        <a:cs typeface="Arial"/>
                      </a:endParaRPr>
                    </a:p>
                  </a:txBody>
                  <a:tcPr marL="0" marR="0" marT="82550" marB="0">
                    <a:lnL w="12700">
                      <a:solidFill>
                        <a:srgbClr val="2D593D"/>
                      </a:solidFill>
                      <a:prstDash val="solid"/>
                    </a:lnL>
                    <a:lnT w="12700">
                      <a:solidFill>
                        <a:srgbClr val="2D593D"/>
                      </a:solidFill>
                      <a:prstDash val="solid"/>
                    </a:lnT>
                    <a:lnB w="12700">
                      <a:solidFill>
                        <a:srgbClr val="2D593D"/>
                      </a:solidFill>
                      <a:prstDash val="solid"/>
                    </a:lnB>
                    <a:solidFill>
                      <a:srgbClr val="EFF9F4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514984" algn="just">
                        <a:lnSpc>
                          <a:spcPct val="125000"/>
                        </a:lnSpc>
                        <a:spcBef>
                          <a:spcPts val="350"/>
                        </a:spcBef>
                      </a:pPr>
                      <a:r>
                        <a:rPr sz="800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Arial MT"/>
                        </a:rPr>
                        <a:t>Erosion stabilised across treated ridge-to-valley zones. Gully </a:t>
                      </a:r>
                      <a:r>
                        <a:rPr sz="800" spc="-10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Arial MT"/>
                        </a:rPr>
                        <a:t>plugging </a:t>
                      </a:r>
                      <a:r>
                        <a:rPr sz="800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Arial MT"/>
                        </a:rPr>
                        <a:t>effective —</a:t>
                      </a:r>
                      <a:r>
                        <a:rPr sz="800" spc="5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Arial MT"/>
                        </a:rPr>
                        <a:t> </a:t>
                      </a:r>
                      <a:r>
                        <a:rPr sz="800" b="1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Arial"/>
                        </a:rPr>
                        <a:t>5</a:t>
                      </a:r>
                      <a:r>
                        <a:rPr sz="800" b="1" spc="5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Arial"/>
                        </a:rPr>
                        <a:t> </a:t>
                      </a:r>
                      <a:r>
                        <a:rPr sz="800" b="1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Arial"/>
                        </a:rPr>
                        <a:t>Gabion </a:t>
                      </a:r>
                      <a:r>
                        <a:rPr sz="800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Arial MT"/>
                        </a:rPr>
                        <a:t>and</a:t>
                      </a:r>
                      <a:r>
                        <a:rPr sz="800" spc="5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Arial MT"/>
                        </a:rPr>
                        <a:t> </a:t>
                      </a:r>
                      <a:r>
                        <a:rPr sz="800" b="1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Arial"/>
                        </a:rPr>
                        <a:t>30</a:t>
                      </a:r>
                      <a:r>
                        <a:rPr sz="800" b="1" spc="5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Arial"/>
                        </a:rPr>
                        <a:t> </a:t>
                      </a:r>
                      <a:r>
                        <a:rPr sz="800" b="1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Arial"/>
                        </a:rPr>
                        <a:t>Loose</a:t>
                      </a:r>
                      <a:r>
                        <a:rPr sz="800" b="1" spc="5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Arial"/>
                        </a:rPr>
                        <a:t> </a:t>
                      </a:r>
                      <a:r>
                        <a:rPr sz="800" b="1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Arial"/>
                        </a:rPr>
                        <a:t>Boulder </a:t>
                      </a:r>
                      <a:r>
                        <a:rPr sz="800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Arial MT"/>
                        </a:rPr>
                        <a:t>structures</a:t>
                      </a:r>
                      <a:r>
                        <a:rPr sz="800" spc="5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Arial MT"/>
                        </a:rPr>
                        <a:t> </a:t>
                      </a:r>
                      <a:r>
                        <a:rPr sz="800" spc="-10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Arial MT"/>
                        </a:rPr>
                        <a:t>successfully </a:t>
                      </a:r>
                      <a:r>
                        <a:rPr sz="800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Arial MT"/>
                        </a:rPr>
                        <a:t>installed</a:t>
                      </a:r>
                      <a:r>
                        <a:rPr sz="800" spc="5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Arial MT"/>
                        </a:rPr>
                        <a:t> </a:t>
                      </a:r>
                      <a:r>
                        <a:rPr sz="800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Arial MT"/>
                        </a:rPr>
                        <a:t>and</a:t>
                      </a:r>
                      <a:r>
                        <a:rPr sz="800" spc="10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Arial MT"/>
                        </a:rPr>
                        <a:t> </a:t>
                      </a:r>
                      <a:r>
                        <a:rPr sz="800" spc="-10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Arial MT"/>
                        </a:rPr>
                        <a:t>functional.</a:t>
                      </a:r>
                      <a:endParaRPr sz="800" dirty="0">
                        <a:latin typeface="Felix Titling" panose="04060505060202020A04" pitchFamily="82" charset="0"/>
                        <a:cs typeface="Arial MT"/>
                      </a:endParaRPr>
                    </a:p>
                  </a:txBody>
                  <a:tcPr marL="0" marR="0" marT="44450" marB="0">
                    <a:lnR w="12700">
                      <a:solidFill>
                        <a:srgbClr val="2D593D"/>
                      </a:solidFill>
                      <a:prstDash val="solid"/>
                    </a:lnR>
                    <a:lnT w="12700">
                      <a:solidFill>
                        <a:srgbClr val="2D593D"/>
                      </a:solidFill>
                      <a:prstDash val="solid"/>
                    </a:lnT>
                    <a:lnB w="12700">
                      <a:solidFill>
                        <a:srgbClr val="2D593D"/>
                      </a:solidFill>
                      <a:prstDash val="solid"/>
                    </a:lnB>
                    <a:solidFill>
                      <a:srgbClr val="F4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0865">
                <a:tc>
                  <a:txBody>
                    <a:bodyPr/>
                    <a:lstStyle/>
                    <a:p>
                      <a:pPr marL="88900" marR="204470" indent="0">
                        <a:lnSpc>
                          <a:spcPct val="121200"/>
                        </a:lnSpc>
                        <a:spcBef>
                          <a:spcPts val="370"/>
                        </a:spcBef>
                        <a:buFont typeface="MS Gothic"/>
                        <a:buNone/>
                        <a:tabLst>
                          <a:tab pos="267335" algn="l"/>
                        </a:tabLst>
                      </a:pPr>
                      <a:r>
                        <a:rPr sz="1000" b="1" dirty="0">
                          <a:solidFill>
                            <a:srgbClr val="1A3A2D"/>
                          </a:solidFill>
                          <a:latin typeface="Felix Titling" panose="04060505060202020A04" pitchFamily="82" charset="0"/>
                          <a:cs typeface="Arial"/>
                        </a:rPr>
                        <a:t>Water </a:t>
                      </a:r>
                      <a:r>
                        <a:rPr sz="1000" b="1" spc="-10" dirty="0">
                          <a:solidFill>
                            <a:srgbClr val="1A3A2D"/>
                          </a:solidFill>
                          <a:latin typeface="Felix Titling" panose="04060505060202020A04" pitchFamily="82" charset="0"/>
                          <a:cs typeface="Arial"/>
                        </a:rPr>
                        <a:t>Purification </a:t>
                      </a:r>
                      <a:r>
                        <a:rPr sz="1000" b="1" spc="-20" dirty="0">
                          <a:solidFill>
                            <a:srgbClr val="1A3A2D"/>
                          </a:solidFill>
                          <a:latin typeface="Felix Titling" panose="04060505060202020A04" pitchFamily="82" charset="0"/>
                          <a:cs typeface="Arial"/>
                        </a:rPr>
                        <a:t>Unit</a:t>
                      </a:r>
                      <a:endParaRPr sz="1000" dirty="0">
                        <a:latin typeface="Felix Titling" panose="04060505060202020A04" pitchFamily="82" charset="0"/>
                        <a:cs typeface="Arial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2D593D"/>
                      </a:solidFill>
                      <a:prstDash val="solid"/>
                    </a:lnL>
                    <a:lnT w="12700">
                      <a:solidFill>
                        <a:srgbClr val="2D593D"/>
                      </a:solidFill>
                      <a:prstDash val="solid"/>
                    </a:lnT>
                    <a:lnB w="12700">
                      <a:solidFill>
                        <a:srgbClr val="2D593D"/>
                      </a:solidFill>
                      <a:prstDash val="solid"/>
                    </a:lnB>
                    <a:solidFill>
                      <a:srgbClr val="F4EFE8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219075" algn="just">
                        <a:lnSpc>
                          <a:spcPct val="125000"/>
                        </a:lnSpc>
                        <a:spcBef>
                          <a:spcPts val="350"/>
                        </a:spcBef>
                      </a:pPr>
                      <a:r>
                        <a:rPr sz="800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Arial MT"/>
                        </a:rPr>
                        <a:t>Unit planned and </a:t>
                      </a:r>
                      <a:r>
                        <a:rPr sz="800" b="1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Arial"/>
                        </a:rPr>
                        <a:t>procurement initiated</a:t>
                      </a:r>
                      <a:r>
                        <a:rPr sz="800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Arial MT"/>
                        </a:rPr>
                        <a:t>. Once commissioned, will</a:t>
                      </a:r>
                      <a:r>
                        <a:rPr sz="800" spc="5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Arial MT"/>
                        </a:rPr>
                        <a:t> </a:t>
                      </a:r>
                      <a:r>
                        <a:rPr sz="800" spc="-10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Arial MT"/>
                        </a:rPr>
                        <a:t>provide </a:t>
                      </a:r>
                      <a:r>
                        <a:rPr sz="800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Arial MT"/>
                        </a:rPr>
                        <a:t>treated safe</a:t>
                      </a:r>
                      <a:r>
                        <a:rPr sz="800" spc="5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Arial MT"/>
                        </a:rPr>
                        <a:t> </a:t>
                      </a:r>
                      <a:r>
                        <a:rPr sz="800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Arial MT"/>
                        </a:rPr>
                        <a:t>drinking water to</a:t>
                      </a:r>
                      <a:r>
                        <a:rPr sz="800" spc="5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Arial MT"/>
                        </a:rPr>
                        <a:t> </a:t>
                      </a:r>
                      <a:r>
                        <a:rPr sz="800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Arial MT"/>
                        </a:rPr>
                        <a:t>all 225</a:t>
                      </a:r>
                      <a:r>
                        <a:rPr sz="800" spc="5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Arial MT"/>
                        </a:rPr>
                        <a:t> </a:t>
                      </a:r>
                      <a:r>
                        <a:rPr sz="800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Arial MT"/>
                        </a:rPr>
                        <a:t>households in</a:t>
                      </a:r>
                      <a:r>
                        <a:rPr sz="800" spc="5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Arial MT"/>
                        </a:rPr>
                        <a:t> </a:t>
                      </a:r>
                      <a:r>
                        <a:rPr sz="800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Arial MT"/>
                        </a:rPr>
                        <a:t>Ghatdare </a:t>
                      </a:r>
                      <a:r>
                        <a:rPr sz="800" spc="-10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Arial MT"/>
                        </a:rPr>
                        <a:t>village.</a:t>
                      </a:r>
                      <a:endParaRPr sz="800" dirty="0">
                        <a:latin typeface="Felix Titling" panose="04060505060202020A04" pitchFamily="82" charset="0"/>
                        <a:cs typeface="Arial MT"/>
                      </a:endParaRPr>
                    </a:p>
                  </a:txBody>
                  <a:tcPr marL="0" marR="0" marT="44450" marB="0">
                    <a:lnR w="12700">
                      <a:solidFill>
                        <a:srgbClr val="2D593D"/>
                      </a:solidFill>
                      <a:prstDash val="solid"/>
                    </a:lnR>
                    <a:lnT w="12700">
                      <a:solidFill>
                        <a:srgbClr val="2D593D"/>
                      </a:solidFill>
                      <a:prstDash val="solid"/>
                    </a:lnT>
                    <a:lnB w="12700">
                      <a:solidFill>
                        <a:srgbClr val="2D593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7550">
                <a:tc>
                  <a:txBody>
                    <a:bodyPr/>
                    <a:lstStyle/>
                    <a:p>
                      <a:pPr marL="88900" marR="631825" indent="0">
                        <a:lnSpc>
                          <a:spcPct val="121200"/>
                        </a:lnSpc>
                        <a:spcBef>
                          <a:spcPts val="370"/>
                        </a:spcBef>
                        <a:buFont typeface="MS Gothic"/>
                        <a:buNone/>
                        <a:tabLst>
                          <a:tab pos="267335" algn="l"/>
                        </a:tabLst>
                      </a:pPr>
                      <a:r>
                        <a:rPr sz="1000" b="1" spc="-10" dirty="0">
                          <a:solidFill>
                            <a:srgbClr val="6B4226"/>
                          </a:solidFill>
                          <a:latin typeface="Felix Titling" panose="04060505060202020A04" pitchFamily="82" charset="0"/>
                          <a:cs typeface="Arial"/>
                        </a:rPr>
                        <a:t>Community Governance</a:t>
                      </a:r>
                      <a:endParaRPr sz="1000" dirty="0">
                        <a:latin typeface="Felix Titling" panose="04060505060202020A04" pitchFamily="82" charset="0"/>
                        <a:cs typeface="Arial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2D593D"/>
                      </a:solidFill>
                      <a:prstDash val="solid"/>
                    </a:lnL>
                    <a:lnT w="12700">
                      <a:solidFill>
                        <a:srgbClr val="2D593D"/>
                      </a:solidFill>
                      <a:prstDash val="solid"/>
                    </a:lnT>
                    <a:lnB w="12700">
                      <a:solidFill>
                        <a:srgbClr val="2D593D"/>
                      </a:solidFill>
                      <a:prstDash val="solid"/>
                    </a:lnB>
                    <a:solidFill>
                      <a:srgbClr val="FBF2D4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113030" algn="just">
                        <a:lnSpc>
                          <a:spcPct val="125000"/>
                        </a:lnSpc>
                        <a:spcBef>
                          <a:spcPts val="350"/>
                        </a:spcBef>
                      </a:pPr>
                      <a:r>
                        <a:rPr lang="en-IN" sz="800" b="1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Arial"/>
                        </a:rPr>
                        <a:t>Majority </a:t>
                      </a:r>
                      <a:r>
                        <a:rPr sz="800" b="1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Arial"/>
                        </a:rPr>
                        <a:t>Gram</a:t>
                      </a:r>
                      <a:r>
                        <a:rPr sz="800" b="1" spc="5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Arial"/>
                        </a:rPr>
                        <a:t> </a:t>
                      </a:r>
                      <a:r>
                        <a:rPr sz="800" b="1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Arial"/>
                        </a:rPr>
                        <a:t>Sabha</a:t>
                      </a:r>
                      <a:r>
                        <a:rPr sz="800" b="1" spc="5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Arial"/>
                        </a:rPr>
                        <a:t> </a:t>
                      </a:r>
                      <a:r>
                        <a:rPr sz="800" b="1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Arial"/>
                        </a:rPr>
                        <a:t>approval</a:t>
                      </a:r>
                      <a:r>
                        <a:rPr sz="800" b="1" spc="5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Arial"/>
                        </a:rPr>
                        <a:t> </a:t>
                      </a:r>
                      <a:r>
                        <a:rPr sz="800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Arial MT"/>
                        </a:rPr>
                        <a:t>secured.</a:t>
                      </a:r>
                      <a:r>
                        <a:rPr sz="800" spc="5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Arial MT"/>
                        </a:rPr>
                        <a:t> </a:t>
                      </a:r>
                      <a:r>
                        <a:rPr sz="800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Arial MT"/>
                        </a:rPr>
                        <a:t>All</a:t>
                      </a:r>
                      <a:r>
                        <a:rPr sz="800" spc="5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Arial MT"/>
                        </a:rPr>
                        <a:t> </a:t>
                      </a:r>
                      <a:r>
                        <a:rPr sz="800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Arial MT"/>
                        </a:rPr>
                        <a:t>225</a:t>
                      </a:r>
                      <a:r>
                        <a:rPr sz="800" spc="5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Arial MT"/>
                        </a:rPr>
                        <a:t> </a:t>
                      </a:r>
                      <a:r>
                        <a:rPr sz="800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Arial MT"/>
                        </a:rPr>
                        <a:t>households</a:t>
                      </a:r>
                      <a:r>
                        <a:rPr sz="800" spc="5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Arial MT"/>
                        </a:rPr>
                        <a:t> </a:t>
                      </a:r>
                      <a:r>
                        <a:rPr sz="800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Arial MT"/>
                        </a:rPr>
                        <a:t>engaged</a:t>
                      </a:r>
                      <a:r>
                        <a:rPr sz="800" spc="5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Arial MT"/>
                        </a:rPr>
                        <a:t> </a:t>
                      </a:r>
                      <a:r>
                        <a:rPr sz="800" spc="-25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Arial MT"/>
                        </a:rPr>
                        <a:t>via </a:t>
                      </a:r>
                      <a:r>
                        <a:rPr sz="800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Arial MT"/>
                        </a:rPr>
                        <a:t>community sessions and</a:t>
                      </a:r>
                      <a:r>
                        <a:rPr sz="800" spc="5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Arial MT"/>
                        </a:rPr>
                        <a:t> </a:t>
                      </a:r>
                      <a:r>
                        <a:rPr sz="800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Arial MT"/>
                        </a:rPr>
                        <a:t>local committees</a:t>
                      </a:r>
                      <a:r>
                        <a:rPr sz="800" spc="5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Arial MT"/>
                        </a:rPr>
                        <a:t> </a:t>
                      </a:r>
                      <a:r>
                        <a:rPr sz="800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Arial MT"/>
                        </a:rPr>
                        <a:t>formed for long-term</a:t>
                      </a:r>
                      <a:r>
                        <a:rPr sz="800" spc="5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Arial MT"/>
                        </a:rPr>
                        <a:t> </a:t>
                      </a:r>
                      <a:r>
                        <a:rPr sz="800" spc="-10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Arial MT"/>
                        </a:rPr>
                        <a:t>maintenance </a:t>
                      </a:r>
                      <a:r>
                        <a:rPr sz="800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Arial MT"/>
                        </a:rPr>
                        <a:t>of watershed</a:t>
                      </a:r>
                      <a:r>
                        <a:rPr sz="800" spc="5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Arial MT"/>
                        </a:rPr>
                        <a:t> </a:t>
                      </a:r>
                      <a:r>
                        <a:rPr sz="800" spc="-10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Arial MT"/>
                        </a:rPr>
                        <a:t>structures.</a:t>
                      </a:r>
                      <a:endParaRPr sz="800" dirty="0">
                        <a:latin typeface="Felix Titling" panose="04060505060202020A04" pitchFamily="82" charset="0"/>
                        <a:cs typeface="Arial MT"/>
                      </a:endParaRPr>
                    </a:p>
                  </a:txBody>
                  <a:tcPr marL="0" marR="0" marT="44450" marB="0">
                    <a:lnR w="12700">
                      <a:solidFill>
                        <a:srgbClr val="2D593D"/>
                      </a:solidFill>
                      <a:prstDash val="solid"/>
                    </a:lnR>
                    <a:lnT w="12700">
                      <a:solidFill>
                        <a:srgbClr val="2D593D"/>
                      </a:solidFill>
                      <a:prstDash val="solid"/>
                    </a:lnT>
                    <a:lnB w="12700">
                      <a:solidFill>
                        <a:srgbClr val="2D593D"/>
                      </a:solidFill>
                      <a:prstDash val="solid"/>
                    </a:lnB>
                    <a:solidFill>
                      <a:srgbClr val="F4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object 11"/>
          <p:cNvSpPr/>
          <p:nvPr/>
        </p:nvSpPr>
        <p:spPr>
          <a:xfrm>
            <a:off x="779199" y="5575299"/>
            <a:ext cx="1241425" cy="63500"/>
          </a:xfrm>
          <a:custGeom>
            <a:avLst/>
            <a:gdLst/>
            <a:ahLst/>
            <a:cxnLst/>
            <a:rect l="l" t="t" r="r" b="b"/>
            <a:pathLst>
              <a:path w="1241425" h="63500">
                <a:moveTo>
                  <a:pt x="1240960" y="0"/>
                </a:moveTo>
                <a:lnTo>
                  <a:pt x="0" y="0"/>
                </a:lnTo>
                <a:lnTo>
                  <a:pt x="0" y="63500"/>
                </a:lnTo>
                <a:lnTo>
                  <a:pt x="1240960" y="63500"/>
                </a:lnTo>
                <a:lnTo>
                  <a:pt x="1240960" y="0"/>
                </a:lnTo>
                <a:close/>
              </a:path>
            </a:pathLst>
          </a:custGeom>
          <a:solidFill>
            <a:srgbClr val="C8A84B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2" name="object 12"/>
          <p:cNvSpPr/>
          <p:nvPr/>
        </p:nvSpPr>
        <p:spPr>
          <a:xfrm>
            <a:off x="2082208" y="5594349"/>
            <a:ext cx="4902200" cy="19050"/>
          </a:xfrm>
          <a:custGeom>
            <a:avLst/>
            <a:gdLst/>
            <a:ahLst/>
            <a:cxnLst/>
            <a:rect l="l" t="t" r="r" b="b"/>
            <a:pathLst>
              <a:path w="4902200" h="19050">
                <a:moveTo>
                  <a:pt x="4901792" y="0"/>
                </a:moveTo>
                <a:lnTo>
                  <a:pt x="0" y="0"/>
                </a:lnTo>
                <a:lnTo>
                  <a:pt x="0" y="19050"/>
                </a:lnTo>
                <a:lnTo>
                  <a:pt x="4901792" y="19050"/>
                </a:lnTo>
                <a:lnTo>
                  <a:pt x="4901792" y="0"/>
                </a:lnTo>
                <a:close/>
              </a:path>
            </a:pathLst>
          </a:custGeom>
          <a:solidFill>
            <a:srgbClr val="D4C4A0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3" name="object 13"/>
          <p:cNvSpPr txBox="1"/>
          <p:nvPr/>
        </p:nvSpPr>
        <p:spPr>
          <a:xfrm>
            <a:off x="766499" y="5778499"/>
            <a:ext cx="6516951" cy="2744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dirty="0">
                <a:solidFill>
                  <a:srgbClr val="0070C0"/>
                </a:solidFill>
                <a:latin typeface="Felix Titling" panose="04060505060202020A04" pitchFamily="82" charset="0"/>
                <a:cs typeface="Arial"/>
              </a:rPr>
              <a:t>Groundwater</a:t>
            </a:r>
            <a:r>
              <a:rPr sz="1700" b="1" spc="-35" dirty="0">
                <a:solidFill>
                  <a:srgbClr val="0070C0"/>
                </a:solidFill>
                <a:latin typeface="Felix Titling" panose="04060505060202020A04" pitchFamily="82" charset="0"/>
                <a:cs typeface="Arial"/>
              </a:rPr>
              <a:t> </a:t>
            </a:r>
            <a:r>
              <a:rPr sz="1700" b="1" dirty="0">
                <a:solidFill>
                  <a:srgbClr val="0070C0"/>
                </a:solidFill>
                <a:latin typeface="Felix Titling" panose="04060505060202020A04" pitchFamily="82" charset="0"/>
                <a:cs typeface="Arial"/>
              </a:rPr>
              <a:t>Monitoring</a:t>
            </a:r>
            <a:r>
              <a:rPr sz="1700" b="1" spc="-30" dirty="0">
                <a:solidFill>
                  <a:srgbClr val="0070C0"/>
                </a:solidFill>
                <a:latin typeface="Felix Titling" panose="04060505060202020A04" pitchFamily="82" charset="0"/>
                <a:cs typeface="Arial"/>
              </a:rPr>
              <a:t> </a:t>
            </a:r>
            <a:r>
              <a:rPr sz="1700" b="1" dirty="0">
                <a:solidFill>
                  <a:srgbClr val="0070C0"/>
                </a:solidFill>
                <a:latin typeface="Felix Titling" panose="04060505060202020A04" pitchFamily="82" charset="0"/>
                <a:cs typeface="Arial"/>
              </a:rPr>
              <a:t>—</a:t>
            </a:r>
            <a:r>
              <a:rPr sz="1700" b="1" spc="-35" dirty="0">
                <a:solidFill>
                  <a:srgbClr val="0070C0"/>
                </a:solidFill>
                <a:latin typeface="Felix Titling" panose="04060505060202020A04" pitchFamily="82" charset="0"/>
                <a:cs typeface="Arial"/>
              </a:rPr>
              <a:t> </a:t>
            </a:r>
            <a:r>
              <a:rPr sz="1700" b="1" dirty="0">
                <a:solidFill>
                  <a:srgbClr val="0070C0"/>
                </a:solidFill>
                <a:latin typeface="Felix Titling" panose="04060505060202020A04" pitchFamily="82" charset="0"/>
                <a:cs typeface="Arial"/>
              </a:rPr>
              <a:t>June</a:t>
            </a:r>
            <a:r>
              <a:rPr sz="1700" b="1" spc="-30" dirty="0">
                <a:solidFill>
                  <a:srgbClr val="0070C0"/>
                </a:solidFill>
                <a:latin typeface="Felix Titling" panose="04060505060202020A04" pitchFamily="82" charset="0"/>
                <a:cs typeface="Arial"/>
              </a:rPr>
              <a:t> </a:t>
            </a:r>
            <a:r>
              <a:rPr sz="1700" b="1" dirty="0">
                <a:solidFill>
                  <a:srgbClr val="0070C0"/>
                </a:solidFill>
                <a:latin typeface="Felix Titling" panose="04060505060202020A04" pitchFamily="82" charset="0"/>
                <a:cs typeface="Arial"/>
              </a:rPr>
              <a:t>2025</a:t>
            </a:r>
            <a:r>
              <a:rPr sz="1700" b="1" spc="-30" dirty="0">
                <a:solidFill>
                  <a:srgbClr val="0070C0"/>
                </a:solidFill>
                <a:latin typeface="Felix Titling" panose="04060505060202020A04" pitchFamily="82" charset="0"/>
                <a:cs typeface="Arial"/>
              </a:rPr>
              <a:t> </a:t>
            </a:r>
            <a:r>
              <a:rPr sz="1700" b="1" dirty="0">
                <a:solidFill>
                  <a:srgbClr val="0070C0"/>
                </a:solidFill>
                <a:latin typeface="Felix Titling" panose="04060505060202020A04" pitchFamily="82" charset="0"/>
                <a:cs typeface="Arial"/>
              </a:rPr>
              <a:t>to</a:t>
            </a:r>
            <a:r>
              <a:rPr sz="1700" b="1" spc="-35" dirty="0">
                <a:solidFill>
                  <a:srgbClr val="0070C0"/>
                </a:solidFill>
                <a:latin typeface="Felix Titling" panose="04060505060202020A04" pitchFamily="82" charset="0"/>
                <a:cs typeface="Arial"/>
              </a:rPr>
              <a:t> </a:t>
            </a:r>
            <a:r>
              <a:rPr sz="1700" b="1" dirty="0">
                <a:solidFill>
                  <a:srgbClr val="0070C0"/>
                </a:solidFill>
                <a:latin typeface="Felix Titling" panose="04060505060202020A04" pitchFamily="82" charset="0"/>
                <a:cs typeface="Arial"/>
              </a:rPr>
              <a:t>April</a:t>
            </a:r>
            <a:r>
              <a:rPr sz="1700" b="1" spc="-30" dirty="0">
                <a:solidFill>
                  <a:srgbClr val="0070C0"/>
                </a:solidFill>
                <a:latin typeface="Felix Titling" panose="04060505060202020A04" pitchFamily="82" charset="0"/>
                <a:cs typeface="Arial"/>
              </a:rPr>
              <a:t> </a:t>
            </a:r>
            <a:r>
              <a:rPr sz="1700" b="1" spc="-20" dirty="0">
                <a:solidFill>
                  <a:srgbClr val="0070C0"/>
                </a:solidFill>
                <a:latin typeface="Felix Titling" panose="04060505060202020A04" pitchFamily="82" charset="0"/>
                <a:cs typeface="Arial"/>
              </a:rPr>
              <a:t>2026</a:t>
            </a:r>
            <a:endParaRPr sz="1700" dirty="0">
              <a:solidFill>
                <a:srgbClr val="0070C0"/>
              </a:solidFill>
              <a:latin typeface="Felix Titling" panose="04060505060202020A04" pitchFamily="82" charset="0"/>
              <a:cs typeface="Arial"/>
            </a:endParaRPr>
          </a:p>
        </p:txBody>
      </p:sp>
      <p:pic>
        <p:nvPicPr>
          <p:cNvPr id="14" name="object 14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74119" y="6164578"/>
            <a:ext cx="6204584" cy="1990161"/>
          </a:xfrm>
          <a:prstGeom prst="rect">
            <a:avLst/>
          </a:prstGeom>
        </p:spPr>
      </p:pic>
      <p:graphicFrame>
        <p:nvGraphicFramePr>
          <p:cNvPr id="15" name="object 15"/>
          <p:cNvGraphicFramePr>
            <a:graphicFrameLocks noGrp="1"/>
          </p:cNvGraphicFramePr>
          <p:nvPr/>
        </p:nvGraphicFramePr>
        <p:xfrm>
          <a:off x="776024" y="8304056"/>
          <a:ext cx="6204585" cy="19551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611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94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sz="9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Parameter</a:t>
                      </a:r>
                      <a:endParaRPr sz="900" dirty="0">
                        <a:latin typeface="Arial"/>
                        <a:cs typeface="Arial"/>
                      </a:endParaRPr>
                    </a:p>
                  </a:txBody>
                  <a:tcPr marL="0" marR="0" marT="63500" marB="0">
                    <a:lnL w="6350">
                      <a:solidFill>
                        <a:srgbClr val="D4C4A0"/>
                      </a:solidFill>
                      <a:prstDash val="solid"/>
                    </a:lnL>
                    <a:lnR w="6350">
                      <a:solidFill>
                        <a:srgbClr val="D4C4A0"/>
                      </a:solidFill>
                      <a:prstDash val="solid"/>
                    </a:lnR>
                    <a:lnT w="6350">
                      <a:solidFill>
                        <a:srgbClr val="D4C4A0"/>
                      </a:solidFill>
                      <a:prstDash val="solid"/>
                    </a:lnT>
                    <a:lnB w="6350">
                      <a:solidFill>
                        <a:srgbClr val="D4C4A0"/>
                      </a:solidFill>
                      <a:prstDash val="solid"/>
                    </a:lnB>
                    <a:solidFill>
                      <a:srgbClr val="0069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sz="9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Detail</a:t>
                      </a:r>
                      <a:endParaRPr sz="900" dirty="0">
                        <a:latin typeface="Arial"/>
                        <a:cs typeface="Arial"/>
                      </a:endParaRPr>
                    </a:p>
                  </a:txBody>
                  <a:tcPr marL="0" marR="0" marT="63500" marB="0">
                    <a:lnL w="6350">
                      <a:solidFill>
                        <a:srgbClr val="D4C4A0"/>
                      </a:solidFill>
                      <a:prstDash val="solid"/>
                    </a:lnL>
                    <a:lnR w="6350">
                      <a:solidFill>
                        <a:srgbClr val="D4C4A0"/>
                      </a:solidFill>
                      <a:prstDash val="solid"/>
                    </a:lnR>
                    <a:lnT w="6350">
                      <a:solidFill>
                        <a:srgbClr val="D4C4A0"/>
                      </a:solidFill>
                      <a:prstDash val="solid"/>
                    </a:lnT>
                    <a:lnB w="6350">
                      <a:solidFill>
                        <a:srgbClr val="D4C4A0"/>
                      </a:solidFill>
                      <a:prstDash val="solid"/>
                    </a:lnB>
                    <a:solidFill>
                      <a:srgbClr val="0069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sz="900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Monitoring </a:t>
                      </a:r>
                      <a:r>
                        <a:rPr sz="900" spc="-10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Points</a:t>
                      </a:r>
                      <a:endParaRPr sz="900" dirty="0">
                        <a:latin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D4C4A0"/>
                      </a:solidFill>
                      <a:prstDash val="solid"/>
                    </a:lnL>
                    <a:lnR w="6350">
                      <a:solidFill>
                        <a:srgbClr val="D4C4A0"/>
                      </a:solidFill>
                      <a:prstDash val="solid"/>
                    </a:lnR>
                    <a:lnT w="6350">
                      <a:solidFill>
                        <a:srgbClr val="D4C4A0"/>
                      </a:solidFill>
                      <a:prstDash val="solid"/>
                    </a:lnT>
                    <a:lnB w="6350">
                      <a:solidFill>
                        <a:srgbClr val="D4C4A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sz="900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21 observation wells across Ghatdare </a:t>
                      </a:r>
                      <a:r>
                        <a:rPr sz="900" spc="-10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village</a:t>
                      </a:r>
                      <a:endParaRPr sz="900" dirty="0">
                        <a:latin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D4C4A0"/>
                      </a:solidFill>
                      <a:prstDash val="solid"/>
                    </a:lnL>
                    <a:lnR w="6350">
                      <a:solidFill>
                        <a:srgbClr val="D4C4A0"/>
                      </a:solidFill>
                      <a:prstDash val="solid"/>
                    </a:lnR>
                    <a:lnT w="6350">
                      <a:solidFill>
                        <a:srgbClr val="D4C4A0"/>
                      </a:solidFill>
                      <a:prstDash val="solid"/>
                    </a:lnT>
                    <a:lnB w="6350">
                      <a:solidFill>
                        <a:srgbClr val="D4C4A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sz="900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Average Well </a:t>
                      </a:r>
                      <a:r>
                        <a:rPr sz="900" spc="-10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Depth</a:t>
                      </a:r>
                      <a:endParaRPr sz="900" dirty="0">
                        <a:latin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D4C4A0"/>
                      </a:solidFill>
                      <a:prstDash val="solid"/>
                    </a:lnL>
                    <a:lnR w="6350">
                      <a:solidFill>
                        <a:srgbClr val="D4C4A0"/>
                      </a:solidFill>
                      <a:prstDash val="solid"/>
                    </a:lnR>
                    <a:lnT w="6350">
                      <a:solidFill>
                        <a:srgbClr val="D4C4A0"/>
                      </a:solidFill>
                      <a:prstDash val="solid"/>
                    </a:lnT>
                    <a:lnB w="6350">
                      <a:solidFill>
                        <a:srgbClr val="D4C4A0"/>
                      </a:solidFill>
                      <a:prstDash val="solid"/>
                    </a:lnB>
                    <a:solidFill>
                      <a:srgbClr val="DFF2F0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sz="900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8 – 9 </a:t>
                      </a:r>
                      <a:r>
                        <a:rPr sz="900" spc="-10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metres</a:t>
                      </a:r>
                      <a:endParaRPr sz="900" dirty="0">
                        <a:latin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D4C4A0"/>
                      </a:solidFill>
                      <a:prstDash val="solid"/>
                    </a:lnL>
                    <a:lnR w="6350">
                      <a:solidFill>
                        <a:srgbClr val="D4C4A0"/>
                      </a:solidFill>
                      <a:prstDash val="solid"/>
                    </a:lnR>
                    <a:lnT w="6350">
                      <a:solidFill>
                        <a:srgbClr val="D4C4A0"/>
                      </a:solidFill>
                      <a:prstDash val="solid"/>
                    </a:lnT>
                    <a:lnB w="6350">
                      <a:solidFill>
                        <a:srgbClr val="D4C4A0"/>
                      </a:solidFill>
                      <a:prstDash val="solid"/>
                    </a:lnB>
                    <a:solidFill>
                      <a:srgbClr val="DF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sz="900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Post-monsoon </a:t>
                      </a:r>
                      <a:r>
                        <a:rPr sz="900" spc="-20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Rise</a:t>
                      </a:r>
                      <a:endParaRPr sz="900" dirty="0">
                        <a:latin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D4C4A0"/>
                      </a:solidFill>
                      <a:prstDash val="solid"/>
                    </a:lnL>
                    <a:lnR w="6350">
                      <a:solidFill>
                        <a:srgbClr val="D4C4A0"/>
                      </a:solidFill>
                      <a:prstDash val="solid"/>
                    </a:lnR>
                    <a:lnT w="6350">
                      <a:solidFill>
                        <a:srgbClr val="D4C4A0"/>
                      </a:solidFill>
                      <a:prstDash val="solid"/>
                    </a:lnT>
                    <a:lnB w="6350">
                      <a:solidFill>
                        <a:srgbClr val="D4C4A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sz="900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Average</a:t>
                      </a:r>
                      <a:r>
                        <a:rPr sz="900" spc="-5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2.5 – 3.2 m</a:t>
                      </a:r>
                      <a:r>
                        <a:rPr sz="900" spc="-5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(July–October </a:t>
                      </a:r>
                      <a:r>
                        <a:rPr sz="900" spc="-10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2025)</a:t>
                      </a:r>
                      <a:endParaRPr sz="900" dirty="0">
                        <a:latin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D4C4A0"/>
                      </a:solidFill>
                      <a:prstDash val="solid"/>
                    </a:lnL>
                    <a:lnR w="6350">
                      <a:solidFill>
                        <a:srgbClr val="D4C4A0"/>
                      </a:solidFill>
                      <a:prstDash val="solid"/>
                    </a:lnR>
                    <a:lnT w="6350">
                      <a:solidFill>
                        <a:srgbClr val="D4C4A0"/>
                      </a:solidFill>
                      <a:prstDash val="solid"/>
                    </a:lnT>
                    <a:lnB w="6350">
                      <a:solidFill>
                        <a:srgbClr val="D4C4A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sz="900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Seasonal </a:t>
                      </a:r>
                      <a:r>
                        <a:rPr sz="900" spc="-25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Low</a:t>
                      </a:r>
                      <a:endParaRPr sz="900" dirty="0">
                        <a:latin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D4C4A0"/>
                      </a:solidFill>
                      <a:prstDash val="solid"/>
                    </a:lnL>
                    <a:lnR w="6350">
                      <a:solidFill>
                        <a:srgbClr val="D4C4A0"/>
                      </a:solidFill>
                      <a:prstDash val="solid"/>
                    </a:lnR>
                    <a:lnT w="6350">
                      <a:solidFill>
                        <a:srgbClr val="D4C4A0"/>
                      </a:solidFill>
                      <a:prstDash val="solid"/>
                    </a:lnT>
                    <a:lnB w="6350">
                      <a:solidFill>
                        <a:srgbClr val="D4C4A0"/>
                      </a:solidFill>
                      <a:prstDash val="solid"/>
                    </a:lnB>
                    <a:solidFill>
                      <a:srgbClr val="DFF2F0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sz="900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February–March 2026 (dry </a:t>
                      </a:r>
                      <a:r>
                        <a:rPr sz="900" spc="-10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season)</a:t>
                      </a:r>
                      <a:endParaRPr sz="900" dirty="0">
                        <a:latin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D4C4A0"/>
                      </a:solidFill>
                      <a:prstDash val="solid"/>
                    </a:lnL>
                    <a:lnR w="6350">
                      <a:solidFill>
                        <a:srgbClr val="D4C4A0"/>
                      </a:solidFill>
                      <a:prstDash val="solid"/>
                    </a:lnR>
                    <a:lnT w="6350">
                      <a:solidFill>
                        <a:srgbClr val="D4C4A0"/>
                      </a:solidFill>
                      <a:prstDash val="solid"/>
                    </a:lnT>
                    <a:lnB w="6350">
                      <a:solidFill>
                        <a:srgbClr val="D4C4A0"/>
                      </a:solidFill>
                      <a:prstDash val="solid"/>
                    </a:lnB>
                    <a:solidFill>
                      <a:srgbClr val="DF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8765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sz="900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GPS </a:t>
                      </a:r>
                      <a:r>
                        <a:rPr sz="900" spc="-10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Coverage</a:t>
                      </a:r>
                      <a:endParaRPr sz="900" dirty="0">
                        <a:latin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D4C4A0"/>
                      </a:solidFill>
                      <a:prstDash val="solid"/>
                    </a:lnL>
                    <a:lnR w="6350">
                      <a:solidFill>
                        <a:srgbClr val="D4C4A0"/>
                      </a:solidFill>
                      <a:prstDash val="solid"/>
                    </a:lnR>
                    <a:lnT w="6350">
                      <a:solidFill>
                        <a:srgbClr val="D4C4A0"/>
                      </a:solidFill>
                      <a:prstDash val="solid"/>
                    </a:lnT>
                    <a:lnB w="6350">
                      <a:solidFill>
                        <a:srgbClr val="D4C4A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sz="900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Lat</a:t>
                      </a:r>
                      <a:r>
                        <a:rPr sz="900" spc="-5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18.0157–18.0186 | Long 74.0693–</a:t>
                      </a:r>
                      <a:r>
                        <a:rPr sz="900" spc="-10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74.0712</a:t>
                      </a:r>
                      <a:endParaRPr sz="900" dirty="0">
                        <a:latin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D4C4A0"/>
                      </a:solidFill>
                      <a:prstDash val="solid"/>
                    </a:lnL>
                    <a:lnR w="6350">
                      <a:solidFill>
                        <a:srgbClr val="D4C4A0"/>
                      </a:solidFill>
                      <a:prstDash val="solid"/>
                    </a:lnR>
                    <a:lnT w="6350">
                      <a:solidFill>
                        <a:srgbClr val="D4C4A0"/>
                      </a:solidFill>
                      <a:prstDash val="solid"/>
                    </a:lnT>
                    <a:lnB w="6350">
                      <a:solidFill>
                        <a:srgbClr val="D4C4A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sz="900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Highest Recharge </a:t>
                      </a:r>
                      <a:r>
                        <a:rPr sz="900" spc="-10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Zones</a:t>
                      </a:r>
                      <a:endParaRPr sz="900" dirty="0">
                        <a:latin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D4C4A0"/>
                      </a:solidFill>
                      <a:prstDash val="solid"/>
                    </a:lnL>
                    <a:lnR w="6350">
                      <a:solidFill>
                        <a:srgbClr val="D4C4A0"/>
                      </a:solidFill>
                      <a:prstDash val="solid"/>
                    </a:lnR>
                    <a:lnT w="6350">
                      <a:solidFill>
                        <a:srgbClr val="D4C4A0"/>
                      </a:solidFill>
                      <a:prstDash val="solid"/>
                    </a:lnT>
                    <a:lnB w="6350">
                      <a:solidFill>
                        <a:srgbClr val="D4C4A0"/>
                      </a:solidFill>
                      <a:prstDash val="solid"/>
                    </a:lnB>
                    <a:solidFill>
                      <a:srgbClr val="DFF2F0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sz="900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Adjacent to Nala Deepening &amp; ENB desilting </a:t>
                      </a:r>
                      <a:r>
                        <a:rPr sz="900" spc="-10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sites</a:t>
                      </a:r>
                      <a:endParaRPr sz="900" dirty="0">
                        <a:latin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D4C4A0"/>
                      </a:solidFill>
                      <a:prstDash val="solid"/>
                    </a:lnL>
                    <a:lnR w="6350">
                      <a:solidFill>
                        <a:srgbClr val="D4C4A0"/>
                      </a:solidFill>
                      <a:prstDash val="solid"/>
                    </a:lnR>
                    <a:lnT w="6350">
                      <a:solidFill>
                        <a:srgbClr val="D4C4A0"/>
                      </a:solidFill>
                      <a:prstDash val="solid"/>
                    </a:lnT>
                    <a:lnB w="6350">
                      <a:solidFill>
                        <a:srgbClr val="D4C4A0"/>
                      </a:solidFill>
                      <a:prstDash val="solid"/>
                    </a:lnB>
                    <a:solidFill>
                      <a:srgbClr val="DF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TE</a:t>
            </a:r>
            <a:r>
              <a:rPr spc="-5" dirty="0"/>
              <a:t> </a:t>
            </a:r>
            <a:r>
              <a:rPr dirty="0"/>
              <a:t>Integrated Watershed Management Project</a:t>
            </a:r>
            <a:r>
              <a:rPr spc="210" dirty="0"/>
              <a:t> </a:t>
            </a:r>
            <a:r>
              <a:rPr dirty="0"/>
              <a:t>|</a:t>
            </a:r>
            <a:r>
              <a:rPr spc="210" dirty="0"/>
              <a:t> </a:t>
            </a:r>
            <a:r>
              <a:rPr dirty="0"/>
              <a:t>Ghatdare, Khandala, Satara</a:t>
            </a:r>
            <a:r>
              <a:rPr spc="210" dirty="0"/>
              <a:t> </a:t>
            </a:r>
            <a:r>
              <a:rPr dirty="0"/>
              <a:t>|</a:t>
            </a:r>
            <a:r>
              <a:rPr spc="210" dirty="0"/>
              <a:t> </a:t>
            </a:r>
            <a:r>
              <a:rPr dirty="0"/>
              <a:t>FY 2025-</a:t>
            </a:r>
            <a:r>
              <a:rPr spc="-25" dirty="0"/>
              <a:t>26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xfrm>
            <a:off x="7036251" y="10485724"/>
            <a:ext cx="447675" cy="126317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Page</a:t>
            </a:r>
            <a:r>
              <a:rPr spc="-20" dirty="0"/>
              <a:t> </a:t>
            </a:r>
            <a:r>
              <a:rPr lang="en-IN" spc="-25" dirty="0"/>
              <a:t>6</a:t>
            </a:r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object 10"/>
          <p:cNvPicPr/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20000"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01007" y="2409671"/>
            <a:ext cx="3762401" cy="2597929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317500" y="127000"/>
            <a:ext cx="167449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b="1" dirty="0">
                <a:solidFill>
                  <a:srgbClr val="FFFFFF"/>
                </a:solidFill>
                <a:latin typeface="Arial"/>
                <a:cs typeface="Arial"/>
              </a:rPr>
              <a:t>TE</a:t>
            </a:r>
            <a:r>
              <a:rPr sz="80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FFFFFF"/>
                </a:solidFill>
                <a:latin typeface="Arial"/>
                <a:cs typeface="Arial"/>
              </a:rPr>
              <a:t>IWMP</a:t>
            </a:r>
            <a:r>
              <a:rPr sz="80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FFFFFF"/>
                </a:solidFill>
                <a:latin typeface="Arial"/>
                <a:cs typeface="Arial"/>
              </a:rPr>
              <a:t>–</a:t>
            </a:r>
            <a:r>
              <a:rPr sz="80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FFFFFF"/>
                </a:solidFill>
                <a:latin typeface="Arial"/>
                <a:cs typeface="Arial"/>
              </a:rPr>
              <a:t>Annual Report</a:t>
            </a:r>
            <a:r>
              <a:rPr sz="80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800" b="1" spc="-10" dirty="0">
                <a:solidFill>
                  <a:srgbClr val="FFFFFF"/>
                </a:solidFill>
                <a:latin typeface="Arial"/>
                <a:cs typeface="Arial"/>
              </a:rPr>
              <a:t>2025-</a:t>
            </a:r>
            <a:r>
              <a:rPr sz="800" b="1" spc="-25" dirty="0">
                <a:solidFill>
                  <a:srgbClr val="FFFFFF"/>
                </a:solidFill>
                <a:latin typeface="Arial"/>
                <a:cs typeface="Arial"/>
              </a:rPr>
              <a:t>26</a:t>
            </a:r>
            <a:endParaRPr sz="8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968590" y="127000"/>
            <a:ext cx="247777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FFFFFF"/>
                </a:solidFill>
                <a:latin typeface="Arial MT"/>
                <a:cs typeface="Arial MT"/>
              </a:rPr>
              <a:t>TE</a:t>
            </a:r>
            <a:r>
              <a:rPr sz="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FFFFFF"/>
                </a:solidFill>
                <a:latin typeface="Arial MT"/>
                <a:cs typeface="Arial MT"/>
              </a:rPr>
              <a:t>Connectivity</a:t>
            </a:r>
            <a:r>
              <a:rPr sz="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FFFFFF"/>
                </a:solidFill>
                <a:latin typeface="Arial MT"/>
                <a:cs typeface="Arial MT"/>
              </a:rPr>
              <a:t>×</a:t>
            </a:r>
            <a:r>
              <a:rPr sz="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FFFFFF"/>
                </a:solidFill>
                <a:latin typeface="Arial MT"/>
                <a:cs typeface="Arial MT"/>
              </a:rPr>
              <a:t>SJSM</a:t>
            </a:r>
            <a:r>
              <a:rPr sz="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FFFFFF"/>
                </a:solidFill>
                <a:latin typeface="Arial MT"/>
                <a:cs typeface="Arial MT"/>
              </a:rPr>
              <a:t>Satara</a:t>
            </a:r>
            <a:r>
              <a:rPr sz="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FFFFFF"/>
                </a:solidFill>
                <a:latin typeface="Arial MT"/>
                <a:cs typeface="Arial MT"/>
              </a:rPr>
              <a:t>|</a:t>
            </a:r>
            <a:r>
              <a:rPr sz="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FFFFFF"/>
                </a:solidFill>
                <a:latin typeface="Arial MT"/>
                <a:cs typeface="Arial MT"/>
              </a:rPr>
              <a:t>Ghatdare</a:t>
            </a:r>
            <a:r>
              <a:rPr sz="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Arial MT"/>
                <a:cs typeface="Arial MT"/>
              </a:rPr>
              <a:t>Watershed</a:t>
            </a:r>
            <a:endParaRPr sz="800" dirty="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03200" y="10382119"/>
            <a:ext cx="7357109" cy="309880"/>
            <a:chOff x="203200" y="10382119"/>
            <a:chExt cx="7357109" cy="309880"/>
          </a:xfrm>
        </p:grpSpPr>
        <p:sp>
          <p:nvSpPr>
            <p:cNvPr id="5" name="object 5"/>
            <p:cNvSpPr/>
            <p:nvPr/>
          </p:nvSpPr>
          <p:spPr>
            <a:xfrm>
              <a:off x="203200" y="10387199"/>
              <a:ext cx="7357109" cy="304800"/>
            </a:xfrm>
            <a:custGeom>
              <a:avLst/>
              <a:gdLst/>
              <a:ahLst/>
              <a:cxnLst/>
              <a:rect l="l" t="t" r="r" b="b"/>
              <a:pathLst>
                <a:path w="7357109" h="304800">
                  <a:moveTo>
                    <a:pt x="73568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7356800" y="304800"/>
                  </a:lnTo>
                  <a:lnTo>
                    <a:pt x="7356800" y="0"/>
                  </a:lnTo>
                  <a:close/>
                </a:path>
              </a:pathLst>
            </a:custGeom>
            <a:solidFill>
              <a:srgbClr val="F4EFE8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6" name="object 6"/>
            <p:cNvSpPr/>
            <p:nvPr/>
          </p:nvSpPr>
          <p:spPr>
            <a:xfrm>
              <a:off x="203200" y="10387199"/>
              <a:ext cx="7357109" cy="0"/>
            </a:xfrm>
            <a:custGeom>
              <a:avLst/>
              <a:gdLst/>
              <a:ahLst/>
              <a:cxnLst/>
              <a:rect l="l" t="t" r="r" b="b"/>
              <a:pathLst>
                <a:path w="7357109">
                  <a:moveTo>
                    <a:pt x="0" y="0"/>
                  </a:moveTo>
                  <a:lnTo>
                    <a:pt x="7356800" y="0"/>
                  </a:lnTo>
                </a:path>
              </a:pathLst>
            </a:custGeom>
            <a:ln w="10160">
              <a:solidFill>
                <a:srgbClr val="C8A84B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object 7"/>
          <p:cNvSpPr/>
          <p:nvPr/>
        </p:nvSpPr>
        <p:spPr>
          <a:xfrm>
            <a:off x="779199" y="622299"/>
            <a:ext cx="1241425" cy="63500"/>
          </a:xfrm>
          <a:custGeom>
            <a:avLst/>
            <a:gdLst/>
            <a:ahLst/>
            <a:cxnLst/>
            <a:rect l="l" t="t" r="r" b="b"/>
            <a:pathLst>
              <a:path w="1241425" h="63500">
                <a:moveTo>
                  <a:pt x="1240960" y="0"/>
                </a:moveTo>
                <a:lnTo>
                  <a:pt x="0" y="0"/>
                </a:lnTo>
                <a:lnTo>
                  <a:pt x="0" y="63500"/>
                </a:lnTo>
                <a:lnTo>
                  <a:pt x="1240960" y="63500"/>
                </a:lnTo>
                <a:lnTo>
                  <a:pt x="1240960" y="0"/>
                </a:lnTo>
                <a:close/>
              </a:path>
            </a:pathLst>
          </a:custGeom>
          <a:solidFill>
            <a:srgbClr val="C8A84B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8"/>
          <p:cNvSpPr/>
          <p:nvPr/>
        </p:nvSpPr>
        <p:spPr>
          <a:xfrm>
            <a:off x="2082208" y="641349"/>
            <a:ext cx="4902200" cy="19050"/>
          </a:xfrm>
          <a:custGeom>
            <a:avLst/>
            <a:gdLst/>
            <a:ahLst/>
            <a:cxnLst/>
            <a:rect l="l" t="t" r="r" b="b"/>
            <a:pathLst>
              <a:path w="4902200" h="19050">
                <a:moveTo>
                  <a:pt x="4901792" y="0"/>
                </a:moveTo>
                <a:lnTo>
                  <a:pt x="0" y="0"/>
                </a:lnTo>
                <a:lnTo>
                  <a:pt x="0" y="19050"/>
                </a:lnTo>
                <a:lnTo>
                  <a:pt x="4901792" y="19050"/>
                </a:lnTo>
                <a:lnTo>
                  <a:pt x="4901792" y="0"/>
                </a:lnTo>
                <a:close/>
              </a:path>
            </a:pathLst>
          </a:custGeom>
          <a:solidFill>
            <a:srgbClr val="D4C4A0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object 9"/>
          <p:cNvSpPr txBox="1"/>
          <p:nvPr/>
        </p:nvSpPr>
        <p:spPr>
          <a:xfrm>
            <a:off x="766499" y="683005"/>
            <a:ext cx="6231255" cy="895117"/>
          </a:xfrm>
          <a:prstGeom prst="rect">
            <a:avLst/>
          </a:prstGeom>
        </p:spPr>
        <p:txBody>
          <a:bodyPr vert="horz" wrap="square" lIns="0" tIns="1549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20"/>
              </a:spcBef>
            </a:pPr>
            <a:r>
              <a:rPr sz="2800" b="1" dirty="0">
                <a:solidFill>
                  <a:srgbClr val="CC9900"/>
                </a:solidFill>
                <a:latin typeface="Felix Titling" panose="04060505060202020A04" pitchFamily="82" charset="0"/>
                <a:cs typeface="Arial"/>
              </a:rPr>
              <a:t>Field</a:t>
            </a:r>
            <a:r>
              <a:rPr sz="2800" b="1" spc="-30" dirty="0">
                <a:solidFill>
                  <a:srgbClr val="CC9900"/>
                </a:solidFill>
                <a:latin typeface="Felix Titling" panose="04060505060202020A04" pitchFamily="82" charset="0"/>
                <a:cs typeface="Arial"/>
              </a:rPr>
              <a:t> </a:t>
            </a:r>
            <a:r>
              <a:rPr sz="2800" b="1" spc="-10" dirty="0">
                <a:solidFill>
                  <a:srgbClr val="CC9900"/>
                </a:solidFill>
                <a:latin typeface="Felix Titling" panose="04060505060202020A04" pitchFamily="82" charset="0"/>
                <a:cs typeface="Arial"/>
              </a:rPr>
              <a:t>Documentation</a:t>
            </a:r>
            <a:r>
              <a:rPr sz="2800" b="1" spc="-25" dirty="0">
                <a:solidFill>
                  <a:srgbClr val="CC9900"/>
                </a:solidFill>
                <a:latin typeface="Felix Titling" panose="04060505060202020A04" pitchFamily="82" charset="0"/>
                <a:cs typeface="Arial"/>
              </a:rPr>
              <a:t> </a:t>
            </a:r>
            <a:r>
              <a:rPr lang="en-IN" sz="2800" b="1" spc="-25" dirty="0">
                <a:solidFill>
                  <a:srgbClr val="CC9900"/>
                </a:solidFill>
                <a:latin typeface="Felix Titling" panose="04060505060202020A04" pitchFamily="82" charset="0"/>
                <a:cs typeface="Arial"/>
              </a:rPr>
              <a:t>–</a:t>
            </a:r>
          </a:p>
          <a:p>
            <a:pPr marL="12700">
              <a:lnSpc>
                <a:spcPct val="100000"/>
              </a:lnSpc>
            </a:pPr>
            <a:r>
              <a:rPr sz="2000" b="1" dirty="0">
                <a:solidFill>
                  <a:srgbClr val="993300"/>
                </a:solidFill>
                <a:latin typeface="Felix Titling" panose="04060505060202020A04" pitchFamily="82" charset="0"/>
                <a:cs typeface="Arial"/>
              </a:rPr>
              <a:t>Nala</a:t>
            </a:r>
            <a:r>
              <a:rPr sz="2000" b="1" spc="-25" dirty="0">
                <a:solidFill>
                  <a:srgbClr val="993300"/>
                </a:solidFill>
                <a:latin typeface="Felix Titling" panose="04060505060202020A04" pitchFamily="82" charset="0"/>
                <a:cs typeface="Arial"/>
              </a:rPr>
              <a:t> </a:t>
            </a:r>
            <a:r>
              <a:rPr sz="2000" b="1" dirty="0">
                <a:solidFill>
                  <a:srgbClr val="993300"/>
                </a:solidFill>
                <a:latin typeface="Felix Titling" panose="04060505060202020A04" pitchFamily="82" charset="0"/>
                <a:cs typeface="Arial"/>
              </a:rPr>
              <a:t>Deepening</a:t>
            </a:r>
            <a:r>
              <a:rPr sz="2000" b="1" spc="-30" dirty="0">
                <a:solidFill>
                  <a:srgbClr val="993300"/>
                </a:solidFill>
                <a:latin typeface="Felix Titling" panose="04060505060202020A04" pitchFamily="82" charset="0"/>
                <a:cs typeface="Arial"/>
              </a:rPr>
              <a:t> </a:t>
            </a:r>
            <a:r>
              <a:rPr sz="2000" b="1" dirty="0">
                <a:solidFill>
                  <a:srgbClr val="993300"/>
                </a:solidFill>
                <a:latin typeface="Felix Titling" panose="04060505060202020A04" pitchFamily="82" charset="0"/>
                <a:cs typeface="Arial"/>
              </a:rPr>
              <a:t>&amp;</a:t>
            </a:r>
            <a:r>
              <a:rPr sz="2000" b="1" spc="-25" dirty="0">
                <a:solidFill>
                  <a:srgbClr val="993300"/>
                </a:solidFill>
                <a:latin typeface="Felix Titling" panose="04060505060202020A04" pitchFamily="82" charset="0"/>
                <a:cs typeface="Arial"/>
              </a:rPr>
              <a:t> </a:t>
            </a:r>
            <a:r>
              <a:rPr sz="2000" b="1" spc="-10" dirty="0">
                <a:solidFill>
                  <a:srgbClr val="993300"/>
                </a:solidFill>
                <a:latin typeface="Felix Titling" panose="04060505060202020A04" pitchFamily="82" charset="0"/>
                <a:cs typeface="Arial"/>
              </a:rPr>
              <a:t>Earthwork</a:t>
            </a:r>
            <a:endParaRPr sz="2000" dirty="0">
              <a:solidFill>
                <a:srgbClr val="993300"/>
              </a:solidFill>
              <a:latin typeface="Felix Titling" panose="04060505060202020A04" pitchFamily="82" charset="0"/>
              <a:cs typeface="Arial"/>
            </a:endParaRPr>
          </a:p>
        </p:txBody>
      </p:sp>
      <p:pic>
        <p:nvPicPr>
          <p:cNvPr id="11" name="object 11"/>
          <p:cNvPicPr/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004581" y="2956142"/>
            <a:ext cx="3838999" cy="2679573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084904" y="2480954"/>
            <a:ext cx="2792730" cy="135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r">
              <a:lnSpc>
                <a:spcPct val="100000"/>
              </a:lnSpc>
              <a:spcBef>
                <a:spcPts val="100"/>
              </a:spcBef>
            </a:pPr>
            <a:r>
              <a:rPr sz="800" i="1" dirty="0">
                <a:solidFill>
                  <a:schemeClr val="bg1"/>
                </a:solidFill>
                <a:latin typeface="Arial"/>
                <a:cs typeface="Arial"/>
              </a:rPr>
              <a:t>Tata</a:t>
            </a:r>
            <a:r>
              <a:rPr sz="800" i="1" spc="-2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800" i="1" dirty="0">
                <a:solidFill>
                  <a:schemeClr val="bg1"/>
                </a:solidFill>
                <a:latin typeface="Arial"/>
                <a:cs typeface="Arial"/>
              </a:rPr>
              <a:t>Hitachi</a:t>
            </a:r>
            <a:r>
              <a:rPr sz="800" i="1" spc="-2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800" i="1" dirty="0">
                <a:solidFill>
                  <a:schemeClr val="bg1"/>
                </a:solidFill>
                <a:latin typeface="Arial"/>
                <a:cs typeface="Arial"/>
              </a:rPr>
              <a:t>Excavator</a:t>
            </a:r>
            <a:r>
              <a:rPr sz="800" i="1" spc="-2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800" i="1" dirty="0">
                <a:solidFill>
                  <a:schemeClr val="bg1"/>
                </a:solidFill>
                <a:latin typeface="Arial"/>
                <a:cs typeface="Arial"/>
              </a:rPr>
              <a:t>—</a:t>
            </a:r>
            <a:r>
              <a:rPr sz="800" i="1" spc="-2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800" i="1" dirty="0">
                <a:solidFill>
                  <a:schemeClr val="bg1"/>
                </a:solidFill>
                <a:latin typeface="Arial"/>
                <a:cs typeface="Arial"/>
              </a:rPr>
              <a:t>Active</a:t>
            </a:r>
            <a:r>
              <a:rPr sz="800" i="1" spc="-2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800" i="1" dirty="0">
                <a:solidFill>
                  <a:schemeClr val="bg1"/>
                </a:solidFill>
                <a:latin typeface="Arial"/>
                <a:cs typeface="Arial"/>
              </a:rPr>
              <a:t>Nala</a:t>
            </a:r>
            <a:r>
              <a:rPr sz="800" i="1" spc="-2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800" i="1" dirty="0">
                <a:solidFill>
                  <a:schemeClr val="bg1"/>
                </a:solidFill>
                <a:latin typeface="Arial"/>
                <a:cs typeface="Arial"/>
              </a:rPr>
              <a:t>Deepening</a:t>
            </a:r>
            <a:r>
              <a:rPr sz="800" i="1" spc="-2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800" i="1" dirty="0">
                <a:solidFill>
                  <a:schemeClr val="bg1"/>
                </a:solidFill>
                <a:latin typeface="Arial"/>
                <a:cs typeface="Arial"/>
              </a:rPr>
              <a:t>(24,990</a:t>
            </a:r>
            <a:r>
              <a:rPr sz="800" i="1" spc="-25" dirty="0">
                <a:solidFill>
                  <a:schemeClr val="bg1"/>
                </a:solidFill>
                <a:latin typeface="Arial"/>
                <a:cs typeface="Arial"/>
              </a:rPr>
              <a:t> m³)</a:t>
            </a:r>
            <a:r>
              <a:rPr lang="en-IN" sz="800" i="1" spc="-25" dirty="0">
                <a:solidFill>
                  <a:schemeClr val="bg1"/>
                </a:solidFill>
                <a:latin typeface="Arial"/>
                <a:cs typeface="Arial"/>
              </a:rPr>
              <a:t>  </a:t>
            </a:r>
            <a:endParaRPr sz="800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245542" y="2998151"/>
            <a:ext cx="2322751" cy="135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i="1" dirty="0">
                <a:solidFill>
                  <a:schemeClr val="bg1"/>
                </a:solidFill>
                <a:latin typeface="Arial"/>
                <a:cs typeface="Arial"/>
              </a:rPr>
              <a:t>Completed</a:t>
            </a:r>
            <a:r>
              <a:rPr sz="800" i="1" spc="-3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800" i="1" dirty="0">
                <a:solidFill>
                  <a:schemeClr val="bg1"/>
                </a:solidFill>
                <a:latin typeface="Arial"/>
                <a:cs typeface="Arial"/>
              </a:rPr>
              <a:t>Nala</a:t>
            </a:r>
            <a:r>
              <a:rPr sz="800" i="1" spc="-2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800" i="1" dirty="0">
                <a:solidFill>
                  <a:schemeClr val="bg1"/>
                </a:solidFill>
                <a:latin typeface="Arial"/>
                <a:cs typeface="Arial"/>
              </a:rPr>
              <a:t>Section</a:t>
            </a:r>
            <a:r>
              <a:rPr sz="800" i="1" spc="-2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800" i="1" dirty="0">
                <a:solidFill>
                  <a:schemeClr val="bg1"/>
                </a:solidFill>
                <a:latin typeface="Arial"/>
                <a:cs typeface="Arial"/>
              </a:rPr>
              <a:t>—</a:t>
            </a:r>
            <a:r>
              <a:rPr sz="800" i="1" spc="-2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800" i="1" dirty="0">
                <a:solidFill>
                  <a:schemeClr val="bg1"/>
                </a:solidFill>
                <a:latin typeface="Arial"/>
                <a:cs typeface="Arial"/>
              </a:rPr>
              <a:t>Soil</a:t>
            </a:r>
            <a:r>
              <a:rPr sz="800" i="1" spc="-2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800" i="1" dirty="0">
                <a:solidFill>
                  <a:schemeClr val="bg1"/>
                </a:solidFill>
                <a:latin typeface="Arial"/>
                <a:cs typeface="Arial"/>
              </a:rPr>
              <a:t>Excavation</a:t>
            </a:r>
            <a:r>
              <a:rPr sz="800" i="1" spc="-20" dirty="0">
                <a:solidFill>
                  <a:schemeClr val="bg1"/>
                </a:solidFill>
                <a:latin typeface="Arial"/>
                <a:cs typeface="Arial"/>
              </a:rPr>
              <a:t> Site</a:t>
            </a:r>
            <a:endParaRPr sz="800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pic>
        <p:nvPicPr>
          <p:cNvPr id="14" name="object 14"/>
          <p:cNvPicPr/>
          <p:nvPr/>
        </p:nvPicPr>
        <p:blipFill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rcRect l="67687"/>
          <a:stretch>
            <a:fillRect/>
          </a:stretch>
        </p:blipFill>
        <p:spPr>
          <a:xfrm>
            <a:off x="4017398" y="5677724"/>
            <a:ext cx="4192362" cy="2583298"/>
          </a:xfrm>
          <a:prstGeom prst="rect">
            <a:avLst/>
          </a:prstGeom>
        </p:spPr>
      </p:pic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TE</a:t>
            </a:r>
            <a:r>
              <a:rPr spc="-5" dirty="0"/>
              <a:t> </a:t>
            </a:r>
            <a:r>
              <a:rPr dirty="0"/>
              <a:t>Integrated Watershed Management Project</a:t>
            </a:r>
            <a:r>
              <a:rPr spc="210" dirty="0"/>
              <a:t> </a:t>
            </a:r>
            <a:r>
              <a:rPr dirty="0"/>
              <a:t>|</a:t>
            </a:r>
            <a:r>
              <a:rPr spc="210" dirty="0"/>
              <a:t> </a:t>
            </a:r>
            <a:r>
              <a:rPr dirty="0"/>
              <a:t>Ghatdare, Khandala, Satara</a:t>
            </a:r>
            <a:r>
              <a:rPr spc="210" dirty="0"/>
              <a:t> </a:t>
            </a:r>
            <a:r>
              <a:rPr dirty="0"/>
              <a:t>|</a:t>
            </a:r>
            <a:r>
              <a:rPr spc="210" dirty="0"/>
              <a:t> </a:t>
            </a:r>
            <a:r>
              <a:rPr dirty="0"/>
              <a:t>FY 2025-</a:t>
            </a:r>
            <a:r>
              <a:rPr spc="-25" dirty="0"/>
              <a:t>26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Page</a:t>
            </a:r>
            <a:r>
              <a:rPr spc="-20" dirty="0"/>
              <a:t> </a:t>
            </a:r>
            <a:fld id="{81D60167-4931-47E6-BA6A-407CBD079E47}" type="slidenum">
              <a:rPr spc="-25" dirty="0"/>
              <a:t>7</a:t>
            </a:fld>
            <a:endParaRPr spc="-25" dirty="0"/>
          </a:p>
        </p:txBody>
      </p:sp>
      <p:sp>
        <p:nvSpPr>
          <p:cNvPr id="17" name="object 17"/>
          <p:cNvSpPr txBox="1"/>
          <p:nvPr/>
        </p:nvSpPr>
        <p:spPr>
          <a:xfrm>
            <a:off x="6555455" y="5734239"/>
            <a:ext cx="1781810" cy="135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800" i="1" spc="-10" dirty="0">
                <a:solidFill>
                  <a:schemeClr val="bg2"/>
                </a:solidFill>
                <a:latin typeface="Arial"/>
                <a:cs typeface="Arial"/>
              </a:rPr>
              <a:t>Desilting</a:t>
            </a:r>
            <a:r>
              <a:rPr sz="800" i="1" spc="-10" dirty="0">
                <a:solidFill>
                  <a:schemeClr val="bg2"/>
                </a:solidFill>
                <a:latin typeface="Arial"/>
                <a:cs typeface="Arial"/>
              </a:rPr>
              <a:t>Treatment</a:t>
            </a:r>
            <a:endParaRPr sz="800" dirty="0">
              <a:solidFill>
                <a:schemeClr val="bg2"/>
              </a:solidFill>
              <a:latin typeface="Arial"/>
              <a:cs typeface="Arial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701019C-0165-08DC-8F58-C02D80AA9EE8}"/>
              </a:ext>
            </a:extLst>
          </p:cNvPr>
          <p:cNvSpPr txBox="1"/>
          <p:nvPr/>
        </p:nvSpPr>
        <p:spPr>
          <a:xfrm>
            <a:off x="704221" y="1631639"/>
            <a:ext cx="6231255" cy="7621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5080" algn="l">
              <a:lnSpc>
                <a:spcPct val="125000"/>
              </a:lnSpc>
              <a:spcBef>
                <a:spcPts val="360"/>
              </a:spcBef>
            </a:pPr>
            <a:r>
              <a:rPr lang="en-US" sz="1200" dirty="0">
                <a:solidFill>
                  <a:srgbClr val="2A2A2A"/>
                </a:solidFill>
                <a:latin typeface="Arial MT"/>
                <a:cs typeface="Arial MT"/>
              </a:rPr>
              <a:t>Field</a:t>
            </a:r>
            <a:r>
              <a:rPr lang="en-US" sz="1200" spc="80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lang="en-US" sz="1200" dirty="0">
                <a:solidFill>
                  <a:srgbClr val="2A2A2A"/>
                </a:solidFill>
                <a:latin typeface="Arial MT"/>
                <a:cs typeface="Arial MT"/>
              </a:rPr>
              <a:t>photographs</a:t>
            </a:r>
            <a:r>
              <a:rPr lang="en-US" sz="1200" spc="80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lang="en-US" sz="1200" dirty="0">
                <a:solidFill>
                  <a:srgbClr val="2A2A2A"/>
                </a:solidFill>
                <a:latin typeface="Arial MT"/>
                <a:cs typeface="Arial MT"/>
              </a:rPr>
              <a:t>of</a:t>
            </a:r>
            <a:r>
              <a:rPr lang="en-US" sz="1200" spc="80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lang="en-US" sz="1200" dirty="0">
                <a:solidFill>
                  <a:srgbClr val="2A2A2A"/>
                </a:solidFill>
                <a:latin typeface="Arial MT"/>
                <a:cs typeface="Arial MT"/>
              </a:rPr>
              <a:t>Nala</a:t>
            </a:r>
            <a:r>
              <a:rPr lang="en-US" sz="1200" spc="80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lang="en-US" sz="1200" dirty="0">
                <a:solidFill>
                  <a:srgbClr val="2A2A2A"/>
                </a:solidFill>
                <a:latin typeface="Arial MT"/>
                <a:cs typeface="Arial MT"/>
              </a:rPr>
              <a:t>deepening</a:t>
            </a:r>
            <a:r>
              <a:rPr lang="en-US" sz="1200" spc="80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lang="en-US" sz="1200" dirty="0">
                <a:solidFill>
                  <a:srgbClr val="2A2A2A"/>
                </a:solidFill>
                <a:latin typeface="Arial MT"/>
                <a:cs typeface="Arial MT"/>
              </a:rPr>
              <a:t>and</a:t>
            </a:r>
            <a:r>
              <a:rPr lang="en-US" sz="1200" spc="80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lang="en-US" sz="1200" dirty="0">
                <a:solidFill>
                  <a:srgbClr val="2A2A2A"/>
                </a:solidFill>
                <a:latin typeface="Arial MT"/>
                <a:cs typeface="Arial MT"/>
              </a:rPr>
              <a:t>widening</a:t>
            </a:r>
            <a:r>
              <a:rPr lang="en-US" sz="1200" spc="80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lang="en-US" sz="1200" dirty="0">
                <a:solidFill>
                  <a:srgbClr val="2A2A2A"/>
                </a:solidFill>
                <a:latin typeface="Arial MT"/>
                <a:cs typeface="Arial MT"/>
              </a:rPr>
              <a:t>operations</a:t>
            </a:r>
            <a:r>
              <a:rPr lang="en-US" sz="1200" spc="85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lang="en-US" sz="1200" dirty="0">
                <a:solidFill>
                  <a:srgbClr val="2A2A2A"/>
                </a:solidFill>
                <a:latin typeface="Arial MT"/>
                <a:cs typeface="Arial MT"/>
              </a:rPr>
              <a:t>at</a:t>
            </a:r>
            <a:r>
              <a:rPr lang="en-US" sz="1200" spc="80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lang="en-US" sz="1200" dirty="0">
                <a:solidFill>
                  <a:srgbClr val="2A2A2A"/>
                </a:solidFill>
                <a:latin typeface="Arial MT"/>
                <a:cs typeface="Arial MT"/>
              </a:rPr>
              <a:t>Ghatdare</a:t>
            </a:r>
            <a:r>
              <a:rPr lang="en-US" sz="1200" spc="80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lang="en-US" sz="1200" dirty="0">
                <a:solidFill>
                  <a:srgbClr val="2A2A2A"/>
                </a:solidFill>
                <a:latin typeface="Arial MT"/>
                <a:cs typeface="Arial MT"/>
              </a:rPr>
              <a:t>using</a:t>
            </a:r>
            <a:r>
              <a:rPr lang="en-US" sz="1200" spc="80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lang="en-US" sz="1200" dirty="0">
                <a:solidFill>
                  <a:srgbClr val="2A2A2A"/>
                </a:solidFill>
                <a:latin typeface="Arial MT"/>
                <a:cs typeface="Arial MT"/>
              </a:rPr>
              <a:t>Tata</a:t>
            </a:r>
            <a:r>
              <a:rPr lang="en-US" sz="1200" spc="80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lang="en-US" sz="1200" dirty="0">
                <a:solidFill>
                  <a:srgbClr val="2A2A2A"/>
                </a:solidFill>
                <a:latin typeface="Arial MT"/>
                <a:cs typeface="Arial MT"/>
              </a:rPr>
              <a:t>Hitachi</a:t>
            </a:r>
            <a:r>
              <a:rPr lang="en-US" sz="1200" spc="80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lang="en-US" sz="1200" dirty="0">
                <a:solidFill>
                  <a:srgbClr val="2A2A2A"/>
                </a:solidFill>
                <a:latin typeface="Arial MT"/>
                <a:cs typeface="Arial MT"/>
              </a:rPr>
              <a:t>excavators</a:t>
            </a:r>
            <a:r>
              <a:rPr lang="en-US" sz="1200" spc="80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lang="en-US" sz="1200" spc="-50" dirty="0">
                <a:solidFill>
                  <a:srgbClr val="2A2A2A"/>
                </a:solidFill>
                <a:latin typeface="Arial MT"/>
                <a:cs typeface="Arial MT"/>
              </a:rPr>
              <a:t>— </a:t>
            </a:r>
            <a:r>
              <a:rPr lang="en-US" sz="1200" dirty="0">
                <a:solidFill>
                  <a:srgbClr val="2A2A2A"/>
                </a:solidFill>
                <a:latin typeface="Arial MT"/>
                <a:cs typeface="Arial MT"/>
              </a:rPr>
              <a:t>core</a:t>
            </a:r>
            <a:r>
              <a:rPr lang="en-US" sz="1200" spc="5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lang="en-US" sz="1200" dirty="0">
                <a:solidFill>
                  <a:srgbClr val="2A2A2A"/>
                </a:solidFill>
                <a:latin typeface="Arial MT"/>
                <a:cs typeface="Arial MT"/>
              </a:rPr>
              <a:t>earthwork</a:t>
            </a:r>
            <a:r>
              <a:rPr lang="en-US" sz="1200" spc="5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lang="en-US" sz="1200" dirty="0">
                <a:solidFill>
                  <a:srgbClr val="2A2A2A"/>
                </a:solidFill>
                <a:latin typeface="Arial MT"/>
                <a:cs typeface="Arial MT"/>
              </a:rPr>
              <a:t>activity</a:t>
            </a:r>
            <a:r>
              <a:rPr lang="en-US" sz="1200" spc="5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lang="en-US" sz="1200" dirty="0">
                <a:solidFill>
                  <a:srgbClr val="2A2A2A"/>
                </a:solidFill>
                <a:latin typeface="Arial MT"/>
                <a:cs typeface="Arial MT"/>
              </a:rPr>
              <a:t>achieving</a:t>
            </a:r>
            <a:r>
              <a:rPr lang="en-US" sz="1200" spc="5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lang="en-US" sz="1200" dirty="0">
                <a:solidFill>
                  <a:srgbClr val="2A2A2A"/>
                </a:solidFill>
                <a:latin typeface="Arial MT"/>
                <a:cs typeface="Arial MT"/>
              </a:rPr>
              <a:t>24,990</a:t>
            </a:r>
            <a:r>
              <a:rPr lang="en-US" sz="1200" spc="5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lang="en-US" sz="1200" dirty="0">
                <a:solidFill>
                  <a:srgbClr val="2A2A2A"/>
                </a:solidFill>
                <a:latin typeface="Arial MT"/>
                <a:cs typeface="Arial MT"/>
              </a:rPr>
              <a:t>m³</a:t>
            </a:r>
            <a:r>
              <a:rPr lang="en-US" sz="1200" spc="5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lang="en-US" sz="1200" dirty="0">
                <a:solidFill>
                  <a:srgbClr val="2A2A2A"/>
                </a:solidFill>
                <a:latin typeface="Arial MT"/>
                <a:cs typeface="Arial MT"/>
              </a:rPr>
              <a:t>against</a:t>
            </a:r>
            <a:r>
              <a:rPr lang="en-US" sz="1200" spc="5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lang="en-US" sz="1200" dirty="0">
                <a:solidFill>
                  <a:srgbClr val="2A2A2A"/>
                </a:solidFill>
                <a:latin typeface="Arial MT"/>
                <a:cs typeface="Arial MT"/>
              </a:rPr>
              <a:t>the</a:t>
            </a:r>
            <a:r>
              <a:rPr lang="en-US" sz="1200" spc="5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lang="en-US" sz="1200" dirty="0">
                <a:solidFill>
                  <a:srgbClr val="2A2A2A"/>
                </a:solidFill>
                <a:latin typeface="Arial MT"/>
                <a:cs typeface="Arial MT"/>
              </a:rPr>
              <a:t>25,000</a:t>
            </a:r>
            <a:r>
              <a:rPr lang="en-US" sz="1200" spc="5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lang="en-US" sz="1200" dirty="0">
                <a:solidFill>
                  <a:srgbClr val="2A2A2A"/>
                </a:solidFill>
                <a:latin typeface="Arial MT"/>
                <a:cs typeface="Arial MT"/>
              </a:rPr>
              <a:t>m³</a:t>
            </a:r>
            <a:r>
              <a:rPr lang="en-US" sz="1200" spc="5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lang="en-US" sz="1200" spc="-10" dirty="0">
                <a:solidFill>
                  <a:srgbClr val="2A2A2A"/>
                </a:solidFill>
                <a:latin typeface="Arial MT"/>
                <a:cs typeface="Arial MT"/>
              </a:rPr>
              <a:t>target.</a:t>
            </a:r>
            <a:endParaRPr lang="en-US" sz="1200" dirty="0">
              <a:latin typeface="Arial MT"/>
              <a:cs typeface="Arial MT"/>
            </a:endParaRPr>
          </a:p>
        </p:txBody>
      </p:sp>
      <p:pic>
        <p:nvPicPr>
          <p:cNvPr id="22" name="object 14">
            <a:extLst>
              <a:ext uri="{FF2B5EF4-FFF2-40B4-BE49-F238E27FC236}">
                <a16:creationId xmlns:a16="http://schemas.microsoft.com/office/drawing/2014/main" id="{BA235038-0781-CD21-1471-D266656324EE}"/>
              </a:ext>
            </a:extLst>
          </p:cNvPr>
          <p:cNvPicPr/>
          <p:nvPr/>
        </p:nvPicPr>
        <p:blipFill>
          <a:blip r:embed="rId9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-20000" contrast="-40000"/>
                    </a14:imgEffect>
                  </a14:imgLayer>
                </a14:imgProps>
              </a:ext>
            </a:extLst>
          </a:blip>
          <a:srcRect r="66930"/>
          <a:stretch>
            <a:fillRect/>
          </a:stretch>
        </p:blipFill>
        <p:spPr>
          <a:xfrm>
            <a:off x="201008" y="5061117"/>
            <a:ext cx="3745265" cy="2577534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2465070" y="5192817"/>
            <a:ext cx="1313180" cy="135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i="1" dirty="0">
                <a:solidFill>
                  <a:schemeClr val="bg1"/>
                </a:solidFill>
                <a:latin typeface="Arial"/>
                <a:cs typeface="Arial"/>
              </a:rPr>
              <a:t>Nala</a:t>
            </a:r>
            <a:r>
              <a:rPr sz="800" i="1" spc="-2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800" i="1" dirty="0">
                <a:solidFill>
                  <a:schemeClr val="bg1"/>
                </a:solidFill>
                <a:latin typeface="Arial"/>
                <a:cs typeface="Arial"/>
              </a:rPr>
              <a:t>Widening</a:t>
            </a:r>
            <a:r>
              <a:rPr sz="800" i="1" spc="-1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800" i="1" dirty="0">
                <a:solidFill>
                  <a:schemeClr val="bg1"/>
                </a:solidFill>
                <a:latin typeface="Arial"/>
                <a:cs typeface="Arial"/>
              </a:rPr>
              <a:t>—</a:t>
            </a:r>
            <a:r>
              <a:rPr sz="800" i="1" spc="-2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800" i="1" dirty="0">
                <a:solidFill>
                  <a:schemeClr val="bg1"/>
                </a:solidFill>
                <a:latin typeface="Arial"/>
                <a:cs typeface="Arial"/>
              </a:rPr>
              <a:t>Field</a:t>
            </a:r>
            <a:r>
              <a:rPr sz="800" i="1" spc="-1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800" i="1" spc="-20" dirty="0">
                <a:solidFill>
                  <a:schemeClr val="bg1"/>
                </a:solidFill>
                <a:latin typeface="Arial"/>
                <a:cs typeface="Arial"/>
              </a:rPr>
              <a:t>View</a:t>
            </a:r>
            <a:endParaRPr sz="800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A440CF17-33BB-5BD7-7743-75520FA84D54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1007" y="7692168"/>
            <a:ext cx="3745265" cy="2695030"/>
          </a:xfrm>
          <a:prstGeom prst="rect">
            <a:avLst/>
          </a:prstGeom>
        </p:spPr>
      </p:pic>
      <p:sp>
        <p:nvSpPr>
          <p:cNvPr id="25" name="object 17">
            <a:extLst>
              <a:ext uri="{FF2B5EF4-FFF2-40B4-BE49-F238E27FC236}">
                <a16:creationId xmlns:a16="http://schemas.microsoft.com/office/drawing/2014/main" id="{17A10840-CEC3-5148-E380-8CAD1D1EC11A}"/>
              </a:ext>
            </a:extLst>
          </p:cNvPr>
          <p:cNvSpPr txBox="1"/>
          <p:nvPr/>
        </p:nvSpPr>
        <p:spPr>
          <a:xfrm>
            <a:off x="2787650" y="7781001"/>
            <a:ext cx="1781810" cy="135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800" i="1" dirty="0">
                <a:solidFill>
                  <a:schemeClr val="bg1"/>
                </a:solidFill>
                <a:latin typeface="Arial"/>
                <a:cs typeface="Arial"/>
              </a:rPr>
              <a:t>Gabion Measurement</a:t>
            </a:r>
            <a:endParaRPr sz="800" dirty="0">
              <a:solidFill>
                <a:schemeClr val="bg1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object 10"/>
          <p:cNvPicPr/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03200" y="378592"/>
            <a:ext cx="7353299" cy="3265921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317500" y="127000"/>
            <a:ext cx="167449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b="1" dirty="0">
                <a:solidFill>
                  <a:srgbClr val="FFFFFF"/>
                </a:solidFill>
                <a:latin typeface="Arial"/>
                <a:cs typeface="Arial"/>
              </a:rPr>
              <a:t>TE</a:t>
            </a:r>
            <a:r>
              <a:rPr sz="80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FFFFFF"/>
                </a:solidFill>
                <a:latin typeface="Arial"/>
                <a:cs typeface="Arial"/>
              </a:rPr>
              <a:t>IWMP</a:t>
            </a:r>
            <a:r>
              <a:rPr sz="80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FFFFFF"/>
                </a:solidFill>
                <a:latin typeface="Arial"/>
                <a:cs typeface="Arial"/>
              </a:rPr>
              <a:t>–</a:t>
            </a:r>
            <a:r>
              <a:rPr sz="80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FFFFFF"/>
                </a:solidFill>
                <a:latin typeface="Arial"/>
                <a:cs typeface="Arial"/>
              </a:rPr>
              <a:t>Annual Report</a:t>
            </a:r>
            <a:r>
              <a:rPr sz="80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800" b="1" spc="-10" dirty="0">
                <a:solidFill>
                  <a:srgbClr val="FFFFFF"/>
                </a:solidFill>
                <a:latin typeface="Arial"/>
                <a:cs typeface="Arial"/>
              </a:rPr>
              <a:t>2025-</a:t>
            </a:r>
            <a:r>
              <a:rPr sz="800" b="1" spc="-25" dirty="0">
                <a:solidFill>
                  <a:srgbClr val="FFFFFF"/>
                </a:solidFill>
                <a:latin typeface="Arial"/>
                <a:cs typeface="Arial"/>
              </a:rPr>
              <a:t>26</a:t>
            </a:r>
            <a:endParaRPr sz="8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968590" y="127000"/>
            <a:ext cx="247777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FFFFFF"/>
                </a:solidFill>
                <a:latin typeface="Arial MT"/>
                <a:cs typeface="Arial MT"/>
              </a:rPr>
              <a:t>TE</a:t>
            </a:r>
            <a:r>
              <a:rPr sz="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FFFFFF"/>
                </a:solidFill>
                <a:latin typeface="Arial MT"/>
                <a:cs typeface="Arial MT"/>
              </a:rPr>
              <a:t>Connectivity</a:t>
            </a:r>
            <a:r>
              <a:rPr sz="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FFFFFF"/>
                </a:solidFill>
                <a:latin typeface="Arial MT"/>
                <a:cs typeface="Arial MT"/>
              </a:rPr>
              <a:t>×</a:t>
            </a:r>
            <a:r>
              <a:rPr sz="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FFFFFF"/>
                </a:solidFill>
                <a:latin typeface="Arial MT"/>
                <a:cs typeface="Arial MT"/>
              </a:rPr>
              <a:t>SJSM</a:t>
            </a:r>
            <a:r>
              <a:rPr sz="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FFFFFF"/>
                </a:solidFill>
                <a:latin typeface="Arial MT"/>
                <a:cs typeface="Arial MT"/>
              </a:rPr>
              <a:t>Satara</a:t>
            </a:r>
            <a:r>
              <a:rPr sz="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FFFFFF"/>
                </a:solidFill>
                <a:latin typeface="Arial MT"/>
                <a:cs typeface="Arial MT"/>
              </a:rPr>
              <a:t>|</a:t>
            </a:r>
            <a:r>
              <a:rPr sz="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FFFFFF"/>
                </a:solidFill>
                <a:latin typeface="Arial MT"/>
                <a:cs typeface="Arial MT"/>
              </a:rPr>
              <a:t>Ghatdare</a:t>
            </a:r>
            <a:r>
              <a:rPr sz="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Arial MT"/>
                <a:cs typeface="Arial MT"/>
              </a:rPr>
              <a:t>Watershed</a:t>
            </a:r>
            <a:endParaRPr sz="800" dirty="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03200" y="10382119"/>
            <a:ext cx="7357109" cy="309880"/>
            <a:chOff x="203200" y="10382119"/>
            <a:chExt cx="7357109" cy="309880"/>
          </a:xfrm>
        </p:grpSpPr>
        <p:sp>
          <p:nvSpPr>
            <p:cNvPr id="5" name="object 5"/>
            <p:cNvSpPr/>
            <p:nvPr/>
          </p:nvSpPr>
          <p:spPr>
            <a:xfrm>
              <a:off x="203200" y="10387199"/>
              <a:ext cx="7357109" cy="304800"/>
            </a:xfrm>
            <a:custGeom>
              <a:avLst/>
              <a:gdLst/>
              <a:ahLst/>
              <a:cxnLst/>
              <a:rect l="l" t="t" r="r" b="b"/>
              <a:pathLst>
                <a:path w="7357109" h="304800">
                  <a:moveTo>
                    <a:pt x="73568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7356800" y="304800"/>
                  </a:lnTo>
                  <a:lnTo>
                    <a:pt x="7356800" y="0"/>
                  </a:lnTo>
                  <a:close/>
                </a:path>
              </a:pathLst>
            </a:custGeom>
            <a:solidFill>
              <a:srgbClr val="F4EFE8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6" name="object 6"/>
            <p:cNvSpPr/>
            <p:nvPr/>
          </p:nvSpPr>
          <p:spPr>
            <a:xfrm>
              <a:off x="203200" y="10387199"/>
              <a:ext cx="7357109" cy="0"/>
            </a:xfrm>
            <a:custGeom>
              <a:avLst/>
              <a:gdLst/>
              <a:ahLst/>
              <a:cxnLst/>
              <a:rect l="l" t="t" r="r" b="b"/>
              <a:pathLst>
                <a:path w="7357109">
                  <a:moveTo>
                    <a:pt x="0" y="0"/>
                  </a:moveTo>
                  <a:lnTo>
                    <a:pt x="7356800" y="0"/>
                  </a:lnTo>
                </a:path>
              </a:pathLst>
            </a:custGeom>
            <a:ln w="10160">
              <a:solidFill>
                <a:srgbClr val="C8A84B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object 7"/>
          <p:cNvSpPr/>
          <p:nvPr/>
        </p:nvSpPr>
        <p:spPr>
          <a:xfrm>
            <a:off x="779199" y="622299"/>
            <a:ext cx="1241425" cy="63500"/>
          </a:xfrm>
          <a:custGeom>
            <a:avLst/>
            <a:gdLst/>
            <a:ahLst/>
            <a:cxnLst/>
            <a:rect l="l" t="t" r="r" b="b"/>
            <a:pathLst>
              <a:path w="1241425" h="63500">
                <a:moveTo>
                  <a:pt x="1240960" y="0"/>
                </a:moveTo>
                <a:lnTo>
                  <a:pt x="0" y="0"/>
                </a:lnTo>
                <a:lnTo>
                  <a:pt x="0" y="63500"/>
                </a:lnTo>
                <a:lnTo>
                  <a:pt x="1240960" y="63500"/>
                </a:lnTo>
                <a:lnTo>
                  <a:pt x="1240960" y="0"/>
                </a:lnTo>
                <a:close/>
              </a:path>
            </a:pathLst>
          </a:custGeom>
          <a:solidFill>
            <a:srgbClr val="C8A84B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8"/>
          <p:cNvSpPr/>
          <p:nvPr/>
        </p:nvSpPr>
        <p:spPr>
          <a:xfrm>
            <a:off x="2082208" y="641349"/>
            <a:ext cx="4902200" cy="19050"/>
          </a:xfrm>
          <a:custGeom>
            <a:avLst/>
            <a:gdLst/>
            <a:ahLst/>
            <a:cxnLst/>
            <a:rect l="l" t="t" r="r" b="b"/>
            <a:pathLst>
              <a:path w="4902200" h="19050">
                <a:moveTo>
                  <a:pt x="4901792" y="0"/>
                </a:moveTo>
                <a:lnTo>
                  <a:pt x="0" y="0"/>
                </a:lnTo>
                <a:lnTo>
                  <a:pt x="0" y="19050"/>
                </a:lnTo>
                <a:lnTo>
                  <a:pt x="4901792" y="19050"/>
                </a:lnTo>
                <a:lnTo>
                  <a:pt x="4901792" y="0"/>
                </a:lnTo>
                <a:close/>
              </a:path>
            </a:pathLst>
          </a:custGeom>
          <a:solidFill>
            <a:srgbClr val="D4C4A0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object 9"/>
          <p:cNvSpPr txBox="1"/>
          <p:nvPr/>
        </p:nvSpPr>
        <p:spPr>
          <a:xfrm>
            <a:off x="766499" y="825500"/>
            <a:ext cx="5999480" cy="6719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CC9900"/>
                </a:solidFill>
                <a:latin typeface="Felix Titling" panose="04060505060202020A04" pitchFamily="82" charset="0"/>
                <a:cs typeface="Arial"/>
              </a:rPr>
              <a:t>Field</a:t>
            </a:r>
            <a:r>
              <a:rPr sz="2400" b="1" spc="-40" dirty="0">
                <a:solidFill>
                  <a:srgbClr val="CC9900"/>
                </a:solidFill>
                <a:latin typeface="Felix Titling" panose="04060505060202020A04" pitchFamily="82" charset="0"/>
                <a:cs typeface="Arial"/>
              </a:rPr>
              <a:t> </a:t>
            </a:r>
            <a:r>
              <a:rPr sz="2400" b="1" spc="-10" dirty="0">
                <a:solidFill>
                  <a:srgbClr val="CC9900"/>
                </a:solidFill>
                <a:latin typeface="Felix Titling" panose="04060505060202020A04" pitchFamily="82" charset="0"/>
                <a:cs typeface="Arial"/>
              </a:rPr>
              <a:t>Documentation</a:t>
            </a:r>
            <a:r>
              <a:rPr sz="2400" b="1" spc="-25" dirty="0">
                <a:solidFill>
                  <a:srgbClr val="CC9900"/>
                </a:solidFill>
                <a:latin typeface="Felix Titling" panose="04060505060202020A04" pitchFamily="82" charset="0"/>
                <a:cs typeface="Arial"/>
              </a:rPr>
              <a:t> </a:t>
            </a:r>
            <a:r>
              <a:rPr sz="2400" b="1" dirty="0">
                <a:solidFill>
                  <a:srgbClr val="CC9900"/>
                </a:solidFill>
                <a:latin typeface="Felix Titling" panose="04060505060202020A04" pitchFamily="82" charset="0"/>
                <a:cs typeface="Arial"/>
              </a:rPr>
              <a:t>—</a:t>
            </a:r>
            <a:r>
              <a:rPr lang="en-IN" sz="2400" b="1" spc="-25" dirty="0">
                <a:solidFill>
                  <a:srgbClr val="CC9900"/>
                </a:solidFill>
                <a:latin typeface="Felix Titling" panose="04060505060202020A04" pitchFamily="82" charset="0"/>
                <a:cs typeface="Arial"/>
              </a:rPr>
              <a:t>-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>
                <a:solidFill>
                  <a:schemeClr val="bg1"/>
                </a:solidFill>
                <a:latin typeface="Felix Titling" panose="04060505060202020A04" pitchFamily="82" charset="0"/>
                <a:cs typeface="Arial"/>
              </a:rPr>
              <a:t>Aerial</a:t>
            </a:r>
            <a:r>
              <a:rPr b="1" spc="-30" dirty="0">
                <a:solidFill>
                  <a:schemeClr val="bg1"/>
                </a:solidFill>
                <a:latin typeface="Felix Titling" panose="04060505060202020A04" pitchFamily="82" charset="0"/>
                <a:cs typeface="Arial"/>
              </a:rPr>
              <a:t> </a:t>
            </a:r>
            <a:r>
              <a:rPr b="1" dirty="0">
                <a:solidFill>
                  <a:schemeClr val="bg1"/>
                </a:solidFill>
                <a:latin typeface="Felix Titling" panose="04060505060202020A04" pitchFamily="82" charset="0"/>
                <a:cs typeface="Arial"/>
              </a:rPr>
              <a:t>View</a:t>
            </a:r>
            <a:endParaRPr dirty="0">
              <a:solidFill>
                <a:schemeClr val="bg1"/>
              </a:solidFill>
              <a:latin typeface="Felix Titling" panose="04060505060202020A04" pitchFamily="82" charset="0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442335" y="3403577"/>
            <a:ext cx="3910965" cy="135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i="1" dirty="0">
                <a:solidFill>
                  <a:schemeClr val="bg1"/>
                </a:solidFill>
                <a:latin typeface="Arial"/>
                <a:cs typeface="Arial"/>
              </a:rPr>
              <a:t>Aerial</a:t>
            </a:r>
            <a:r>
              <a:rPr sz="800" i="1" spc="-2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800" i="1" dirty="0">
                <a:solidFill>
                  <a:schemeClr val="bg1"/>
                </a:solidFill>
                <a:latin typeface="Arial"/>
                <a:cs typeface="Arial"/>
              </a:rPr>
              <a:t>View</a:t>
            </a:r>
            <a:r>
              <a:rPr sz="800" i="1" spc="-2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800" i="1" dirty="0">
                <a:solidFill>
                  <a:schemeClr val="bg1"/>
                </a:solidFill>
                <a:latin typeface="Arial"/>
                <a:cs typeface="Arial"/>
              </a:rPr>
              <a:t>—</a:t>
            </a:r>
            <a:r>
              <a:rPr sz="800" i="1" spc="-2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800" i="1" dirty="0">
                <a:solidFill>
                  <a:schemeClr val="bg1"/>
                </a:solidFill>
                <a:latin typeface="Arial"/>
                <a:cs typeface="Arial"/>
              </a:rPr>
              <a:t>Completed</a:t>
            </a:r>
            <a:r>
              <a:rPr sz="800" i="1" spc="-2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800" i="1" dirty="0">
                <a:solidFill>
                  <a:schemeClr val="bg1"/>
                </a:solidFill>
                <a:latin typeface="Arial"/>
                <a:cs typeface="Arial"/>
              </a:rPr>
              <a:t>Nala</a:t>
            </a:r>
            <a:r>
              <a:rPr sz="800" i="1" spc="-2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800" i="1" dirty="0">
                <a:solidFill>
                  <a:schemeClr val="bg1"/>
                </a:solidFill>
                <a:latin typeface="Arial"/>
                <a:cs typeface="Arial"/>
              </a:rPr>
              <a:t>Deepening</a:t>
            </a:r>
            <a:r>
              <a:rPr sz="800" i="1" spc="-2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800" i="1" dirty="0">
                <a:solidFill>
                  <a:schemeClr val="bg1"/>
                </a:solidFill>
                <a:latin typeface="Arial"/>
                <a:cs typeface="Arial"/>
              </a:rPr>
              <a:t>with</a:t>
            </a:r>
            <a:r>
              <a:rPr sz="800" i="1" spc="-2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800" i="1" dirty="0">
                <a:solidFill>
                  <a:schemeClr val="bg1"/>
                </a:solidFill>
                <a:latin typeface="Arial"/>
                <a:cs typeface="Arial"/>
              </a:rPr>
              <a:t>Water</a:t>
            </a:r>
            <a:r>
              <a:rPr sz="800" i="1" spc="-2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800" i="1" dirty="0">
                <a:solidFill>
                  <a:schemeClr val="bg1"/>
                </a:solidFill>
                <a:latin typeface="Arial"/>
                <a:cs typeface="Arial"/>
              </a:rPr>
              <a:t>Ponds,</a:t>
            </a:r>
            <a:r>
              <a:rPr sz="800" i="1" spc="-2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800" i="1" dirty="0">
                <a:solidFill>
                  <a:schemeClr val="bg1"/>
                </a:solidFill>
                <a:latin typeface="Arial"/>
                <a:cs typeface="Arial"/>
              </a:rPr>
              <a:t>Ghatdare</a:t>
            </a:r>
            <a:r>
              <a:rPr sz="800" i="1" spc="-2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800" i="1" dirty="0">
                <a:solidFill>
                  <a:schemeClr val="bg1"/>
                </a:solidFill>
                <a:latin typeface="Arial"/>
                <a:cs typeface="Arial"/>
              </a:rPr>
              <a:t>(Drone</a:t>
            </a:r>
            <a:r>
              <a:rPr sz="800" i="1" spc="-2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800" i="1" spc="-10" dirty="0">
                <a:solidFill>
                  <a:schemeClr val="bg1"/>
                </a:solidFill>
                <a:latin typeface="Arial"/>
                <a:cs typeface="Arial"/>
              </a:rPr>
              <a:t>Photo)</a:t>
            </a:r>
            <a:endParaRPr sz="800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TE</a:t>
            </a:r>
            <a:r>
              <a:rPr spc="-5" dirty="0"/>
              <a:t> </a:t>
            </a:r>
            <a:r>
              <a:rPr dirty="0"/>
              <a:t>Integrated Watershed Management Project</a:t>
            </a:r>
            <a:r>
              <a:rPr spc="210" dirty="0"/>
              <a:t> </a:t>
            </a:r>
            <a:r>
              <a:rPr dirty="0"/>
              <a:t>|</a:t>
            </a:r>
            <a:r>
              <a:rPr spc="210" dirty="0"/>
              <a:t> </a:t>
            </a:r>
            <a:r>
              <a:rPr dirty="0"/>
              <a:t>Ghatdare, Khandala, Satara</a:t>
            </a:r>
            <a:r>
              <a:rPr spc="210" dirty="0"/>
              <a:t> </a:t>
            </a:r>
            <a:r>
              <a:rPr dirty="0"/>
              <a:t>|</a:t>
            </a:r>
            <a:r>
              <a:rPr spc="210" dirty="0"/>
              <a:t> </a:t>
            </a:r>
            <a:r>
              <a:rPr dirty="0"/>
              <a:t>FY 2025-</a:t>
            </a:r>
            <a:r>
              <a:rPr spc="-25" dirty="0"/>
              <a:t>26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Page</a:t>
            </a:r>
            <a:r>
              <a:rPr spc="-20" dirty="0"/>
              <a:t> </a:t>
            </a:r>
            <a:fld id="{81D60167-4931-47E6-BA6A-407CBD079E47}" type="slidenum">
              <a:rPr spc="-25" dirty="0"/>
              <a:t>8</a:t>
            </a:fld>
            <a:endParaRPr spc="-25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B2D8741B-27E1-E66D-99FB-1F2F724FB5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40" b="20473"/>
          <a:stretch>
            <a:fillRect/>
          </a:stretch>
        </p:blipFill>
        <p:spPr>
          <a:xfrm>
            <a:off x="203200" y="3644513"/>
            <a:ext cx="7357109" cy="3442086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B12D0EC2-A292-888C-ED2A-6696922E5E6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37" t="26371" r="2926" b="14717"/>
          <a:stretch>
            <a:fillRect/>
          </a:stretch>
        </p:blipFill>
        <p:spPr>
          <a:xfrm>
            <a:off x="185569" y="7048888"/>
            <a:ext cx="7370931" cy="3338744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1DA1DF-DFC3-F1BA-8CC9-45651E5889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object 10">
            <a:extLst>
              <a:ext uri="{FF2B5EF4-FFF2-40B4-BE49-F238E27FC236}">
                <a16:creationId xmlns:a16="http://schemas.microsoft.com/office/drawing/2014/main" id="{C12FE865-F9F6-1D88-432C-C8847DEB5E6D}"/>
              </a:ext>
            </a:extLst>
          </p:cNvPr>
          <p:cNvPicPr/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0369" r="239" b="562"/>
          <a:stretch>
            <a:fillRect/>
          </a:stretch>
        </p:blipFill>
        <p:spPr>
          <a:xfrm>
            <a:off x="203201" y="378592"/>
            <a:ext cx="7353299" cy="3265490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4323C6C5-7262-FC76-CF21-DBC50E7EE519}"/>
              </a:ext>
            </a:extLst>
          </p:cNvPr>
          <p:cNvSpPr txBox="1"/>
          <p:nvPr/>
        </p:nvSpPr>
        <p:spPr>
          <a:xfrm>
            <a:off x="317500" y="127000"/>
            <a:ext cx="167449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b="1" dirty="0">
                <a:solidFill>
                  <a:srgbClr val="FFFFFF"/>
                </a:solidFill>
                <a:latin typeface="Arial"/>
                <a:cs typeface="Arial"/>
              </a:rPr>
              <a:t>TE</a:t>
            </a:r>
            <a:r>
              <a:rPr sz="80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FFFFFF"/>
                </a:solidFill>
                <a:latin typeface="Arial"/>
                <a:cs typeface="Arial"/>
              </a:rPr>
              <a:t>IWMP</a:t>
            </a:r>
            <a:r>
              <a:rPr sz="80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FFFFFF"/>
                </a:solidFill>
                <a:latin typeface="Arial"/>
                <a:cs typeface="Arial"/>
              </a:rPr>
              <a:t>–</a:t>
            </a:r>
            <a:r>
              <a:rPr sz="80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FFFFFF"/>
                </a:solidFill>
                <a:latin typeface="Arial"/>
                <a:cs typeface="Arial"/>
              </a:rPr>
              <a:t>Annual Report</a:t>
            </a:r>
            <a:r>
              <a:rPr sz="80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800" b="1" spc="-10" dirty="0">
                <a:solidFill>
                  <a:srgbClr val="FFFFFF"/>
                </a:solidFill>
                <a:latin typeface="Arial"/>
                <a:cs typeface="Arial"/>
              </a:rPr>
              <a:t>2025-</a:t>
            </a:r>
            <a:r>
              <a:rPr sz="800" b="1" spc="-25" dirty="0">
                <a:solidFill>
                  <a:srgbClr val="FFFFFF"/>
                </a:solidFill>
                <a:latin typeface="Arial"/>
                <a:cs typeface="Arial"/>
              </a:rPr>
              <a:t>26</a:t>
            </a:r>
            <a:endParaRPr sz="800" dirty="0">
              <a:latin typeface="Arial"/>
              <a:cs typeface="Arial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9A4F8141-EC99-70AE-E5EA-CD9D707F57C2}"/>
              </a:ext>
            </a:extLst>
          </p:cNvPr>
          <p:cNvSpPr txBox="1"/>
          <p:nvPr/>
        </p:nvSpPr>
        <p:spPr>
          <a:xfrm>
            <a:off x="4968590" y="127000"/>
            <a:ext cx="247777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FFFFFF"/>
                </a:solidFill>
                <a:latin typeface="Arial MT"/>
                <a:cs typeface="Arial MT"/>
              </a:rPr>
              <a:t>TE</a:t>
            </a:r>
            <a:r>
              <a:rPr sz="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FFFFFF"/>
                </a:solidFill>
                <a:latin typeface="Arial MT"/>
                <a:cs typeface="Arial MT"/>
              </a:rPr>
              <a:t>Connectivity</a:t>
            </a:r>
            <a:r>
              <a:rPr sz="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FFFFFF"/>
                </a:solidFill>
                <a:latin typeface="Arial MT"/>
                <a:cs typeface="Arial MT"/>
              </a:rPr>
              <a:t>×</a:t>
            </a:r>
            <a:r>
              <a:rPr sz="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FFFFFF"/>
                </a:solidFill>
                <a:latin typeface="Arial MT"/>
                <a:cs typeface="Arial MT"/>
              </a:rPr>
              <a:t>SJSM</a:t>
            </a:r>
            <a:r>
              <a:rPr sz="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FFFFFF"/>
                </a:solidFill>
                <a:latin typeface="Arial MT"/>
                <a:cs typeface="Arial MT"/>
              </a:rPr>
              <a:t>Satara</a:t>
            </a:r>
            <a:r>
              <a:rPr sz="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FFFFFF"/>
                </a:solidFill>
                <a:latin typeface="Arial MT"/>
                <a:cs typeface="Arial MT"/>
              </a:rPr>
              <a:t>|</a:t>
            </a:r>
            <a:r>
              <a:rPr sz="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FFFFFF"/>
                </a:solidFill>
                <a:latin typeface="Arial MT"/>
                <a:cs typeface="Arial MT"/>
              </a:rPr>
              <a:t>Ghatdare</a:t>
            </a:r>
            <a:r>
              <a:rPr sz="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Arial MT"/>
                <a:cs typeface="Arial MT"/>
              </a:rPr>
              <a:t>Watershed</a:t>
            </a:r>
            <a:endParaRPr sz="800" dirty="0">
              <a:latin typeface="Arial MT"/>
              <a:cs typeface="Arial MT"/>
            </a:endParaRPr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33E008AA-D7FF-EEC2-C3DE-0EB79A46749C}"/>
              </a:ext>
            </a:extLst>
          </p:cNvPr>
          <p:cNvGrpSpPr/>
          <p:nvPr/>
        </p:nvGrpSpPr>
        <p:grpSpPr>
          <a:xfrm>
            <a:off x="203200" y="10382119"/>
            <a:ext cx="7357109" cy="309880"/>
            <a:chOff x="203200" y="10382119"/>
            <a:chExt cx="7357109" cy="309880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824F2A5D-116A-489F-71D3-43AC81662E92}"/>
                </a:ext>
              </a:extLst>
            </p:cNvPr>
            <p:cNvSpPr/>
            <p:nvPr/>
          </p:nvSpPr>
          <p:spPr>
            <a:xfrm>
              <a:off x="203200" y="10387199"/>
              <a:ext cx="7357109" cy="304800"/>
            </a:xfrm>
            <a:custGeom>
              <a:avLst/>
              <a:gdLst/>
              <a:ahLst/>
              <a:cxnLst/>
              <a:rect l="l" t="t" r="r" b="b"/>
              <a:pathLst>
                <a:path w="7357109" h="304800">
                  <a:moveTo>
                    <a:pt x="73568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7356800" y="304800"/>
                  </a:lnTo>
                  <a:lnTo>
                    <a:pt x="7356800" y="0"/>
                  </a:lnTo>
                  <a:close/>
                </a:path>
              </a:pathLst>
            </a:custGeom>
            <a:solidFill>
              <a:srgbClr val="F4EFE8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DC792B83-D5C4-D91B-86E3-FB06FEADB470}"/>
                </a:ext>
              </a:extLst>
            </p:cNvPr>
            <p:cNvSpPr/>
            <p:nvPr/>
          </p:nvSpPr>
          <p:spPr>
            <a:xfrm>
              <a:off x="203200" y="10387199"/>
              <a:ext cx="7357109" cy="0"/>
            </a:xfrm>
            <a:custGeom>
              <a:avLst/>
              <a:gdLst/>
              <a:ahLst/>
              <a:cxnLst/>
              <a:rect l="l" t="t" r="r" b="b"/>
              <a:pathLst>
                <a:path w="7357109">
                  <a:moveTo>
                    <a:pt x="0" y="0"/>
                  </a:moveTo>
                  <a:lnTo>
                    <a:pt x="7356800" y="0"/>
                  </a:lnTo>
                </a:path>
              </a:pathLst>
            </a:custGeom>
            <a:ln w="10160">
              <a:solidFill>
                <a:srgbClr val="C8A84B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object 7">
            <a:extLst>
              <a:ext uri="{FF2B5EF4-FFF2-40B4-BE49-F238E27FC236}">
                <a16:creationId xmlns:a16="http://schemas.microsoft.com/office/drawing/2014/main" id="{DD6E8507-B8E5-5BB2-6094-B32566BE9344}"/>
              </a:ext>
            </a:extLst>
          </p:cNvPr>
          <p:cNvSpPr/>
          <p:nvPr/>
        </p:nvSpPr>
        <p:spPr>
          <a:xfrm>
            <a:off x="779199" y="622299"/>
            <a:ext cx="1241425" cy="63500"/>
          </a:xfrm>
          <a:custGeom>
            <a:avLst/>
            <a:gdLst/>
            <a:ahLst/>
            <a:cxnLst/>
            <a:rect l="l" t="t" r="r" b="b"/>
            <a:pathLst>
              <a:path w="1241425" h="63500">
                <a:moveTo>
                  <a:pt x="1240960" y="0"/>
                </a:moveTo>
                <a:lnTo>
                  <a:pt x="0" y="0"/>
                </a:lnTo>
                <a:lnTo>
                  <a:pt x="0" y="63500"/>
                </a:lnTo>
                <a:lnTo>
                  <a:pt x="1240960" y="63500"/>
                </a:lnTo>
                <a:lnTo>
                  <a:pt x="1240960" y="0"/>
                </a:lnTo>
                <a:close/>
              </a:path>
            </a:pathLst>
          </a:custGeom>
          <a:solidFill>
            <a:srgbClr val="C8A84B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178E2B63-BA03-A9D6-6EDB-7B9DAF4385D4}"/>
              </a:ext>
            </a:extLst>
          </p:cNvPr>
          <p:cNvSpPr/>
          <p:nvPr/>
        </p:nvSpPr>
        <p:spPr>
          <a:xfrm>
            <a:off x="2082208" y="641349"/>
            <a:ext cx="4902200" cy="19050"/>
          </a:xfrm>
          <a:custGeom>
            <a:avLst/>
            <a:gdLst/>
            <a:ahLst/>
            <a:cxnLst/>
            <a:rect l="l" t="t" r="r" b="b"/>
            <a:pathLst>
              <a:path w="4902200" h="19050">
                <a:moveTo>
                  <a:pt x="4901792" y="0"/>
                </a:moveTo>
                <a:lnTo>
                  <a:pt x="0" y="0"/>
                </a:lnTo>
                <a:lnTo>
                  <a:pt x="0" y="19050"/>
                </a:lnTo>
                <a:lnTo>
                  <a:pt x="4901792" y="19050"/>
                </a:lnTo>
                <a:lnTo>
                  <a:pt x="4901792" y="0"/>
                </a:lnTo>
                <a:close/>
              </a:path>
            </a:pathLst>
          </a:custGeom>
          <a:solidFill>
            <a:srgbClr val="D4C4A0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7A2FB10D-88E8-159A-F670-89674329AC0D}"/>
              </a:ext>
            </a:extLst>
          </p:cNvPr>
          <p:cNvSpPr txBox="1"/>
          <p:nvPr/>
        </p:nvSpPr>
        <p:spPr>
          <a:xfrm>
            <a:off x="766499" y="825500"/>
            <a:ext cx="5999480" cy="6719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CC9900"/>
                </a:solidFill>
                <a:latin typeface="Felix Titling" panose="04060505060202020A04" pitchFamily="82" charset="0"/>
                <a:cs typeface="Arial"/>
              </a:rPr>
              <a:t>Field</a:t>
            </a:r>
            <a:r>
              <a:rPr sz="2400" b="1" spc="-40" dirty="0">
                <a:solidFill>
                  <a:srgbClr val="CC9900"/>
                </a:solidFill>
                <a:latin typeface="Felix Titling" panose="04060505060202020A04" pitchFamily="82" charset="0"/>
                <a:cs typeface="Arial"/>
              </a:rPr>
              <a:t> </a:t>
            </a:r>
            <a:r>
              <a:rPr sz="2400" b="1" spc="-10" dirty="0">
                <a:solidFill>
                  <a:srgbClr val="CC9900"/>
                </a:solidFill>
                <a:latin typeface="Felix Titling" panose="04060505060202020A04" pitchFamily="82" charset="0"/>
                <a:cs typeface="Arial"/>
              </a:rPr>
              <a:t>Documentation</a:t>
            </a:r>
            <a:r>
              <a:rPr sz="2400" b="1" spc="-25" dirty="0">
                <a:solidFill>
                  <a:srgbClr val="CC9900"/>
                </a:solidFill>
                <a:latin typeface="Felix Titling" panose="04060505060202020A04" pitchFamily="82" charset="0"/>
                <a:cs typeface="Arial"/>
              </a:rPr>
              <a:t> </a:t>
            </a:r>
            <a:r>
              <a:rPr sz="2400" b="1" dirty="0">
                <a:solidFill>
                  <a:srgbClr val="CC9900"/>
                </a:solidFill>
                <a:latin typeface="Felix Titling" panose="04060505060202020A04" pitchFamily="82" charset="0"/>
                <a:cs typeface="Arial"/>
              </a:rPr>
              <a:t>—</a:t>
            </a:r>
            <a:r>
              <a:rPr lang="en-IN" sz="2400" b="1" spc="-25" dirty="0">
                <a:solidFill>
                  <a:srgbClr val="CC9900"/>
                </a:solidFill>
                <a:latin typeface="Felix Titling" panose="04060505060202020A04" pitchFamily="82" charset="0"/>
                <a:cs typeface="Arial"/>
              </a:rPr>
              <a:t>-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>
                <a:solidFill>
                  <a:schemeClr val="bg1"/>
                </a:solidFill>
                <a:latin typeface="Felix Titling" panose="04060505060202020A04" pitchFamily="82" charset="0"/>
                <a:cs typeface="Arial"/>
              </a:rPr>
              <a:t>Aerial</a:t>
            </a:r>
            <a:r>
              <a:rPr b="1" spc="-30" dirty="0">
                <a:solidFill>
                  <a:schemeClr val="bg1"/>
                </a:solidFill>
                <a:latin typeface="Felix Titling" panose="04060505060202020A04" pitchFamily="82" charset="0"/>
                <a:cs typeface="Arial"/>
              </a:rPr>
              <a:t> </a:t>
            </a:r>
            <a:r>
              <a:rPr b="1" dirty="0">
                <a:solidFill>
                  <a:schemeClr val="bg1"/>
                </a:solidFill>
                <a:latin typeface="Felix Titling" panose="04060505060202020A04" pitchFamily="82" charset="0"/>
                <a:cs typeface="Arial"/>
              </a:rPr>
              <a:t>View</a:t>
            </a:r>
            <a:endParaRPr dirty="0">
              <a:solidFill>
                <a:schemeClr val="bg1"/>
              </a:solidFill>
              <a:latin typeface="Felix Titling" panose="04060505060202020A04" pitchFamily="82" charset="0"/>
              <a:cs typeface="Arial"/>
            </a:endParaRPr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95FA9C7B-1186-2472-71D0-BF421E2F847D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TE</a:t>
            </a:r>
            <a:r>
              <a:rPr spc="-5" dirty="0"/>
              <a:t> </a:t>
            </a:r>
            <a:r>
              <a:rPr dirty="0"/>
              <a:t>Integrated Watershed Management Project</a:t>
            </a:r>
            <a:r>
              <a:rPr spc="210" dirty="0"/>
              <a:t> </a:t>
            </a:r>
            <a:r>
              <a:rPr dirty="0"/>
              <a:t>|</a:t>
            </a:r>
            <a:r>
              <a:rPr spc="210" dirty="0"/>
              <a:t> </a:t>
            </a:r>
            <a:r>
              <a:rPr dirty="0"/>
              <a:t>Ghatdare, Khandala, Satara</a:t>
            </a:r>
            <a:r>
              <a:rPr spc="210" dirty="0"/>
              <a:t> </a:t>
            </a:r>
            <a:r>
              <a:rPr dirty="0"/>
              <a:t>|</a:t>
            </a:r>
            <a:r>
              <a:rPr spc="210" dirty="0"/>
              <a:t> </a:t>
            </a:r>
            <a:r>
              <a:rPr dirty="0"/>
              <a:t>FY 2025-</a:t>
            </a:r>
            <a:r>
              <a:rPr spc="-25" dirty="0"/>
              <a:t>26</a:t>
            </a:r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E6576BEA-B7D1-0338-A8AF-7DBAC1C75A42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Page</a:t>
            </a:r>
            <a:r>
              <a:rPr spc="-20" dirty="0"/>
              <a:t> </a:t>
            </a:r>
            <a:fld id="{81D60167-4931-47E6-BA6A-407CBD079E47}" type="slidenum">
              <a:rPr spc="-25" dirty="0"/>
              <a:t>9</a:t>
            </a:fld>
            <a:endParaRPr spc="-25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270FD8A9-8B39-F120-122F-7431C32C0D4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809" b="18809"/>
          <a:stretch/>
        </p:blipFill>
        <p:spPr>
          <a:xfrm>
            <a:off x="203200" y="3644513"/>
            <a:ext cx="7357109" cy="3442086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9E6BFFE2-68DD-6D08-7856-FBCFD8926E3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03" b="19803"/>
          <a:stretch/>
        </p:blipFill>
        <p:spPr>
          <a:xfrm>
            <a:off x="185569" y="7048888"/>
            <a:ext cx="7370931" cy="3338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1698321"/>
      </p:ext>
    </p:extLst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9A0B45-30B0-9C27-52AC-2391BAA511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BE83AA1-61C4-6E77-D80A-E813A0B91366}"/>
              </a:ext>
            </a:extLst>
          </p:cNvPr>
          <p:cNvSpPr txBox="1"/>
          <p:nvPr/>
        </p:nvSpPr>
        <p:spPr>
          <a:xfrm>
            <a:off x="317500" y="127000"/>
            <a:ext cx="167449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b="1" dirty="0">
                <a:solidFill>
                  <a:srgbClr val="FFFFFF"/>
                </a:solidFill>
                <a:latin typeface="Arial"/>
                <a:cs typeface="Arial"/>
              </a:rPr>
              <a:t>TE</a:t>
            </a:r>
            <a:r>
              <a:rPr sz="80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FFFFFF"/>
                </a:solidFill>
                <a:latin typeface="Arial"/>
                <a:cs typeface="Arial"/>
              </a:rPr>
              <a:t>IWMP</a:t>
            </a:r>
            <a:r>
              <a:rPr sz="80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FFFFFF"/>
                </a:solidFill>
                <a:latin typeface="Arial"/>
                <a:cs typeface="Arial"/>
              </a:rPr>
              <a:t>–</a:t>
            </a:r>
            <a:r>
              <a:rPr sz="80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FFFFFF"/>
                </a:solidFill>
                <a:latin typeface="Arial"/>
                <a:cs typeface="Arial"/>
              </a:rPr>
              <a:t>Annual Report</a:t>
            </a:r>
            <a:r>
              <a:rPr sz="80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800" b="1" spc="-10" dirty="0">
                <a:solidFill>
                  <a:srgbClr val="FFFFFF"/>
                </a:solidFill>
                <a:latin typeface="Arial"/>
                <a:cs typeface="Arial"/>
              </a:rPr>
              <a:t>2025-</a:t>
            </a:r>
            <a:r>
              <a:rPr sz="800" b="1" spc="-25" dirty="0">
                <a:solidFill>
                  <a:srgbClr val="FFFFFF"/>
                </a:solidFill>
                <a:latin typeface="Arial"/>
                <a:cs typeface="Arial"/>
              </a:rPr>
              <a:t>26</a:t>
            </a:r>
            <a:endParaRPr sz="800" dirty="0">
              <a:latin typeface="Arial"/>
              <a:cs typeface="Arial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67449D56-AAEA-C3ED-A0AB-6EC03DC5DAB5}"/>
              </a:ext>
            </a:extLst>
          </p:cNvPr>
          <p:cNvSpPr txBox="1"/>
          <p:nvPr/>
        </p:nvSpPr>
        <p:spPr>
          <a:xfrm>
            <a:off x="4968590" y="127000"/>
            <a:ext cx="247777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FFFFFF"/>
                </a:solidFill>
                <a:latin typeface="Arial MT"/>
                <a:cs typeface="Arial MT"/>
              </a:rPr>
              <a:t>TE</a:t>
            </a:r>
            <a:r>
              <a:rPr sz="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FFFFFF"/>
                </a:solidFill>
                <a:latin typeface="Arial MT"/>
                <a:cs typeface="Arial MT"/>
              </a:rPr>
              <a:t>Connectivity</a:t>
            </a:r>
            <a:r>
              <a:rPr sz="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FFFFFF"/>
                </a:solidFill>
                <a:latin typeface="Arial MT"/>
                <a:cs typeface="Arial MT"/>
              </a:rPr>
              <a:t>×</a:t>
            </a:r>
            <a:r>
              <a:rPr sz="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FFFFFF"/>
                </a:solidFill>
                <a:latin typeface="Arial MT"/>
                <a:cs typeface="Arial MT"/>
              </a:rPr>
              <a:t>SJSM</a:t>
            </a:r>
            <a:r>
              <a:rPr sz="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FFFFFF"/>
                </a:solidFill>
                <a:latin typeface="Arial MT"/>
                <a:cs typeface="Arial MT"/>
              </a:rPr>
              <a:t>Satara</a:t>
            </a:r>
            <a:r>
              <a:rPr sz="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FFFFFF"/>
                </a:solidFill>
                <a:latin typeface="Arial MT"/>
                <a:cs typeface="Arial MT"/>
              </a:rPr>
              <a:t>|</a:t>
            </a:r>
            <a:r>
              <a:rPr sz="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FFFFFF"/>
                </a:solidFill>
                <a:latin typeface="Arial MT"/>
                <a:cs typeface="Arial MT"/>
              </a:rPr>
              <a:t>Ghatdare</a:t>
            </a:r>
            <a:r>
              <a:rPr sz="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Arial MT"/>
                <a:cs typeface="Arial MT"/>
              </a:rPr>
              <a:t>Watershed</a:t>
            </a:r>
            <a:endParaRPr sz="800" dirty="0">
              <a:latin typeface="Arial MT"/>
              <a:cs typeface="Arial MT"/>
            </a:endParaRPr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EFBDAEA1-F10C-1E39-C737-856DB0D41B43}"/>
              </a:ext>
            </a:extLst>
          </p:cNvPr>
          <p:cNvGrpSpPr/>
          <p:nvPr/>
        </p:nvGrpSpPr>
        <p:grpSpPr>
          <a:xfrm>
            <a:off x="203200" y="10382119"/>
            <a:ext cx="7357109" cy="309880"/>
            <a:chOff x="203200" y="10382119"/>
            <a:chExt cx="7357109" cy="309880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5D4C2A58-B9FF-CE08-C87D-85EEA9FCEE67}"/>
                </a:ext>
              </a:extLst>
            </p:cNvPr>
            <p:cNvSpPr/>
            <p:nvPr/>
          </p:nvSpPr>
          <p:spPr>
            <a:xfrm>
              <a:off x="203200" y="10387199"/>
              <a:ext cx="7357109" cy="304800"/>
            </a:xfrm>
            <a:custGeom>
              <a:avLst/>
              <a:gdLst/>
              <a:ahLst/>
              <a:cxnLst/>
              <a:rect l="l" t="t" r="r" b="b"/>
              <a:pathLst>
                <a:path w="7357109" h="304800">
                  <a:moveTo>
                    <a:pt x="73568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7356800" y="304800"/>
                  </a:lnTo>
                  <a:lnTo>
                    <a:pt x="7356800" y="0"/>
                  </a:lnTo>
                  <a:close/>
                </a:path>
              </a:pathLst>
            </a:custGeom>
            <a:solidFill>
              <a:srgbClr val="F4EFE8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03F1B26E-E78F-32C0-B21A-C016D6DD93FF}"/>
                </a:ext>
              </a:extLst>
            </p:cNvPr>
            <p:cNvSpPr/>
            <p:nvPr/>
          </p:nvSpPr>
          <p:spPr>
            <a:xfrm>
              <a:off x="203200" y="10387199"/>
              <a:ext cx="7357109" cy="0"/>
            </a:xfrm>
            <a:custGeom>
              <a:avLst/>
              <a:gdLst/>
              <a:ahLst/>
              <a:cxnLst/>
              <a:rect l="l" t="t" r="r" b="b"/>
              <a:pathLst>
                <a:path w="7357109">
                  <a:moveTo>
                    <a:pt x="0" y="0"/>
                  </a:moveTo>
                  <a:lnTo>
                    <a:pt x="7356800" y="0"/>
                  </a:lnTo>
                </a:path>
              </a:pathLst>
            </a:custGeom>
            <a:ln w="10160">
              <a:solidFill>
                <a:srgbClr val="C8A84B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object 7">
            <a:extLst>
              <a:ext uri="{FF2B5EF4-FFF2-40B4-BE49-F238E27FC236}">
                <a16:creationId xmlns:a16="http://schemas.microsoft.com/office/drawing/2014/main" id="{3D211B62-5DE4-109B-BA9B-9C21B72DE90C}"/>
              </a:ext>
            </a:extLst>
          </p:cNvPr>
          <p:cNvSpPr/>
          <p:nvPr/>
        </p:nvSpPr>
        <p:spPr>
          <a:xfrm>
            <a:off x="779199" y="622299"/>
            <a:ext cx="1241425" cy="63500"/>
          </a:xfrm>
          <a:custGeom>
            <a:avLst/>
            <a:gdLst/>
            <a:ahLst/>
            <a:cxnLst/>
            <a:rect l="l" t="t" r="r" b="b"/>
            <a:pathLst>
              <a:path w="1241425" h="63500">
                <a:moveTo>
                  <a:pt x="1240960" y="0"/>
                </a:moveTo>
                <a:lnTo>
                  <a:pt x="0" y="0"/>
                </a:lnTo>
                <a:lnTo>
                  <a:pt x="0" y="63500"/>
                </a:lnTo>
                <a:lnTo>
                  <a:pt x="1240960" y="63500"/>
                </a:lnTo>
                <a:lnTo>
                  <a:pt x="1240960" y="0"/>
                </a:lnTo>
                <a:close/>
              </a:path>
            </a:pathLst>
          </a:custGeom>
          <a:solidFill>
            <a:srgbClr val="C8A84B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4EFEDDCA-F07E-D592-9FBC-5AAE8606E9F0}"/>
              </a:ext>
            </a:extLst>
          </p:cNvPr>
          <p:cNvSpPr/>
          <p:nvPr/>
        </p:nvSpPr>
        <p:spPr>
          <a:xfrm>
            <a:off x="2082208" y="641349"/>
            <a:ext cx="4902200" cy="19050"/>
          </a:xfrm>
          <a:custGeom>
            <a:avLst/>
            <a:gdLst/>
            <a:ahLst/>
            <a:cxnLst/>
            <a:rect l="l" t="t" r="r" b="b"/>
            <a:pathLst>
              <a:path w="4902200" h="19050">
                <a:moveTo>
                  <a:pt x="4901792" y="0"/>
                </a:moveTo>
                <a:lnTo>
                  <a:pt x="0" y="0"/>
                </a:lnTo>
                <a:lnTo>
                  <a:pt x="0" y="19050"/>
                </a:lnTo>
                <a:lnTo>
                  <a:pt x="4901792" y="19050"/>
                </a:lnTo>
                <a:lnTo>
                  <a:pt x="4901792" y="0"/>
                </a:lnTo>
                <a:close/>
              </a:path>
            </a:pathLst>
          </a:custGeom>
          <a:solidFill>
            <a:srgbClr val="D4C4A0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57D5B867-E8A8-6A5B-9AE1-E6ED81EB378C}"/>
              </a:ext>
            </a:extLst>
          </p:cNvPr>
          <p:cNvSpPr txBox="1"/>
          <p:nvPr/>
        </p:nvSpPr>
        <p:spPr>
          <a:xfrm>
            <a:off x="766499" y="825500"/>
            <a:ext cx="6204798" cy="7643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solidFill>
                  <a:srgbClr val="1A3A2D"/>
                </a:solidFill>
                <a:latin typeface="Felix Titling" panose="04060505060202020A04" pitchFamily="82" charset="0"/>
                <a:cs typeface="Arial"/>
              </a:rPr>
              <a:t>Field</a:t>
            </a:r>
            <a:r>
              <a:rPr sz="2800" b="1" spc="-40" dirty="0">
                <a:solidFill>
                  <a:srgbClr val="1A3A2D"/>
                </a:solidFill>
                <a:latin typeface="Felix Titling" panose="04060505060202020A04" pitchFamily="82" charset="0"/>
                <a:cs typeface="Arial"/>
              </a:rPr>
              <a:t> </a:t>
            </a:r>
            <a:r>
              <a:rPr sz="2800" b="1" spc="-10" dirty="0">
                <a:solidFill>
                  <a:srgbClr val="1A3A2D"/>
                </a:solidFill>
                <a:latin typeface="Felix Titling" panose="04060505060202020A04" pitchFamily="82" charset="0"/>
                <a:cs typeface="Arial"/>
              </a:rPr>
              <a:t>Documentation</a:t>
            </a:r>
            <a:r>
              <a:rPr sz="2800" b="1" spc="-25" dirty="0">
                <a:solidFill>
                  <a:srgbClr val="1A3A2D"/>
                </a:solidFill>
                <a:latin typeface="Felix Titling" panose="04060505060202020A04" pitchFamily="82" charset="0"/>
                <a:cs typeface="Arial"/>
              </a:rPr>
              <a:t> </a:t>
            </a:r>
            <a:r>
              <a:rPr lang="en-IN" sz="2800" b="1" spc="-25" dirty="0">
                <a:solidFill>
                  <a:srgbClr val="1A3A2D"/>
                </a:solidFill>
                <a:latin typeface="Felix Titling" panose="04060505060202020A04" pitchFamily="82" charset="0"/>
                <a:cs typeface="Arial"/>
              </a:rPr>
              <a:t>-</a:t>
            </a:r>
            <a:endParaRPr lang="en-IN" sz="2800" b="1" dirty="0">
              <a:solidFill>
                <a:srgbClr val="1A3A2D"/>
              </a:solidFill>
              <a:latin typeface="Felix Titling" panose="04060505060202020A04" pitchFamily="82" charset="0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chemeClr val="accent6">
                    <a:lumMod val="75000"/>
                  </a:schemeClr>
                </a:solidFill>
                <a:latin typeface="Felix Titling" panose="04060505060202020A04" pitchFamily="82" charset="0"/>
                <a:cs typeface="Arial"/>
              </a:rPr>
              <a:t>Launch</a:t>
            </a:r>
            <a:r>
              <a:rPr sz="2000" b="1" spc="-25" dirty="0">
                <a:solidFill>
                  <a:schemeClr val="accent6">
                    <a:lumMod val="75000"/>
                  </a:schemeClr>
                </a:solidFill>
                <a:latin typeface="Felix Titling" panose="04060505060202020A04" pitchFamily="82" charset="0"/>
                <a:cs typeface="Arial"/>
              </a:rPr>
              <a:t> </a:t>
            </a:r>
            <a:r>
              <a:rPr sz="2000" b="1" dirty="0">
                <a:solidFill>
                  <a:schemeClr val="accent6">
                    <a:lumMod val="75000"/>
                  </a:schemeClr>
                </a:solidFill>
                <a:latin typeface="Felix Titling" panose="04060505060202020A04" pitchFamily="82" charset="0"/>
                <a:cs typeface="Arial"/>
              </a:rPr>
              <a:t>&amp;</a:t>
            </a:r>
            <a:r>
              <a:rPr sz="2000" b="1" spc="-25" dirty="0">
                <a:solidFill>
                  <a:schemeClr val="accent6">
                    <a:lumMod val="75000"/>
                  </a:schemeClr>
                </a:solidFill>
                <a:latin typeface="Felix Titling" panose="04060505060202020A04" pitchFamily="82" charset="0"/>
                <a:cs typeface="Arial"/>
              </a:rPr>
              <a:t> </a:t>
            </a:r>
            <a:r>
              <a:rPr lang="en-IN" sz="2000" b="1" spc="-10" dirty="0">
                <a:solidFill>
                  <a:schemeClr val="accent6">
                    <a:lumMod val="75000"/>
                  </a:schemeClr>
                </a:solidFill>
                <a:latin typeface="Felix Titling" panose="04060505060202020A04" pitchFamily="82" charset="0"/>
                <a:cs typeface="Arial"/>
              </a:rPr>
              <a:t>community</a:t>
            </a:r>
            <a:endParaRPr sz="2800" dirty="0">
              <a:solidFill>
                <a:schemeClr val="accent6">
                  <a:lumMod val="75000"/>
                </a:schemeClr>
              </a:solidFill>
              <a:latin typeface="Felix Titling" panose="04060505060202020A04" pitchFamily="82" charset="0"/>
              <a:cs typeface="Arial"/>
            </a:endParaRPr>
          </a:p>
        </p:txBody>
      </p:sp>
      <p:pic>
        <p:nvPicPr>
          <p:cNvPr id="10" name="object 10">
            <a:extLst>
              <a:ext uri="{FF2B5EF4-FFF2-40B4-BE49-F238E27FC236}">
                <a16:creationId xmlns:a16="http://schemas.microsoft.com/office/drawing/2014/main" id="{24C70C3C-11EB-23DB-3E27-13CC7E61AC7C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074" b="13158"/>
          <a:stretch>
            <a:fillRect/>
          </a:stretch>
        </p:blipFill>
        <p:spPr>
          <a:xfrm>
            <a:off x="803256" y="4713935"/>
            <a:ext cx="6232995" cy="2665491"/>
          </a:xfrm>
          <a:prstGeom prst="rect">
            <a:avLst/>
          </a:prstGeom>
        </p:spPr>
      </p:pic>
      <p:sp>
        <p:nvSpPr>
          <p:cNvPr id="16" name="object 16">
            <a:extLst>
              <a:ext uri="{FF2B5EF4-FFF2-40B4-BE49-F238E27FC236}">
                <a16:creationId xmlns:a16="http://schemas.microsoft.com/office/drawing/2014/main" id="{B7AEDE2C-DE4C-648D-813E-18EA981101E6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TE</a:t>
            </a:r>
            <a:r>
              <a:rPr spc="-5" dirty="0"/>
              <a:t> </a:t>
            </a:r>
            <a:r>
              <a:rPr dirty="0"/>
              <a:t>Integrated Watershed Management Project</a:t>
            </a:r>
            <a:r>
              <a:rPr spc="210" dirty="0"/>
              <a:t> </a:t>
            </a:r>
            <a:r>
              <a:rPr dirty="0"/>
              <a:t>|</a:t>
            </a:r>
            <a:r>
              <a:rPr spc="210" dirty="0"/>
              <a:t> </a:t>
            </a:r>
            <a:r>
              <a:rPr dirty="0"/>
              <a:t>Ghatdare, Khandala, Satara</a:t>
            </a:r>
            <a:r>
              <a:rPr spc="210" dirty="0"/>
              <a:t> </a:t>
            </a:r>
            <a:r>
              <a:rPr dirty="0"/>
              <a:t>|</a:t>
            </a:r>
            <a:r>
              <a:rPr spc="210" dirty="0"/>
              <a:t> </a:t>
            </a:r>
            <a:r>
              <a:rPr dirty="0"/>
              <a:t>FY 2025-</a:t>
            </a:r>
            <a:r>
              <a:rPr spc="-25" dirty="0"/>
              <a:t>26</a:t>
            </a:r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1FDEAA44-A80B-F9C4-8D5F-1B533A785907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Page</a:t>
            </a:r>
            <a:r>
              <a:rPr spc="-20" dirty="0"/>
              <a:t> </a:t>
            </a:r>
            <a:fld id="{81D60167-4931-47E6-BA6A-407CBD079E47}" type="slidenum">
              <a:rPr spc="-25" dirty="0"/>
              <a:t>10</a:t>
            </a:fld>
            <a:endParaRPr spc="-25" dirty="0"/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9125688B-A9EF-F02C-BADB-E44737DAC142}"/>
              </a:ext>
            </a:extLst>
          </p:cNvPr>
          <p:cNvSpPr txBox="1"/>
          <p:nvPr/>
        </p:nvSpPr>
        <p:spPr>
          <a:xfrm>
            <a:off x="928044" y="6986495"/>
            <a:ext cx="2697806" cy="14234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3095" marR="5080" indent="-621030">
              <a:lnSpc>
                <a:spcPct val="114599"/>
              </a:lnSpc>
              <a:spcBef>
                <a:spcPts val="100"/>
              </a:spcBef>
            </a:pPr>
            <a:r>
              <a:rPr sz="800" i="1" dirty="0">
                <a:solidFill>
                  <a:schemeClr val="bg1"/>
                </a:solidFill>
                <a:latin typeface="Arial"/>
                <a:cs typeface="Arial"/>
              </a:rPr>
              <a:t>Gram</a:t>
            </a:r>
            <a:r>
              <a:rPr sz="800" i="1" spc="-1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800" i="1" dirty="0">
                <a:solidFill>
                  <a:schemeClr val="bg1"/>
                </a:solidFill>
                <a:latin typeface="Arial"/>
                <a:cs typeface="Arial"/>
              </a:rPr>
              <a:t>Sabha</a:t>
            </a:r>
            <a:r>
              <a:rPr sz="800" i="1" spc="-1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800" i="1" dirty="0">
                <a:solidFill>
                  <a:schemeClr val="bg1"/>
                </a:solidFill>
                <a:latin typeface="Arial"/>
                <a:cs typeface="Arial"/>
              </a:rPr>
              <a:t>—</a:t>
            </a:r>
            <a:r>
              <a:rPr sz="800" i="1" spc="-1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800" i="1" dirty="0">
                <a:solidFill>
                  <a:schemeClr val="bg1"/>
                </a:solidFill>
                <a:latin typeface="Arial"/>
                <a:cs typeface="Arial"/>
              </a:rPr>
              <a:t>Farmer</a:t>
            </a:r>
            <a:r>
              <a:rPr sz="800" i="1" spc="-10" dirty="0">
                <a:solidFill>
                  <a:schemeClr val="bg1"/>
                </a:solidFill>
                <a:latin typeface="Arial"/>
                <a:cs typeface="Arial"/>
              </a:rPr>
              <a:t> Community Meeting</a:t>
            </a:r>
            <a:endParaRPr sz="800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BA14FD8-5742-832F-97A0-96F1B2DD3D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7515" t="23578" b="27342"/>
          <a:stretch>
            <a:fillRect/>
          </a:stretch>
        </p:blipFill>
        <p:spPr>
          <a:xfrm>
            <a:off x="803255" y="7355058"/>
            <a:ext cx="6232996" cy="2781557"/>
          </a:xfrm>
          <a:prstGeom prst="rect">
            <a:avLst/>
          </a:prstGeom>
        </p:spPr>
      </p:pic>
      <p:sp>
        <p:nvSpPr>
          <p:cNvPr id="15" name="object 15">
            <a:extLst>
              <a:ext uri="{FF2B5EF4-FFF2-40B4-BE49-F238E27FC236}">
                <a16:creationId xmlns:a16="http://schemas.microsoft.com/office/drawing/2014/main" id="{C0EF7122-BD2C-6BA4-B58A-8380AFB22A78}"/>
              </a:ext>
            </a:extLst>
          </p:cNvPr>
          <p:cNvSpPr txBox="1"/>
          <p:nvPr/>
        </p:nvSpPr>
        <p:spPr>
          <a:xfrm>
            <a:off x="1001064" y="9851215"/>
            <a:ext cx="1617980" cy="135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800" dirty="0">
                <a:solidFill>
                  <a:schemeClr val="bg1"/>
                </a:solidFill>
                <a:latin typeface="Arial"/>
                <a:cs typeface="Arial"/>
              </a:rPr>
              <a:t>Field Visits </a:t>
            </a:r>
            <a:endParaRPr sz="800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1ECEFF42-DC70-E498-FDEE-02CC086932E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55" t="27710" r="9257" b="10029"/>
          <a:stretch>
            <a:fillRect/>
          </a:stretch>
        </p:blipFill>
        <p:spPr>
          <a:xfrm>
            <a:off x="813066" y="2073984"/>
            <a:ext cx="6232995" cy="2646443"/>
          </a:xfrm>
          <a:prstGeom prst="rect">
            <a:avLst/>
          </a:prstGeom>
        </p:spPr>
      </p:pic>
      <p:sp>
        <p:nvSpPr>
          <p:cNvPr id="13" name="object 13">
            <a:extLst>
              <a:ext uri="{FF2B5EF4-FFF2-40B4-BE49-F238E27FC236}">
                <a16:creationId xmlns:a16="http://schemas.microsoft.com/office/drawing/2014/main" id="{5B1EB70D-E8AE-2E30-AB55-F198569BDCB0}"/>
              </a:ext>
            </a:extLst>
          </p:cNvPr>
          <p:cNvSpPr txBox="1"/>
          <p:nvPr/>
        </p:nvSpPr>
        <p:spPr>
          <a:xfrm>
            <a:off x="832116" y="4356999"/>
            <a:ext cx="2793734" cy="14234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66115" marR="5080" indent="-654050">
              <a:lnSpc>
                <a:spcPct val="114599"/>
              </a:lnSpc>
              <a:spcBef>
                <a:spcPts val="100"/>
              </a:spcBef>
            </a:pPr>
            <a:r>
              <a:rPr sz="800" i="1" dirty="0">
                <a:solidFill>
                  <a:schemeClr val="bg1"/>
                </a:solidFill>
                <a:latin typeface="Arial"/>
                <a:cs typeface="Arial"/>
              </a:rPr>
              <a:t>TE</a:t>
            </a:r>
            <a:r>
              <a:rPr sz="800" i="1" spc="-2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800" i="1" dirty="0">
                <a:solidFill>
                  <a:schemeClr val="bg1"/>
                </a:solidFill>
                <a:latin typeface="Arial"/>
                <a:cs typeface="Arial"/>
              </a:rPr>
              <a:t>Connectivity</a:t>
            </a:r>
            <a:r>
              <a:rPr sz="800" i="1" spc="-2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800" i="1" dirty="0">
                <a:solidFill>
                  <a:schemeClr val="bg1"/>
                </a:solidFill>
                <a:latin typeface="Arial"/>
                <a:cs typeface="Arial"/>
              </a:rPr>
              <a:t>×</a:t>
            </a:r>
            <a:r>
              <a:rPr sz="800" i="1" spc="-2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800" i="1" dirty="0">
                <a:solidFill>
                  <a:schemeClr val="bg1"/>
                </a:solidFill>
                <a:latin typeface="Arial"/>
                <a:cs typeface="Arial"/>
              </a:rPr>
              <a:t>SJSM</a:t>
            </a:r>
            <a:r>
              <a:rPr sz="800" i="1" spc="-2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800" i="1" dirty="0">
                <a:solidFill>
                  <a:schemeClr val="bg1"/>
                </a:solidFill>
                <a:latin typeface="Arial"/>
                <a:cs typeface="Arial"/>
              </a:rPr>
              <a:t>Project</a:t>
            </a:r>
            <a:r>
              <a:rPr sz="800" i="1" spc="-2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800" i="1" dirty="0">
                <a:solidFill>
                  <a:schemeClr val="bg1"/>
                </a:solidFill>
                <a:latin typeface="Arial"/>
                <a:cs typeface="Arial"/>
              </a:rPr>
              <a:t>Launch</a:t>
            </a:r>
            <a:r>
              <a:rPr sz="800" i="1" spc="-2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800" i="1" spc="-50" dirty="0">
                <a:solidFill>
                  <a:schemeClr val="bg1"/>
                </a:solidFill>
                <a:latin typeface="Arial"/>
                <a:cs typeface="Arial"/>
              </a:rPr>
              <a:t>—</a:t>
            </a:r>
            <a:r>
              <a:rPr sz="800" i="1" dirty="0">
                <a:solidFill>
                  <a:schemeClr val="bg1"/>
                </a:solidFill>
                <a:latin typeface="Arial"/>
                <a:cs typeface="Arial"/>
              </a:rPr>
              <a:t> Ghatdare</a:t>
            </a:r>
            <a:r>
              <a:rPr sz="800" i="1" spc="-3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800" i="1" spc="-20" dirty="0">
                <a:solidFill>
                  <a:schemeClr val="bg1"/>
                </a:solidFill>
                <a:latin typeface="Arial"/>
                <a:cs typeface="Arial"/>
              </a:rPr>
              <a:t>Site</a:t>
            </a:r>
            <a:endParaRPr sz="800" dirty="0">
              <a:solidFill>
                <a:schemeClr val="bg1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03790100"/>
      </p:ext>
    </p:extLst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500" y="127000"/>
            <a:ext cx="167449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b="1" dirty="0">
                <a:solidFill>
                  <a:srgbClr val="FFFFFF"/>
                </a:solidFill>
                <a:latin typeface="Arial"/>
                <a:cs typeface="Arial"/>
              </a:rPr>
              <a:t>TE</a:t>
            </a:r>
            <a:r>
              <a:rPr sz="80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FFFFFF"/>
                </a:solidFill>
                <a:latin typeface="Arial"/>
                <a:cs typeface="Arial"/>
              </a:rPr>
              <a:t>IWMP</a:t>
            </a:r>
            <a:r>
              <a:rPr sz="80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FFFFFF"/>
                </a:solidFill>
                <a:latin typeface="Arial"/>
                <a:cs typeface="Arial"/>
              </a:rPr>
              <a:t>–</a:t>
            </a:r>
            <a:r>
              <a:rPr sz="80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FFFFFF"/>
                </a:solidFill>
                <a:latin typeface="Arial"/>
                <a:cs typeface="Arial"/>
              </a:rPr>
              <a:t>Annual Report</a:t>
            </a:r>
            <a:r>
              <a:rPr sz="80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800" b="1" spc="-10" dirty="0">
                <a:solidFill>
                  <a:srgbClr val="FFFFFF"/>
                </a:solidFill>
                <a:latin typeface="Arial"/>
                <a:cs typeface="Arial"/>
              </a:rPr>
              <a:t>2025-</a:t>
            </a:r>
            <a:r>
              <a:rPr sz="800" b="1" spc="-25" dirty="0">
                <a:solidFill>
                  <a:srgbClr val="FFFFFF"/>
                </a:solidFill>
                <a:latin typeface="Arial"/>
                <a:cs typeface="Arial"/>
              </a:rPr>
              <a:t>26</a:t>
            </a:r>
            <a:endParaRPr sz="8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968590" y="127000"/>
            <a:ext cx="247777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FFFFFF"/>
                </a:solidFill>
                <a:latin typeface="Arial MT"/>
                <a:cs typeface="Arial MT"/>
              </a:rPr>
              <a:t>TE</a:t>
            </a:r>
            <a:r>
              <a:rPr sz="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FFFFFF"/>
                </a:solidFill>
                <a:latin typeface="Arial MT"/>
                <a:cs typeface="Arial MT"/>
              </a:rPr>
              <a:t>Connectivity</a:t>
            </a:r>
            <a:r>
              <a:rPr sz="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FFFFFF"/>
                </a:solidFill>
                <a:latin typeface="Arial MT"/>
                <a:cs typeface="Arial MT"/>
              </a:rPr>
              <a:t>×</a:t>
            </a:r>
            <a:r>
              <a:rPr sz="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FFFFFF"/>
                </a:solidFill>
                <a:latin typeface="Arial MT"/>
                <a:cs typeface="Arial MT"/>
              </a:rPr>
              <a:t>SJSM</a:t>
            </a:r>
            <a:r>
              <a:rPr sz="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FFFFFF"/>
                </a:solidFill>
                <a:latin typeface="Arial MT"/>
                <a:cs typeface="Arial MT"/>
              </a:rPr>
              <a:t>Satara</a:t>
            </a:r>
            <a:r>
              <a:rPr sz="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FFFFFF"/>
                </a:solidFill>
                <a:latin typeface="Arial MT"/>
                <a:cs typeface="Arial MT"/>
              </a:rPr>
              <a:t>|</a:t>
            </a:r>
            <a:r>
              <a:rPr sz="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FFFFFF"/>
                </a:solidFill>
                <a:latin typeface="Arial MT"/>
                <a:cs typeface="Arial MT"/>
              </a:rPr>
              <a:t>Ghatdare</a:t>
            </a:r>
            <a:r>
              <a:rPr sz="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Arial MT"/>
                <a:cs typeface="Arial MT"/>
              </a:rPr>
              <a:t>Watershed</a:t>
            </a:r>
            <a:endParaRPr sz="800" dirty="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03200" y="10382119"/>
            <a:ext cx="7357109" cy="309880"/>
            <a:chOff x="203200" y="10382119"/>
            <a:chExt cx="7357109" cy="309880"/>
          </a:xfrm>
        </p:grpSpPr>
        <p:sp>
          <p:nvSpPr>
            <p:cNvPr id="5" name="object 5"/>
            <p:cNvSpPr/>
            <p:nvPr/>
          </p:nvSpPr>
          <p:spPr>
            <a:xfrm>
              <a:off x="203200" y="10387199"/>
              <a:ext cx="7357109" cy="304800"/>
            </a:xfrm>
            <a:custGeom>
              <a:avLst/>
              <a:gdLst/>
              <a:ahLst/>
              <a:cxnLst/>
              <a:rect l="l" t="t" r="r" b="b"/>
              <a:pathLst>
                <a:path w="7357109" h="304800">
                  <a:moveTo>
                    <a:pt x="73568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7356800" y="304800"/>
                  </a:lnTo>
                  <a:lnTo>
                    <a:pt x="7356800" y="0"/>
                  </a:lnTo>
                  <a:close/>
                </a:path>
              </a:pathLst>
            </a:custGeom>
            <a:solidFill>
              <a:srgbClr val="F4EFE8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6" name="object 6"/>
            <p:cNvSpPr/>
            <p:nvPr/>
          </p:nvSpPr>
          <p:spPr>
            <a:xfrm>
              <a:off x="203200" y="10387199"/>
              <a:ext cx="7357109" cy="0"/>
            </a:xfrm>
            <a:custGeom>
              <a:avLst/>
              <a:gdLst/>
              <a:ahLst/>
              <a:cxnLst/>
              <a:rect l="l" t="t" r="r" b="b"/>
              <a:pathLst>
                <a:path w="7357109">
                  <a:moveTo>
                    <a:pt x="0" y="0"/>
                  </a:moveTo>
                  <a:lnTo>
                    <a:pt x="7356800" y="0"/>
                  </a:lnTo>
                </a:path>
              </a:pathLst>
            </a:custGeom>
            <a:ln w="10160">
              <a:solidFill>
                <a:srgbClr val="C8A84B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object 7"/>
          <p:cNvSpPr/>
          <p:nvPr/>
        </p:nvSpPr>
        <p:spPr>
          <a:xfrm>
            <a:off x="779199" y="622299"/>
            <a:ext cx="1241425" cy="63500"/>
          </a:xfrm>
          <a:custGeom>
            <a:avLst/>
            <a:gdLst/>
            <a:ahLst/>
            <a:cxnLst/>
            <a:rect l="l" t="t" r="r" b="b"/>
            <a:pathLst>
              <a:path w="1241425" h="63500">
                <a:moveTo>
                  <a:pt x="1240960" y="0"/>
                </a:moveTo>
                <a:lnTo>
                  <a:pt x="0" y="0"/>
                </a:lnTo>
                <a:lnTo>
                  <a:pt x="0" y="63500"/>
                </a:lnTo>
                <a:lnTo>
                  <a:pt x="1240960" y="63500"/>
                </a:lnTo>
                <a:lnTo>
                  <a:pt x="1240960" y="0"/>
                </a:lnTo>
                <a:close/>
              </a:path>
            </a:pathLst>
          </a:custGeom>
          <a:solidFill>
            <a:srgbClr val="C8A84B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8"/>
          <p:cNvSpPr/>
          <p:nvPr/>
        </p:nvSpPr>
        <p:spPr>
          <a:xfrm>
            <a:off x="2082208" y="641349"/>
            <a:ext cx="4902200" cy="19050"/>
          </a:xfrm>
          <a:custGeom>
            <a:avLst/>
            <a:gdLst/>
            <a:ahLst/>
            <a:cxnLst/>
            <a:rect l="l" t="t" r="r" b="b"/>
            <a:pathLst>
              <a:path w="4902200" h="19050">
                <a:moveTo>
                  <a:pt x="4901792" y="0"/>
                </a:moveTo>
                <a:lnTo>
                  <a:pt x="0" y="0"/>
                </a:lnTo>
                <a:lnTo>
                  <a:pt x="0" y="19050"/>
                </a:lnTo>
                <a:lnTo>
                  <a:pt x="4901792" y="19050"/>
                </a:lnTo>
                <a:lnTo>
                  <a:pt x="4901792" y="0"/>
                </a:lnTo>
                <a:close/>
              </a:path>
            </a:pathLst>
          </a:custGeom>
          <a:solidFill>
            <a:srgbClr val="D4C4A0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object 9"/>
          <p:cNvSpPr txBox="1"/>
          <p:nvPr/>
        </p:nvSpPr>
        <p:spPr>
          <a:xfrm>
            <a:off x="766499" y="683005"/>
            <a:ext cx="6231255" cy="1716175"/>
          </a:xfrm>
          <a:prstGeom prst="rect">
            <a:avLst/>
          </a:prstGeom>
        </p:spPr>
        <p:txBody>
          <a:bodyPr vert="horz" wrap="square" lIns="0" tIns="15494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220"/>
              </a:spcBef>
            </a:pPr>
            <a:r>
              <a:rPr sz="2800" b="1" dirty="0">
                <a:solidFill>
                  <a:srgbClr val="CC9900"/>
                </a:solidFill>
                <a:latin typeface="Felix Titling" panose="04060505060202020A04" pitchFamily="82" charset="0"/>
                <a:cs typeface="Arial"/>
              </a:rPr>
              <a:t>Water</a:t>
            </a:r>
            <a:r>
              <a:rPr sz="2800" b="1" spc="-45" dirty="0">
                <a:solidFill>
                  <a:srgbClr val="CC9900"/>
                </a:solidFill>
                <a:latin typeface="Felix Titling" panose="04060505060202020A04" pitchFamily="82" charset="0"/>
                <a:cs typeface="Arial"/>
              </a:rPr>
              <a:t> </a:t>
            </a:r>
            <a:r>
              <a:rPr sz="2800" b="1" dirty="0">
                <a:solidFill>
                  <a:srgbClr val="CC9900"/>
                </a:solidFill>
                <a:latin typeface="Felix Titling" panose="04060505060202020A04" pitchFamily="82" charset="0"/>
                <a:cs typeface="Arial"/>
              </a:rPr>
              <a:t>Purification</a:t>
            </a:r>
            <a:r>
              <a:rPr sz="2800" b="1" spc="-40" dirty="0">
                <a:solidFill>
                  <a:srgbClr val="CC9900"/>
                </a:solidFill>
                <a:latin typeface="Felix Titling" panose="04060505060202020A04" pitchFamily="82" charset="0"/>
                <a:cs typeface="Arial"/>
              </a:rPr>
              <a:t> </a:t>
            </a:r>
            <a:r>
              <a:rPr sz="2800" b="1" dirty="0">
                <a:solidFill>
                  <a:srgbClr val="CC9900"/>
                </a:solidFill>
                <a:latin typeface="Felix Titling" panose="04060505060202020A04" pitchFamily="82" charset="0"/>
                <a:cs typeface="Arial"/>
              </a:rPr>
              <a:t>Unit</a:t>
            </a:r>
            <a:r>
              <a:rPr sz="2800" b="1" spc="-40" dirty="0">
                <a:solidFill>
                  <a:srgbClr val="CC9900"/>
                </a:solidFill>
                <a:latin typeface="Felix Titling" panose="04060505060202020A04" pitchFamily="82" charset="0"/>
                <a:cs typeface="Arial"/>
              </a:rPr>
              <a:t> </a:t>
            </a:r>
            <a:r>
              <a:rPr lang="en-IN" sz="2800" b="1" spc="-40" dirty="0">
                <a:solidFill>
                  <a:srgbClr val="CC9900"/>
                </a:solidFill>
                <a:latin typeface="Felix Titling" panose="04060505060202020A04" pitchFamily="82" charset="0"/>
                <a:cs typeface="Arial"/>
              </a:rPr>
              <a:t>-</a:t>
            </a:r>
          </a:p>
          <a:p>
            <a:pPr marL="12700" algn="just">
              <a:lnSpc>
                <a:spcPct val="100000"/>
              </a:lnSpc>
            </a:pPr>
            <a:r>
              <a:rPr sz="2000" b="1" dirty="0">
                <a:solidFill>
                  <a:srgbClr val="0070C0"/>
                </a:solidFill>
                <a:latin typeface="Felix Titling" panose="04060505060202020A04" pitchFamily="82" charset="0"/>
                <a:cs typeface="Arial"/>
              </a:rPr>
              <a:t>Safe</a:t>
            </a:r>
            <a:r>
              <a:rPr sz="2000" b="1" spc="-40" dirty="0">
                <a:solidFill>
                  <a:srgbClr val="0070C0"/>
                </a:solidFill>
                <a:latin typeface="Felix Titling" panose="04060505060202020A04" pitchFamily="82" charset="0"/>
                <a:cs typeface="Arial"/>
              </a:rPr>
              <a:t> </a:t>
            </a:r>
            <a:r>
              <a:rPr sz="2000" b="1" dirty="0">
                <a:solidFill>
                  <a:srgbClr val="0070C0"/>
                </a:solidFill>
                <a:latin typeface="Felix Titling" panose="04060505060202020A04" pitchFamily="82" charset="0"/>
                <a:cs typeface="Arial"/>
              </a:rPr>
              <a:t>Drinking</a:t>
            </a:r>
            <a:r>
              <a:rPr sz="2000" b="1" spc="-45" dirty="0">
                <a:solidFill>
                  <a:srgbClr val="0070C0"/>
                </a:solidFill>
                <a:latin typeface="Felix Titling" panose="04060505060202020A04" pitchFamily="82" charset="0"/>
                <a:cs typeface="Arial"/>
              </a:rPr>
              <a:t> </a:t>
            </a:r>
            <a:r>
              <a:rPr sz="2000" b="1" spc="-10" dirty="0">
                <a:solidFill>
                  <a:srgbClr val="0070C0"/>
                </a:solidFill>
                <a:latin typeface="Felix Titling" panose="04060505060202020A04" pitchFamily="82" charset="0"/>
                <a:cs typeface="Arial"/>
              </a:rPr>
              <a:t>Water</a:t>
            </a:r>
            <a:endParaRPr lang="en-IN" sz="2000" b="1" spc="-10" dirty="0">
              <a:solidFill>
                <a:srgbClr val="0070C0"/>
              </a:solidFill>
              <a:latin typeface="Felix Titling" panose="04060505060202020A04" pitchFamily="82" charset="0"/>
              <a:cs typeface="Arial"/>
            </a:endParaRPr>
          </a:p>
          <a:p>
            <a:pPr marL="12700" algn="just">
              <a:lnSpc>
                <a:spcPct val="100000"/>
              </a:lnSpc>
            </a:pPr>
            <a:endParaRPr sz="500" dirty="0">
              <a:latin typeface="Felix Titling" panose="04060505060202020A04" pitchFamily="82" charset="0"/>
              <a:cs typeface="Arial"/>
            </a:endParaRPr>
          </a:p>
          <a:p>
            <a:pPr marL="12700" marR="5080" algn="just">
              <a:lnSpc>
                <a:spcPct val="125000"/>
              </a:lnSpc>
              <a:spcBef>
                <a:spcPts val="360"/>
              </a:spcBef>
            </a:pPr>
            <a:r>
              <a:rPr sz="900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The</a:t>
            </a:r>
            <a:r>
              <a:rPr sz="900" spc="-15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 </a:t>
            </a:r>
            <a:r>
              <a:rPr sz="900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Water</a:t>
            </a:r>
            <a:r>
              <a:rPr sz="900" spc="-5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 </a:t>
            </a:r>
            <a:r>
              <a:rPr sz="900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Purification</a:t>
            </a:r>
            <a:r>
              <a:rPr sz="900" spc="-5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 </a:t>
            </a:r>
            <a:r>
              <a:rPr sz="900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Unit —</a:t>
            </a:r>
            <a:r>
              <a:rPr sz="900" spc="-5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 </a:t>
            </a:r>
            <a:r>
              <a:rPr sz="900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a</a:t>
            </a:r>
            <a:r>
              <a:rPr sz="900" spc="-5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 </a:t>
            </a:r>
            <a:r>
              <a:rPr sz="900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key</a:t>
            </a:r>
            <a:r>
              <a:rPr sz="900" spc="-5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 </a:t>
            </a:r>
            <a:r>
              <a:rPr sz="900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deliverable of</a:t>
            </a:r>
            <a:r>
              <a:rPr sz="900" spc="-5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 </a:t>
            </a:r>
            <a:r>
              <a:rPr sz="900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the</a:t>
            </a:r>
            <a:r>
              <a:rPr sz="900" spc="-5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 </a:t>
            </a:r>
            <a:r>
              <a:rPr sz="900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TE</a:t>
            </a:r>
            <a:r>
              <a:rPr sz="900" spc="-5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 </a:t>
            </a:r>
            <a:r>
              <a:rPr sz="900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IWMP —</a:t>
            </a:r>
            <a:r>
              <a:rPr sz="900" spc="-5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 </a:t>
            </a:r>
            <a:r>
              <a:rPr sz="900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was</a:t>
            </a:r>
            <a:r>
              <a:rPr sz="900" spc="-5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 </a:t>
            </a:r>
            <a:r>
              <a:rPr sz="900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procured</a:t>
            </a:r>
            <a:r>
              <a:rPr sz="900" spc="-5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 </a:t>
            </a:r>
            <a:r>
              <a:rPr sz="900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and installed</a:t>
            </a:r>
            <a:r>
              <a:rPr sz="900" spc="-5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 </a:t>
            </a:r>
            <a:r>
              <a:rPr sz="900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to</a:t>
            </a:r>
            <a:r>
              <a:rPr sz="900" spc="-5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 </a:t>
            </a:r>
            <a:r>
              <a:rPr sz="900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provide </a:t>
            </a:r>
            <a:r>
              <a:rPr sz="900" spc="-10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safe, </a:t>
            </a:r>
            <a:r>
              <a:rPr sz="900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treated</a:t>
            </a:r>
            <a:r>
              <a:rPr sz="900" spc="200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 </a:t>
            </a:r>
            <a:r>
              <a:rPr sz="900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drinking</a:t>
            </a:r>
            <a:r>
              <a:rPr sz="900" spc="204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 </a:t>
            </a:r>
            <a:r>
              <a:rPr sz="900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water</a:t>
            </a:r>
            <a:r>
              <a:rPr sz="900" spc="200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 </a:t>
            </a:r>
            <a:r>
              <a:rPr sz="900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to</a:t>
            </a:r>
            <a:r>
              <a:rPr sz="900" spc="204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 </a:t>
            </a:r>
            <a:r>
              <a:rPr sz="900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all</a:t>
            </a:r>
            <a:r>
              <a:rPr sz="900" spc="204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 </a:t>
            </a:r>
            <a:r>
              <a:rPr sz="900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225</a:t>
            </a:r>
            <a:r>
              <a:rPr sz="900" spc="200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 </a:t>
            </a:r>
            <a:r>
              <a:rPr sz="900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households</a:t>
            </a:r>
            <a:r>
              <a:rPr sz="900" spc="204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 </a:t>
            </a:r>
            <a:r>
              <a:rPr sz="900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of</a:t>
            </a:r>
            <a:r>
              <a:rPr sz="900" spc="204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 </a:t>
            </a:r>
            <a:r>
              <a:rPr sz="900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Ghatdare</a:t>
            </a:r>
            <a:r>
              <a:rPr sz="900" spc="200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 </a:t>
            </a:r>
            <a:r>
              <a:rPr sz="900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village.</a:t>
            </a:r>
            <a:r>
              <a:rPr sz="900" spc="204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 </a:t>
            </a:r>
            <a:r>
              <a:rPr sz="900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The</a:t>
            </a:r>
            <a:r>
              <a:rPr sz="900" spc="204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 </a:t>
            </a:r>
            <a:r>
              <a:rPr sz="900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unit</a:t>
            </a:r>
            <a:r>
              <a:rPr sz="900" spc="200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 </a:t>
            </a:r>
            <a:r>
              <a:rPr sz="900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was</a:t>
            </a:r>
            <a:r>
              <a:rPr sz="900" spc="204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 </a:t>
            </a:r>
            <a:r>
              <a:rPr sz="900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inaugurated</a:t>
            </a:r>
            <a:r>
              <a:rPr sz="900" spc="204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 </a:t>
            </a:r>
            <a:r>
              <a:rPr sz="900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and</a:t>
            </a:r>
            <a:r>
              <a:rPr sz="900" spc="200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 </a:t>
            </a:r>
            <a:r>
              <a:rPr sz="900" spc="-10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received </a:t>
            </a:r>
            <a:r>
              <a:rPr sz="900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enthusiastically</a:t>
            </a:r>
            <a:r>
              <a:rPr sz="900" spc="-10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 </a:t>
            </a:r>
            <a:r>
              <a:rPr sz="900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by</a:t>
            </a:r>
            <a:r>
              <a:rPr sz="900" spc="-5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 </a:t>
            </a:r>
            <a:r>
              <a:rPr sz="900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the</a:t>
            </a:r>
            <a:r>
              <a:rPr sz="900" spc="-5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 </a:t>
            </a:r>
            <a:r>
              <a:rPr sz="900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community,</a:t>
            </a:r>
            <a:r>
              <a:rPr sz="900" spc="-10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 </a:t>
            </a:r>
            <a:r>
              <a:rPr sz="900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particularly</a:t>
            </a:r>
            <a:r>
              <a:rPr sz="900" spc="-5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 </a:t>
            </a:r>
            <a:r>
              <a:rPr sz="900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women</a:t>
            </a:r>
            <a:r>
              <a:rPr sz="900" spc="-5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 </a:t>
            </a:r>
            <a:r>
              <a:rPr sz="900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and</a:t>
            </a:r>
            <a:r>
              <a:rPr sz="900" spc="-10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 </a:t>
            </a:r>
            <a:r>
              <a:rPr sz="900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SHG</a:t>
            </a:r>
            <a:r>
              <a:rPr sz="900" spc="-5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 </a:t>
            </a:r>
            <a:r>
              <a:rPr sz="900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members</a:t>
            </a:r>
            <a:r>
              <a:rPr sz="900" spc="-5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 </a:t>
            </a:r>
            <a:r>
              <a:rPr sz="900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who</a:t>
            </a:r>
            <a:r>
              <a:rPr sz="900" spc="-10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 </a:t>
            </a:r>
            <a:r>
              <a:rPr sz="900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led</a:t>
            </a:r>
            <a:r>
              <a:rPr sz="900" spc="-5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 </a:t>
            </a:r>
            <a:r>
              <a:rPr sz="900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the</a:t>
            </a:r>
            <a:r>
              <a:rPr sz="900" spc="-5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 </a:t>
            </a:r>
            <a:r>
              <a:rPr sz="900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commissioning</a:t>
            </a:r>
            <a:r>
              <a:rPr sz="900" spc="-10" dirty="0">
                <a:solidFill>
                  <a:srgbClr val="2A2A2A"/>
                </a:solidFill>
                <a:latin typeface="Felix Titling" panose="04060505060202020A04" pitchFamily="82" charset="0"/>
                <a:cs typeface="Arial MT"/>
              </a:rPr>
              <a:t> process</a:t>
            </a:r>
            <a:r>
              <a:rPr sz="1000" spc="-10" dirty="0">
                <a:solidFill>
                  <a:srgbClr val="2A2A2A"/>
                </a:solidFill>
                <a:latin typeface="Arial MT"/>
                <a:cs typeface="Arial MT"/>
              </a:rPr>
              <a:t>.</a:t>
            </a:r>
            <a:endParaRPr sz="1000" dirty="0">
              <a:latin typeface="Arial MT"/>
              <a:cs typeface="Arial MT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6499" y="2441311"/>
            <a:ext cx="3120382" cy="2333693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61204" y="2441311"/>
            <a:ext cx="3070651" cy="2316046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766499" y="4824438"/>
            <a:ext cx="5785967" cy="135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385185" algn="l"/>
              </a:tabLst>
            </a:pPr>
            <a:r>
              <a:rPr sz="800" i="1" dirty="0">
                <a:solidFill>
                  <a:srgbClr val="8C8077"/>
                </a:solidFill>
                <a:latin typeface="Arial"/>
                <a:cs typeface="Arial"/>
              </a:rPr>
              <a:t>Water</a:t>
            </a:r>
            <a:r>
              <a:rPr sz="800" i="1" spc="-25" dirty="0">
                <a:solidFill>
                  <a:srgbClr val="8C8077"/>
                </a:solidFill>
                <a:latin typeface="Arial"/>
                <a:cs typeface="Arial"/>
              </a:rPr>
              <a:t> </a:t>
            </a:r>
            <a:r>
              <a:rPr sz="800" i="1" dirty="0">
                <a:solidFill>
                  <a:srgbClr val="8C8077"/>
                </a:solidFill>
                <a:latin typeface="Arial"/>
                <a:cs typeface="Arial"/>
              </a:rPr>
              <a:t>Purification</a:t>
            </a:r>
            <a:r>
              <a:rPr sz="800" i="1" spc="-20" dirty="0">
                <a:solidFill>
                  <a:srgbClr val="8C8077"/>
                </a:solidFill>
                <a:latin typeface="Arial"/>
                <a:cs typeface="Arial"/>
              </a:rPr>
              <a:t> </a:t>
            </a:r>
            <a:r>
              <a:rPr sz="800" i="1" dirty="0">
                <a:solidFill>
                  <a:srgbClr val="8C8077"/>
                </a:solidFill>
                <a:latin typeface="Arial"/>
                <a:cs typeface="Arial"/>
              </a:rPr>
              <a:t>Plant</a:t>
            </a:r>
            <a:r>
              <a:rPr sz="800" i="1" spc="-25" dirty="0">
                <a:solidFill>
                  <a:srgbClr val="8C8077"/>
                </a:solidFill>
                <a:latin typeface="Arial"/>
                <a:cs typeface="Arial"/>
              </a:rPr>
              <a:t> </a:t>
            </a:r>
            <a:r>
              <a:rPr sz="800" i="1" dirty="0">
                <a:solidFill>
                  <a:srgbClr val="8C8077"/>
                </a:solidFill>
                <a:latin typeface="Arial"/>
                <a:cs typeface="Arial"/>
              </a:rPr>
              <a:t>—</a:t>
            </a:r>
            <a:r>
              <a:rPr sz="800" i="1" spc="-20" dirty="0">
                <a:solidFill>
                  <a:srgbClr val="8C8077"/>
                </a:solidFill>
                <a:latin typeface="Arial"/>
                <a:cs typeface="Arial"/>
              </a:rPr>
              <a:t> </a:t>
            </a:r>
            <a:r>
              <a:rPr sz="800" i="1" dirty="0">
                <a:solidFill>
                  <a:srgbClr val="8C8077"/>
                </a:solidFill>
                <a:latin typeface="Arial"/>
                <a:cs typeface="Arial"/>
              </a:rPr>
              <a:t>Inauguration</a:t>
            </a:r>
            <a:r>
              <a:rPr sz="800" i="1" spc="-25" dirty="0">
                <a:solidFill>
                  <a:srgbClr val="8C8077"/>
                </a:solidFill>
                <a:latin typeface="Arial"/>
                <a:cs typeface="Arial"/>
              </a:rPr>
              <a:t> </a:t>
            </a:r>
            <a:r>
              <a:rPr sz="800" i="1" dirty="0">
                <a:solidFill>
                  <a:srgbClr val="8C8077"/>
                </a:solidFill>
                <a:latin typeface="Arial"/>
                <a:cs typeface="Arial"/>
              </a:rPr>
              <a:t>by</a:t>
            </a:r>
            <a:r>
              <a:rPr sz="800" i="1" spc="-20" dirty="0">
                <a:solidFill>
                  <a:srgbClr val="8C8077"/>
                </a:solidFill>
                <a:latin typeface="Arial"/>
                <a:cs typeface="Arial"/>
              </a:rPr>
              <a:t> </a:t>
            </a:r>
            <a:r>
              <a:rPr sz="800" i="1" spc="-10" dirty="0">
                <a:solidFill>
                  <a:srgbClr val="8C8077"/>
                </a:solidFill>
                <a:latin typeface="Arial"/>
                <a:cs typeface="Arial"/>
              </a:rPr>
              <a:t>Community</a:t>
            </a:r>
            <a:r>
              <a:rPr sz="800" i="1" dirty="0">
                <a:solidFill>
                  <a:srgbClr val="8C8077"/>
                </a:solidFill>
                <a:latin typeface="Arial"/>
                <a:cs typeface="Arial"/>
              </a:rPr>
              <a:t>	</a:t>
            </a:r>
            <a:r>
              <a:rPr lang="en-IN" sz="800" i="1" dirty="0">
                <a:solidFill>
                  <a:srgbClr val="8C8077"/>
                </a:solidFill>
                <a:latin typeface="Arial"/>
                <a:cs typeface="Arial"/>
              </a:rPr>
              <a:t>Inauguration and Handover session</a:t>
            </a:r>
            <a:endParaRPr sz="800" dirty="0">
              <a:latin typeface="Arial"/>
              <a:cs typeface="Arial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TE</a:t>
            </a:r>
            <a:r>
              <a:rPr spc="-5" dirty="0"/>
              <a:t> </a:t>
            </a:r>
            <a:r>
              <a:rPr dirty="0"/>
              <a:t>Integrated Watershed Management Project</a:t>
            </a:r>
            <a:r>
              <a:rPr spc="210" dirty="0"/>
              <a:t> </a:t>
            </a:r>
            <a:r>
              <a:rPr dirty="0"/>
              <a:t>|</a:t>
            </a:r>
            <a:r>
              <a:rPr spc="210" dirty="0"/>
              <a:t> </a:t>
            </a:r>
            <a:r>
              <a:rPr dirty="0"/>
              <a:t>Ghatdare, Khandala, Satara</a:t>
            </a:r>
            <a:r>
              <a:rPr spc="210" dirty="0"/>
              <a:t> </a:t>
            </a:r>
            <a:r>
              <a:rPr dirty="0"/>
              <a:t>|</a:t>
            </a:r>
            <a:r>
              <a:rPr spc="210" dirty="0"/>
              <a:t> </a:t>
            </a:r>
            <a:r>
              <a:rPr dirty="0"/>
              <a:t>FY 2025-</a:t>
            </a:r>
            <a:r>
              <a:rPr spc="-25" dirty="0"/>
              <a:t>26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Page</a:t>
            </a:r>
            <a:r>
              <a:rPr spc="-20" dirty="0"/>
              <a:t> </a:t>
            </a:r>
            <a:fld id="{81D60167-4931-47E6-BA6A-407CBD079E47}" type="slidenum">
              <a:rPr spc="-25" dirty="0"/>
              <a:t>11</a:t>
            </a:fld>
            <a:endParaRPr spc="-25" dirty="0"/>
          </a:p>
        </p:txBody>
      </p:sp>
      <p:sp>
        <p:nvSpPr>
          <p:cNvPr id="13" name="object 13"/>
          <p:cNvSpPr txBox="1"/>
          <p:nvPr/>
        </p:nvSpPr>
        <p:spPr>
          <a:xfrm>
            <a:off x="826635" y="5088634"/>
            <a:ext cx="6205220" cy="3232231"/>
          </a:xfrm>
          <a:prstGeom prst="rect">
            <a:avLst/>
          </a:prstGeom>
          <a:solidFill>
            <a:srgbClr val="0070C0"/>
          </a:solidFill>
          <a:ln w="25400">
            <a:solidFill>
              <a:srgbClr val="C8A84B"/>
            </a:solidFill>
          </a:ln>
        </p:spPr>
        <p:txBody>
          <a:bodyPr vert="horz" wrap="square" lIns="0" tIns="99060" rIns="0" bIns="0" rtlCol="0">
            <a:spAutoFit/>
          </a:bodyPr>
          <a:lstStyle/>
          <a:p>
            <a:pPr marL="177800" marR="3439160">
              <a:lnSpc>
                <a:spcPct val="138900"/>
              </a:lnSpc>
              <a:spcBef>
                <a:spcPts val="780"/>
              </a:spcBef>
              <a:tabLst>
                <a:tab pos="323850" algn="l"/>
              </a:tabLst>
            </a:pPr>
            <a:r>
              <a:rPr sz="1050" b="1" dirty="0">
                <a:solidFill>
                  <a:schemeClr val="bg1"/>
                </a:solidFill>
                <a:latin typeface="Felix Titling" panose="04060505060202020A04" pitchFamily="82" charset="0"/>
                <a:cs typeface="Arial"/>
              </a:rPr>
              <a:t>Water</a:t>
            </a:r>
            <a:r>
              <a:rPr sz="1050" b="1" spc="-5" dirty="0">
                <a:solidFill>
                  <a:schemeClr val="bg1"/>
                </a:solidFill>
                <a:latin typeface="Felix Titling" panose="04060505060202020A04" pitchFamily="82" charset="0"/>
                <a:cs typeface="Arial"/>
              </a:rPr>
              <a:t> </a:t>
            </a:r>
            <a:r>
              <a:rPr sz="1050" b="1" dirty="0">
                <a:solidFill>
                  <a:schemeClr val="bg1"/>
                </a:solidFill>
                <a:latin typeface="Felix Titling" panose="04060505060202020A04" pitchFamily="82" charset="0"/>
                <a:cs typeface="Arial"/>
              </a:rPr>
              <a:t>Purification</a:t>
            </a:r>
            <a:r>
              <a:rPr sz="1050" b="1" spc="-5" dirty="0">
                <a:solidFill>
                  <a:schemeClr val="bg1"/>
                </a:solidFill>
                <a:latin typeface="Felix Titling" panose="04060505060202020A04" pitchFamily="82" charset="0"/>
                <a:cs typeface="Arial"/>
              </a:rPr>
              <a:t> </a:t>
            </a:r>
            <a:r>
              <a:rPr sz="1050" b="1" dirty="0">
                <a:solidFill>
                  <a:schemeClr val="bg1"/>
                </a:solidFill>
                <a:latin typeface="Felix Titling" panose="04060505060202020A04" pitchFamily="82" charset="0"/>
                <a:cs typeface="Arial"/>
              </a:rPr>
              <a:t>Unit</a:t>
            </a:r>
            <a:r>
              <a:rPr sz="1050" b="1" spc="-5" dirty="0">
                <a:solidFill>
                  <a:schemeClr val="bg1"/>
                </a:solidFill>
                <a:latin typeface="Felix Titling" panose="04060505060202020A04" pitchFamily="82" charset="0"/>
                <a:cs typeface="Arial"/>
              </a:rPr>
              <a:t> </a:t>
            </a:r>
            <a:r>
              <a:rPr sz="1050" dirty="0">
                <a:solidFill>
                  <a:schemeClr val="bg1"/>
                </a:solidFill>
                <a:latin typeface="Felix Titling" panose="04060505060202020A04" pitchFamily="82" charset="0"/>
                <a:cs typeface="Arial"/>
              </a:rPr>
              <a:t>— Key</a:t>
            </a:r>
            <a:r>
              <a:rPr sz="1050" spc="-5" dirty="0">
                <a:solidFill>
                  <a:schemeClr val="bg1"/>
                </a:solidFill>
                <a:latin typeface="Felix Titling" panose="04060505060202020A04" pitchFamily="82" charset="0"/>
                <a:cs typeface="Arial"/>
              </a:rPr>
              <a:t> </a:t>
            </a:r>
            <a:r>
              <a:rPr sz="1050" spc="-10" dirty="0">
                <a:solidFill>
                  <a:schemeClr val="bg1"/>
                </a:solidFill>
                <a:latin typeface="Felix Titling" panose="04060505060202020A04" pitchFamily="82" charset="0"/>
                <a:cs typeface="Arial"/>
              </a:rPr>
              <a:t>Facts</a:t>
            </a:r>
            <a:r>
              <a:rPr sz="1050" spc="500" dirty="0">
                <a:solidFill>
                  <a:schemeClr val="bg1"/>
                </a:solidFill>
                <a:latin typeface="Felix Titling" panose="04060505060202020A04" pitchFamily="82" charset="0"/>
                <a:cs typeface="Arial"/>
              </a:rPr>
              <a:t> </a:t>
            </a:r>
            <a:endParaRPr lang="en-IN" sz="1050" spc="500" dirty="0">
              <a:solidFill>
                <a:schemeClr val="bg1"/>
              </a:solidFill>
              <a:latin typeface="Felix Titling" panose="04060505060202020A04" pitchFamily="82" charset="0"/>
              <a:cs typeface="Arial"/>
            </a:endParaRPr>
          </a:p>
          <a:p>
            <a:pPr marL="177800" marR="3439160">
              <a:lnSpc>
                <a:spcPct val="138900"/>
              </a:lnSpc>
              <a:spcBef>
                <a:spcPts val="780"/>
              </a:spcBef>
              <a:tabLst>
                <a:tab pos="323850" algn="l"/>
              </a:tabLst>
            </a:pPr>
            <a:r>
              <a:rPr sz="900" dirty="0">
                <a:solidFill>
                  <a:schemeClr val="bg1"/>
                </a:solidFill>
                <a:latin typeface="Felix Titling" panose="04060505060202020A04" pitchFamily="82" charset="0"/>
                <a:cs typeface="Arial MT"/>
              </a:rPr>
              <a:t>Capacity: Community-scale RO purification </a:t>
            </a:r>
            <a:endParaRPr lang="en-IN" sz="900" dirty="0">
              <a:solidFill>
                <a:schemeClr val="bg1"/>
              </a:solidFill>
              <a:latin typeface="Felix Titling" panose="04060505060202020A04" pitchFamily="82" charset="0"/>
              <a:cs typeface="Arial MT"/>
            </a:endParaRPr>
          </a:p>
          <a:p>
            <a:pPr marL="177800" marR="3439160">
              <a:lnSpc>
                <a:spcPct val="138900"/>
              </a:lnSpc>
              <a:spcBef>
                <a:spcPts val="780"/>
              </a:spcBef>
              <a:tabLst>
                <a:tab pos="323850" algn="l"/>
              </a:tabLst>
            </a:pPr>
            <a:r>
              <a:rPr lang="en-IN" sz="900" spc="-10" dirty="0">
                <a:solidFill>
                  <a:schemeClr val="bg1"/>
                </a:solidFill>
                <a:latin typeface="Felix Titling" panose="04060505060202020A04" pitchFamily="82" charset="0"/>
                <a:cs typeface="Arial MT"/>
              </a:rPr>
              <a:t>System</a:t>
            </a:r>
            <a:r>
              <a:rPr sz="900" spc="-10" dirty="0">
                <a:solidFill>
                  <a:schemeClr val="bg1"/>
                </a:solidFill>
                <a:latin typeface="Felix Titling" panose="04060505060202020A04" pitchFamily="82" charset="0"/>
                <a:cs typeface="Arial MT"/>
              </a:rPr>
              <a:t> </a:t>
            </a:r>
            <a:r>
              <a:rPr sz="900" dirty="0">
                <a:solidFill>
                  <a:schemeClr val="bg1"/>
                </a:solidFill>
                <a:latin typeface="Felix Titling" panose="04060505060202020A04" pitchFamily="82" charset="0"/>
                <a:cs typeface="Arial MT"/>
              </a:rPr>
              <a:t>Beneficiaries: All 225 households, Ghatdare </a:t>
            </a:r>
            <a:r>
              <a:rPr sz="900" spc="-10" dirty="0">
                <a:solidFill>
                  <a:schemeClr val="bg1"/>
                </a:solidFill>
                <a:latin typeface="Felix Titling" panose="04060505060202020A04" pitchFamily="82" charset="0"/>
                <a:cs typeface="Arial MT"/>
              </a:rPr>
              <a:t>village</a:t>
            </a:r>
            <a:endParaRPr sz="900" dirty="0">
              <a:latin typeface="Felix Titling" panose="04060505060202020A04" pitchFamily="82" charset="0"/>
              <a:cs typeface="Arial MT"/>
            </a:endParaRPr>
          </a:p>
          <a:p>
            <a:pPr marL="177800">
              <a:lnSpc>
                <a:spcPct val="100000"/>
              </a:lnSpc>
              <a:spcBef>
                <a:spcPts val="420"/>
              </a:spcBef>
            </a:pPr>
            <a:r>
              <a:rPr sz="900" dirty="0">
                <a:solidFill>
                  <a:srgbClr val="FFFFFF"/>
                </a:solidFill>
                <a:latin typeface="Felix Titling" panose="04060505060202020A04" pitchFamily="82" charset="0"/>
                <a:cs typeface="Arial MT"/>
              </a:rPr>
              <a:t>Technology: Reverse Osmosis with multi-stage </a:t>
            </a:r>
            <a:r>
              <a:rPr sz="900" spc="-10" dirty="0">
                <a:solidFill>
                  <a:srgbClr val="FFFFFF"/>
                </a:solidFill>
                <a:latin typeface="Felix Titling" panose="04060505060202020A04" pitchFamily="82" charset="0"/>
                <a:cs typeface="Arial MT"/>
              </a:rPr>
              <a:t>filtration</a:t>
            </a:r>
            <a:endParaRPr sz="900" dirty="0">
              <a:latin typeface="Felix Titling" panose="04060505060202020A04" pitchFamily="82" charset="0"/>
              <a:cs typeface="Arial MT"/>
            </a:endParaRPr>
          </a:p>
          <a:p>
            <a:pPr marL="177800" marR="2099310">
              <a:lnSpc>
                <a:spcPct val="138900"/>
              </a:lnSpc>
            </a:pPr>
            <a:endParaRPr lang="en-IN" sz="900" dirty="0">
              <a:solidFill>
                <a:srgbClr val="FFFFFF"/>
              </a:solidFill>
              <a:latin typeface="Felix Titling" panose="04060505060202020A04" pitchFamily="82" charset="0"/>
              <a:cs typeface="Arial MT"/>
            </a:endParaRPr>
          </a:p>
          <a:p>
            <a:pPr marL="177800" marR="2099310">
              <a:lnSpc>
                <a:spcPct val="138900"/>
              </a:lnSpc>
            </a:pPr>
            <a:r>
              <a:rPr sz="900" dirty="0">
                <a:solidFill>
                  <a:srgbClr val="FFFFFF"/>
                </a:solidFill>
                <a:latin typeface="Felix Titling" panose="04060505060202020A04" pitchFamily="82" charset="0"/>
                <a:cs typeface="Arial MT"/>
              </a:rPr>
              <a:t>Status: </a:t>
            </a:r>
            <a:r>
              <a:rPr sz="900" b="1" dirty="0">
                <a:solidFill>
                  <a:srgbClr val="FFFFFF"/>
                </a:solidFill>
                <a:latin typeface="Felix Titling" panose="04060505060202020A04" pitchFamily="82" charset="0"/>
                <a:cs typeface="Arial"/>
              </a:rPr>
              <a:t>Installed and commissioned </a:t>
            </a:r>
            <a:r>
              <a:rPr sz="900" dirty="0">
                <a:solidFill>
                  <a:srgbClr val="FFFFFF"/>
                </a:solidFill>
                <a:latin typeface="Felix Titling" panose="04060505060202020A04" pitchFamily="82" charset="0"/>
                <a:cs typeface="Arial MT"/>
              </a:rPr>
              <a:t>— community operations </a:t>
            </a:r>
            <a:r>
              <a:rPr sz="900" spc="-10" dirty="0">
                <a:solidFill>
                  <a:srgbClr val="FFFFFF"/>
                </a:solidFill>
                <a:latin typeface="Felix Titling" panose="04060505060202020A04" pitchFamily="82" charset="0"/>
                <a:cs typeface="Arial MT"/>
              </a:rPr>
              <a:t>underway</a:t>
            </a:r>
            <a:r>
              <a:rPr lang="en-IN" sz="900" spc="-10" dirty="0">
                <a:solidFill>
                  <a:srgbClr val="FFFFFF"/>
                </a:solidFill>
                <a:latin typeface="Felix Titling" panose="04060505060202020A04" pitchFamily="82" charset="0"/>
                <a:cs typeface="Arial MT"/>
              </a:rPr>
              <a:t>.</a:t>
            </a:r>
            <a:r>
              <a:rPr sz="900" spc="-10" dirty="0">
                <a:solidFill>
                  <a:srgbClr val="FFFFFF"/>
                </a:solidFill>
                <a:latin typeface="Felix Titling" panose="04060505060202020A04" pitchFamily="82" charset="0"/>
                <a:cs typeface="Arial MT"/>
              </a:rPr>
              <a:t> </a:t>
            </a:r>
            <a:endParaRPr lang="en-IN" sz="900" spc="-10" dirty="0">
              <a:solidFill>
                <a:srgbClr val="FFFFFF"/>
              </a:solidFill>
              <a:latin typeface="Felix Titling" panose="04060505060202020A04" pitchFamily="82" charset="0"/>
              <a:cs typeface="Arial MT"/>
            </a:endParaRPr>
          </a:p>
          <a:p>
            <a:pPr marL="177800" marR="2099310">
              <a:lnSpc>
                <a:spcPct val="138900"/>
              </a:lnSpc>
            </a:pPr>
            <a:endParaRPr lang="en-IN" sz="900" spc="-10" dirty="0">
              <a:solidFill>
                <a:srgbClr val="FFFFFF"/>
              </a:solidFill>
              <a:latin typeface="Felix Titling" panose="04060505060202020A04" pitchFamily="82" charset="0"/>
              <a:cs typeface="Arial MT"/>
            </a:endParaRPr>
          </a:p>
          <a:p>
            <a:pPr marL="177800" marR="2099310">
              <a:lnSpc>
                <a:spcPct val="138900"/>
              </a:lnSpc>
            </a:pPr>
            <a:r>
              <a:rPr sz="900" dirty="0">
                <a:solidFill>
                  <a:srgbClr val="FFFFFF"/>
                </a:solidFill>
                <a:latin typeface="Felix Titling" panose="04060505060202020A04" pitchFamily="82" charset="0"/>
                <a:cs typeface="Arial MT"/>
              </a:rPr>
              <a:t>Impact: Provides clean, safe drinking water, reducing waterborne disease </a:t>
            </a:r>
            <a:r>
              <a:rPr sz="900" spc="-20" dirty="0">
                <a:solidFill>
                  <a:srgbClr val="FFFFFF"/>
                </a:solidFill>
                <a:latin typeface="Felix Titling" panose="04060505060202020A04" pitchFamily="82" charset="0"/>
                <a:cs typeface="Arial MT"/>
              </a:rPr>
              <a:t>risk</a:t>
            </a:r>
            <a:endParaRPr lang="en-IN" sz="900" spc="-20" dirty="0">
              <a:solidFill>
                <a:srgbClr val="FFFFFF"/>
              </a:solidFill>
              <a:latin typeface="Felix Titling" panose="04060505060202020A04" pitchFamily="82" charset="0"/>
              <a:cs typeface="Arial MT"/>
            </a:endParaRPr>
          </a:p>
          <a:p>
            <a:pPr marL="177800" marR="2099310">
              <a:lnSpc>
                <a:spcPct val="138900"/>
              </a:lnSpc>
            </a:pPr>
            <a:endParaRPr lang="en-IN" sz="900" spc="-20" dirty="0">
              <a:solidFill>
                <a:srgbClr val="FFFFFF"/>
              </a:solidFill>
              <a:latin typeface="Felix Titling" panose="04060505060202020A04" pitchFamily="82" charset="0"/>
              <a:cs typeface="Arial MT"/>
            </a:endParaRPr>
          </a:p>
          <a:p>
            <a:pPr marL="177800" marR="2099310">
              <a:lnSpc>
                <a:spcPct val="138900"/>
              </a:lnSpc>
            </a:pPr>
            <a:endParaRPr sz="900" dirty="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500" y="127000"/>
            <a:ext cx="167449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b="1" dirty="0">
                <a:solidFill>
                  <a:srgbClr val="FFFFFF"/>
                </a:solidFill>
                <a:latin typeface="Arial"/>
                <a:cs typeface="Arial"/>
              </a:rPr>
              <a:t>TE</a:t>
            </a:r>
            <a:r>
              <a:rPr sz="80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FFFFFF"/>
                </a:solidFill>
                <a:latin typeface="Arial"/>
                <a:cs typeface="Arial"/>
              </a:rPr>
              <a:t>IWMP</a:t>
            </a:r>
            <a:r>
              <a:rPr sz="80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FFFFFF"/>
                </a:solidFill>
                <a:latin typeface="Arial"/>
                <a:cs typeface="Arial"/>
              </a:rPr>
              <a:t>–</a:t>
            </a:r>
            <a:r>
              <a:rPr sz="80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FFFFFF"/>
                </a:solidFill>
                <a:latin typeface="Arial"/>
                <a:cs typeface="Arial"/>
              </a:rPr>
              <a:t>Annual Report</a:t>
            </a:r>
            <a:r>
              <a:rPr sz="80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800" b="1" spc="-10" dirty="0">
                <a:solidFill>
                  <a:srgbClr val="FFFFFF"/>
                </a:solidFill>
                <a:latin typeface="Arial"/>
                <a:cs typeface="Arial"/>
              </a:rPr>
              <a:t>2025-</a:t>
            </a:r>
            <a:r>
              <a:rPr sz="800" b="1" spc="-25" dirty="0">
                <a:solidFill>
                  <a:srgbClr val="FFFFFF"/>
                </a:solidFill>
                <a:latin typeface="Arial"/>
                <a:cs typeface="Arial"/>
              </a:rPr>
              <a:t>26</a:t>
            </a:r>
            <a:endParaRPr sz="8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968590" y="127000"/>
            <a:ext cx="247777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FFFFFF"/>
                </a:solidFill>
                <a:latin typeface="Arial MT"/>
                <a:cs typeface="Arial MT"/>
              </a:rPr>
              <a:t>TE</a:t>
            </a:r>
            <a:r>
              <a:rPr sz="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FFFFFF"/>
                </a:solidFill>
                <a:latin typeface="Arial MT"/>
                <a:cs typeface="Arial MT"/>
              </a:rPr>
              <a:t>Connectivity</a:t>
            </a:r>
            <a:r>
              <a:rPr sz="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FFFFFF"/>
                </a:solidFill>
                <a:latin typeface="Arial MT"/>
                <a:cs typeface="Arial MT"/>
              </a:rPr>
              <a:t>×</a:t>
            </a:r>
            <a:r>
              <a:rPr sz="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FFFFFF"/>
                </a:solidFill>
                <a:latin typeface="Arial MT"/>
                <a:cs typeface="Arial MT"/>
              </a:rPr>
              <a:t>SJSM</a:t>
            </a:r>
            <a:r>
              <a:rPr sz="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FFFFFF"/>
                </a:solidFill>
                <a:latin typeface="Arial MT"/>
                <a:cs typeface="Arial MT"/>
              </a:rPr>
              <a:t>Satara</a:t>
            </a:r>
            <a:r>
              <a:rPr sz="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FFFFFF"/>
                </a:solidFill>
                <a:latin typeface="Arial MT"/>
                <a:cs typeface="Arial MT"/>
              </a:rPr>
              <a:t>|</a:t>
            </a:r>
            <a:r>
              <a:rPr sz="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FFFFFF"/>
                </a:solidFill>
                <a:latin typeface="Arial MT"/>
                <a:cs typeface="Arial MT"/>
              </a:rPr>
              <a:t>Ghatdare</a:t>
            </a:r>
            <a:r>
              <a:rPr sz="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Arial MT"/>
                <a:cs typeface="Arial MT"/>
              </a:rPr>
              <a:t>Watershed</a:t>
            </a:r>
            <a:endParaRPr sz="800" dirty="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03200" y="10382119"/>
            <a:ext cx="7357109" cy="309880"/>
            <a:chOff x="203200" y="10382119"/>
            <a:chExt cx="7357109" cy="309880"/>
          </a:xfrm>
        </p:grpSpPr>
        <p:sp>
          <p:nvSpPr>
            <p:cNvPr id="5" name="object 5"/>
            <p:cNvSpPr/>
            <p:nvPr/>
          </p:nvSpPr>
          <p:spPr>
            <a:xfrm>
              <a:off x="203200" y="10387199"/>
              <a:ext cx="7357109" cy="304800"/>
            </a:xfrm>
            <a:custGeom>
              <a:avLst/>
              <a:gdLst/>
              <a:ahLst/>
              <a:cxnLst/>
              <a:rect l="l" t="t" r="r" b="b"/>
              <a:pathLst>
                <a:path w="7357109" h="304800">
                  <a:moveTo>
                    <a:pt x="73568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7356800" y="304800"/>
                  </a:lnTo>
                  <a:lnTo>
                    <a:pt x="7356800" y="0"/>
                  </a:lnTo>
                  <a:close/>
                </a:path>
              </a:pathLst>
            </a:custGeom>
            <a:solidFill>
              <a:srgbClr val="F4EFE8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6" name="object 6"/>
            <p:cNvSpPr/>
            <p:nvPr/>
          </p:nvSpPr>
          <p:spPr>
            <a:xfrm>
              <a:off x="203200" y="10387199"/>
              <a:ext cx="7357109" cy="0"/>
            </a:xfrm>
            <a:custGeom>
              <a:avLst/>
              <a:gdLst/>
              <a:ahLst/>
              <a:cxnLst/>
              <a:rect l="l" t="t" r="r" b="b"/>
              <a:pathLst>
                <a:path w="7357109">
                  <a:moveTo>
                    <a:pt x="0" y="0"/>
                  </a:moveTo>
                  <a:lnTo>
                    <a:pt x="7356800" y="0"/>
                  </a:lnTo>
                </a:path>
              </a:pathLst>
            </a:custGeom>
            <a:ln w="10160">
              <a:solidFill>
                <a:srgbClr val="C8A84B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object 7"/>
          <p:cNvSpPr/>
          <p:nvPr/>
        </p:nvSpPr>
        <p:spPr>
          <a:xfrm>
            <a:off x="779199" y="622299"/>
            <a:ext cx="1241425" cy="63500"/>
          </a:xfrm>
          <a:custGeom>
            <a:avLst/>
            <a:gdLst/>
            <a:ahLst/>
            <a:cxnLst/>
            <a:rect l="l" t="t" r="r" b="b"/>
            <a:pathLst>
              <a:path w="1241425" h="63500">
                <a:moveTo>
                  <a:pt x="1240960" y="0"/>
                </a:moveTo>
                <a:lnTo>
                  <a:pt x="0" y="0"/>
                </a:lnTo>
                <a:lnTo>
                  <a:pt x="0" y="63500"/>
                </a:lnTo>
                <a:lnTo>
                  <a:pt x="1240960" y="63500"/>
                </a:lnTo>
                <a:lnTo>
                  <a:pt x="1240960" y="0"/>
                </a:lnTo>
                <a:close/>
              </a:path>
            </a:pathLst>
          </a:custGeom>
          <a:solidFill>
            <a:srgbClr val="C8A84B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8"/>
          <p:cNvSpPr/>
          <p:nvPr/>
        </p:nvSpPr>
        <p:spPr>
          <a:xfrm>
            <a:off x="2082208" y="641349"/>
            <a:ext cx="4902200" cy="19050"/>
          </a:xfrm>
          <a:custGeom>
            <a:avLst/>
            <a:gdLst/>
            <a:ahLst/>
            <a:cxnLst/>
            <a:rect l="l" t="t" r="r" b="b"/>
            <a:pathLst>
              <a:path w="4902200" h="19050">
                <a:moveTo>
                  <a:pt x="4901792" y="0"/>
                </a:moveTo>
                <a:lnTo>
                  <a:pt x="0" y="0"/>
                </a:lnTo>
                <a:lnTo>
                  <a:pt x="0" y="19050"/>
                </a:lnTo>
                <a:lnTo>
                  <a:pt x="4901792" y="19050"/>
                </a:lnTo>
                <a:lnTo>
                  <a:pt x="4901792" y="0"/>
                </a:lnTo>
                <a:close/>
              </a:path>
            </a:pathLst>
          </a:custGeom>
          <a:solidFill>
            <a:srgbClr val="D4C4A0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object 9"/>
          <p:cNvSpPr txBox="1"/>
          <p:nvPr/>
        </p:nvSpPr>
        <p:spPr>
          <a:xfrm>
            <a:off x="766499" y="683005"/>
            <a:ext cx="6231255" cy="1327608"/>
          </a:xfrm>
          <a:prstGeom prst="rect">
            <a:avLst/>
          </a:prstGeom>
        </p:spPr>
        <p:txBody>
          <a:bodyPr vert="horz" wrap="square" lIns="0" tIns="15494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220"/>
              </a:spcBef>
            </a:pPr>
            <a:r>
              <a:rPr sz="2400" b="1" dirty="0">
                <a:solidFill>
                  <a:srgbClr val="1A3A2D"/>
                </a:solidFill>
                <a:latin typeface="Felix Titling" panose="04060505060202020A04" pitchFamily="82" charset="0"/>
                <a:cs typeface="Arial"/>
              </a:rPr>
              <a:t>Media</a:t>
            </a:r>
            <a:r>
              <a:rPr sz="2400" b="1" spc="-55" dirty="0">
                <a:solidFill>
                  <a:srgbClr val="1A3A2D"/>
                </a:solidFill>
                <a:latin typeface="Felix Titling" panose="04060505060202020A04" pitchFamily="82" charset="0"/>
                <a:cs typeface="Arial"/>
              </a:rPr>
              <a:t> </a:t>
            </a:r>
            <a:r>
              <a:rPr sz="2400" b="1" dirty="0">
                <a:solidFill>
                  <a:srgbClr val="1A3A2D"/>
                </a:solidFill>
                <a:latin typeface="Felix Titling" panose="04060505060202020A04" pitchFamily="82" charset="0"/>
                <a:cs typeface="Arial"/>
              </a:rPr>
              <a:t>Coverage</a:t>
            </a:r>
            <a:r>
              <a:rPr lang="en-IN" sz="2400" b="1" spc="-55" dirty="0">
                <a:solidFill>
                  <a:srgbClr val="1A3A2D"/>
                </a:solidFill>
                <a:latin typeface="Felix Titling" panose="04060505060202020A04" pitchFamily="82" charset="0"/>
                <a:cs typeface="Arial"/>
              </a:rPr>
              <a:t> </a:t>
            </a:r>
            <a:r>
              <a:rPr sz="2400" b="1" dirty="0">
                <a:solidFill>
                  <a:srgbClr val="1A3A2D"/>
                </a:solidFill>
                <a:latin typeface="Felix Titling" panose="04060505060202020A04" pitchFamily="82" charset="0"/>
                <a:cs typeface="Arial"/>
              </a:rPr>
              <a:t>Newspaper</a:t>
            </a:r>
            <a:r>
              <a:rPr sz="2400" b="1" spc="-55" dirty="0">
                <a:solidFill>
                  <a:srgbClr val="1A3A2D"/>
                </a:solidFill>
                <a:latin typeface="Felix Titling" panose="04060505060202020A04" pitchFamily="82" charset="0"/>
                <a:cs typeface="Arial"/>
              </a:rPr>
              <a:t> </a:t>
            </a:r>
            <a:r>
              <a:rPr sz="2400" b="1" spc="-10" dirty="0">
                <a:solidFill>
                  <a:srgbClr val="1A3A2D"/>
                </a:solidFill>
                <a:latin typeface="Felix Titling" panose="04060505060202020A04" pitchFamily="82" charset="0"/>
                <a:cs typeface="Arial"/>
              </a:rPr>
              <a:t>Reports</a:t>
            </a:r>
            <a:endParaRPr sz="2400" dirty="0">
              <a:latin typeface="Felix Titling" panose="04060505060202020A04" pitchFamily="82" charset="0"/>
              <a:cs typeface="Arial"/>
            </a:endParaRPr>
          </a:p>
          <a:p>
            <a:pPr marL="12700" marR="5080" algn="just">
              <a:lnSpc>
                <a:spcPct val="125000"/>
              </a:lnSpc>
              <a:spcBef>
                <a:spcPts val="360"/>
              </a:spcBef>
            </a:pPr>
            <a:r>
              <a:rPr sz="1000" dirty="0">
                <a:solidFill>
                  <a:srgbClr val="2A2A2A"/>
                </a:solidFill>
                <a:latin typeface="Arial MT"/>
                <a:cs typeface="Arial MT"/>
              </a:rPr>
              <a:t>The</a:t>
            </a:r>
            <a:r>
              <a:rPr sz="1000" spc="35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2A2A2A"/>
                </a:solidFill>
                <a:latin typeface="Arial MT"/>
                <a:cs typeface="Arial MT"/>
              </a:rPr>
              <a:t>TE</a:t>
            </a:r>
            <a:r>
              <a:rPr sz="1000" spc="35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2A2A2A"/>
                </a:solidFill>
                <a:latin typeface="Arial MT"/>
                <a:cs typeface="Arial MT"/>
              </a:rPr>
              <a:t>Integrated</a:t>
            </a:r>
            <a:r>
              <a:rPr sz="1000" spc="35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2A2A2A"/>
                </a:solidFill>
                <a:latin typeface="Arial MT"/>
                <a:cs typeface="Arial MT"/>
              </a:rPr>
              <a:t>Watershed</a:t>
            </a:r>
            <a:r>
              <a:rPr sz="1000" spc="35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2A2A2A"/>
                </a:solidFill>
                <a:latin typeface="Arial MT"/>
                <a:cs typeface="Arial MT"/>
              </a:rPr>
              <a:t>Management</a:t>
            </a:r>
            <a:r>
              <a:rPr sz="1000" spc="35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2A2A2A"/>
                </a:solidFill>
                <a:latin typeface="Arial MT"/>
                <a:cs typeface="Arial MT"/>
              </a:rPr>
              <a:t>Project</a:t>
            </a:r>
            <a:r>
              <a:rPr sz="1000" spc="35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2A2A2A"/>
                </a:solidFill>
                <a:latin typeface="Arial MT"/>
                <a:cs typeface="Arial MT"/>
              </a:rPr>
              <a:t>attracted</a:t>
            </a:r>
            <a:r>
              <a:rPr sz="1000" spc="35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2A2A2A"/>
                </a:solidFill>
                <a:latin typeface="Arial MT"/>
                <a:cs typeface="Arial MT"/>
              </a:rPr>
              <a:t>significant</a:t>
            </a:r>
            <a:r>
              <a:rPr sz="1000" spc="35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2A2A2A"/>
                </a:solidFill>
                <a:latin typeface="Arial MT"/>
                <a:cs typeface="Arial MT"/>
              </a:rPr>
              <a:t>regional</a:t>
            </a:r>
            <a:r>
              <a:rPr sz="1000" spc="35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2A2A2A"/>
                </a:solidFill>
                <a:latin typeface="Arial MT"/>
                <a:cs typeface="Arial MT"/>
              </a:rPr>
              <a:t>media</a:t>
            </a:r>
            <a:r>
              <a:rPr sz="1000" spc="35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lang="en-IN" sz="1000" dirty="0">
                <a:solidFill>
                  <a:srgbClr val="2A2A2A"/>
                </a:solidFill>
                <a:latin typeface="Arial MT"/>
                <a:cs typeface="Arial MT"/>
              </a:rPr>
              <a:t>attention and coverage</a:t>
            </a:r>
            <a:r>
              <a:rPr lang="en-IN" sz="1000" spc="5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lang="en-IN" sz="1000" dirty="0">
                <a:solidFill>
                  <a:srgbClr val="2A2A2A"/>
                </a:solidFill>
                <a:latin typeface="Arial MT"/>
                <a:cs typeface="Arial MT"/>
              </a:rPr>
              <a:t>in</a:t>
            </a:r>
            <a:r>
              <a:rPr lang="en-IN" sz="1000" spc="5" dirty="0">
                <a:solidFill>
                  <a:srgbClr val="2A2A2A"/>
                </a:solidFill>
                <a:latin typeface="Arial MT"/>
                <a:cs typeface="Arial MT"/>
              </a:rPr>
              <a:t> 5 </a:t>
            </a:r>
            <a:r>
              <a:rPr lang="en-IN" sz="1000" dirty="0">
                <a:solidFill>
                  <a:srgbClr val="2A2A2A"/>
                </a:solidFill>
                <a:latin typeface="Arial MT"/>
                <a:cs typeface="Arial MT"/>
              </a:rPr>
              <a:t>major</a:t>
            </a:r>
            <a:r>
              <a:rPr lang="en-IN" sz="1000" spc="5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lang="en-IN" sz="1000" dirty="0">
                <a:solidFill>
                  <a:srgbClr val="2A2A2A"/>
                </a:solidFill>
                <a:latin typeface="Arial MT"/>
                <a:cs typeface="Arial MT"/>
              </a:rPr>
              <a:t>Marathi</a:t>
            </a:r>
            <a:r>
              <a:rPr lang="en-IN" sz="1000" spc="5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lang="en-IN" sz="1000" dirty="0">
                <a:solidFill>
                  <a:srgbClr val="2A2A2A"/>
                </a:solidFill>
                <a:latin typeface="Arial MT"/>
                <a:cs typeface="Arial MT"/>
              </a:rPr>
              <a:t>newspapers</a:t>
            </a:r>
            <a:r>
              <a:rPr lang="en-IN" sz="1000" spc="5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lang="en-IN" sz="1000" dirty="0">
                <a:solidFill>
                  <a:srgbClr val="2A2A2A"/>
                </a:solidFill>
                <a:latin typeface="Arial MT"/>
                <a:cs typeface="Arial MT"/>
              </a:rPr>
              <a:t>—</a:t>
            </a:r>
            <a:r>
              <a:rPr lang="en-IN" sz="1000" spc="5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lang="en-IN" sz="1000" i="1" dirty="0">
                <a:solidFill>
                  <a:srgbClr val="2A2A2A"/>
                </a:solidFill>
                <a:latin typeface="Arial"/>
                <a:cs typeface="Arial"/>
              </a:rPr>
              <a:t>Pudhari</a:t>
            </a:r>
            <a:r>
              <a:rPr lang="en-IN" sz="1000" i="1" spc="5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lang="en-IN" sz="1000" spc="-10" dirty="0">
                <a:solidFill>
                  <a:srgbClr val="2A2A2A"/>
                </a:solidFill>
                <a:latin typeface="Arial MT"/>
                <a:cs typeface="Arial MT"/>
              </a:rPr>
              <a:t>(district-</a:t>
            </a:r>
            <a:r>
              <a:rPr lang="en-IN" sz="1000" dirty="0">
                <a:solidFill>
                  <a:srgbClr val="2A2A2A"/>
                </a:solidFill>
                <a:latin typeface="Arial MT"/>
                <a:cs typeface="Arial MT"/>
              </a:rPr>
              <a:t>wide</a:t>
            </a:r>
            <a:r>
              <a:rPr lang="en-IN" sz="1000" spc="5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lang="en-IN" sz="1000" dirty="0">
                <a:solidFill>
                  <a:srgbClr val="2A2A2A"/>
                </a:solidFill>
                <a:latin typeface="Arial MT"/>
                <a:cs typeface="Arial MT"/>
              </a:rPr>
              <a:t>circulation)</a:t>
            </a:r>
            <a:r>
              <a:rPr lang="en-IN" sz="1000" spc="5" dirty="0">
                <a:solidFill>
                  <a:srgbClr val="2A2A2A"/>
                </a:solidFill>
                <a:latin typeface="Arial MT"/>
                <a:cs typeface="Arial MT"/>
              </a:rPr>
              <a:t>, Tarun Bharat, Sahas Varta, </a:t>
            </a:r>
            <a:r>
              <a:rPr lang="en-IN" sz="1000" i="1" spc="-10" dirty="0">
                <a:solidFill>
                  <a:srgbClr val="2A2A2A"/>
                </a:solidFill>
                <a:latin typeface="Arial"/>
                <a:cs typeface="Arial"/>
              </a:rPr>
              <a:t>Dainik </a:t>
            </a:r>
            <a:r>
              <a:rPr lang="en-IN" sz="1000" i="1" dirty="0">
                <a:solidFill>
                  <a:srgbClr val="2A2A2A"/>
                </a:solidFill>
                <a:latin typeface="Arial"/>
                <a:cs typeface="Arial"/>
              </a:rPr>
              <a:t>Muktagiri</a:t>
            </a:r>
            <a:r>
              <a:rPr lang="en-IN" sz="1000" i="1" spc="-5" dirty="0">
                <a:solidFill>
                  <a:srgbClr val="2A2A2A"/>
                </a:solidFill>
                <a:latin typeface="Arial"/>
                <a:cs typeface="Arial"/>
              </a:rPr>
              <a:t>, Navrastra</a:t>
            </a:r>
            <a:r>
              <a:rPr lang="en-IN" sz="1000" dirty="0">
                <a:solidFill>
                  <a:srgbClr val="2A2A2A"/>
                </a:solidFill>
                <a:latin typeface="Arial MT"/>
                <a:cs typeface="Arial MT"/>
              </a:rPr>
              <a:t>—</a:t>
            </a:r>
            <a:r>
              <a:rPr lang="en-IN" sz="1000" spc="-5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lang="en-IN" sz="1000" dirty="0">
                <a:solidFill>
                  <a:srgbClr val="2A2A2A"/>
                </a:solidFill>
                <a:latin typeface="Arial MT"/>
                <a:cs typeface="Arial MT"/>
              </a:rPr>
              <a:t>reaching thousands</a:t>
            </a:r>
            <a:r>
              <a:rPr lang="en-IN" sz="1000" spc="-5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lang="en-IN" sz="1000" dirty="0">
                <a:solidFill>
                  <a:srgbClr val="2A2A2A"/>
                </a:solidFill>
                <a:latin typeface="Arial MT"/>
                <a:cs typeface="Arial MT"/>
              </a:rPr>
              <a:t>of</a:t>
            </a:r>
            <a:r>
              <a:rPr lang="en-IN" sz="1000" spc="-5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lang="en-IN" sz="1000" dirty="0">
                <a:solidFill>
                  <a:srgbClr val="2A2A2A"/>
                </a:solidFill>
                <a:latin typeface="Arial MT"/>
                <a:cs typeface="Arial MT"/>
              </a:rPr>
              <a:t>readers across</a:t>
            </a:r>
            <a:r>
              <a:rPr lang="en-IN" sz="1000" spc="-5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lang="en-IN" sz="1000" dirty="0">
                <a:solidFill>
                  <a:srgbClr val="2A2A2A"/>
                </a:solidFill>
                <a:latin typeface="Arial MT"/>
                <a:cs typeface="Arial MT"/>
              </a:rPr>
              <a:t>Satara and</a:t>
            </a:r>
            <a:r>
              <a:rPr lang="en-IN" sz="1000" spc="-5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lang="en-IN" sz="1000" dirty="0">
                <a:solidFill>
                  <a:srgbClr val="2A2A2A"/>
                </a:solidFill>
                <a:latin typeface="Arial MT"/>
                <a:cs typeface="Arial MT"/>
              </a:rPr>
              <a:t>Khandala</a:t>
            </a:r>
            <a:r>
              <a:rPr lang="en-IN" sz="1000" spc="-5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lang="en-IN" sz="1000" dirty="0">
                <a:solidFill>
                  <a:srgbClr val="2A2A2A"/>
                </a:solidFill>
                <a:latin typeface="Arial MT"/>
                <a:cs typeface="Arial MT"/>
              </a:rPr>
              <a:t>Taluka, building</a:t>
            </a:r>
            <a:r>
              <a:rPr lang="en-IN" sz="1000" spc="-5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lang="en-IN" sz="1000" dirty="0">
                <a:solidFill>
                  <a:srgbClr val="2A2A2A"/>
                </a:solidFill>
                <a:latin typeface="Arial MT"/>
                <a:cs typeface="Arial MT"/>
              </a:rPr>
              <a:t>public</a:t>
            </a:r>
            <a:r>
              <a:rPr lang="en-IN" sz="1000" spc="-5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lang="en-IN" sz="1000" spc="-10" dirty="0">
                <a:solidFill>
                  <a:srgbClr val="2A2A2A"/>
                </a:solidFill>
                <a:latin typeface="Arial MT"/>
                <a:cs typeface="Arial MT"/>
              </a:rPr>
              <a:t>awareness </a:t>
            </a:r>
            <a:r>
              <a:rPr lang="en-IN" sz="1000" dirty="0">
                <a:solidFill>
                  <a:srgbClr val="2A2A2A"/>
                </a:solidFill>
                <a:latin typeface="Arial MT"/>
                <a:cs typeface="Arial MT"/>
              </a:rPr>
              <a:t>of watershed conservation and CSR </a:t>
            </a:r>
            <a:r>
              <a:rPr lang="en-IN" sz="1000" spc="-10" dirty="0">
                <a:solidFill>
                  <a:srgbClr val="2A2A2A"/>
                </a:solidFill>
                <a:latin typeface="Arial MT"/>
                <a:cs typeface="Arial MT"/>
              </a:rPr>
              <a:t>impact.</a:t>
            </a:r>
            <a:endParaRPr sz="1000" dirty="0">
              <a:latin typeface="Arial MT"/>
              <a:cs typeface="Arial MT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TE</a:t>
            </a:r>
            <a:r>
              <a:rPr spc="-5" dirty="0"/>
              <a:t> </a:t>
            </a:r>
            <a:r>
              <a:rPr dirty="0"/>
              <a:t>Integrated Watershed Management Project</a:t>
            </a:r>
            <a:r>
              <a:rPr spc="210" dirty="0"/>
              <a:t> </a:t>
            </a:r>
            <a:r>
              <a:rPr dirty="0"/>
              <a:t>|</a:t>
            </a:r>
            <a:r>
              <a:rPr spc="210" dirty="0"/>
              <a:t> </a:t>
            </a:r>
            <a:r>
              <a:rPr dirty="0"/>
              <a:t>Ghatdare, Khandala, Satara</a:t>
            </a:r>
            <a:r>
              <a:rPr spc="210" dirty="0"/>
              <a:t> </a:t>
            </a:r>
            <a:r>
              <a:rPr dirty="0"/>
              <a:t>|</a:t>
            </a:r>
            <a:r>
              <a:rPr spc="210" dirty="0"/>
              <a:t> </a:t>
            </a:r>
            <a:r>
              <a:rPr dirty="0"/>
              <a:t>FY 2025-</a:t>
            </a:r>
            <a:r>
              <a:rPr spc="-25" dirty="0"/>
              <a:t>26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Page</a:t>
            </a:r>
            <a:r>
              <a:rPr spc="-20" dirty="0"/>
              <a:t> </a:t>
            </a:r>
            <a:fld id="{81D60167-4931-47E6-BA6A-407CBD079E47}" type="slidenum">
              <a:rPr spc="-25" dirty="0"/>
              <a:t>12</a:t>
            </a:fld>
            <a:endParaRPr spc="-25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0BCE7F8-A8B0-F93D-C6CA-C1B89CE9F38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7915" y="6640729"/>
            <a:ext cx="3019148" cy="365957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2EE97E26-EE6D-13CB-0780-CB5668F906A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14" r="4747" b="10549"/>
          <a:stretch>
            <a:fillRect/>
          </a:stretch>
        </p:blipFill>
        <p:spPr>
          <a:xfrm>
            <a:off x="3066628" y="2012661"/>
            <a:ext cx="3752094" cy="212347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44B0EA0-D5EB-D67D-6D47-9FFDA8E3C9C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826"/>
          <a:stretch>
            <a:fillRect/>
          </a:stretch>
        </p:blipFill>
        <p:spPr>
          <a:xfrm>
            <a:off x="3024749" y="4052671"/>
            <a:ext cx="3929529" cy="2520203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6B29C856-E699-734F-9D46-9B42B04A68C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564" y="2079730"/>
            <a:ext cx="2629951" cy="470816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DA1944A6-0494-E0DF-2AA9-EBB1A2722C2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330" y="6685241"/>
            <a:ext cx="3212320" cy="3369399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500" y="127000"/>
            <a:ext cx="167449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b="1" dirty="0">
                <a:solidFill>
                  <a:srgbClr val="FFFFFF"/>
                </a:solidFill>
                <a:latin typeface="Arial"/>
                <a:cs typeface="Arial"/>
              </a:rPr>
              <a:t>TE</a:t>
            </a:r>
            <a:r>
              <a:rPr sz="80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FFFFFF"/>
                </a:solidFill>
                <a:latin typeface="Arial"/>
                <a:cs typeface="Arial"/>
              </a:rPr>
              <a:t>IWMP</a:t>
            </a:r>
            <a:r>
              <a:rPr sz="80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FFFFFF"/>
                </a:solidFill>
                <a:latin typeface="Arial"/>
                <a:cs typeface="Arial"/>
              </a:rPr>
              <a:t>–</a:t>
            </a:r>
            <a:r>
              <a:rPr sz="80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FFFFFF"/>
                </a:solidFill>
                <a:latin typeface="Arial"/>
                <a:cs typeface="Arial"/>
              </a:rPr>
              <a:t>Annual Report</a:t>
            </a:r>
            <a:r>
              <a:rPr sz="80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800" b="1" spc="-10" dirty="0">
                <a:solidFill>
                  <a:srgbClr val="FFFFFF"/>
                </a:solidFill>
                <a:latin typeface="Arial"/>
                <a:cs typeface="Arial"/>
              </a:rPr>
              <a:t>2025-</a:t>
            </a:r>
            <a:r>
              <a:rPr sz="800" b="1" spc="-25" dirty="0">
                <a:solidFill>
                  <a:srgbClr val="FFFFFF"/>
                </a:solidFill>
                <a:latin typeface="Arial"/>
                <a:cs typeface="Arial"/>
              </a:rPr>
              <a:t>26</a:t>
            </a:r>
            <a:endParaRPr sz="8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968590" y="127000"/>
            <a:ext cx="247777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FFFFFF"/>
                </a:solidFill>
                <a:latin typeface="Arial MT"/>
                <a:cs typeface="Arial MT"/>
              </a:rPr>
              <a:t>TE</a:t>
            </a:r>
            <a:r>
              <a:rPr sz="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FFFFFF"/>
                </a:solidFill>
                <a:latin typeface="Arial MT"/>
                <a:cs typeface="Arial MT"/>
              </a:rPr>
              <a:t>Connectivity</a:t>
            </a:r>
            <a:r>
              <a:rPr sz="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FFFFFF"/>
                </a:solidFill>
                <a:latin typeface="Arial MT"/>
                <a:cs typeface="Arial MT"/>
              </a:rPr>
              <a:t>×</a:t>
            </a:r>
            <a:r>
              <a:rPr sz="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FFFFFF"/>
                </a:solidFill>
                <a:latin typeface="Arial MT"/>
                <a:cs typeface="Arial MT"/>
              </a:rPr>
              <a:t>SJSM</a:t>
            </a:r>
            <a:r>
              <a:rPr sz="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FFFFFF"/>
                </a:solidFill>
                <a:latin typeface="Arial MT"/>
                <a:cs typeface="Arial MT"/>
              </a:rPr>
              <a:t>Satara</a:t>
            </a:r>
            <a:r>
              <a:rPr sz="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FFFFFF"/>
                </a:solidFill>
                <a:latin typeface="Arial MT"/>
                <a:cs typeface="Arial MT"/>
              </a:rPr>
              <a:t>|</a:t>
            </a:r>
            <a:r>
              <a:rPr sz="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FFFFFF"/>
                </a:solidFill>
                <a:latin typeface="Arial MT"/>
                <a:cs typeface="Arial MT"/>
              </a:rPr>
              <a:t>Ghatdare</a:t>
            </a:r>
            <a:r>
              <a:rPr sz="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Arial MT"/>
                <a:cs typeface="Arial MT"/>
              </a:rPr>
              <a:t>Watershed</a:t>
            </a:r>
            <a:endParaRPr sz="800" dirty="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03200" y="10382119"/>
            <a:ext cx="7357109" cy="309880"/>
            <a:chOff x="203200" y="10382119"/>
            <a:chExt cx="7357109" cy="309880"/>
          </a:xfrm>
        </p:grpSpPr>
        <p:sp>
          <p:nvSpPr>
            <p:cNvPr id="5" name="object 5"/>
            <p:cNvSpPr/>
            <p:nvPr/>
          </p:nvSpPr>
          <p:spPr>
            <a:xfrm>
              <a:off x="203200" y="10387199"/>
              <a:ext cx="7357109" cy="304800"/>
            </a:xfrm>
            <a:custGeom>
              <a:avLst/>
              <a:gdLst/>
              <a:ahLst/>
              <a:cxnLst/>
              <a:rect l="l" t="t" r="r" b="b"/>
              <a:pathLst>
                <a:path w="7357109" h="304800">
                  <a:moveTo>
                    <a:pt x="73568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7356800" y="304800"/>
                  </a:lnTo>
                  <a:lnTo>
                    <a:pt x="7356800" y="0"/>
                  </a:lnTo>
                  <a:close/>
                </a:path>
              </a:pathLst>
            </a:custGeom>
            <a:solidFill>
              <a:srgbClr val="F4EFE8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6" name="object 6"/>
            <p:cNvSpPr/>
            <p:nvPr/>
          </p:nvSpPr>
          <p:spPr>
            <a:xfrm>
              <a:off x="203200" y="10387199"/>
              <a:ext cx="7357109" cy="0"/>
            </a:xfrm>
            <a:custGeom>
              <a:avLst/>
              <a:gdLst/>
              <a:ahLst/>
              <a:cxnLst/>
              <a:rect l="l" t="t" r="r" b="b"/>
              <a:pathLst>
                <a:path w="7357109">
                  <a:moveTo>
                    <a:pt x="0" y="0"/>
                  </a:moveTo>
                  <a:lnTo>
                    <a:pt x="7356800" y="0"/>
                  </a:lnTo>
                </a:path>
              </a:pathLst>
            </a:custGeom>
            <a:ln w="10160">
              <a:solidFill>
                <a:srgbClr val="C8A84B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object 7"/>
          <p:cNvSpPr/>
          <p:nvPr/>
        </p:nvSpPr>
        <p:spPr>
          <a:xfrm>
            <a:off x="779199" y="622299"/>
            <a:ext cx="1241425" cy="63500"/>
          </a:xfrm>
          <a:custGeom>
            <a:avLst/>
            <a:gdLst/>
            <a:ahLst/>
            <a:cxnLst/>
            <a:rect l="l" t="t" r="r" b="b"/>
            <a:pathLst>
              <a:path w="1241425" h="63500">
                <a:moveTo>
                  <a:pt x="1240960" y="0"/>
                </a:moveTo>
                <a:lnTo>
                  <a:pt x="0" y="0"/>
                </a:lnTo>
                <a:lnTo>
                  <a:pt x="0" y="63500"/>
                </a:lnTo>
                <a:lnTo>
                  <a:pt x="1240960" y="63500"/>
                </a:lnTo>
                <a:lnTo>
                  <a:pt x="1240960" y="0"/>
                </a:lnTo>
                <a:close/>
              </a:path>
            </a:pathLst>
          </a:custGeom>
          <a:solidFill>
            <a:srgbClr val="C8A84B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8"/>
          <p:cNvSpPr/>
          <p:nvPr/>
        </p:nvSpPr>
        <p:spPr>
          <a:xfrm>
            <a:off x="2082208" y="641349"/>
            <a:ext cx="4902200" cy="19050"/>
          </a:xfrm>
          <a:custGeom>
            <a:avLst/>
            <a:gdLst/>
            <a:ahLst/>
            <a:cxnLst/>
            <a:rect l="l" t="t" r="r" b="b"/>
            <a:pathLst>
              <a:path w="4902200" h="19050">
                <a:moveTo>
                  <a:pt x="4901792" y="0"/>
                </a:moveTo>
                <a:lnTo>
                  <a:pt x="0" y="0"/>
                </a:lnTo>
                <a:lnTo>
                  <a:pt x="0" y="19050"/>
                </a:lnTo>
                <a:lnTo>
                  <a:pt x="4901792" y="19050"/>
                </a:lnTo>
                <a:lnTo>
                  <a:pt x="4901792" y="0"/>
                </a:lnTo>
                <a:close/>
              </a:path>
            </a:pathLst>
          </a:custGeom>
          <a:solidFill>
            <a:srgbClr val="D4C4A0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object 9"/>
          <p:cNvSpPr txBox="1"/>
          <p:nvPr/>
        </p:nvSpPr>
        <p:spPr>
          <a:xfrm>
            <a:off x="766499" y="683005"/>
            <a:ext cx="6230620" cy="1189108"/>
          </a:xfrm>
          <a:prstGeom prst="rect">
            <a:avLst/>
          </a:prstGeom>
        </p:spPr>
        <p:txBody>
          <a:bodyPr vert="horz" wrap="square" lIns="0" tIns="1549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20"/>
              </a:spcBef>
            </a:pPr>
            <a:r>
              <a:rPr sz="2000" b="1" dirty="0">
                <a:solidFill>
                  <a:srgbClr val="0070C0"/>
                </a:solidFill>
                <a:latin typeface="Felix Titling" panose="04060505060202020A04" pitchFamily="82" charset="0"/>
                <a:cs typeface="Arial"/>
              </a:rPr>
              <a:t>Alignment</a:t>
            </a:r>
            <a:r>
              <a:rPr sz="2000" b="1" spc="-65" dirty="0">
                <a:solidFill>
                  <a:srgbClr val="0070C0"/>
                </a:solidFill>
                <a:latin typeface="Felix Titling" panose="04060505060202020A04" pitchFamily="82" charset="0"/>
                <a:cs typeface="Arial"/>
              </a:rPr>
              <a:t> </a:t>
            </a:r>
            <a:r>
              <a:rPr sz="2000" b="1" dirty="0">
                <a:solidFill>
                  <a:srgbClr val="0070C0"/>
                </a:solidFill>
                <a:latin typeface="Felix Titling" panose="04060505060202020A04" pitchFamily="82" charset="0"/>
                <a:cs typeface="Arial"/>
              </a:rPr>
              <a:t>with</a:t>
            </a:r>
            <a:r>
              <a:rPr sz="2000" b="1" spc="-65" dirty="0">
                <a:solidFill>
                  <a:srgbClr val="0070C0"/>
                </a:solidFill>
                <a:latin typeface="Felix Titling" panose="04060505060202020A04" pitchFamily="82" charset="0"/>
                <a:cs typeface="Arial"/>
              </a:rPr>
              <a:t> </a:t>
            </a:r>
            <a:r>
              <a:rPr sz="2000" b="1" dirty="0">
                <a:solidFill>
                  <a:srgbClr val="0070C0"/>
                </a:solidFill>
                <a:latin typeface="Felix Titling" panose="04060505060202020A04" pitchFamily="82" charset="0"/>
                <a:cs typeface="Arial"/>
              </a:rPr>
              <a:t>UN</a:t>
            </a:r>
            <a:r>
              <a:rPr sz="2000" b="1" spc="-65" dirty="0">
                <a:solidFill>
                  <a:srgbClr val="0070C0"/>
                </a:solidFill>
                <a:latin typeface="Felix Titling" panose="04060505060202020A04" pitchFamily="82" charset="0"/>
                <a:cs typeface="Arial"/>
              </a:rPr>
              <a:t> </a:t>
            </a:r>
            <a:r>
              <a:rPr sz="2000" b="1" dirty="0">
                <a:solidFill>
                  <a:srgbClr val="0070C0"/>
                </a:solidFill>
                <a:latin typeface="Felix Titling" panose="04060505060202020A04" pitchFamily="82" charset="0"/>
                <a:cs typeface="Arial"/>
              </a:rPr>
              <a:t>Sustainable</a:t>
            </a:r>
            <a:r>
              <a:rPr sz="2000" b="1" spc="-65" dirty="0">
                <a:solidFill>
                  <a:srgbClr val="0070C0"/>
                </a:solidFill>
                <a:latin typeface="Felix Titling" panose="04060505060202020A04" pitchFamily="82" charset="0"/>
                <a:cs typeface="Arial"/>
              </a:rPr>
              <a:t> </a:t>
            </a:r>
            <a:r>
              <a:rPr sz="2000" b="1" dirty="0">
                <a:solidFill>
                  <a:srgbClr val="0070C0"/>
                </a:solidFill>
                <a:latin typeface="Felix Titling" panose="04060505060202020A04" pitchFamily="82" charset="0"/>
                <a:cs typeface="Arial"/>
              </a:rPr>
              <a:t>Development</a:t>
            </a:r>
            <a:r>
              <a:rPr sz="2000" b="1" spc="-60" dirty="0">
                <a:solidFill>
                  <a:srgbClr val="0070C0"/>
                </a:solidFill>
                <a:latin typeface="Felix Titling" panose="04060505060202020A04" pitchFamily="82" charset="0"/>
                <a:cs typeface="Arial"/>
              </a:rPr>
              <a:t> </a:t>
            </a:r>
            <a:r>
              <a:rPr sz="2000" b="1" spc="-10" dirty="0">
                <a:solidFill>
                  <a:srgbClr val="0070C0"/>
                </a:solidFill>
                <a:latin typeface="Felix Titling" panose="04060505060202020A04" pitchFamily="82" charset="0"/>
                <a:cs typeface="Arial"/>
              </a:rPr>
              <a:t>Goals</a:t>
            </a:r>
            <a:endParaRPr sz="2000" dirty="0">
              <a:solidFill>
                <a:srgbClr val="0070C0"/>
              </a:solidFill>
              <a:latin typeface="Felix Titling" panose="04060505060202020A04" pitchFamily="82" charset="0"/>
              <a:cs typeface="Arial"/>
            </a:endParaRPr>
          </a:p>
          <a:p>
            <a:pPr marL="12700" marR="5080">
              <a:lnSpc>
                <a:spcPct val="125000"/>
              </a:lnSpc>
              <a:spcBef>
                <a:spcPts val="360"/>
              </a:spcBef>
            </a:pPr>
            <a:r>
              <a:rPr sz="1000" dirty="0">
                <a:solidFill>
                  <a:srgbClr val="2A2A2A"/>
                </a:solidFill>
                <a:latin typeface="Arial MT"/>
                <a:cs typeface="Arial MT"/>
              </a:rPr>
              <a:t>The</a:t>
            </a:r>
            <a:r>
              <a:rPr sz="1000" spc="10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2A2A2A"/>
                </a:solidFill>
                <a:latin typeface="Arial MT"/>
                <a:cs typeface="Arial MT"/>
              </a:rPr>
              <a:t>TE</a:t>
            </a:r>
            <a:r>
              <a:rPr sz="1000" spc="15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2A2A2A"/>
                </a:solidFill>
                <a:latin typeface="Arial MT"/>
                <a:cs typeface="Arial MT"/>
              </a:rPr>
              <a:t>IWMP</a:t>
            </a:r>
            <a:r>
              <a:rPr sz="1000" spc="15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2A2A2A"/>
                </a:solidFill>
                <a:latin typeface="Arial MT"/>
                <a:cs typeface="Arial MT"/>
              </a:rPr>
              <a:t>directly</a:t>
            </a:r>
            <a:r>
              <a:rPr sz="1000" spc="10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2A2A2A"/>
                </a:solidFill>
                <a:latin typeface="Arial MT"/>
                <a:cs typeface="Arial MT"/>
              </a:rPr>
              <a:t>contributes</a:t>
            </a:r>
            <a:r>
              <a:rPr sz="1000" spc="15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2A2A2A"/>
                </a:solidFill>
                <a:latin typeface="Arial MT"/>
                <a:cs typeface="Arial MT"/>
              </a:rPr>
              <a:t>to</a:t>
            </a:r>
            <a:r>
              <a:rPr sz="1000" spc="15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000" b="1" dirty="0">
                <a:solidFill>
                  <a:srgbClr val="2A2A2A"/>
                </a:solidFill>
                <a:latin typeface="Arial"/>
                <a:cs typeface="Arial"/>
              </a:rPr>
              <a:t>six</a:t>
            </a:r>
            <a:r>
              <a:rPr sz="1000" b="1" spc="15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2A2A2A"/>
                </a:solidFill>
                <a:latin typeface="Arial"/>
                <a:cs typeface="Arial"/>
              </a:rPr>
              <a:t>UN</a:t>
            </a:r>
            <a:r>
              <a:rPr sz="1000" b="1" spc="10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2A2A2A"/>
                </a:solidFill>
                <a:latin typeface="Arial"/>
                <a:cs typeface="Arial"/>
              </a:rPr>
              <a:t>Sustainable</a:t>
            </a:r>
            <a:r>
              <a:rPr sz="1000" b="1" spc="15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2A2A2A"/>
                </a:solidFill>
                <a:latin typeface="Arial"/>
                <a:cs typeface="Arial"/>
              </a:rPr>
              <a:t>Development</a:t>
            </a:r>
            <a:r>
              <a:rPr sz="1000" b="1" spc="15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2A2A2A"/>
                </a:solidFill>
                <a:latin typeface="Arial"/>
                <a:cs typeface="Arial"/>
              </a:rPr>
              <a:t>Goals</a:t>
            </a:r>
            <a:r>
              <a:rPr sz="1000" dirty="0">
                <a:solidFill>
                  <a:srgbClr val="2A2A2A"/>
                </a:solidFill>
                <a:latin typeface="Arial MT"/>
                <a:cs typeface="Arial MT"/>
              </a:rPr>
              <a:t>,</a:t>
            </a:r>
            <a:r>
              <a:rPr sz="1000" spc="15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2A2A2A"/>
                </a:solidFill>
                <a:latin typeface="Arial MT"/>
                <a:cs typeface="Arial MT"/>
              </a:rPr>
              <a:t>demonstrating</a:t>
            </a:r>
            <a:r>
              <a:rPr sz="1000" spc="10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2A2A2A"/>
                </a:solidFill>
                <a:latin typeface="Arial MT"/>
                <a:cs typeface="Arial MT"/>
              </a:rPr>
              <a:t>how</a:t>
            </a:r>
            <a:r>
              <a:rPr sz="1000" spc="15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2A2A2A"/>
                </a:solidFill>
                <a:latin typeface="Arial MT"/>
                <a:cs typeface="Arial MT"/>
              </a:rPr>
              <a:t>integrated </a:t>
            </a:r>
            <a:r>
              <a:rPr sz="1000" dirty="0">
                <a:solidFill>
                  <a:srgbClr val="2A2A2A"/>
                </a:solidFill>
                <a:latin typeface="Arial MT"/>
                <a:cs typeface="Arial MT"/>
              </a:rPr>
              <a:t>watershed management creates</a:t>
            </a:r>
            <a:r>
              <a:rPr sz="1000" spc="5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2A2A2A"/>
                </a:solidFill>
                <a:latin typeface="Arial MT"/>
                <a:cs typeface="Arial MT"/>
              </a:rPr>
              <a:t>multi-dimensional social,</a:t>
            </a:r>
            <a:r>
              <a:rPr sz="1000" spc="5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2A2A2A"/>
                </a:solidFill>
                <a:latin typeface="Arial MT"/>
                <a:cs typeface="Arial MT"/>
              </a:rPr>
              <a:t>environmental, and governance</a:t>
            </a:r>
            <a:r>
              <a:rPr sz="1000" spc="5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2A2A2A"/>
                </a:solidFill>
                <a:latin typeface="Arial MT"/>
                <a:cs typeface="Arial MT"/>
              </a:rPr>
              <a:t>impact.</a:t>
            </a:r>
            <a:endParaRPr sz="1000" dirty="0">
              <a:latin typeface="Arial MT"/>
              <a:cs typeface="Arial MT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7086572"/>
              </p:ext>
            </p:extLst>
          </p:nvPr>
        </p:nvGraphicFramePr>
        <p:xfrm>
          <a:off x="746803" y="2029962"/>
          <a:ext cx="6367726" cy="20256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491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22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95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38250">
                <a:tc>
                  <a:txBody>
                    <a:bodyPr/>
                    <a:lstStyle/>
                    <a:p>
                      <a:pPr marL="24765" algn="ctr">
                        <a:lnSpc>
                          <a:spcPct val="100000"/>
                        </a:lnSpc>
                        <a:spcBef>
                          <a:spcPts val="1350"/>
                        </a:spcBef>
                      </a:pPr>
                      <a:endParaRPr sz="850" dirty="0">
                        <a:latin typeface="Felix Titling" panose="04060505060202020A04" pitchFamily="82" charset="0"/>
                        <a:cs typeface="Arial"/>
                      </a:endParaRPr>
                    </a:p>
                  </a:txBody>
                  <a:tcPr marL="0" marR="0" marT="171450" marB="0">
                    <a:lnT w="76200">
                      <a:solidFill>
                        <a:srgbClr val="C8A84B"/>
                      </a:solidFill>
                      <a:prstDash val="solid"/>
                    </a:lnT>
                    <a:lnB w="6350">
                      <a:solidFill>
                        <a:srgbClr val="D4C4A0"/>
                      </a:solidFill>
                      <a:prstDash val="solid"/>
                    </a:lnB>
                    <a:solidFill>
                      <a:srgbClr val="00AE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50"/>
                        </a:spcBef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Felix Titling" panose="04060505060202020A04" pitchFamily="82" charset="0"/>
                          <a:cs typeface="Arial"/>
                        </a:rPr>
                        <a:t>SDG </a:t>
                      </a:r>
                      <a:r>
                        <a:rPr sz="1600" b="1" spc="-50" dirty="0">
                          <a:solidFill>
                            <a:srgbClr val="FFFFFF"/>
                          </a:solidFill>
                          <a:latin typeface="Felix Titling" panose="04060505060202020A04" pitchFamily="82" charset="0"/>
                          <a:cs typeface="Arial"/>
                        </a:rPr>
                        <a:t>2</a:t>
                      </a:r>
                      <a:endParaRPr sz="1600" dirty="0">
                        <a:latin typeface="Felix Titling" panose="04060505060202020A04" pitchFamily="82" charset="0"/>
                        <a:cs typeface="Arial"/>
                      </a:endParaRPr>
                    </a:p>
                    <a:p>
                      <a:pPr marL="823594" marR="815975" algn="ctr">
                        <a:lnSpc>
                          <a:spcPct val="117600"/>
                        </a:lnSpc>
                        <a:spcBef>
                          <a:spcPts val="130"/>
                        </a:spcBef>
                      </a:pPr>
                      <a:r>
                        <a:rPr sz="850" b="1" spc="-20" dirty="0">
                          <a:solidFill>
                            <a:srgbClr val="FFFFFF"/>
                          </a:solidFill>
                          <a:latin typeface="Felix Titling" panose="04060505060202020A04" pitchFamily="82" charset="0"/>
                          <a:cs typeface="Arial"/>
                        </a:rPr>
                        <a:t>Zero </a:t>
                      </a:r>
                      <a:r>
                        <a:rPr sz="850" b="1" spc="-10" dirty="0">
                          <a:solidFill>
                            <a:srgbClr val="FFFFFF"/>
                          </a:solidFill>
                          <a:latin typeface="Felix Titling" panose="04060505060202020A04" pitchFamily="82" charset="0"/>
                          <a:cs typeface="Arial"/>
                        </a:rPr>
                        <a:t>Hunger</a:t>
                      </a:r>
                      <a:endParaRPr sz="850" dirty="0">
                        <a:latin typeface="Felix Titling" panose="04060505060202020A04" pitchFamily="82" charset="0"/>
                        <a:cs typeface="Arial"/>
                      </a:endParaRPr>
                    </a:p>
                  </a:txBody>
                  <a:tcPr marL="0" marR="0" marT="171450" marB="0">
                    <a:lnT w="76200">
                      <a:solidFill>
                        <a:srgbClr val="C8A84B"/>
                      </a:solidFill>
                      <a:prstDash val="solid"/>
                    </a:lnT>
                    <a:lnB w="6350">
                      <a:solidFill>
                        <a:srgbClr val="D4C4A0"/>
                      </a:solidFill>
                      <a:prstDash val="solid"/>
                    </a:lnB>
                    <a:solidFill>
                      <a:srgbClr val="D4A016"/>
                    </a:solidFill>
                  </a:tcPr>
                </a:tc>
                <a:tc>
                  <a:txBody>
                    <a:bodyPr/>
                    <a:lstStyle/>
                    <a:p>
                      <a:pPr marL="25400" algn="ctr">
                        <a:lnSpc>
                          <a:spcPct val="100000"/>
                        </a:lnSpc>
                        <a:spcBef>
                          <a:spcPts val="1350"/>
                        </a:spcBef>
                      </a:pPr>
                      <a:endParaRPr sz="850" dirty="0">
                        <a:latin typeface="Felix Titling" panose="04060505060202020A04" pitchFamily="82" charset="0"/>
                        <a:cs typeface="Arial"/>
                      </a:endParaRPr>
                    </a:p>
                  </a:txBody>
                  <a:tcPr marL="0" marR="0" marT="171450" marB="0">
                    <a:lnT w="76200">
                      <a:solidFill>
                        <a:srgbClr val="C8A84B"/>
                      </a:solidFill>
                      <a:prstDash val="solid"/>
                    </a:lnT>
                    <a:lnB w="6350">
                      <a:solidFill>
                        <a:srgbClr val="D4C4A0"/>
                      </a:solidFill>
                      <a:prstDash val="solid"/>
                    </a:lnB>
                    <a:solidFill>
                      <a:srgbClr val="3F7E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7400">
                <a:tc gridSpan="3">
                  <a:txBody>
                    <a:bodyPr/>
                    <a:lstStyle/>
                    <a:p>
                      <a:pPr marL="76200" marR="237490" algn="l">
                        <a:lnSpc>
                          <a:spcPct val="127499"/>
                        </a:lnSpc>
                        <a:spcBef>
                          <a:spcPts val="219"/>
                        </a:spcBef>
                        <a:tabLst>
                          <a:tab pos="2101850" algn="l"/>
                          <a:tab pos="4127500" algn="l"/>
                        </a:tabLst>
                      </a:pPr>
                      <a:r>
                        <a:rPr sz="850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Improves</a:t>
                      </a:r>
                      <a:r>
                        <a:rPr sz="850" spc="-40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850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groundwater</a:t>
                      </a:r>
                      <a:r>
                        <a:rPr sz="850" spc="-40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850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recharge</a:t>
                      </a:r>
                      <a:r>
                        <a:rPr sz="850" spc="-40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850" spc="-25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and</a:t>
                      </a:r>
                      <a:r>
                        <a:rPr sz="850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	Expands</a:t>
                      </a:r>
                      <a:r>
                        <a:rPr sz="850" spc="-35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850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assured</a:t>
                      </a:r>
                      <a:r>
                        <a:rPr sz="850" spc="-30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850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irrigation</a:t>
                      </a:r>
                      <a:r>
                        <a:rPr sz="850" spc="-30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850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across</a:t>
                      </a:r>
                      <a:r>
                        <a:rPr sz="850" spc="-30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850" spc="-25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647</a:t>
                      </a:r>
                      <a:r>
                        <a:rPr sz="850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	</a:t>
                      </a:r>
                      <a:r>
                        <a:rPr lang="en-IN" sz="850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     </a:t>
                      </a:r>
                      <a:r>
                        <a:rPr sz="850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Builds</a:t>
                      </a:r>
                      <a:r>
                        <a:rPr sz="850" spc="-35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850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resilience</a:t>
                      </a:r>
                      <a:r>
                        <a:rPr sz="850" spc="-20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850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through</a:t>
                      </a:r>
                      <a:r>
                        <a:rPr sz="850" spc="-20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 soil </a:t>
                      </a:r>
                      <a:r>
                        <a:rPr sz="850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water</a:t>
                      </a:r>
                      <a:r>
                        <a:rPr sz="850" spc="-25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850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purification</a:t>
                      </a:r>
                      <a:r>
                        <a:rPr sz="850" spc="-25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850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to</a:t>
                      </a:r>
                      <a:r>
                        <a:rPr sz="850" spc="-25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850" spc="-10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ensure</a:t>
                      </a:r>
                      <a:r>
                        <a:rPr sz="850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	Ha</a:t>
                      </a:r>
                      <a:r>
                        <a:rPr sz="850" spc="-25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850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to</a:t>
                      </a:r>
                      <a:r>
                        <a:rPr sz="850" spc="-20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850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boost</a:t>
                      </a:r>
                      <a:r>
                        <a:rPr sz="850" spc="-20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850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agricultural</a:t>
                      </a:r>
                      <a:r>
                        <a:rPr sz="850" spc="-20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850" spc="-10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productivity</a:t>
                      </a:r>
                      <a:r>
                        <a:rPr sz="850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	</a:t>
                      </a:r>
                      <a:r>
                        <a:rPr lang="en-IN" sz="850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     </a:t>
                      </a:r>
                      <a:r>
                        <a:rPr sz="850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conservation,</a:t>
                      </a:r>
                      <a:r>
                        <a:rPr sz="850" spc="-40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850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water</a:t>
                      </a:r>
                      <a:r>
                        <a:rPr sz="850" spc="-40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850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harvesting,</a:t>
                      </a:r>
                      <a:r>
                        <a:rPr sz="850" spc="-35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850" spc="-25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and </a:t>
                      </a:r>
                      <a:r>
                        <a:rPr sz="850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safe</a:t>
                      </a:r>
                      <a:r>
                        <a:rPr sz="850" spc="-20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850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drinking</a:t>
                      </a:r>
                      <a:r>
                        <a:rPr sz="850" spc="-20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850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water</a:t>
                      </a:r>
                      <a:r>
                        <a:rPr sz="850" spc="-20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850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for</a:t>
                      </a:r>
                      <a:r>
                        <a:rPr sz="850" spc="-20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850" spc="-25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225</a:t>
                      </a:r>
                      <a:r>
                        <a:rPr sz="850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	and</a:t>
                      </a:r>
                      <a:r>
                        <a:rPr sz="850" spc="-20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850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food</a:t>
                      </a:r>
                      <a:r>
                        <a:rPr sz="850" spc="-15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850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security</a:t>
                      </a:r>
                      <a:r>
                        <a:rPr sz="850" spc="-20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850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for</a:t>
                      </a:r>
                      <a:r>
                        <a:rPr sz="850" spc="-15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850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farm</a:t>
                      </a:r>
                      <a:r>
                        <a:rPr sz="850" spc="-20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850" spc="-10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families.</a:t>
                      </a:r>
                      <a:r>
                        <a:rPr sz="850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	</a:t>
                      </a:r>
                      <a:r>
                        <a:rPr lang="en-IN" sz="850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     </a:t>
                      </a:r>
                      <a:r>
                        <a:rPr sz="850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sustainable</a:t>
                      </a:r>
                      <a:r>
                        <a:rPr sz="850" spc="-30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850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land</a:t>
                      </a:r>
                      <a:r>
                        <a:rPr sz="850" spc="-30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850" spc="-10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management households.</a:t>
                      </a:r>
                      <a:r>
                        <a:rPr sz="850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		</a:t>
                      </a:r>
                      <a:r>
                        <a:rPr lang="en-IN" sz="850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     </a:t>
                      </a:r>
                      <a:r>
                        <a:rPr sz="850" spc="-10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practices.</a:t>
                      </a:r>
                      <a:endParaRPr sz="850" dirty="0">
                        <a:latin typeface="Arial MT"/>
                        <a:cs typeface="Arial MT"/>
                      </a:endParaRPr>
                    </a:p>
                  </a:txBody>
                  <a:tcPr marL="0" marR="0" marT="27939" marB="0">
                    <a:lnL w="6350">
                      <a:solidFill>
                        <a:srgbClr val="D4C4A0"/>
                      </a:solidFill>
                      <a:prstDash val="solid"/>
                    </a:lnL>
                    <a:lnR w="6350">
                      <a:solidFill>
                        <a:srgbClr val="D4C4A0"/>
                      </a:solidFill>
                      <a:prstDash val="solid"/>
                    </a:lnR>
                    <a:lnT w="6350">
                      <a:solidFill>
                        <a:srgbClr val="D4C4A0"/>
                      </a:solidFill>
                      <a:prstDash val="solid"/>
                    </a:lnT>
                    <a:lnB w="6350">
                      <a:solidFill>
                        <a:srgbClr val="D4C4A0"/>
                      </a:solidFill>
                      <a:prstDash val="solid"/>
                    </a:lnB>
                    <a:solidFill>
                      <a:srgbClr val="F4EFE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1" name="object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1278039"/>
              </p:ext>
            </p:extLst>
          </p:nvPr>
        </p:nvGraphicFramePr>
        <p:xfrm>
          <a:off x="746804" y="4210921"/>
          <a:ext cx="6367725" cy="20250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584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838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37615">
                <a:tc>
                  <a:txBody>
                    <a:bodyPr/>
                    <a:lstStyle/>
                    <a:p>
                      <a:pPr marL="25400" algn="ctr">
                        <a:lnSpc>
                          <a:spcPct val="100000"/>
                        </a:lnSpc>
                        <a:spcBef>
                          <a:spcPts val="1350"/>
                        </a:spcBef>
                      </a:pPr>
                      <a:endParaRPr lang="en-IN" sz="850" dirty="0">
                        <a:latin typeface="Felix Titling" panose="04060505060202020A04" pitchFamily="82" charset="0"/>
                        <a:cs typeface="Arial"/>
                      </a:endParaRPr>
                    </a:p>
                  </a:txBody>
                  <a:tcPr marL="0" marR="0" marT="171450" marB="0">
                    <a:lnT w="76200">
                      <a:solidFill>
                        <a:srgbClr val="C8A84B"/>
                      </a:solidFill>
                      <a:prstDash val="solid"/>
                    </a:lnT>
                    <a:lnB w="6350">
                      <a:solidFill>
                        <a:srgbClr val="D4C4A0"/>
                      </a:solidFill>
                      <a:prstDash val="solid"/>
                    </a:lnB>
                    <a:solidFill>
                      <a:srgbClr val="3EB04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50"/>
                        </a:spcBef>
                      </a:pPr>
                      <a:endParaRPr sz="850" dirty="0">
                        <a:latin typeface="Felix Titling" panose="04060505060202020A04" pitchFamily="82" charset="0"/>
                        <a:cs typeface="Arial"/>
                      </a:endParaRPr>
                    </a:p>
                  </a:txBody>
                  <a:tcPr marL="0" marR="0" marT="171450" marB="0">
                    <a:lnT w="76200">
                      <a:solidFill>
                        <a:srgbClr val="C8A84B"/>
                      </a:solidFill>
                      <a:prstDash val="solid"/>
                    </a:lnT>
                    <a:lnB w="6350">
                      <a:solidFill>
                        <a:srgbClr val="D4C4A0"/>
                      </a:solidFill>
                      <a:prstDash val="solid"/>
                    </a:lnB>
                    <a:solidFill>
                      <a:srgbClr val="FD9D24"/>
                    </a:solidFill>
                  </a:tcPr>
                </a:tc>
                <a:tc>
                  <a:txBody>
                    <a:bodyPr/>
                    <a:lstStyle/>
                    <a:p>
                      <a:pPr marL="25400" algn="ctr">
                        <a:lnSpc>
                          <a:spcPct val="100000"/>
                        </a:lnSpc>
                        <a:spcBef>
                          <a:spcPts val="1350"/>
                        </a:spcBef>
                      </a:pPr>
                      <a:endParaRPr sz="850" dirty="0">
                        <a:latin typeface="Felix Titling" panose="04060505060202020A04" pitchFamily="82" charset="0"/>
                        <a:cs typeface="Arial"/>
                      </a:endParaRPr>
                    </a:p>
                  </a:txBody>
                  <a:tcPr marL="0" marR="0" marT="171450" marB="0">
                    <a:lnT w="76200">
                      <a:solidFill>
                        <a:srgbClr val="C8A84B"/>
                      </a:solidFill>
                      <a:prstDash val="solid"/>
                    </a:lnT>
                    <a:lnB w="6350">
                      <a:solidFill>
                        <a:srgbClr val="D4C4A0"/>
                      </a:solidFill>
                      <a:prstDash val="solid"/>
                    </a:lnB>
                    <a:solidFill>
                      <a:srgbClr val="1836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7400">
                <a:tc gridSpan="3">
                  <a:txBody>
                    <a:bodyPr/>
                    <a:lstStyle/>
                    <a:p>
                      <a:pPr marL="76200" marR="280035">
                        <a:lnSpc>
                          <a:spcPct val="127499"/>
                        </a:lnSpc>
                        <a:spcBef>
                          <a:spcPts val="219"/>
                        </a:spcBef>
                        <a:tabLst>
                          <a:tab pos="2101850" algn="l"/>
                          <a:tab pos="4127500" algn="l"/>
                        </a:tabLst>
                      </a:pPr>
                      <a:r>
                        <a:rPr sz="850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Controls</a:t>
                      </a:r>
                      <a:r>
                        <a:rPr sz="850" spc="-25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850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soil</a:t>
                      </a:r>
                      <a:r>
                        <a:rPr sz="850" spc="-20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850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erosion,</a:t>
                      </a:r>
                      <a:r>
                        <a:rPr sz="850" spc="-20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850" spc="-10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restores</a:t>
                      </a:r>
                      <a:r>
                        <a:rPr lang="en-IN" sz="850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		 </a:t>
                      </a:r>
                    </a:p>
                    <a:p>
                      <a:pPr marL="76200" marR="280035">
                        <a:lnSpc>
                          <a:spcPct val="127499"/>
                        </a:lnSpc>
                        <a:spcBef>
                          <a:spcPts val="219"/>
                        </a:spcBef>
                        <a:tabLst>
                          <a:tab pos="2101850" algn="l"/>
                          <a:tab pos="4127500" algn="l"/>
                        </a:tabLst>
                      </a:pPr>
                      <a:r>
                        <a:rPr sz="850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degraded</a:t>
                      </a:r>
                      <a:r>
                        <a:rPr sz="850" spc="-25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850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land,</a:t>
                      </a:r>
                      <a:r>
                        <a:rPr sz="850" spc="-25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850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and</a:t>
                      </a:r>
                      <a:r>
                        <a:rPr sz="850" spc="-20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850" spc="-10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promotes</a:t>
                      </a:r>
                      <a:r>
                        <a:rPr sz="850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		</a:t>
                      </a:r>
                      <a:r>
                        <a:rPr lang="en-IN" sz="850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 </a:t>
                      </a:r>
                    </a:p>
                    <a:p>
                      <a:pPr marL="76200" marR="280035">
                        <a:lnSpc>
                          <a:spcPct val="127499"/>
                        </a:lnSpc>
                        <a:spcBef>
                          <a:spcPts val="219"/>
                        </a:spcBef>
                        <a:tabLst>
                          <a:tab pos="2101850" algn="l"/>
                          <a:tab pos="4127500" algn="l"/>
                        </a:tabLst>
                      </a:pPr>
                      <a:r>
                        <a:rPr sz="850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sustainable</a:t>
                      </a:r>
                      <a:r>
                        <a:rPr sz="850" spc="-35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850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ecosystem</a:t>
                      </a:r>
                      <a:r>
                        <a:rPr sz="850" spc="-30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850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use</a:t>
                      </a:r>
                      <a:r>
                        <a:rPr sz="850" spc="-30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850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across</a:t>
                      </a:r>
                      <a:r>
                        <a:rPr sz="850" spc="-30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850" spc="-25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the</a:t>
                      </a:r>
                      <a:r>
                        <a:rPr sz="850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		</a:t>
                      </a:r>
                      <a:r>
                        <a:rPr lang="en-IN" sz="850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 </a:t>
                      </a:r>
                    </a:p>
                    <a:p>
                      <a:pPr marL="76200" marR="280035">
                        <a:lnSpc>
                          <a:spcPct val="127499"/>
                        </a:lnSpc>
                        <a:spcBef>
                          <a:spcPts val="219"/>
                        </a:spcBef>
                        <a:tabLst>
                          <a:tab pos="2101850" algn="l"/>
                          <a:tab pos="4127500" algn="l"/>
                        </a:tabLst>
                      </a:pPr>
                      <a:r>
                        <a:rPr sz="850" spc="-10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watershed.</a:t>
                      </a:r>
                      <a:r>
                        <a:rPr sz="850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	</a:t>
                      </a:r>
                      <a:endParaRPr sz="850" dirty="0">
                        <a:latin typeface="Arial MT"/>
                        <a:cs typeface="Arial MT"/>
                      </a:endParaRPr>
                    </a:p>
                  </a:txBody>
                  <a:tcPr marL="0" marR="0" marT="27939" marB="0">
                    <a:lnL w="6350">
                      <a:solidFill>
                        <a:srgbClr val="D4C4A0"/>
                      </a:solidFill>
                      <a:prstDash val="solid"/>
                    </a:lnL>
                    <a:lnR w="6350">
                      <a:solidFill>
                        <a:srgbClr val="D4C4A0"/>
                      </a:solidFill>
                      <a:prstDash val="solid"/>
                    </a:lnR>
                    <a:lnT w="6350">
                      <a:solidFill>
                        <a:srgbClr val="D4C4A0"/>
                      </a:solidFill>
                      <a:prstDash val="solid"/>
                    </a:lnT>
                    <a:lnB w="6350">
                      <a:solidFill>
                        <a:srgbClr val="D4C4A0"/>
                      </a:solidFill>
                      <a:prstDash val="solid"/>
                    </a:lnB>
                    <a:solidFill>
                      <a:srgbClr val="F4EFE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" name="object 12"/>
          <p:cNvSpPr/>
          <p:nvPr/>
        </p:nvSpPr>
        <p:spPr>
          <a:xfrm>
            <a:off x="686478" y="6436862"/>
            <a:ext cx="1241425" cy="63500"/>
          </a:xfrm>
          <a:custGeom>
            <a:avLst/>
            <a:gdLst/>
            <a:ahLst/>
            <a:cxnLst/>
            <a:rect l="l" t="t" r="r" b="b"/>
            <a:pathLst>
              <a:path w="1241425" h="63500">
                <a:moveTo>
                  <a:pt x="1240960" y="0"/>
                </a:moveTo>
                <a:lnTo>
                  <a:pt x="0" y="0"/>
                </a:lnTo>
                <a:lnTo>
                  <a:pt x="0" y="63500"/>
                </a:lnTo>
                <a:lnTo>
                  <a:pt x="1240960" y="63500"/>
                </a:lnTo>
                <a:lnTo>
                  <a:pt x="1240960" y="0"/>
                </a:lnTo>
                <a:close/>
              </a:path>
            </a:pathLst>
          </a:custGeom>
          <a:solidFill>
            <a:srgbClr val="C8A84B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3" name="object 13"/>
          <p:cNvSpPr/>
          <p:nvPr/>
        </p:nvSpPr>
        <p:spPr>
          <a:xfrm>
            <a:off x="1989487" y="6455912"/>
            <a:ext cx="4902200" cy="19050"/>
          </a:xfrm>
          <a:custGeom>
            <a:avLst/>
            <a:gdLst/>
            <a:ahLst/>
            <a:cxnLst/>
            <a:rect l="l" t="t" r="r" b="b"/>
            <a:pathLst>
              <a:path w="4902200" h="19050">
                <a:moveTo>
                  <a:pt x="4901792" y="0"/>
                </a:moveTo>
                <a:lnTo>
                  <a:pt x="0" y="0"/>
                </a:lnTo>
                <a:lnTo>
                  <a:pt x="0" y="19050"/>
                </a:lnTo>
                <a:lnTo>
                  <a:pt x="4901792" y="19050"/>
                </a:lnTo>
                <a:lnTo>
                  <a:pt x="4901792" y="0"/>
                </a:lnTo>
                <a:close/>
              </a:path>
            </a:pathLst>
          </a:custGeom>
          <a:solidFill>
            <a:srgbClr val="D4C4A0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4" name="object 14"/>
          <p:cNvSpPr txBox="1"/>
          <p:nvPr/>
        </p:nvSpPr>
        <p:spPr>
          <a:xfrm>
            <a:off x="746803" y="6709515"/>
            <a:ext cx="6231255" cy="1870075"/>
          </a:xfrm>
          <a:prstGeom prst="rect">
            <a:avLst/>
          </a:prstGeom>
        </p:spPr>
        <p:txBody>
          <a:bodyPr vert="horz" wrap="square" lIns="0" tIns="15494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220"/>
              </a:spcBef>
            </a:pPr>
            <a:r>
              <a:rPr sz="1700" b="1" dirty="0">
                <a:solidFill>
                  <a:srgbClr val="CC9900"/>
                </a:solidFill>
                <a:latin typeface="Felix Titling" panose="04060505060202020A04" pitchFamily="82" charset="0"/>
                <a:cs typeface="Arial"/>
              </a:rPr>
              <a:t>Conclusion</a:t>
            </a:r>
            <a:r>
              <a:rPr sz="1700" b="1" spc="-45" dirty="0">
                <a:solidFill>
                  <a:srgbClr val="CC9900"/>
                </a:solidFill>
                <a:latin typeface="Felix Titling" panose="04060505060202020A04" pitchFamily="82" charset="0"/>
                <a:cs typeface="Arial"/>
              </a:rPr>
              <a:t> </a:t>
            </a:r>
            <a:r>
              <a:rPr sz="1700" b="1" dirty="0">
                <a:solidFill>
                  <a:srgbClr val="CC9900"/>
                </a:solidFill>
                <a:latin typeface="Felix Titling" panose="04060505060202020A04" pitchFamily="82" charset="0"/>
                <a:cs typeface="Arial"/>
              </a:rPr>
              <a:t>&amp;</a:t>
            </a:r>
            <a:r>
              <a:rPr sz="1700" b="1" spc="-45" dirty="0">
                <a:solidFill>
                  <a:srgbClr val="CC9900"/>
                </a:solidFill>
                <a:latin typeface="Felix Titling" panose="04060505060202020A04" pitchFamily="82" charset="0"/>
                <a:cs typeface="Arial"/>
              </a:rPr>
              <a:t> </a:t>
            </a:r>
            <a:r>
              <a:rPr sz="1700" b="1" dirty="0">
                <a:solidFill>
                  <a:srgbClr val="CC9900"/>
                </a:solidFill>
                <a:latin typeface="Felix Titling" panose="04060505060202020A04" pitchFamily="82" charset="0"/>
                <a:cs typeface="Arial"/>
              </a:rPr>
              <a:t>Way</a:t>
            </a:r>
            <a:r>
              <a:rPr sz="1700" b="1" spc="-40" dirty="0">
                <a:solidFill>
                  <a:srgbClr val="CC9900"/>
                </a:solidFill>
                <a:latin typeface="Felix Titling" panose="04060505060202020A04" pitchFamily="82" charset="0"/>
                <a:cs typeface="Arial"/>
              </a:rPr>
              <a:t> </a:t>
            </a:r>
            <a:r>
              <a:rPr sz="1700" b="1" spc="-10" dirty="0">
                <a:solidFill>
                  <a:srgbClr val="CC9900"/>
                </a:solidFill>
                <a:latin typeface="Felix Titling" panose="04060505060202020A04" pitchFamily="82" charset="0"/>
                <a:cs typeface="Arial"/>
              </a:rPr>
              <a:t>Forward</a:t>
            </a:r>
            <a:endParaRPr sz="1700" dirty="0">
              <a:solidFill>
                <a:srgbClr val="CC9900"/>
              </a:solidFill>
              <a:latin typeface="Felix Titling" panose="04060505060202020A04" pitchFamily="82" charset="0"/>
              <a:cs typeface="Arial"/>
            </a:endParaRPr>
          </a:p>
          <a:p>
            <a:pPr marL="12700" marR="5080" algn="just">
              <a:lnSpc>
                <a:spcPct val="125000"/>
              </a:lnSpc>
              <a:spcBef>
                <a:spcPts val="360"/>
              </a:spcBef>
            </a:pPr>
            <a:r>
              <a:rPr sz="1000" dirty="0">
                <a:solidFill>
                  <a:srgbClr val="2A2A2A"/>
                </a:solidFill>
                <a:latin typeface="Arial MT"/>
                <a:cs typeface="Arial MT"/>
              </a:rPr>
              <a:t>The</a:t>
            </a:r>
            <a:r>
              <a:rPr sz="1000" spc="125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2A2A2A"/>
                </a:solidFill>
                <a:latin typeface="Arial MT"/>
                <a:cs typeface="Arial MT"/>
              </a:rPr>
              <a:t>TE</a:t>
            </a:r>
            <a:r>
              <a:rPr sz="1000" spc="125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2A2A2A"/>
                </a:solidFill>
                <a:latin typeface="Arial MT"/>
                <a:cs typeface="Arial MT"/>
              </a:rPr>
              <a:t>Integrated</a:t>
            </a:r>
            <a:r>
              <a:rPr sz="1000" spc="130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2A2A2A"/>
                </a:solidFill>
                <a:latin typeface="Arial MT"/>
                <a:cs typeface="Arial MT"/>
              </a:rPr>
              <a:t>Watershed</a:t>
            </a:r>
            <a:r>
              <a:rPr sz="1000" spc="125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2A2A2A"/>
                </a:solidFill>
                <a:latin typeface="Arial MT"/>
                <a:cs typeface="Arial MT"/>
              </a:rPr>
              <a:t>Development</a:t>
            </a:r>
            <a:r>
              <a:rPr sz="1000" spc="130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2A2A2A"/>
                </a:solidFill>
                <a:latin typeface="Arial MT"/>
                <a:cs typeface="Arial MT"/>
              </a:rPr>
              <a:t>Project</a:t>
            </a:r>
            <a:r>
              <a:rPr sz="1000" spc="125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2A2A2A"/>
                </a:solidFill>
                <a:latin typeface="Arial MT"/>
                <a:cs typeface="Arial MT"/>
              </a:rPr>
              <a:t>–</a:t>
            </a:r>
            <a:r>
              <a:rPr sz="1000" spc="130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2A2A2A"/>
                </a:solidFill>
                <a:latin typeface="Arial MT"/>
                <a:cs typeface="Arial MT"/>
              </a:rPr>
              <a:t>Ghatdare</a:t>
            </a:r>
            <a:r>
              <a:rPr sz="1000" spc="125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2A2A2A"/>
                </a:solidFill>
                <a:latin typeface="Arial MT"/>
                <a:cs typeface="Arial MT"/>
              </a:rPr>
              <a:t>delivered</a:t>
            </a:r>
            <a:r>
              <a:rPr sz="1000" spc="125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000" b="1" dirty="0">
                <a:solidFill>
                  <a:srgbClr val="2A2A2A"/>
                </a:solidFill>
                <a:latin typeface="Arial"/>
                <a:cs typeface="Arial"/>
              </a:rPr>
              <a:t>measurable</a:t>
            </a:r>
            <a:r>
              <a:rPr sz="1000" b="1" spc="130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2A2A2A"/>
                </a:solidFill>
                <a:latin typeface="Arial"/>
                <a:cs typeface="Arial"/>
              </a:rPr>
              <a:t>outputs</a:t>
            </a:r>
            <a:r>
              <a:rPr sz="1000" b="1" spc="125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2A2A2A"/>
                </a:solidFill>
                <a:latin typeface="Arial MT"/>
                <a:cs typeface="Arial MT"/>
              </a:rPr>
              <a:t>(structures, </a:t>
            </a:r>
            <a:r>
              <a:rPr sz="1000" dirty="0">
                <a:solidFill>
                  <a:srgbClr val="2A2A2A"/>
                </a:solidFill>
                <a:latin typeface="Arial MT"/>
                <a:cs typeface="Arial MT"/>
              </a:rPr>
              <a:t>desilting,</a:t>
            </a:r>
            <a:r>
              <a:rPr sz="1000" spc="395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2A2A2A"/>
                </a:solidFill>
                <a:latin typeface="Arial MT"/>
                <a:cs typeface="Arial MT"/>
              </a:rPr>
              <a:t>monitoring,</a:t>
            </a:r>
            <a:r>
              <a:rPr sz="1000" spc="395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2A2A2A"/>
                </a:solidFill>
                <a:latin typeface="Arial MT"/>
                <a:cs typeface="Arial MT"/>
              </a:rPr>
              <a:t>community</a:t>
            </a:r>
            <a:r>
              <a:rPr sz="1000" spc="400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2A2A2A"/>
                </a:solidFill>
                <a:latin typeface="Arial MT"/>
                <a:cs typeface="Arial MT"/>
              </a:rPr>
              <a:t>mobilisation)</a:t>
            </a:r>
            <a:r>
              <a:rPr sz="1000" spc="395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2A2A2A"/>
                </a:solidFill>
                <a:latin typeface="Arial MT"/>
                <a:cs typeface="Arial MT"/>
              </a:rPr>
              <a:t>and</a:t>
            </a:r>
            <a:r>
              <a:rPr sz="1000" spc="395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2A2A2A"/>
                </a:solidFill>
                <a:latin typeface="Arial MT"/>
                <a:cs typeface="Arial MT"/>
              </a:rPr>
              <a:t>achieved</a:t>
            </a:r>
            <a:r>
              <a:rPr sz="1000" spc="400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000" b="1" dirty="0">
                <a:solidFill>
                  <a:srgbClr val="2A2A2A"/>
                </a:solidFill>
                <a:latin typeface="Arial"/>
                <a:cs typeface="Arial"/>
              </a:rPr>
              <a:t>early</a:t>
            </a:r>
            <a:r>
              <a:rPr sz="1000" b="1" spc="395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2A2A2A"/>
                </a:solidFill>
                <a:latin typeface="Arial"/>
                <a:cs typeface="Arial"/>
              </a:rPr>
              <a:t>outcomes</a:t>
            </a:r>
            <a:r>
              <a:rPr sz="1000" b="1" spc="395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A2A2A"/>
                </a:solidFill>
                <a:latin typeface="Arial MT"/>
                <a:cs typeface="Arial MT"/>
              </a:rPr>
              <a:t>(substantial</a:t>
            </a:r>
            <a:r>
              <a:rPr sz="1000" spc="400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2A2A2A"/>
                </a:solidFill>
                <a:latin typeface="Arial MT"/>
                <a:cs typeface="Arial MT"/>
              </a:rPr>
              <a:t>groundwater </a:t>
            </a:r>
            <a:r>
              <a:rPr sz="1000" dirty="0">
                <a:solidFill>
                  <a:srgbClr val="2A2A2A"/>
                </a:solidFill>
                <a:latin typeface="Arial MT"/>
                <a:cs typeface="Arial MT"/>
              </a:rPr>
              <a:t>recharge</a:t>
            </a:r>
            <a:r>
              <a:rPr sz="1000" spc="70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2A2A2A"/>
                </a:solidFill>
                <a:latin typeface="Arial MT"/>
                <a:cs typeface="Arial MT"/>
              </a:rPr>
              <a:t>of</a:t>
            </a:r>
            <a:r>
              <a:rPr sz="1000" spc="75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2A2A2A"/>
                </a:solidFill>
                <a:latin typeface="Arial MT"/>
                <a:cs typeface="Arial MT"/>
              </a:rPr>
              <a:t>2.5–3.2</a:t>
            </a:r>
            <a:r>
              <a:rPr sz="1000" spc="75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2A2A2A"/>
                </a:solidFill>
                <a:latin typeface="Arial MT"/>
                <a:cs typeface="Arial MT"/>
              </a:rPr>
              <a:t>m,</a:t>
            </a:r>
            <a:r>
              <a:rPr sz="1000" spc="75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2A2A2A"/>
                </a:solidFill>
                <a:latin typeface="Arial MT"/>
                <a:cs typeface="Arial MT"/>
              </a:rPr>
              <a:t>136.43</a:t>
            </a:r>
            <a:r>
              <a:rPr sz="1000" spc="75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2A2A2A"/>
                </a:solidFill>
                <a:latin typeface="Arial MT"/>
                <a:cs typeface="Arial MT"/>
              </a:rPr>
              <a:t>TCM</a:t>
            </a:r>
            <a:r>
              <a:rPr sz="1000" spc="75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2A2A2A"/>
                </a:solidFill>
                <a:latin typeface="Arial MT"/>
                <a:cs typeface="Arial MT"/>
              </a:rPr>
              <a:t>additional</a:t>
            </a:r>
            <a:r>
              <a:rPr sz="1000" spc="70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2A2A2A"/>
                </a:solidFill>
                <a:latin typeface="Arial MT"/>
                <a:cs typeface="Arial MT"/>
              </a:rPr>
              <a:t>water</a:t>
            </a:r>
            <a:r>
              <a:rPr sz="1000" spc="75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2A2A2A"/>
                </a:solidFill>
                <a:latin typeface="Arial MT"/>
                <a:cs typeface="Arial MT"/>
              </a:rPr>
              <a:t>storage,</a:t>
            </a:r>
            <a:r>
              <a:rPr sz="1000" spc="75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2A2A2A"/>
                </a:solidFill>
                <a:latin typeface="Arial MT"/>
                <a:cs typeface="Arial MT"/>
              </a:rPr>
              <a:t>improved</a:t>
            </a:r>
            <a:r>
              <a:rPr sz="1000" spc="75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2A2A2A"/>
                </a:solidFill>
                <a:latin typeface="Arial MT"/>
                <a:cs typeface="Arial MT"/>
              </a:rPr>
              <a:t>irrigation</a:t>
            </a:r>
            <a:r>
              <a:rPr sz="1000" spc="75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2A2A2A"/>
                </a:solidFill>
                <a:latin typeface="Arial MT"/>
                <a:cs typeface="Arial MT"/>
              </a:rPr>
              <a:t>potential,</a:t>
            </a:r>
            <a:r>
              <a:rPr sz="1000" spc="75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2A2A2A"/>
                </a:solidFill>
                <a:latin typeface="Arial MT"/>
                <a:cs typeface="Arial MT"/>
              </a:rPr>
              <a:t>and</a:t>
            </a:r>
            <a:r>
              <a:rPr sz="1000" spc="75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2A2A2A"/>
                </a:solidFill>
                <a:latin typeface="Arial MT"/>
                <a:cs typeface="Arial MT"/>
              </a:rPr>
              <a:t>strengthened </a:t>
            </a:r>
            <a:r>
              <a:rPr sz="1000" dirty="0">
                <a:solidFill>
                  <a:srgbClr val="2A2A2A"/>
                </a:solidFill>
                <a:latin typeface="Arial MT"/>
                <a:cs typeface="Arial MT"/>
              </a:rPr>
              <a:t>community governance) in FY 2025-</a:t>
            </a:r>
            <a:r>
              <a:rPr sz="1000" spc="-25" dirty="0">
                <a:solidFill>
                  <a:srgbClr val="2A2A2A"/>
                </a:solidFill>
                <a:latin typeface="Arial MT"/>
                <a:cs typeface="Arial MT"/>
              </a:rPr>
              <a:t>26.</a:t>
            </a:r>
            <a:endParaRPr sz="1000" dirty="0">
              <a:latin typeface="Arial MT"/>
              <a:cs typeface="Arial MT"/>
            </a:endParaRPr>
          </a:p>
          <a:p>
            <a:pPr marL="12700" marR="5080" algn="just">
              <a:lnSpc>
                <a:spcPct val="125000"/>
              </a:lnSpc>
              <a:spcBef>
                <a:spcPts val="500"/>
              </a:spcBef>
            </a:pPr>
            <a:r>
              <a:rPr sz="1000" b="1" dirty="0">
                <a:solidFill>
                  <a:srgbClr val="2A2A2A"/>
                </a:solidFill>
                <a:latin typeface="Arial"/>
                <a:cs typeface="Arial"/>
              </a:rPr>
              <a:t>Next</a:t>
            </a:r>
            <a:r>
              <a:rPr sz="1000" b="1" spc="35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2A2A2A"/>
                </a:solidFill>
                <a:latin typeface="Arial"/>
                <a:cs typeface="Arial"/>
              </a:rPr>
              <a:t>Steps:</a:t>
            </a:r>
            <a:r>
              <a:rPr sz="1000" b="1" spc="35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A2A2A"/>
                </a:solidFill>
                <a:latin typeface="Arial MT"/>
                <a:cs typeface="Arial MT"/>
              </a:rPr>
              <a:t>Completing</a:t>
            </a:r>
            <a:r>
              <a:rPr sz="1000" spc="40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2A2A2A"/>
                </a:solidFill>
                <a:latin typeface="Arial MT"/>
                <a:cs typeface="Arial MT"/>
              </a:rPr>
              <a:t>community-led</a:t>
            </a:r>
            <a:r>
              <a:rPr sz="1000" spc="35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2A2A2A"/>
                </a:solidFill>
                <a:latin typeface="Arial MT"/>
                <a:cs typeface="Arial MT"/>
              </a:rPr>
              <a:t>maintenance</a:t>
            </a:r>
            <a:r>
              <a:rPr sz="1000" spc="35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2A2A2A"/>
                </a:solidFill>
                <a:latin typeface="Arial MT"/>
                <a:cs typeface="Arial MT"/>
              </a:rPr>
              <a:t>systems,</a:t>
            </a:r>
            <a:r>
              <a:rPr sz="1000" spc="40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2A2A2A"/>
                </a:solidFill>
                <a:latin typeface="Arial MT"/>
                <a:cs typeface="Arial MT"/>
              </a:rPr>
              <a:t>scaling</a:t>
            </a:r>
            <a:r>
              <a:rPr sz="1000" spc="35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2A2A2A"/>
                </a:solidFill>
                <a:latin typeface="Arial MT"/>
                <a:cs typeface="Arial MT"/>
              </a:rPr>
              <a:t>irrigation</a:t>
            </a:r>
            <a:r>
              <a:rPr sz="1000" spc="35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2A2A2A"/>
                </a:solidFill>
                <a:latin typeface="Arial MT"/>
                <a:cs typeface="Arial MT"/>
              </a:rPr>
              <a:t>interventions</a:t>
            </a:r>
            <a:r>
              <a:rPr sz="1000" spc="40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2A2A2A"/>
                </a:solidFill>
                <a:latin typeface="Arial MT"/>
                <a:cs typeface="Arial MT"/>
              </a:rPr>
              <a:t>to</a:t>
            </a:r>
            <a:r>
              <a:rPr sz="1000" spc="35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2A2A2A"/>
                </a:solidFill>
                <a:latin typeface="Arial MT"/>
                <a:cs typeface="Arial MT"/>
              </a:rPr>
              <a:t>reach</a:t>
            </a:r>
            <a:r>
              <a:rPr sz="1000" spc="40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2A2A2A"/>
                </a:solidFill>
                <a:latin typeface="Arial MT"/>
                <a:cs typeface="Arial MT"/>
              </a:rPr>
              <a:t>the</a:t>
            </a:r>
            <a:r>
              <a:rPr sz="1000" spc="35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000" spc="-20" dirty="0">
                <a:solidFill>
                  <a:srgbClr val="2A2A2A"/>
                </a:solidFill>
                <a:latin typeface="Arial MT"/>
                <a:cs typeface="Arial MT"/>
              </a:rPr>
              <a:t>full </a:t>
            </a:r>
            <a:r>
              <a:rPr sz="1000" dirty="0">
                <a:solidFill>
                  <a:srgbClr val="2A2A2A"/>
                </a:solidFill>
                <a:latin typeface="Arial MT"/>
                <a:cs typeface="Arial MT"/>
              </a:rPr>
              <a:t>647</a:t>
            </a:r>
            <a:r>
              <a:rPr sz="1000" spc="65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2A2A2A"/>
                </a:solidFill>
                <a:latin typeface="Arial MT"/>
                <a:cs typeface="Arial MT"/>
              </a:rPr>
              <a:t>Ha</a:t>
            </a:r>
            <a:r>
              <a:rPr sz="1000" spc="65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2A2A2A"/>
                </a:solidFill>
                <a:latin typeface="Arial MT"/>
                <a:cs typeface="Arial MT"/>
              </a:rPr>
              <a:t>target,</a:t>
            </a:r>
            <a:r>
              <a:rPr sz="1000" spc="70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2A2A2A"/>
                </a:solidFill>
                <a:latin typeface="Arial MT"/>
                <a:cs typeface="Arial MT"/>
              </a:rPr>
              <a:t>measuring</a:t>
            </a:r>
            <a:r>
              <a:rPr sz="1000" spc="65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2A2A2A"/>
                </a:solidFill>
                <a:latin typeface="Arial MT"/>
                <a:cs typeface="Arial MT"/>
              </a:rPr>
              <a:t>crop</a:t>
            </a:r>
            <a:r>
              <a:rPr sz="1000" spc="70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2A2A2A"/>
                </a:solidFill>
                <a:latin typeface="Arial MT"/>
                <a:cs typeface="Arial MT"/>
              </a:rPr>
              <a:t>yield</a:t>
            </a:r>
            <a:r>
              <a:rPr sz="1000" spc="65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2A2A2A"/>
                </a:solidFill>
                <a:latin typeface="Arial MT"/>
                <a:cs typeface="Arial MT"/>
              </a:rPr>
              <a:t>changes,</a:t>
            </a:r>
            <a:r>
              <a:rPr sz="1000" spc="70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2A2A2A"/>
                </a:solidFill>
                <a:latin typeface="Arial MT"/>
                <a:cs typeface="Arial MT"/>
              </a:rPr>
              <a:t>and</a:t>
            </a:r>
            <a:r>
              <a:rPr sz="1000" spc="65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2A2A2A"/>
                </a:solidFill>
                <a:latin typeface="Arial MT"/>
                <a:cs typeface="Arial MT"/>
              </a:rPr>
              <a:t>commissioning</a:t>
            </a:r>
            <a:r>
              <a:rPr sz="1000" spc="70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2A2A2A"/>
                </a:solidFill>
                <a:latin typeface="Arial MT"/>
                <a:cs typeface="Arial MT"/>
              </a:rPr>
              <a:t>the</a:t>
            </a:r>
            <a:r>
              <a:rPr sz="1000" spc="65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2A2A2A"/>
                </a:solidFill>
                <a:latin typeface="Arial MT"/>
                <a:cs typeface="Arial MT"/>
              </a:rPr>
              <a:t>Water</a:t>
            </a:r>
            <a:r>
              <a:rPr sz="1000" spc="70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2A2A2A"/>
                </a:solidFill>
                <a:latin typeface="Arial MT"/>
                <a:cs typeface="Arial MT"/>
              </a:rPr>
              <a:t>Purification</a:t>
            </a:r>
            <a:r>
              <a:rPr sz="1000" spc="65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2A2A2A"/>
                </a:solidFill>
                <a:latin typeface="Arial MT"/>
                <a:cs typeface="Arial MT"/>
              </a:rPr>
              <a:t>Unit</a:t>
            </a:r>
            <a:r>
              <a:rPr sz="1000" spc="70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2A2A2A"/>
                </a:solidFill>
                <a:latin typeface="Arial MT"/>
                <a:cs typeface="Arial MT"/>
              </a:rPr>
              <a:t>will</a:t>
            </a:r>
            <a:r>
              <a:rPr sz="1000" spc="65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2A2A2A"/>
                </a:solidFill>
                <a:latin typeface="Arial MT"/>
                <a:cs typeface="Arial MT"/>
              </a:rPr>
              <a:t>consolidate </a:t>
            </a:r>
            <a:r>
              <a:rPr sz="1000" dirty="0">
                <a:solidFill>
                  <a:srgbClr val="2A2A2A"/>
                </a:solidFill>
                <a:latin typeface="Arial MT"/>
                <a:cs typeface="Arial MT"/>
              </a:rPr>
              <a:t>these</a:t>
            </a:r>
            <a:r>
              <a:rPr sz="1000" spc="5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2A2A2A"/>
                </a:solidFill>
                <a:latin typeface="Arial MT"/>
                <a:cs typeface="Arial MT"/>
              </a:rPr>
              <a:t>gains</a:t>
            </a:r>
            <a:r>
              <a:rPr sz="1000" spc="5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2A2A2A"/>
                </a:solidFill>
                <a:latin typeface="Arial MT"/>
                <a:cs typeface="Arial MT"/>
              </a:rPr>
              <a:t>and</a:t>
            </a:r>
            <a:r>
              <a:rPr sz="1000" spc="5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2A2A2A"/>
                </a:solidFill>
                <a:latin typeface="Arial MT"/>
                <a:cs typeface="Arial MT"/>
              </a:rPr>
              <a:t>demonstrate</a:t>
            </a:r>
            <a:r>
              <a:rPr sz="1000" spc="5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2A2A2A"/>
                </a:solidFill>
                <a:latin typeface="Arial MT"/>
                <a:cs typeface="Arial MT"/>
              </a:rPr>
              <a:t>long-term</a:t>
            </a:r>
            <a:r>
              <a:rPr sz="1000" spc="10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2A2A2A"/>
                </a:solidFill>
                <a:latin typeface="Arial MT"/>
                <a:cs typeface="Arial MT"/>
              </a:rPr>
              <a:t>impact</a:t>
            </a:r>
            <a:r>
              <a:rPr sz="1000" spc="5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2A2A2A"/>
                </a:solidFill>
                <a:latin typeface="Arial MT"/>
                <a:cs typeface="Arial MT"/>
              </a:rPr>
              <a:t>aligned</a:t>
            </a:r>
            <a:r>
              <a:rPr sz="1000" spc="5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2A2A2A"/>
                </a:solidFill>
                <a:latin typeface="Arial MT"/>
                <a:cs typeface="Arial MT"/>
              </a:rPr>
              <a:t>with</a:t>
            </a:r>
            <a:r>
              <a:rPr sz="1000" spc="5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2A2A2A"/>
                </a:solidFill>
                <a:latin typeface="Arial MT"/>
                <a:cs typeface="Arial MT"/>
              </a:rPr>
              <a:t>SDGs</a:t>
            </a:r>
            <a:r>
              <a:rPr sz="1000" spc="5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2A2A2A"/>
                </a:solidFill>
                <a:latin typeface="Arial MT"/>
                <a:cs typeface="Arial MT"/>
              </a:rPr>
              <a:t>2,</a:t>
            </a:r>
            <a:r>
              <a:rPr sz="1000" spc="10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2A2A2A"/>
                </a:solidFill>
                <a:latin typeface="Arial MT"/>
                <a:cs typeface="Arial MT"/>
              </a:rPr>
              <a:t>6,</a:t>
            </a:r>
            <a:r>
              <a:rPr sz="1000" spc="5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2A2A2A"/>
                </a:solidFill>
                <a:latin typeface="Arial MT"/>
                <a:cs typeface="Arial MT"/>
              </a:rPr>
              <a:t>13,</a:t>
            </a:r>
            <a:r>
              <a:rPr sz="1000" spc="5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2A2A2A"/>
                </a:solidFill>
                <a:latin typeface="Arial MT"/>
                <a:cs typeface="Arial MT"/>
              </a:rPr>
              <a:t>15,</a:t>
            </a:r>
            <a:r>
              <a:rPr sz="1000" spc="5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2A2A2A"/>
                </a:solidFill>
                <a:latin typeface="Arial MT"/>
                <a:cs typeface="Arial MT"/>
              </a:rPr>
              <a:t>and</a:t>
            </a:r>
            <a:r>
              <a:rPr sz="1000" spc="10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000" spc="-25" dirty="0">
                <a:solidFill>
                  <a:srgbClr val="2A2A2A"/>
                </a:solidFill>
                <a:latin typeface="Arial MT"/>
                <a:cs typeface="Arial MT"/>
              </a:rPr>
              <a:t>17.</a:t>
            </a:r>
            <a:endParaRPr sz="1000" dirty="0">
              <a:latin typeface="Arial MT"/>
              <a:cs typeface="Arial MT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TE</a:t>
            </a:r>
            <a:r>
              <a:rPr spc="-5" dirty="0"/>
              <a:t> </a:t>
            </a:r>
            <a:r>
              <a:rPr dirty="0"/>
              <a:t>Integrated Watershed Management Project</a:t>
            </a:r>
            <a:r>
              <a:rPr spc="210" dirty="0"/>
              <a:t> </a:t>
            </a:r>
            <a:r>
              <a:rPr dirty="0"/>
              <a:t>|</a:t>
            </a:r>
            <a:r>
              <a:rPr spc="210" dirty="0"/>
              <a:t> </a:t>
            </a:r>
            <a:r>
              <a:rPr dirty="0"/>
              <a:t>Ghatdare, Khandala, Satara</a:t>
            </a:r>
            <a:r>
              <a:rPr spc="210" dirty="0"/>
              <a:t> </a:t>
            </a:r>
            <a:r>
              <a:rPr dirty="0"/>
              <a:t>|</a:t>
            </a:r>
            <a:r>
              <a:rPr spc="210" dirty="0"/>
              <a:t> </a:t>
            </a:r>
            <a:r>
              <a:rPr dirty="0"/>
              <a:t>FY 2025-</a:t>
            </a:r>
            <a:r>
              <a:rPr spc="-25" dirty="0"/>
              <a:t>26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Page</a:t>
            </a:r>
            <a:r>
              <a:rPr spc="-20" dirty="0"/>
              <a:t> </a:t>
            </a:r>
            <a:fld id="{81D60167-4931-47E6-BA6A-407CBD079E47}" type="slidenum">
              <a:rPr spc="-25" dirty="0"/>
              <a:t>13</a:t>
            </a:fld>
            <a:endParaRPr spc="-25" dirty="0"/>
          </a:p>
        </p:txBody>
      </p:sp>
      <p:sp>
        <p:nvSpPr>
          <p:cNvPr id="15" name="object 15"/>
          <p:cNvSpPr txBox="1"/>
          <p:nvPr/>
        </p:nvSpPr>
        <p:spPr>
          <a:xfrm>
            <a:off x="779199" y="8683862"/>
            <a:ext cx="6205220" cy="134934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rgbClr val="C8A84B"/>
            </a:solidFill>
          </a:ln>
        </p:spPr>
        <p:txBody>
          <a:bodyPr vert="horz" wrap="square" lIns="0" tIns="111760" rIns="0" bIns="0" rtlCol="0">
            <a:spAutoFit/>
          </a:bodyPr>
          <a:lstStyle/>
          <a:p>
            <a:pPr marL="1355725" marR="1246505" algn="ctr">
              <a:lnSpc>
                <a:spcPct val="148100"/>
              </a:lnSpc>
              <a:spcBef>
                <a:spcPts val="880"/>
              </a:spcBef>
            </a:pPr>
            <a:r>
              <a:rPr sz="900" b="1" dirty="0">
                <a:solidFill>
                  <a:srgbClr val="FFFFFF"/>
                </a:solidFill>
                <a:latin typeface="Aptos Display" panose="020B0004020202020204" pitchFamily="34" charset="0"/>
                <a:cs typeface="Arial"/>
              </a:rPr>
              <a:t>TE</a:t>
            </a:r>
            <a:r>
              <a:rPr sz="900" b="1" spc="-5" dirty="0">
                <a:solidFill>
                  <a:srgbClr val="FFFFFF"/>
                </a:solidFill>
                <a:latin typeface="Aptos Display" panose="020B0004020202020204" pitchFamily="34" charset="0"/>
                <a:cs typeface="Arial"/>
              </a:rPr>
              <a:t> </a:t>
            </a:r>
            <a:r>
              <a:rPr sz="900" b="1" dirty="0">
                <a:solidFill>
                  <a:srgbClr val="FFFFFF"/>
                </a:solidFill>
                <a:latin typeface="Aptos Display" panose="020B0004020202020204" pitchFamily="34" charset="0"/>
                <a:cs typeface="Arial"/>
              </a:rPr>
              <a:t>Integrated</a:t>
            </a:r>
            <a:r>
              <a:rPr sz="900" b="1" spc="-5" dirty="0">
                <a:solidFill>
                  <a:srgbClr val="FFFFFF"/>
                </a:solidFill>
                <a:latin typeface="Aptos Display" panose="020B0004020202020204" pitchFamily="34" charset="0"/>
                <a:cs typeface="Arial"/>
              </a:rPr>
              <a:t> </a:t>
            </a:r>
            <a:r>
              <a:rPr sz="900" b="1" dirty="0">
                <a:solidFill>
                  <a:srgbClr val="FFFFFF"/>
                </a:solidFill>
                <a:latin typeface="Aptos Display" panose="020B0004020202020204" pitchFamily="34" charset="0"/>
                <a:cs typeface="Arial"/>
              </a:rPr>
              <a:t>Watershed</a:t>
            </a:r>
            <a:r>
              <a:rPr sz="900" b="1" spc="-5" dirty="0">
                <a:solidFill>
                  <a:srgbClr val="FFFFFF"/>
                </a:solidFill>
                <a:latin typeface="Aptos Display" panose="020B0004020202020204" pitchFamily="34" charset="0"/>
                <a:cs typeface="Arial"/>
              </a:rPr>
              <a:t> </a:t>
            </a:r>
            <a:r>
              <a:rPr sz="900" b="1" dirty="0">
                <a:solidFill>
                  <a:srgbClr val="FFFFFF"/>
                </a:solidFill>
                <a:latin typeface="Aptos Display" panose="020B0004020202020204" pitchFamily="34" charset="0"/>
                <a:cs typeface="Arial"/>
              </a:rPr>
              <a:t>Management</a:t>
            </a:r>
            <a:r>
              <a:rPr sz="900" b="1" spc="-5" dirty="0">
                <a:solidFill>
                  <a:srgbClr val="FFFFFF"/>
                </a:solidFill>
                <a:latin typeface="Aptos Display" panose="020B0004020202020204" pitchFamily="34" charset="0"/>
                <a:cs typeface="Arial"/>
              </a:rPr>
              <a:t> </a:t>
            </a:r>
            <a:r>
              <a:rPr sz="900" b="1" dirty="0">
                <a:solidFill>
                  <a:srgbClr val="FFFFFF"/>
                </a:solidFill>
                <a:latin typeface="Aptos Display" panose="020B0004020202020204" pitchFamily="34" charset="0"/>
                <a:cs typeface="Arial"/>
              </a:rPr>
              <a:t>Project</a:t>
            </a:r>
            <a:r>
              <a:rPr sz="900" b="1" spc="-5" dirty="0">
                <a:solidFill>
                  <a:srgbClr val="FFFFFF"/>
                </a:solidFill>
                <a:latin typeface="Aptos Display" panose="020B0004020202020204" pitchFamily="34" charset="0"/>
                <a:cs typeface="Arial"/>
              </a:rPr>
              <a:t> </a:t>
            </a:r>
            <a:r>
              <a:rPr sz="900" b="1" dirty="0">
                <a:solidFill>
                  <a:srgbClr val="FFFFFF"/>
                </a:solidFill>
                <a:latin typeface="Aptos Display" panose="020B0004020202020204" pitchFamily="34" charset="0"/>
                <a:cs typeface="Arial"/>
              </a:rPr>
              <a:t>(IWMP)</a:t>
            </a:r>
            <a:r>
              <a:rPr sz="900" b="1" spc="-5" dirty="0">
                <a:solidFill>
                  <a:srgbClr val="FFFFFF"/>
                </a:solidFill>
                <a:latin typeface="Aptos Display" panose="020B0004020202020204" pitchFamily="34" charset="0"/>
                <a:cs typeface="Arial"/>
              </a:rPr>
              <a:t> </a:t>
            </a:r>
            <a:r>
              <a:rPr sz="900" b="1" dirty="0">
                <a:solidFill>
                  <a:srgbClr val="FFFFFF"/>
                </a:solidFill>
                <a:latin typeface="Aptos Display" panose="020B0004020202020204" pitchFamily="34" charset="0"/>
                <a:cs typeface="Arial"/>
              </a:rPr>
              <a:t>—</a:t>
            </a:r>
            <a:r>
              <a:rPr sz="900" b="1" spc="-5" dirty="0">
                <a:solidFill>
                  <a:srgbClr val="FFFFFF"/>
                </a:solidFill>
                <a:latin typeface="Aptos Display" panose="020B0004020202020204" pitchFamily="34" charset="0"/>
                <a:cs typeface="Arial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Aptos Display" panose="020B0004020202020204" pitchFamily="34" charset="0"/>
                <a:cs typeface="Arial"/>
              </a:rPr>
              <a:t>Ghatdare </a:t>
            </a:r>
            <a:r>
              <a:rPr sz="900" dirty="0">
                <a:solidFill>
                  <a:srgbClr val="FFFFFF"/>
                </a:solidFill>
                <a:latin typeface="Aptos Display" panose="020B0004020202020204" pitchFamily="34" charset="0"/>
                <a:cs typeface="Arial MT"/>
              </a:rPr>
              <a:t>CSR</a:t>
            </a:r>
            <a:r>
              <a:rPr sz="900" spc="-5" dirty="0">
                <a:solidFill>
                  <a:srgbClr val="FFFFFF"/>
                </a:solidFill>
                <a:latin typeface="Aptos Display" panose="020B0004020202020204" pitchFamily="34" charset="0"/>
                <a:cs typeface="Arial MT"/>
              </a:rPr>
              <a:t> </a:t>
            </a:r>
            <a:r>
              <a:rPr sz="900" dirty="0">
                <a:solidFill>
                  <a:srgbClr val="FFFFFF"/>
                </a:solidFill>
                <a:latin typeface="Aptos Display" panose="020B0004020202020204" pitchFamily="34" charset="0"/>
                <a:cs typeface="Arial MT"/>
              </a:rPr>
              <a:t>Partner: TE Connectivity | Implementing Partner: SJSM, </a:t>
            </a:r>
            <a:r>
              <a:rPr sz="900" spc="-10" dirty="0">
                <a:solidFill>
                  <a:srgbClr val="FFFFFF"/>
                </a:solidFill>
                <a:latin typeface="Aptos Display" panose="020B0004020202020204" pitchFamily="34" charset="0"/>
                <a:cs typeface="Arial MT"/>
              </a:rPr>
              <a:t>Satara </a:t>
            </a:r>
            <a:endParaRPr lang="en-IN" sz="900" spc="-10" dirty="0">
              <a:solidFill>
                <a:srgbClr val="FFFFFF"/>
              </a:solidFill>
              <a:latin typeface="Aptos Display" panose="020B0004020202020204" pitchFamily="34" charset="0"/>
              <a:cs typeface="Arial MT"/>
            </a:endParaRPr>
          </a:p>
          <a:p>
            <a:pPr marL="1355725" marR="1246505" algn="ctr">
              <a:lnSpc>
                <a:spcPct val="148100"/>
              </a:lnSpc>
              <a:spcBef>
                <a:spcPts val="880"/>
              </a:spcBef>
            </a:pPr>
            <a:r>
              <a:rPr lang="en-IN" sz="900" dirty="0">
                <a:solidFill>
                  <a:srgbClr val="FFFFFF"/>
                </a:solidFill>
                <a:latin typeface="Aptos Display" panose="020B0004020202020204" pitchFamily="34" charset="0"/>
                <a:cs typeface="Arial MT"/>
              </a:rPr>
              <a:t> Head Operations </a:t>
            </a:r>
            <a:r>
              <a:rPr sz="900" dirty="0">
                <a:solidFill>
                  <a:srgbClr val="FFFFFF"/>
                </a:solidFill>
                <a:latin typeface="Aptos Display" panose="020B0004020202020204" pitchFamily="34" charset="0"/>
                <a:cs typeface="Arial MT"/>
              </a:rPr>
              <a:t>: Mr.</a:t>
            </a:r>
            <a:r>
              <a:rPr sz="900" spc="-5" dirty="0">
                <a:solidFill>
                  <a:srgbClr val="FFFFFF"/>
                </a:solidFill>
                <a:latin typeface="Aptos Display" panose="020B0004020202020204" pitchFamily="34" charset="0"/>
                <a:cs typeface="Arial MT"/>
              </a:rPr>
              <a:t> </a:t>
            </a:r>
            <a:r>
              <a:rPr sz="900" dirty="0">
                <a:solidFill>
                  <a:srgbClr val="FFFFFF"/>
                </a:solidFill>
                <a:latin typeface="Aptos Display" panose="020B0004020202020204" pitchFamily="34" charset="0"/>
                <a:cs typeface="Arial MT"/>
              </a:rPr>
              <a:t>Ram Kolekar |</a:t>
            </a:r>
            <a:r>
              <a:rPr sz="900" spc="-5" dirty="0">
                <a:solidFill>
                  <a:srgbClr val="FFFFFF"/>
                </a:solidFill>
                <a:latin typeface="Aptos Display" panose="020B0004020202020204" pitchFamily="34" charset="0"/>
                <a:cs typeface="Arial MT"/>
              </a:rPr>
              <a:t> </a:t>
            </a:r>
            <a:r>
              <a:rPr sz="900" dirty="0">
                <a:solidFill>
                  <a:srgbClr val="FFFFFF"/>
                </a:solidFill>
                <a:latin typeface="Aptos Display" panose="020B0004020202020204" pitchFamily="34" charset="0"/>
                <a:cs typeface="Arial MT"/>
              </a:rPr>
              <a:t>Location: Ghatdare,</a:t>
            </a:r>
            <a:r>
              <a:rPr sz="900" spc="-5" dirty="0">
                <a:solidFill>
                  <a:srgbClr val="FFFFFF"/>
                </a:solidFill>
                <a:latin typeface="Aptos Display" panose="020B0004020202020204" pitchFamily="34" charset="0"/>
                <a:cs typeface="Arial MT"/>
              </a:rPr>
              <a:t> </a:t>
            </a:r>
            <a:r>
              <a:rPr sz="900" dirty="0">
                <a:solidFill>
                  <a:srgbClr val="FFFFFF"/>
                </a:solidFill>
                <a:latin typeface="Aptos Display" panose="020B0004020202020204" pitchFamily="34" charset="0"/>
                <a:cs typeface="Arial MT"/>
              </a:rPr>
              <a:t>Khandala, </a:t>
            </a:r>
            <a:r>
              <a:rPr sz="900" spc="-10" dirty="0">
                <a:solidFill>
                  <a:srgbClr val="FFFFFF"/>
                </a:solidFill>
                <a:latin typeface="Aptos Display" panose="020B0004020202020204" pitchFamily="34" charset="0"/>
                <a:cs typeface="Arial MT"/>
              </a:rPr>
              <a:t>Satara </a:t>
            </a:r>
            <a:r>
              <a:rPr sz="900" dirty="0">
                <a:solidFill>
                  <a:srgbClr val="FFFFFF"/>
                </a:solidFill>
                <a:latin typeface="Aptos Display" panose="020B0004020202020204" pitchFamily="34" charset="0"/>
                <a:cs typeface="Arial MT"/>
              </a:rPr>
              <a:t>Annual</a:t>
            </a:r>
            <a:r>
              <a:rPr sz="900" spc="-5" dirty="0">
                <a:solidFill>
                  <a:srgbClr val="FFFFFF"/>
                </a:solidFill>
                <a:latin typeface="Aptos Display" panose="020B0004020202020204" pitchFamily="34" charset="0"/>
                <a:cs typeface="Arial MT"/>
              </a:rPr>
              <a:t> </a:t>
            </a:r>
            <a:r>
              <a:rPr sz="900" dirty="0">
                <a:solidFill>
                  <a:srgbClr val="FFFFFF"/>
                </a:solidFill>
                <a:latin typeface="Aptos Display" panose="020B0004020202020204" pitchFamily="34" charset="0"/>
                <a:cs typeface="Arial MT"/>
              </a:rPr>
              <a:t>Report FY 2025-26 | Report prepared: April </a:t>
            </a:r>
            <a:r>
              <a:rPr sz="900" spc="-20" dirty="0">
                <a:solidFill>
                  <a:srgbClr val="FFFFFF"/>
                </a:solidFill>
                <a:latin typeface="Aptos Display" panose="020B0004020202020204" pitchFamily="34" charset="0"/>
                <a:cs typeface="Arial MT"/>
              </a:rPr>
              <a:t>202</a:t>
            </a:r>
            <a:endParaRPr lang="en-IN" sz="900" spc="-20" dirty="0">
              <a:solidFill>
                <a:srgbClr val="FFFFFF"/>
              </a:solidFill>
              <a:latin typeface="Aptos Display" panose="020B0004020202020204" pitchFamily="34" charset="0"/>
              <a:cs typeface="Arial MT"/>
            </a:endParaRPr>
          </a:p>
          <a:p>
            <a:pPr marL="1355725" marR="1246505" algn="ctr">
              <a:lnSpc>
                <a:spcPct val="148100"/>
              </a:lnSpc>
              <a:spcBef>
                <a:spcPts val="880"/>
              </a:spcBef>
            </a:pPr>
            <a:r>
              <a:rPr sz="900" spc="-20" dirty="0">
                <a:solidFill>
                  <a:srgbClr val="FFFFFF"/>
                </a:solidFill>
                <a:latin typeface="Aptos Display" panose="020B0004020202020204" pitchFamily="34" charset="0"/>
                <a:cs typeface="Arial MT"/>
              </a:rPr>
              <a:t>6</a:t>
            </a:r>
            <a:endParaRPr sz="900" dirty="0">
              <a:latin typeface="Aptos Display" panose="020B0004020202020204" pitchFamily="34" charset="0"/>
              <a:cs typeface="Arial MT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5333A99-6EDB-0266-1AFE-287D45FC35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4140" y="2069105"/>
            <a:ext cx="1140115" cy="114011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0CB8F97F-9164-6923-0790-5344EEEB69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0606" y="2076161"/>
            <a:ext cx="1140115" cy="114011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5CCE2F0F-A40C-6CF2-8968-AE0658FBED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7071" y="2069105"/>
            <a:ext cx="1140116" cy="1175062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0871E073-8467-700B-05C5-EA6D68A8C0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2425" y="4246612"/>
            <a:ext cx="1175050" cy="1134748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68008840-D4CA-3387-B304-35531A3D6C4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89662" y="4292770"/>
            <a:ext cx="1175050" cy="1118735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5449AB64-A89E-9CA2-FB69-C68E070C3BF3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924" y="8961084"/>
            <a:ext cx="940979" cy="470490"/>
          </a:xfrm>
          <a:prstGeom prst="rect">
            <a:avLst/>
          </a:prstGeom>
        </p:spPr>
      </p:pic>
      <p:pic>
        <p:nvPicPr>
          <p:cNvPr id="26" name="Picture 2">
            <a:extLst>
              <a:ext uri="{FF2B5EF4-FFF2-40B4-BE49-F238E27FC236}">
                <a16:creationId xmlns:a16="http://schemas.microsoft.com/office/drawing/2014/main" id="{C6841025-154C-4D7E-61AA-4D7CE2A71D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4629" y="9114527"/>
            <a:ext cx="977058" cy="277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8EB6A631-450C-DCCB-7057-F8731DC41639}"/>
              </a:ext>
            </a:extLst>
          </p:cNvPr>
          <p:cNvSpPr txBox="1"/>
          <p:nvPr/>
        </p:nvSpPr>
        <p:spPr>
          <a:xfrm>
            <a:off x="3881754" y="5454507"/>
            <a:ext cx="3173821" cy="5616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00"/>
              </a:spcBef>
            </a:pPr>
            <a:r>
              <a:rPr kumimoji="0" lang="en-IN" sz="850" b="0" i="0" u="none" strike="noStrike" kern="0" cap="none" spc="0" normalizeH="0" baseline="0" noProof="0" dirty="0">
                <a:ln>
                  <a:noFill/>
                </a:ln>
                <a:solidFill>
                  <a:srgbClr val="2A2A2A"/>
                </a:solidFill>
                <a:effectLst/>
                <a:uLnTx/>
                <a:uFillTx/>
                <a:latin typeface="Arial MT"/>
                <a:ea typeface="+mn-ea"/>
                <a:cs typeface="Arial MT"/>
              </a:rPr>
              <a:t> </a:t>
            </a:r>
            <a:r>
              <a:rPr kumimoji="0" lang="en-IN" sz="850" b="0" i="0" u="none" strike="noStrike" kern="0" cap="none" spc="-10" normalizeH="0" baseline="0" noProof="0" dirty="0">
                <a:ln>
                  <a:noFill/>
                </a:ln>
                <a:solidFill>
                  <a:srgbClr val="2A2A2A"/>
                </a:solidFill>
                <a:effectLst/>
                <a:uLnTx/>
                <a:uFillTx/>
                <a:latin typeface="Arial MT"/>
                <a:ea typeface="+mn-ea"/>
                <a:cs typeface="Arial MT"/>
              </a:rPr>
              <a:t>Multi-</a:t>
            </a:r>
            <a:r>
              <a:rPr kumimoji="0" lang="en-IN" sz="850" b="0" i="0" u="none" strike="noStrike" kern="0" cap="none" spc="0" normalizeH="0" baseline="0" noProof="0" dirty="0">
                <a:ln>
                  <a:noFill/>
                </a:ln>
                <a:solidFill>
                  <a:srgbClr val="2A2A2A"/>
                </a:solidFill>
                <a:effectLst/>
                <a:uLnTx/>
                <a:uFillTx/>
                <a:latin typeface="Arial MT"/>
                <a:ea typeface="+mn-ea"/>
                <a:cs typeface="Arial MT"/>
              </a:rPr>
              <a:t>stakeholder</a:t>
            </a:r>
            <a:r>
              <a:rPr kumimoji="0" lang="en-IN" sz="850" b="0" i="0" u="none" strike="noStrike" kern="0" cap="none" spc="-30" normalizeH="0" baseline="0" noProof="0" dirty="0">
                <a:ln>
                  <a:noFill/>
                </a:ln>
                <a:solidFill>
                  <a:srgbClr val="2A2A2A"/>
                </a:solidFill>
                <a:effectLst/>
                <a:uLnTx/>
                <a:uFillTx/>
                <a:latin typeface="Arial MT"/>
                <a:ea typeface="+mn-ea"/>
                <a:cs typeface="Arial MT"/>
              </a:rPr>
              <a:t> </a:t>
            </a:r>
            <a:r>
              <a:rPr kumimoji="0" lang="en-IN" sz="850" b="0" i="0" u="none" strike="noStrike" kern="0" cap="none" spc="0" normalizeH="0" baseline="0" noProof="0" dirty="0">
                <a:ln>
                  <a:noFill/>
                </a:ln>
                <a:solidFill>
                  <a:srgbClr val="2A2A2A"/>
                </a:solidFill>
                <a:effectLst/>
                <a:uLnTx/>
                <a:uFillTx/>
                <a:latin typeface="Arial MT"/>
                <a:ea typeface="+mn-ea"/>
                <a:cs typeface="Arial MT"/>
              </a:rPr>
              <a:t>collaboration:</a:t>
            </a:r>
            <a:r>
              <a:rPr kumimoji="0" lang="en-IN" sz="850" b="0" i="0" u="none" strike="noStrike" kern="0" cap="none" spc="-30" normalizeH="0" baseline="0" noProof="0" dirty="0">
                <a:ln>
                  <a:noFill/>
                </a:ln>
                <a:solidFill>
                  <a:srgbClr val="2A2A2A"/>
                </a:solidFill>
                <a:effectLst/>
                <a:uLnTx/>
                <a:uFillTx/>
                <a:latin typeface="Arial MT"/>
                <a:ea typeface="+mn-ea"/>
                <a:cs typeface="Arial MT"/>
              </a:rPr>
              <a:t> </a:t>
            </a:r>
            <a:r>
              <a:rPr kumimoji="0" lang="en-IN" sz="850" b="0" i="0" u="none" strike="noStrike" kern="0" cap="none" spc="-25" normalizeH="0" baseline="0" noProof="0" dirty="0">
                <a:ln>
                  <a:noFill/>
                </a:ln>
                <a:solidFill>
                  <a:srgbClr val="2A2A2A"/>
                </a:solidFill>
                <a:effectLst/>
                <a:uLnTx/>
                <a:uFillTx/>
                <a:latin typeface="Arial MT"/>
                <a:ea typeface="+mn-ea"/>
                <a:cs typeface="Arial MT"/>
              </a:rPr>
              <a:t>TE</a:t>
            </a:r>
          </a:p>
          <a:p>
            <a:pPr>
              <a:spcBef>
                <a:spcPts val="300"/>
              </a:spcBef>
            </a:pPr>
            <a:r>
              <a:rPr lang="en-IN" sz="850" dirty="0">
                <a:solidFill>
                  <a:srgbClr val="2A2A2A"/>
                </a:solidFill>
                <a:latin typeface="Arial MT"/>
                <a:cs typeface="Arial MT"/>
              </a:rPr>
              <a:t> Connectivity</a:t>
            </a:r>
            <a:r>
              <a:rPr lang="en-IN" sz="850" spc="-25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lang="en-IN" sz="850" dirty="0">
                <a:solidFill>
                  <a:srgbClr val="2A2A2A"/>
                </a:solidFill>
                <a:latin typeface="Arial MT"/>
                <a:cs typeface="Arial MT"/>
              </a:rPr>
              <a:t>(CSR),</a:t>
            </a:r>
            <a:r>
              <a:rPr lang="en-IN" sz="850" spc="-25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lang="en-IN" sz="850" dirty="0">
                <a:solidFill>
                  <a:srgbClr val="2A2A2A"/>
                </a:solidFill>
                <a:latin typeface="Arial MT"/>
                <a:cs typeface="Arial MT"/>
              </a:rPr>
              <a:t>SJSM</a:t>
            </a:r>
            <a:r>
              <a:rPr lang="en-IN" sz="850" spc="-25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lang="en-IN" sz="850" spc="-10" dirty="0">
                <a:solidFill>
                  <a:srgbClr val="2A2A2A"/>
                </a:solidFill>
                <a:latin typeface="Arial MT"/>
                <a:cs typeface="Arial MT"/>
              </a:rPr>
              <a:t>(NGO)</a:t>
            </a:r>
          </a:p>
          <a:p>
            <a:pPr>
              <a:spcBef>
                <a:spcPts val="300"/>
              </a:spcBef>
            </a:pPr>
            <a:r>
              <a:rPr lang="en-IN" sz="850" dirty="0">
                <a:solidFill>
                  <a:srgbClr val="2A2A2A"/>
                </a:solidFill>
                <a:latin typeface="Arial MT"/>
                <a:cs typeface="Arial MT"/>
              </a:rPr>
              <a:t>Gram</a:t>
            </a:r>
            <a:r>
              <a:rPr lang="en-IN" sz="850" spc="-35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lang="en-IN" sz="850" dirty="0">
                <a:solidFill>
                  <a:srgbClr val="2A2A2A"/>
                </a:solidFill>
                <a:latin typeface="Arial MT"/>
                <a:cs typeface="Arial MT"/>
              </a:rPr>
              <a:t>Panchayat</a:t>
            </a:r>
            <a:r>
              <a:rPr lang="en-IN" sz="850" spc="-30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lang="en-IN" sz="850" spc="-10" dirty="0">
                <a:solidFill>
                  <a:srgbClr val="2A2A2A"/>
                </a:solidFill>
                <a:latin typeface="Arial MT"/>
                <a:cs typeface="Arial MT"/>
              </a:rPr>
              <a:t>(governance). , </a:t>
            </a:r>
            <a:r>
              <a:rPr kumimoji="0" lang="en-IN" sz="850" b="0" i="0" u="none" strike="noStrike" kern="0" cap="none" spc="-25" normalizeH="0" baseline="0" noProof="0" dirty="0">
                <a:ln>
                  <a:noFill/>
                </a:ln>
                <a:solidFill>
                  <a:srgbClr val="2A2A2A"/>
                </a:solidFill>
                <a:effectLst/>
                <a:uLnTx/>
                <a:uFillTx/>
                <a:latin typeface="Arial MT"/>
                <a:ea typeface="+mn-ea"/>
                <a:cs typeface="Arial MT"/>
              </a:rPr>
              <a:t> </a:t>
            </a:r>
            <a:endParaRPr lang="en-IN" dirty="0"/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220</TotalTime>
  <Words>1829</Words>
  <Application>Microsoft Office PowerPoint</Application>
  <PresentationFormat>Custom</PresentationFormat>
  <Paragraphs>278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6" baseType="lpstr">
      <vt:lpstr>MS Gothic</vt:lpstr>
      <vt:lpstr>Aparajita</vt:lpstr>
      <vt:lpstr>Aptos Display</vt:lpstr>
      <vt:lpstr>Arial</vt:lpstr>
      <vt:lpstr>Arial MT</vt:lpstr>
      <vt:lpstr>Arial Rounded MT Bold</vt:lpstr>
      <vt:lpstr>Calibri</vt:lpstr>
      <vt:lpstr>Felix Titling</vt:lpstr>
      <vt:lpstr>Footlight MT Light</vt:lpstr>
      <vt:lpstr>Source Sans Pro</vt:lpstr>
      <vt:lpstr>Times New Roman</vt:lpstr>
      <vt:lpstr>Tiro Devanagari Marathi</vt:lpstr>
      <vt:lpstr>Office Theme</vt:lpstr>
      <vt:lpstr>TE Integrated Watershed  Management Project   (IWMP)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(anonymous)</dc:title>
  <dc:subject>(unspecified)</dc:subject>
  <dc:creator>(anonymous)</dc:creator>
  <cp:lastModifiedBy>Satwik Udupi</cp:lastModifiedBy>
  <cp:revision>5</cp:revision>
  <dcterms:created xsi:type="dcterms:W3CDTF">2026-04-26T10:31:47Z</dcterms:created>
  <dcterms:modified xsi:type="dcterms:W3CDTF">2026-04-27T07:38:59Z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2026-04-26T00:00:00Z</vt:filetime>
  </property>
  <property fmtid="{D5CDD505-2E9C-101B-9397-08002B2CF9AE}" pid="4" name="Creator">
    <vt:lpwstr>(unspecified)</vt:lpwstr>
  </property>
  <property fmtid="{D5CDD505-2E9C-101B-9397-08002B2CF9AE}" pid="5" name="LastSaved">
    <vt:filetime>2026-04-26T00:00:00Z</vt:filetime>
  </property>
  <property fmtid="{D5CDD505-2E9C-101B-9397-08002B2CF9AE}" pid="6" name="Producer">
    <vt:lpwstr>ReportLab PDF Library - (opensource)</vt:lpwstr>
  </property>
</Properties>
</file>