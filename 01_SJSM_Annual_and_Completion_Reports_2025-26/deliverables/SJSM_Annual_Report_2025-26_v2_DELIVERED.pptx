
<file path=[Content_Types].xml><?xml version="1.0" encoding="utf-8"?>
<Types xmlns="http://schemas.openxmlformats.org/package/2006/content-types">
  <Default Extension="DNG" ContentType="image/pn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9FAC"/>
    <a:srgbClr val="213942"/>
    <a:srgbClr val="009900"/>
    <a:srgbClr val="008000"/>
    <a:srgbClr val="006600"/>
    <a:srgbClr val="B88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4660"/>
  </p:normalViewPr>
  <p:slideViewPr>
    <p:cSldViewPr>
      <p:cViewPr varScale="1">
        <p:scale>
          <a:sx n="50" d="100"/>
          <a:sy n="50" d="100"/>
        </p:scale>
        <p:origin x="787" y="53"/>
      </p:cViewPr>
      <p:guideLst>
        <p:guide orient="horz" pos="2880"/>
        <p:guide pos="216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D8A86-89EA-4D73-8A71-69F632EA8209}" type="datetimeFigureOut">
              <a:rPr lang="en-IN" smtClean="0"/>
              <a:t>26-04-2026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66101-A997-4038-9AC9-3B006CEB4E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28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66101-A997-4038-9AC9-3B006CEB4E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73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"/>
            <a:ext cx="7560309" cy="10332085"/>
          </a:xfrm>
          <a:custGeom>
            <a:avLst/>
            <a:gdLst/>
            <a:ahLst/>
            <a:cxnLst/>
            <a:rect l="l" t="t" r="r" b="b"/>
            <a:pathLst>
              <a:path w="7560309" h="10332085">
                <a:moveTo>
                  <a:pt x="7559992" y="0"/>
                </a:moveTo>
                <a:lnTo>
                  <a:pt x="63500" y="0"/>
                </a:lnTo>
                <a:lnTo>
                  <a:pt x="0" y="0"/>
                </a:lnTo>
                <a:lnTo>
                  <a:pt x="0" y="10331996"/>
                </a:lnTo>
                <a:lnTo>
                  <a:pt x="63500" y="10331996"/>
                </a:lnTo>
                <a:lnTo>
                  <a:pt x="63500" y="1367993"/>
                </a:lnTo>
                <a:lnTo>
                  <a:pt x="7559992" y="1367993"/>
                </a:lnTo>
                <a:lnTo>
                  <a:pt x="7559992" y="0"/>
                </a:lnTo>
                <a:close/>
              </a:path>
            </a:pathLst>
          </a:custGeom>
          <a:solidFill>
            <a:srgbClr val="2D694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299" y="675700"/>
            <a:ext cx="6004250" cy="566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F4E6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52311" y="10456561"/>
            <a:ext cx="167004" cy="149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B8850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DNG"/><Relationship Id="rId3" Type="http://schemas.openxmlformats.org/officeDocument/2006/relationships/image" Target="../media/image28.DNG"/><Relationship Id="rId7" Type="http://schemas.openxmlformats.org/officeDocument/2006/relationships/image" Target="../media/image32.jpeg"/><Relationship Id="rId2" Type="http://schemas.openxmlformats.org/officeDocument/2006/relationships/image" Target="../media/image27.D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DN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631950" y="-215900"/>
            <a:ext cx="14912447" cy="10960827"/>
            <a:chOff x="-1537126" y="-215900"/>
            <a:chExt cx="14912447" cy="10960827"/>
          </a:xfrm>
        </p:grpSpPr>
        <p:pic>
          <p:nvPicPr>
            <p:cNvPr id="3" name="object 3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37126" y="-215900"/>
              <a:ext cx="14912447" cy="109608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916" y="1"/>
              <a:ext cx="2371549" cy="10744926"/>
            </a:xfrm>
            <a:custGeom>
              <a:avLst/>
              <a:gdLst/>
              <a:ahLst/>
              <a:cxnLst/>
              <a:rect l="l" t="t" r="r" b="b"/>
              <a:pathLst>
                <a:path w="4170679" h="10692130">
                  <a:moveTo>
                    <a:pt x="0" y="10692000"/>
                  </a:moveTo>
                  <a:lnTo>
                    <a:pt x="4170099" y="10692000"/>
                  </a:lnTo>
                  <a:lnTo>
                    <a:pt x="4170099" y="0"/>
                  </a:lnTo>
                  <a:lnTo>
                    <a:pt x="0" y="0"/>
                  </a:lnTo>
                  <a:lnTo>
                    <a:pt x="0" y="10692000"/>
                  </a:lnTo>
                  <a:close/>
                </a:path>
              </a:pathLst>
            </a:cu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0" y="0"/>
              <a:ext cx="2988310" cy="2880360"/>
            </a:xfrm>
            <a:custGeom>
              <a:avLst/>
              <a:gdLst/>
              <a:ahLst/>
              <a:cxnLst/>
              <a:rect l="l" t="t" r="r" b="b"/>
              <a:pathLst>
                <a:path w="2988309" h="2880360">
                  <a:moveTo>
                    <a:pt x="2987999" y="0"/>
                  </a:moveTo>
                  <a:lnTo>
                    <a:pt x="155549" y="0"/>
                  </a:lnTo>
                  <a:lnTo>
                    <a:pt x="150945" y="11053"/>
                  </a:lnTo>
                  <a:lnTo>
                    <a:pt x="134222" y="53855"/>
                  </a:lnTo>
                  <a:lnTo>
                    <a:pt x="118419" y="97109"/>
                  </a:lnTo>
                  <a:lnTo>
                    <a:pt x="103548" y="140803"/>
                  </a:lnTo>
                  <a:lnTo>
                    <a:pt x="89622" y="184925"/>
                  </a:lnTo>
                  <a:lnTo>
                    <a:pt x="76653" y="229464"/>
                  </a:lnTo>
                  <a:lnTo>
                    <a:pt x="64652" y="274406"/>
                  </a:lnTo>
                  <a:lnTo>
                    <a:pt x="53631" y="319740"/>
                  </a:lnTo>
                  <a:lnTo>
                    <a:pt x="43603" y="365454"/>
                  </a:lnTo>
                  <a:lnTo>
                    <a:pt x="34580" y="411536"/>
                  </a:lnTo>
                  <a:lnTo>
                    <a:pt x="26573" y="457974"/>
                  </a:lnTo>
                  <a:lnTo>
                    <a:pt x="19595" y="504756"/>
                  </a:lnTo>
                  <a:lnTo>
                    <a:pt x="13658" y="551870"/>
                  </a:lnTo>
                  <a:lnTo>
                    <a:pt x="8773" y="599304"/>
                  </a:lnTo>
                  <a:lnTo>
                    <a:pt x="4952" y="647046"/>
                  </a:lnTo>
                  <a:lnTo>
                    <a:pt x="2209" y="695084"/>
                  </a:lnTo>
                  <a:lnTo>
                    <a:pt x="554" y="743406"/>
                  </a:lnTo>
                  <a:lnTo>
                    <a:pt x="0" y="791999"/>
                  </a:lnTo>
                  <a:lnTo>
                    <a:pt x="554" y="840593"/>
                  </a:lnTo>
                  <a:lnTo>
                    <a:pt x="2209" y="888914"/>
                  </a:lnTo>
                  <a:lnTo>
                    <a:pt x="4952" y="936952"/>
                  </a:lnTo>
                  <a:lnTo>
                    <a:pt x="8773" y="984694"/>
                  </a:lnTo>
                  <a:lnTo>
                    <a:pt x="13658" y="1032128"/>
                  </a:lnTo>
                  <a:lnTo>
                    <a:pt x="19595" y="1079242"/>
                  </a:lnTo>
                  <a:lnTo>
                    <a:pt x="26573" y="1126024"/>
                  </a:lnTo>
                  <a:lnTo>
                    <a:pt x="34580" y="1172462"/>
                  </a:lnTo>
                  <a:lnTo>
                    <a:pt x="43603" y="1218545"/>
                  </a:lnTo>
                  <a:lnTo>
                    <a:pt x="53631" y="1264259"/>
                  </a:lnTo>
                  <a:lnTo>
                    <a:pt x="64652" y="1309593"/>
                  </a:lnTo>
                  <a:lnTo>
                    <a:pt x="76653" y="1354535"/>
                  </a:lnTo>
                  <a:lnTo>
                    <a:pt x="89622" y="1399073"/>
                  </a:lnTo>
                  <a:lnTo>
                    <a:pt x="103548" y="1443196"/>
                  </a:lnTo>
                  <a:lnTo>
                    <a:pt x="118419" y="1486890"/>
                  </a:lnTo>
                  <a:lnTo>
                    <a:pt x="134222" y="1530144"/>
                  </a:lnTo>
                  <a:lnTo>
                    <a:pt x="150945" y="1572946"/>
                  </a:lnTo>
                  <a:lnTo>
                    <a:pt x="168577" y="1615284"/>
                  </a:lnTo>
                  <a:lnTo>
                    <a:pt x="187106" y="1657146"/>
                  </a:lnTo>
                  <a:lnTo>
                    <a:pt x="206519" y="1698519"/>
                  </a:lnTo>
                  <a:lnTo>
                    <a:pt x="226804" y="1739393"/>
                  </a:lnTo>
                  <a:lnTo>
                    <a:pt x="247950" y="1779755"/>
                  </a:lnTo>
                  <a:lnTo>
                    <a:pt x="269944" y="1819592"/>
                  </a:lnTo>
                  <a:lnTo>
                    <a:pt x="292775" y="1858893"/>
                  </a:lnTo>
                  <a:lnTo>
                    <a:pt x="316430" y="1897646"/>
                  </a:lnTo>
                  <a:lnTo>
                    <a:pt x="340898" y="1935839"/>
                  </a:lnTo>
                  <a:lnTo>
                    <a:pt x="366165" y="1973460"/>
                  </a:lnTo>
                  <a:lnTo>
                    <a:pt x="392222" y="2010497"/>
                  </a:lnTo>
                  <a:lnTo>
                    <a:pt x="419054" y="2046937"/>
                  </a:lnTo>
                  <a:lnTo>
                    <a:pt x="446651" y="2082770"/>
                  </a:lnTo>
                  <a:lnTo>
                    <a:pt x="475001" y="2117982"/>
                  </a:lnTo>
                  <a:lnTo>
                    <a:pt x="504090" y="2152562"/>
                  </a:lnTo>
                  <a:lnTo>
                    <a:pt x="533908" y="2186497"/>
                  </a:lnTo>
                  <a:lnTo>
                    <a:pt x="564442" y="2219776"/>
                  </a:lnTo>
                  <a:lnTo>
                    <a:pt x="595681" y="2252387"/>
                  </a:lnTo>
                  <a:lnTo>
                    <a:pt x="627612" y="2284318"/>
                  </a:lnTo>
                  <a:lnTo>
                    <a:pt x="660223" y="2315557"/>
                  </a:lnTo>
                  <a:lnTo>
                    <a:pt x="693502" y="2346091"/>
                  </a:lnTo>
                  <a:lnTo>
                    <a:pt x="727437" y="2375909"/>
                  </a:lnTo>
                  <a:lnTo>
                    <a:pt x="762017" y="2404999"/>
                  </a:lnTo>
                  <a:lnTo>
                    <a:pt x="797229" y="2433348"/>
                  </a:lnTo>
                  <a:lnTo>
                    <a:pt x="833062" y="2460945"/>
                  </a:lnTo>
                  <a:lnTo>
                    <a:pt x="869502" y="2487777"/>
                  </a:lnTo>
                  <a:lnTo>
                    <a:pt x="906539" y="2513834"/>
                  </a:lnTo>
                  <a:lnTo>
                    <a:pt x="944159" y="2539102"/>
                  </a:lnTo>
                  <a:lnTo>
                    <a:pt x="982352" y="2563569"/>
                  </a:lnTo>
                  <a:lnTo>
                    <a:pt x="1021106" y="2587224"/>
                  </a:lnTo>
                  <a:lnTo>
                    <a:pt x="1060407" y="2610055"/>
                  </a:lnTo>
                  <a:lnTo>
                    <a:pt x="1100244" y="2632049"/>
                  </a:lnTo>
                  <a:lnTo>
                    <a:pt x="1140606" y="2653195"/>
                  </a:lnTo>
                  <a:lnTo>
                    <a:pt x="1181479" y="2673480"/>
                  </a:lnTo>
                  <a:lnTo>
                    <a:pt x="1222853" y="2692893"/>
                  </a:lnTo>
                  <a:lnTo>
                    <a:pt x="1264715" y="2711422"/>
                  </a:lnTo>
                  <a:lnTo>
                    <a:pt x="1307053" y="2729054"/>
                  </a:lnTo>
                  <a:lnTo>
                    <a:pt x="1349855" y="2745777"/>
                  </a:lnTo>
                  <a:lnTo>
                    <a:pt x="1393109" y="2761580"/>
                  </a:lnTo>
                  <a:lnTo>
                    <a:pt x="1436803" y="2776451"/>
                  </a:lnTo>
                  <a:lnTo>
                    <a:pt x="1480925" y="2790377"/>
                  </a:lnTo>
                  <a:lnTo>
                    <a:pt x="1525463" y="2803347"/>
                  </a:lnTo>
                  <a:lnTo>
                    <a:pt x="1570405" y="2815348"/>
                  </a:lnTo>
                  <a:lnTo>
                    <a:pt x="1615740" y="2826368"/>
                  </a:lnTo>
                  <a:lnTo>
                    <a:pt x="1661454" y="2836396"/>
                  </a:lnTo>
                  <a:lnTo>
                    <a:pt x="1707536" y="2845419"/>
                  </a:lnTo>
                  <a:lnTo>
                    <a:pt x="1753974" y="2853426"/>
                  </a:lnTo>
                  <a:lnTo>
                    <a:pt x="1800756" y="2860404"/>
                  </a:lnTo>
                  <a:lnTo>
                    <a:pt x="1847870" y="2866342"/>
                  </a:lnTo>
                  <a:lnTo>
                    <a:pt x="1895304" y="2871226"/>
                  </a:lnTo>
                  <a:lnTo>
                    <a:pt x="1943046" y="2875047"/>
                  </a:lnTo>
                  <a:lnTo>
                    <a:pt x="1991084" y="2877790"/>
                  </a:lnTo>
                  <a:lnTo>
                    <a:pt x="2039405" y="2879445"/>
                  </a:lnTo>
                  <a:lnTo>
                    <a:pt x="2087999" y="2880000"/>
                  </a:lnTo>
                  <a:lnTo>
                    <a:pt x="2136592" y="2879445"/>
                  </a:lnTo>
                  <a:lnTo>
                    <a:pt x="2184914" y="2877790"/>
                  </a:lnTo>
                  <a:lnTo>
                    <a:pt x="2232952" y="2875047"/>
                  </a:lnTo>
                  <a:lnTo>
                    <a:pt x="2280694" y="2871226"/>
                  </a:lnTo>
                  <a:lnTo>
                    <a:pt x="2328128" y="2866342"/>
                  </a:lnTo>
                  <a:lnTo>
                    <a:pt x="2375242" y="2860404"/>
                  </a:lnTo>
                  <a:lnTo>
                    <a:pt x="2422024" y="2853426"/>
                  </a:lnTo>
                  <a:lnTo>
                    <a:pt x="2468462" y="2845419"/>
                  </a:lnTo>
                  <a:lnTo>
                    <a:pt x="2514544" y="2836396"/>
                  </a:lnTo>
                  <a:lnTo>
                    <a:pt x="2560259" y="2826368"/>
                  </a:lnTo>
                  <a:lnTo>
                    <a:pt x="2605593" y="2815348"/>
                  </a:lnTo>
                  <a:lnTo>
                    <a:pt x="2650535" y="2803347"/>
                  </a:lnTo>
                  <a:lnTo>
                    <a:pt x="2695073" y="2790377"/>
                  </a:lnTo>
                  <a:lnTo>
                    <a:pt x="2739195" y="2776451"/>
                  </a:lnTo>
                  <a:lnTo>
                    <a:pt x="2782889" y="2761580"/>
                  </a:lnTo>
                  <a:lnTo>
                    <a:pt x="2826144" y="2745777"/>
                  </a:lnTo>
                  <a:lnTo>
                    <a:pt x="2868946" y="2729054"/>
                  </a:lnTo>
                  <a:lnTo>
                    <a:pt x="2911284" y="2711422"/>
                  </a:lnTo>
                  <a:lnTo>
                    <a:pt x="2953145" y="2692893"/>
                  </a:lnTo>
                  <a:lnTo>
                    <a:pt x="2987999" y="2676540"/>
                  </a:lnTo>
                  <a:lnTo>
                    <a:pt x="2987999" y="0"/>
                  </a:lnTo>
                  <a:close/>
                </a:path>
              </a:pathLst>
            </a:custGeom>
            <a:solidFill>
              <a:srgbClr val="51B787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48000" y="0"/>
              <a:ext cx="1512570" cy="1440180"/>
            </a:xfrm>
            <a:custGeom>
              <a:avLst/>
              <a:gdLst/>
              <a:ahLst/>
              <a:cxnLst/>
              <a:rect l="l" t="t" r="r" b="b"/>
              <a:pathLst>
                <a:path w="1512570" h="1440180">
                  <a:moveTo>
                    <a:pt x="1511999" y="0"/>
                  </a:moveTo>
                  <a:lnTo>
                    <a:pt x="36378" y="0"/>
                  </a:lnTo>
                  <a:lnTo>
                    <a:pt x="35183" y="4347"/>
                  </a:lnTo>
                  <a:lnTo>
                    <a:pt x="24599" y="50068"/>
                  </a:lnTo>
                  <a:lnTo>
                    <a:pt x="15850" y="96464"/>
                  </a:lnTo>
                  <a:lnTo>
                    <a:pt x="8975" y="143495"/>
                  </a:lnTo>
                  <a:lnTo>
                    <a:pt x="4015" y="191121"/>
                  </a:lnTo>
                  <a:lnTo>
                    <a:pt x="1010" y="239303"/>
                  </a:lnTo>
                  <a:lnTo>
                    <a:pt x="0" y="288000"/>
                  </a:lnTo>
                  <a:lnTo>
                    <a:pt x="1010" y="336696"/>
                  </a:lnTo>
                  <a:lnTo>
                    <a:pt x="4015" y="384878"/>
                  </a:lnTo>
                  <a:lnTo>
                    <a:pt x="8975" y="432504"/>
                  </a:lnTo>
                  <a:lnTo>
                    <a:pt x="15850" y="479535"/>
                  </a:lnTo>
                  <a:lnTo>
                    <a:pt x="24599" y="525931"/>
                  </a:lnTo>
                  <a:lnTo>
                    <a:pt x="35183" y="571652"/>
                  </a:lnTo>
                  <a:lnTo>
                    <a:pt x="47561" y="616658"/>
                  </a:lnTo>
                  <a:lnTo>
                    <a:pt x="61694" y="660908"/>
                  </a:lnTo>
                  <a:lnTo>
                    <a:pt x="77542" y="704364"/>
                  </a:lnTo>
                  <a:lnTo>
                    <a:pt x="95065" y="746985"/>
                  </a:lnTo>
                  <a:lnTo>
                    <a:pt x="114222" y="788730"/>
                  </a:lnTo>
                  <a:lnTo>
                    <a:pt x="134974" y="829561"/>
                  </a:lnTo>
                  <a:lnTo>
                    <a:pt x="157281" y="869436"/>
                  </a:lnTo>
                  <a:lnTo>
                    <a:pt x="181103" y="908317"/>
                  </a:lnTo>
                  <a:lnTo>
                    <a:pt x="206399" y="946162"/>
                  </a:lnTo>
                  <a:lnTo>
                    <a:pt x="233131" y="982933"/>
                  </a:lnTo>
                  <a:lnTo>
                    <a:pt x="261257" y="1018588"/>
                  </a:lnTo>
                  <a:lnTo>
                    <a:pt x="290738" y="1053089"/>
                  </a:lnTo>
                  <a:lnTo>
                    <a:pt x="321534" y="1086395"/>
                  </a:lnTo>
                  <a:lnTo>
                    <a:pt x="353604" y="1118465"/>
                  </a:lnTo>
                  <a:lnTo>
                    <a:pt x="386910" y="1149261"/>
                  </a:lnTo>
                  <a:lnTo>
                    <a:pt x="421411" y="1178742"/>
                  </a:lnTo>
                  <a:lnTo>
                    <a:pt x="457066" y="1206869"/>
                  </a:lnTo>
                  <a:lnTo>
                    <a:pt x="493837" y="1233600"/>
                  </a:lnTo>
                  <a:lnTo>
                    <a:pt x="531682" y="1258896"/>
                  </a:lnTo>
                  <a:lnTo>
                    <a:pt x="570563" y="1282718"/>
                  </a:lnTo>
                  <a:lnTo>
                    <a:pt x="610438" y="1305025"/>
                  </a:lnTo>
                  <a:lnTo>
                    <a:pt x="651268" y="1325777"/>
                  </a:lnTo>
                  <a:lnTo>
                    <a:pt x="693014" y="1344935"/>
                  </a:lnTo>
                  <a:lnTo>
                    <a:pt x="735634" y="1362457"/>
                  </a:lnTo>
                  <a:lnTo>
                    <a:pt x="779090" y="1378305"/>
                  </a:lnTo>
                  <a:lnTo>
                    <a:pt x="823341" y="1392438"/>
                  </a:lnTo>
                  <a:lnTo>
                    <a:pt x="868346" y="1404817"/>
                  </a:lnTo>
                  <a:lnTo>
                    <a:pt x="914067" y="1415401"/>
                  </a:lnTo>
                  <a:lnTo>
                    <a:pt x="960463" y="1424150"/>
                  </a:lnTo>
                  <a:lnTo>
                    <a:pt x="1007494" y="1431024"/>
                  </a:lnTo>
                  <a:lnTo>
                    <a:pt x="1055121" y="1435984"/>
                  </a:lnTo>
                  <a:lnTo>
                    <a:pt x="1103302" y="1438989"/>
                  </a:lnTo>
                  <a:lnTo>
                    <a:pt x="1151999" y="1440000"/>
                  </a:lnTo>
                  <a:lnTo>
                    <a:pt x="1200695" y="1438989"/>
                  </a:lnTo>
                  <a:lnTo>
                    <a:pt x="1248877" y="1435984"/>
                  </a:lnTo>
                  <a:lnTo>
                    <a:pt x="1296503" y="1431024"/>
                  </a:lnTo>
                  <a:lnTo>
                    <a:pt x="1343534" y="1424150"/>
                  </a:lnTo>
                  <a:lnTo>
                    <a:pt x="1389930" y="1415401"/>
                  </a:lnTo>
                  <a:lnTo>
                    <a:pt x="1435651" y="1404817"/>
                  </a:lnTo>
                  <a:lnTo>
                    <a:pt x="1480657" y="1392438"/>
                  </a:lnTo>
                  <a:lnTo>
                    <a:pt x="1511999" y="1382428"/>
                  </a:lnTo>
                  <a:lnTo>
                    <a:pt x="1511999" y="0"/>
                  </a:lnTo>
                  <a:close/>
                </a:path>
              </a:pathLst>
            </a:custGeom>
            <a:solidFill>
              <a:srgbClr val="B7870A">
                <a:alpha val="7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52559" y="0"/>
              <a:ext cx="7560309" cy="10692130"/>
            </a:xfrm>
            <a:custGeom>
              <a:avLst/>
              <a:gdLst/>
              <a:ahLst/>
              <a:cxnLst/>
              <a:rect l="l" t="t" r="r" b="b"/>
              <a:pathLst>
                <a:path w="7560309" h="10692130">
                  <a:moveTo>
                    <a:pt x="2303996" y="529399"/>
                  </a:moveTo>
                  <a:lnTo>
                    <a:pt x="2302002" y="519506"/>
                  </a:lnTo>
                  <a:lnTo>
                    <a:pt x="2296553" y="511429"/>
                  </a:lnTo>
                  <a:lnTo>
                    <a:pt x="2288489" y="505993"/>
                  </a:lnTo>
                  <a:lnTo>
                    <a:pt x="2278596" y="503999"/>
                  </a:lnTo>
                  <a:lnTo>
                    <a:pt x="817397" y="503999"/>
                  </a:lnTo>
                  <a:lnTo>
                    <a:pt x="807504" y="505993"/>
                  </a:lnTo>
                  <a:lnTo>
                    <a:pt x="799426" y="511429"/>
                  </a:lnTo>
                  <a:lnTo>
                    <a:pt x="793991" y="519506"/>
                  </a:lnTo>
                  <a:lnTo>
                    <a:pt x="791997" y="529399"/>
                  </a:lnTo>
                  <a:lnTo>
                    <a:pt x="791997" y="766597"/>
                  </a:lnTo>
                  <a:lnTo>
                    <a:pt x="793991" y="776490"/>
                  </a:lnTo>
                  <a:lnTo>
                    <a:pt x="799426" y="784555"/>
                  </a:lnTo>
                  <a:lnTo>
                    <a:pt x="807504" y="790003"/>
                  </a:lnTo>
                  <a:lnTo>
                    <a:pt x="817397" y="791997"/>
                  </a:lnTo>
                  <a:lnTo>
                    <a:pt x="2278596" y="791997"/>
                  </a:lnTo>
                  <a:lnTo>
                    <a:pt x="2288489" y="790003"/>
                  </a:lnTo>
                  <a:lnTo>
                    <a:pt x="2296553" y="784555"/>
                  </a:lnTo>
                  <a:lnTo>
                    <a:pt x="2302002" y="776490"/>
                  </a:lnTo>
                  <a:lnTo>
                    <a:pt x="2303996" y="766597"/>
                  </a:lnTo>
                  <a:lnTo>
                    <a:pt x="2303996" y="529399"/>
                  </a:lnTo>
                  <a:close/>
                </a:path>
                <a:path w="7560309" h="10692130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653890"/>
                  </a:lnTo>
                  <a:lnTo>
                    <a:pt x="0" y="10691990"/>
                  </a:lnTo>
                  <a:lnTo>
                    <a:pt x="63500" y="10691990"/>
                  </a:lnTo>
                  <a:lnTo>
                    <a:pt x="7559992" y="10691990"/>
                  </a:lnTo>
                  <a:lnTo>
                    <a:pt x="7559992" y="10653890"/>
                  </a:lnTo>
                  <a:lnTo>
                    <a:pt x="63500" y="10653890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36709" y="596920"/>
            <a:ext cx="61849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1A3A2D"/>
                </a:solidFill>
                <a:latin typeface="Calibri"/>
                <a:cs typeface="Calibri"/>
              </a:rPr>
              <a:t>SJSM</a:t>
            </a:r>
            <a:r>
              <a:rPr sz="700" b="1" spc="160" dirty="0">
                <a:solidFill>
                  <a:srgbClr val="1A3A2D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1A3A2D"/>
                </a:solidFill>
                <a:latin typeface="Calibri"/>
                <a:cs typeface="Calibri"/>
              </a:rPr>
              <a:t>·</a:t>
            </a:r>
            <a:r>
              <a:rPr sz="700" b="1" spc="160" dirty="0">
                <a:solidFill>
                  <a:srgbClr val="1A3A2D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1A3A2D"/>
                </a:solidFill>
                <a:latin typeface="Calibri"/>
                <a:cs typeface="Calibri"/>
              </a:rPr>
              <a:t>SATARA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298" y="1050122"/>
            <a:ext cx="60937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FFC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PROJECT COMPLETION </a:t>
            </a:r>
            <a:r>
              <a:rPr sz="2400" b="1" dirty="0">
                <a:solidFill>
                  <a:srgbClr val="FFC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 E P O R T</a:t>
            </a:r>
            <a:endParaRPr sz="2400" dirty="0">
              <a:solidFill>
                <a:srgbClr val="FFC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9299" y="1393700"/>
            <a:ext cx="8866351" cy="154709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 marR="5080">
              <a:lnSpc>
                <a:spcPct val="73800"/>
              </a:lnSpc>
              <a:spcBef>
                <a:spcPts val="1610"/>
              </a:spcBef>
            </a:pPr>
            <a:r>
              <a:rPr sz="3600" spc="114" dirty="0">
                <a:latin typeface="Felix Titling" panose="04060505060202020A04" pitchFamily="82" charset="0"/>
              </a:rPr>
              <a:t>Integrated </a:t>
            </a:r>
            <a:r>
              <a:rPr sz="3600" spc="110" dirty="0">
                <a:latin typeface="Felix Titling" panose="04060505060202020A04" pitchFamily="82" charset="0"/>
              </a:rPr>
              <a:t>Watershed </a:t>
            </a:r>
            <a:r>
              <a:rPr sz="3600" b="0" spc="65" dirty="0">
                <a:solidFill>
                  <a:srgbClr val="A8D4B5"/>
                </a:solidFill>
                <a:latin typeface="Felix Titling" panose="04060505060202020A04" pitchFamily="82" charset="0"/>
              </a:rPr>
              <a:t>Management</a:t>
            </a:r>
            <a:r>
              <a:rPr lang="en-IN" sz="3600" b="0" spc="65" dirty="0">
                <a:solidFill>
                  <a:srgbClr val="A8D4B5"/>
                </a:solidFill>
                <a:latin typeface="Felix Titling" panose="04060505060202020A04" pitchFamily="82" charset="0"/>
              </a:rPr>
              <a:t> Project (IWMP)</a:t>
            </a:r>
            <a:endParaRPr sz="3600" dirty="0">
              <a:latin typeface="Felix Titling" panose="04060505060202020A04" pitchFamily="82" charset="0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0" i="1" spc="-20" dirty="0">
                <a:solidFill>
                  <a:srgbClr val="F4E6B8"/>
                </a:solidFill>
                <a:latin typeface="Times New Roman"/>
                <a:cs typeface="Times New Roman"/>
              </a:rPr>
              <a:t>Climate</a:t>
            </a:r>
            <a:r>
              <a:rPr sz="2800" b="0" i="1" spc="-10" dirty="0">
                <a:solidFill>
                  <a:srgbClr val="F4E6B8"/>
                </a:solidFill>
                <a:latin typeface="Times New Roman"/>
                <a:cs typeface="Times New Roman"/>
              </a:rPr>
              <a:t> </a:t>
            </a:r>
            <a:r>
              <a:rPr sz="2800" b="0" i="1" spc="-25" dirty="0">
                <a:solidFill>
                  <a:srgbClr val="F4E6B8"/>
                </a:solidFill>
                <a:latin typeface="Times New Roman"/>
                <a:cs typeface="Times New Roman"/>
              </a:rPr>
              <a:t>Resilience</a:t>
            </a:r>
            <a:r>
              <a:rPr sz="2800" b="0" i="1" spc="-5" dirty="0">
                <a:solidFill>
                  <a:srgbClr val="F4E6B8"/>
                </a:solidFill>
                <a:latin typeface="Times New Roman"/>
                <a:cs typeface="Times New Roman"/>
              </a:rPr>
              <a:t> </a:t>
            </a:r>
            <a:r>
              <a:rPr sz="2800" b="0" i="1" spc="-150" dirty="0">
                <a:solidFill>
                  <a:srgbClr val="F4E6B8"/>
                </a:solidFill>
                <a:latin typeface="Times New Roman"/>
                <a:cs typeface="Times New Roman"/>
              </a:rPr>
              <a:t>&amp;</a:t>
            </a:r>
            <a:r>
              <a:rPr sz="2800" b="0" i="1" spc="-10" dirty="0">
                <a:solidFill>
                  <a:srgbClr val="F4E6B8"/>
                </a:solidFill>
                <a:latin typeface="Times New Roman"/>
                <a:cs typeface="Times New Roman"/>
              </a:rPr>
              <a:t> Sustainable</a:t>
            </a:r>
            <a:r>
              <a:rPr sz="2800" b="0" i="1" spc="-5" dirty="0">
                <a:solidFill>
                  <a:srgbClr val="F4E6B8"/>
                </a:solidFill>
                <a:latin typeface="Times New Roman"/>
                <a:cs typeface="Times New Roman"/>
              </a:rPr>
              <a:t> </a:t>
            </a:r>
            <a:r>
              <a:rPr sz="2800" b="0" i="1" spc="-10" dirty="0">
                <a:solidFill>
                  <a:srgbClr val="F4E6B8"/>
                </a:solidFill>
                <a:latin typeface="Times New Roman"/>
                <a:cs typeface="Times New Roman"/>
              </a:rPr>
              <a:t>Livelihoods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1009" y="2931270"/>
            <a:ext cx="2880360" cy="19050"/>
          </a:xfrm>
          <a:custGeom>
            <a:avLst/>
            <a:gdLst/>
            <a:ahLst/>
            <a:cxnLst/>
            <a:rect l="l" t="t" r="r" b="b"/>
            <a:pathLst>
              <a:path w="2880360" h="19050">
                <a:moveTo>
                  <a:pt x="2880000" y="0"/>
                </a:moveTo>
                <a:lnTo>
                  <a:pt x="0" y="0"/>
                </a:lnTo>
                <a:lnTo>
                  <a:pt x="0" y="19050"/>
                </a:lnTo>
                <a:lnTo>
                  <a:pt x="2880000" y="19050"/>
                </a:lnTo>
                <a:lnTo>
                  <a:pt x="2880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>
              <a:latin typeface="Footlight MT Light" panose="0204060206030A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560" y="3104659"/>
            <a:ext cx="56055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C000"/>
                </a:solidFill>
                <a:latin typeface="Footlight MT Light" panose="0204060206030A020304" pitchFamily="18" charset="0"/>
                <a:cs typeface="Calibri"/>
              </a:rPr>
              <a:t>LOCATION</a:t>
            </a:r>
            <a:endParaRPr sz="900" dirty="0">
              <a:solidFill>
                <a:srgbClr val="FFC000"/>
              </a:solidFill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4659" y="3355174"/>
            <a:ext cx="67124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C000"/>
                </a:solidFill>
                <a:latin typeface="Footlight MT Light" panose="0204060206030A020304" pitchFamily="18" charset="0"/>
                <a:cs typeface="Calibri"/>
              </a:rPr>
              <a:t>PERIOD</a:t>
            </a:r>
            <a:endParaRPr sz="1000" dirty="0">
              <a:solidFill>
                <a:srgbClr val="FFC000"/>
              </a:solidFill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13998" y="3104659"/>
            <a:ext cx="3063177" cy="430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Veloshi,</a:t>
            </a:r>
            <a:r>
              <a:rPr sz="1050" spc="-1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Block</a:t>
            </a:r>
            <a:r>
              <a:rPr sz="1050" spc="-1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–</a:t>
            </a:r>
            <a:r>
              <a:rPr sz="1050" spc="-1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Phaltan,</a:t>
            </a:r>
            <a:r>
              <a:rPr sz="1050" spc="-1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Dist.</a:t>
            </a:r>
            <a:r>
              <a:rPr sz="1050" spc="-1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Satara</a:t>
            </a:r>
            <a:endParaRPr sz="1050" dirty="0">
              <a:latin typeface="Felix Titling" panose="04060505060202020A04" pitchFamily="82" charset="0"/>
              <a:cs typeface="Calibri"/>
            </a:endParaRPr>
          </a:p>
          <a:p>
            <a:pPr marL="12700" marR="610235">
              <a:lnSpc>
                <a:spcPct val="183700"/>
              </a:lnSpc>
            </a:pPr>
            <a:r>
              <a:rPr lang="en-IN"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January 2026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–</a:t>
            </a:r>
            <a:r>
              <a:rPr sz="1050" spc="-1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March</a:t>
            </a:r>
            <a:r>
              <a:rPr sz="1050" spc="-1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spc="-2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2026</a:t>
            </a:r>
            <a:r>
              <a:rPr sz="1050" spc="500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 </a:t>
            </a:r>
            <a:endParaRPr lang="en-IN" sz="1050" spc="500" dirty="0">
              <a:solidFill>
                <a:srgbClr val="FFFFFF"/>
              </a:solidFill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9299" y="10031349"/>
            <a:ext cx="15525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A8D4B5"/>
                </a:solidFill>
                <a:latin typeface="Calibri"/>
                <a:cs typeface="Calibri"/>
              </a:rPr>
              <a:t>Shramjivi</a:t>
            </a:r>
            <a:r>
              <a:rPr sz="850" i="1" spc="-20" dirty="0">
                <a:solidFill>
                  <a:srgbClr val="A8D4B5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A8D4B5"/>
                </a:solidFill>
                <a:latin typeface="Calibri"/>
                <a:cs typeface="Calibri"/>
              </a:rPr>
              <a:t>Janata</a:t>
            </a:r>
            <a:r>
              <a:rPr sz="850" i="1" spc="-20" dirty="0">
                <a:solidFill>
                  <a:srgbClr val="A8D4B5"/>
                </a:solidFill>
                <a:latin typeface="Calibri"/>
                <a:cs typeface="Calibri"/>
              </a:rPr>
              <a:t> </a:t>
            </a:r>
            <a:r>
              <a:rPr sz="850" i="1" dirty="0">
                <a:solidFill>
                  <a:srgbClr val="A8D4B5"/>
                </a:solidFill>
                <a:latin typeface="Calibri"/>
                <a:cs typeface="Calibri"/>
              </a:rPr>
              <a:t>Sahayyak</a:t>
            </a:r>
            <a:r>
              <a:rPr sz="850" i="1" spc="-20" dirty="0">
                <a:solidFill>
                  <a:srgbClr val="A8D4B5"/>
                </a:solidFill>
                <a:latin typeface="Calibri"/>
                <a:cs typeface="Calibri"/>
              </a:rPr>
              <a:t> </a:t>
            </a:r>
            <a:r>
              <a:rPr sz="850" i="1" spc="-10" dirty="0">
                <a:solidFill>
                  <a:srgbClr val="A8D4B5"/>
                </a:solidFill>
                <a:latin typeface="Calibri"/>
                <a:cs typeface="Calibri"/>
              </a:rPr>
              <a:t>Mandal</a:t>
            </a:r>
            <a:endParaRPr sz="85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692139"/>
            <a:chOff x="0" y="0"/>
            <a:chExt cx="7560309" cy="10692139"/>
          </a:xfrm>
        </p:grpSpPr>
        <p:sp>
          <p:nvSpPr>
            <p:cNvPr id="3" name="object 3"/>
            <p:cNvSpPr/>
            <p:nvPr/>
          </p:nvSpPr>
          <p:spPr>
            <a:xfrm>
              <a:off x="63500" y="1799999"/>
              <a:ext cx="7496809" cy="8532495"/>
            </a:xfrm>
            <a:custGeom>
              <a:avLst/>
              <a:gdLst/>
              <a:ahLst/>
              <a:cxnLst/>
              <a:rect l="l" t="t" r="r" b="b"/>
              <a:pathLst>
                <a:path w="7496809" h="8532495">
                  <a:moveTo>
                    <a:pt x="0" y="8532000"/>
                  </a:moveTo>
                  <a:lnTo>
                    <a:pt x="7496500" y="8532000"/>
                  </a:lnTo>
                  <a:lnTo>
                    <a:pt x="7496500" y="0"/>
                  </a:lnTo>
                  <a:lnTo>
                    <a:pt x="0" y="0"/>
                  </a:lnTo>
                  <a:lnTo>
                    <a:pt x="0" y="8532000"/>
                  </a:lnTo>
                  <a:close/>
                </a:path>
              </a:pathLst>
            </a:custGeom>
            <a:solidFill>
              <a:srgbClr val="FDF7E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"/>
              <a:ext cx="7560309" cy="10692130"/>
            </a:xfrm>
            <a:custGeom>
              <a:avLst/>
              <a:gdLst/>
              <a:ahLst/>
              <a:cxnLst/>
              <a:rect l="l" t="t" r="r" b="b"/>
              <a:pathLst>
                <a:path w="7560309" h="10692130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10691990"/>
                  </a:lnTo>
                  <a:lnTo>
                    <a:pt x="63500" y="10691990"/>
                  </a:lnTo>
                  <a:lnTo>
                    <a:pt x="63500" y="1799996"/>
                  </a:lnTo>
                  <a:lnTo>
                    <a:pt x="7559992" y="1799996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543999" y="0"/>
              <a:ext cx="2016125" cy="2232025"/>
            </a:xfrm>
            <a:custGeom>
              <a:avLst/>
              <a:gdLst/>
              <a:ahLst/>
              <a:cxnLst/>
              <a:rect l="l" t="t" r="r" b="b"/>
              <a:pathLst>
                <a:path w="2016125" h="2232025">
                  <a:moveTo>
                    <a:pt x="2016000" y="0"/>
                  </a:moveTo>
                  <a:lnTo>
                    <a:pt x="307541" y="0"/>
                  </a:lnTo>
                  <a:lnTo>
                    <a:pt x="296545" y="13380"/>
                  </a:lnTo>
                  <a:lnTo>
                    <a:pt x="269264" y="48869"/>
                  </a:lnTo>
                  <a:lnTo>
                    <a:pt x="243131" y="85262"/>
                  </a:lnTo>
                  <a:lnTo>
                    <a:pt x="218173" y="122533"/>
                  </a:lnTo>
                  <a:lnTo>
                    <a:pt x="194418" y="160653"/>
                  </a:lnTo>
                  <a:lnTo>
                    <a:pt x="171893" y="199595"/>
                  </a:lnTo>
                  <a:lnTo>
                    <a:pt x="150624" y="239333"/>
                  </a:lnTo>
                  <a:lnTo>
                    <a:pt x="130639" y="279840"/>
                  </a:lnTo>
                  <a:lnTo>
                    <a:pt x="111964" y="321087"/>
                  </a:lnTo>
                  <a:lnTo>
                    <a:pt x="94628" y="363049"/>
                  </a:lnTo>
                  <a:lnTo>
                    <a:pt x="78657" y="405698"/>
                  </a:lnTo>
                  <a:lnTo>
                    <a:pt x="64078" y="449006"/>
                  </a:lnTo>
                  <a:lnTo>
                    <a:pt x="50919" y="492947"/>
                  </a:lnTo>
                  <a:lnTo>
                    <a:pt x="39206" y="537494"/>
                  </a:lnTo>
                  <a:lnTo>
                    <a:pt x="28967" y="582620"/>
                  </a:lnTo>
                  <a:lnTo>
                    <a:pt x="20229" y="628296"/>
                  </a:lnTo>
                  <a:lnTo>
                    <a:pt x="13019" y="674497"/>
                  </a:lnTo>
                  <a:lnTo>
                    <a:pt x="7364" y="721195"/>
                  </a:lnTo>
                  <a:lnTo>
                    <a:pt x="3290" y="768362"/>
                  </a:lnTo>
                  <a:lnTo>
                    <a:pt x="827" y="815973"/>
                  </a:lnTo>
                  <a:lnTo>
                    <a:pt x="0" y="863999"/>
                  </a:lnTo>
                  <a:lnTo>
                    <a:pt x="827" y="912025"/>
                  </a:lnTo>
                  <a:lnTo>
                    <a:pt x="3290" y="959636"/>
                  </a:lnTo>
                  <a:lnTo>
                    <a:pt x="7364" y="1006804"/>
                  </a:lnTo>
                  <a:lnTo>
                    <a:pt x="13019" y="1053502"/>
                  </a:lnTo>
                  <a:lnTo>
                    <a:pt x="20229" y="1099702"/>
                  </a:lnTo>
                  <a:lnTo>
                    <a:pt x="28967" y="1145379"/>
                  </a:lnTo>
                  <a:lnTo>
                    <a:pt x="39206" y="1190504"/>
                  </a:lnTo>
                  <a:lnTo>
                    <a:pt x="50919" y="1235051"/>
                  </a:lnTo>
                  <a:lnTo>
                    <a:pt x="64078" y="1278992"/>
                  </a:lnTo>
                  <a:lnTo>
                    <a:pt x="78657" y="1322301"/>
                  </a:lnTo>
                  <a:lnTo>
                    <a:pt x="94628" y="1364949"/>
                  </a:lnTo>
                  <a:lnTo>
                    <a:pt x="111964" y="1406911"/>
                  </a:lnTo>
                  <a:lnTo>
                    <a:pt x="130639" y="1448159"/>
                  </a:lnTo>
                  <a:lnTo>
                    <a:pt x="150624" y="1488665"/>
                  </a:lnTo>
                  <a:lnTo>
                    <a:pt x="171893" y="1528403"/>
                  </a:lnTo>
                  <a:lnTo>
                    <a:pt x="194418" y="1567346"/>
                  </a:lnTo>
                  <a:lnTo>
                    <a:pt x="218173" y="1605466"/>
                  </a:lnTo>
                  <a:lnTo>
                    <a:pt x="243131" y="1642736"/>
                  </a:lnTo>
                  <a:lnTo>
                    <a:pt x="269264" y="1679130"/>
                  </a:lnTo>
                  <a:lnTo>
                    <a:pt x="296545" y="1714619"/>
                  </a:lnTo>
                  <a:lnTo>
                    <a:pt x="324947" y="1749178"/>
                  </a:lnTo>
                  <a:lnTo>
                    <a:pt x="354442" y="1782778"/>
                  </a:lnTo>
                  <a:lnTo>
                    <a:pt x="385005" y="1815392"/>
                  </a:lnTo>
                  <a:lnTo>
                    <a:pt x="416607" y="1846995"/>
                  </a:lnTo>
                  <a:lnTo>
                    <a:pt x="449222" y="1877557"/>
                  </a:lnTo>
                  <a:lnTo>
                    <a:pt x="482822" y="1907053"/>
                  </a:lnTo>
                  <a:lnTo>
                    <a:pt x="517380" y="1935455"/>
                  </a:lnTo>
                  <a:lnTo>
                    <a:pt x="552870" y="1962736"/>
                  </a:lnTo>
                  <a:lnTo>
                    <a:pt x="589263" y="1988869"/>
                  </a:lnTo>
                  <a:lnTo>
                    <a:pt x="626533" y="2013826"/>
                  </a:lnTo>
                  <a:lnTo>
                    <a:pt x="664653" y="2037581"/>
                  </a:lnTo>
                  <a:lnTo>
                    <a:pt x="703596" y="2060107"/>
                  </a:lnTo>
                  <a:lnTo>
                    <a:pt x="743334" y="2081376"/>
                  </a:lnTo>
                  <a:lnTo>
                    <a:pt x="783841" y="2101361"/>
                  </a:lnTo>
                  <a:lnTo>
                    <a:pt x="825088" y="2120035"/>
                  </a:lnTo>
                  <a:lnTo>
                    <a:pt x="867050" y="2137371"/>
                  </a:lnTo>
                  <a:lnTo>
                    <a:pt x="909699" y="2153342"/>
                  </a:lnTo>
                  <a:lnTo>
                    <a:pt x="953007" y="2167921"/>
                  </a:lnTo>
                  <a:lnTo>
                    <a:pt x="996949" y="2181080"/>
                  </a:lnTo>
                  <a:lnTo>
                    <a:pt x="1041495" y="2192793"/>
                  </a:lnTo>
                  <a:lnTo>
                    <a:pt x="1086621" y="2203032"/>
                  </a:lnTo>
                  <a:lnTo>
                    <a:pt x="1132297" y="2211770"/>
                  </a:lnTo>
                  <a:lnTo>
                    <a:pt x="1178498" y="2218981"/>
                  </a:lnTo>
                  <a:lnTo>
                    <a:pt x="1225196" y="2224636"/>
                  </a:lnTo>
                  <a:lnTo>
                    <a:pt x="1272364" y="2228709"/>
                  </a:lnTo>
                  <a:lnTo>
                    <a:pt x="1319974" y="2231173"/>
                  </a:lnTo>
                  <a:lnTo>
                    <a:pt x="1368000" y="2232000"/>
                  </a:lnTo>
                  <a:lnTo>
                    <a:pt x="1416027" y="2231173"/>
                  </a:lnTo>
                  <a:lnTo>
                    <a:pt x="1463637" y="2228709"/>
                  </a:lnTo>
                  <a:lnTo>
                    <a:pt x="1510805" y="2224636"/>
                  </a:lnTo>
                  <a:lnTo>
                    <a:pt x="1557503" y="2218981"/>
                  </a:lnTo>
                  <a:lnTo>
                    <a:pt x="1603703" y="2211770"/>
                  </a:lnTo>
                  <a:lnTo>
                    <a:pt x="1649380" y="2203032"/>
                  </a:lnTo>
                  <a:lnTo>
                    <a:pt x="1694505" y="2192793"/>
                  </a:lnTo>
                  <a:lnTo>
                    <a:pt x="1739052" y="2181080"/>
                  </a:lnTo>
                  <a:lnTo>
                    <a:pt x="1782993" y="2167921"/>
                  </a:lnTo>
                  <a:lnTo>
                    <a:pt x="1826302" y="2153342"/>
                  </a:lnTo>
                  <a:lnTo>
                    <a:pt x="1868950" y="2137371"/>
                  </a:lnTo>
                  <a:lnTo>
                    <a:pt x="1910912" y="2120035"/>
                  </a:lnTo>
                  <a:lnTo>
                    <a:pt x="1952160" y="2101361"/>
                  </a:lnTo>
                  <a:lnTo>
                    <a:pt x="1992666" y="2081376"/>
                  </a:lnTo>
                  <a:lnTo>
                    <a:pt x="2016000" y="2068887"/>
                  </a:lnTo>
                  <a:lnTo>
                    <a:pt x="2016000" y="0"/>
                  </a:lnTo>
                  <a:close/>
                </a:path>
              </a:pathLst>
            </a:custGeom>
            <a:solidFill>
              <a:srgbClr val="516B2D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9299" y="546400"/>
            <a:ext cx="134869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B8850A"/>
                </a:solidFill>
                <a:latin typeface="Arial Rounded MT Bold" panose="020F0704030504030204" pitchFamily="34" charset="0"/>
                <a:cs typeface="Calibri"/>
              </a:rPr>
              <a:t>CONTENTS</a:t>
            </a:r>
            <a:endParaRPr sz="1400" dirty="0">
              <a:latin typeface="Arial Rounded MT Bold" panose="020F0704030504030204" pitchFamily="34" charset="0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9299" y="902299"/>
            <a:ext cx="429435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Table</a:t>
            </a:r>
            <a:r>
              <a:rPr sz="3000" spc="2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300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of</a:t>
            </a:r>
            <a:r>
              <a:rPr sz="3000" spc="2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3000" spc="-10" dirty="0"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Contents</a:t>
            </a:r>
            <a:endParaRPr sz="3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4000" y="1463300"/>
            <a:ext cx="6876415" cy="840740"/>
            <a:chOff x="504000" y="1463300"/>
            <a:chExt cx="6876415" cy="840740"/>
          </a:xfrm>
        </p:grpSpPr>
        <p:sp>
          <p:nvSpPr>
            <p:cNvPr id="10" name="object 10"/>
            <p:cNvSpPr/>
            <p:nvPr/>
          </p:nvSpPr>
          <p:spPr>
            <a:xfrm>
              <a:off x="791999" y="1463300"/>
              <a:ext cx="5976620" cy="12700"/>
            </a:xfrm>
            <a:custGeom>
              <a:avLst/>
              <a:gdLst/>
              <a:ahLst/>
              <a:cxnLst/>
              <a:rect l="l" t="t" r="r" b="b"/>
              <a:pathLst>
                <a:path w="5976620" h="12700">
                  <a:moveTo>
                    <a:pt x="5976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976000" y="12700"/>
                  </a:lnTo>
                  <a:lnTo>
                    <a:pt x="5976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04000" y="19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4051" y="19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9299" y="1972650"/>
            <a:ext cx="1495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Executive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Summary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0587" y="19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4000" y="2067460"/>
            <a:ext cx="6876415" cy="687070"/>
            <a:chOff x="504000" y="2067460"/>
            <a:chExt cx="6876415" cy="687070"/>
          </a:xfrm>
        </p:grpSpPr>
        <p:sp>
          <p:nvSpPr>
            <p:cNvPr id="16" name="object 16"/>
            <p:cNvSpPr/>
            <p:nvPr/>
          </p:nvSpPr>
          <p:spPr>
            <a:xfrm>
              <a:off x="2244463" y="2070000"/>
              <a:ext cx="4236085" cy="0"/>
            </a:xfrm>
            <a:custGeom>
              <a:avLst/>
              <a:gdLst/>
              <a:ahLst/>
              <a:cxnLst/>
              <a:rect l="l" t="t" r="r" b="b"/>
              <a:pathLst>
                <a:path w="4236085">
                  <a:moveTo>
                    <a:pt x="0" y="0"/>
                  </a:moveTo>
                  <a:lnTo>
                    <a:pt x="4235536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04000" y="235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4051" y="24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02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9298" y="2422650"/>
            <a:ext cx="2334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Project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Overview 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Background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0587" y="24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4000" y="2517459"/>
            <a:ext cx="6876415" cy="687070"/>
            <a:chOff x="504000" y="2517459"/>
            <a:chExt cx="6876415" cy="687070"/>
          </a:xfrm>
        </p:grpSpPr>
        <p:sp>
          <p:nvSpPr>
            <p:cNvPr id="22" name="object 22"/>
            <p:cNvSpPr/>
            <p:nvPr/>
          </p:nvSpPr>
          <p:spPr>
            <a:xfrm>
              <a:off x="2857080" y="2519999"/>
              <a:ext cx="3623310" cy="0"/>
            </a:xfrm>
            <a:custGeom>
              <a:avLst/>
              <a:gdLst/>
              <a:ahLst/>
              <a:cxnLst/>
              <a:rect l="l" t="t" r="r" b="b"/>
              <a:pathLst>
                <a:path w="3623310">
                  <a:moveTo>
                    <a:pt x="0" y="0"/>
                  </a:moveTo>
                  <a:lnTo>
                    <a:pt x="362291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04000" y="28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4051" y="28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9298" y="2872649"/>
            <a:ext cx="17245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Objectives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Scope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00587" y="288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4000" y="2967459"/>
            <a:ext cx="6876415" cy="687070"/>
            <a:chOff x="504000" y="2967459"/>
            <a:chExt cx="6876415" cy="687070"/>
          </a:xfrm>
        </p:grpSpPr>
        <p:sp>
          <p:nvSpPr>
            <p:cNvPr id="28" name="object 28"/>
            <p:cNvSpPr/>
            <p:nvPr/>
          </p:nvSpPr>
          <p:spPr>
            <a:xfrm>
              <a:off x="2223197" y="2969999"/>
              <a:ext cx="4257040" cy="0"/>
            </a:xfrm>
            <a:custGeom>
              <a:avLst/>
              <a:gdLst/>
              <a:ahLst/>
              <a:cxnLst/>
              <a:rect l="l" t="t" r="r" b="b"/>
              <a:pathLst>
                <a:path w="4257040">
                  <a:moveTo>
                    <a:pt x="0" y="0"/>
                  </a:moveTo>
                  <a:lnTo>
                    <a:pt x="4256802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04000" y="32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54051" y="33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39298" y="3322649"/>
            <a:ext cx="1953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Key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Interventions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Approach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00587" y="333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4000" y="3417460"/>
            <a:ext cx="6876415" cy="687070"/>
            <a:chOff x="504000" y="3417460"/>
            <a:chExt cx="6876415" cy="687070"/>
          </a:xfrm>
        </p:grpSpPr>
        <p:sp>
          <p:nvSpPr>
            <p:cNvPr id="34" name="object 34"/>
            <p:cNvSpPr/>
            <p:nvPr/>
          </p:nvSpPr>
          <p:spPr>
            <a:xfrm>
              <a:off x="2769951" y="3420000"/>
              <a:ext cx="3710304" cy="0"/>
            </a:xfrm>
            <a:custGeom>
              <a:avLst/>
              <a:gdLst/>
              <a:ahLst/>
              <a:cxnLst/>
              <a:rect l="l" t="t" r="r" b="b"/>
              <a:pathLst>
                <a:path w="3710304">
                  <a:moveTo>
                    <a:pt x="0" y="0"/>
                  </a:moveTo>
                  <a:lnTo>
                    <a:pt x="371004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504000" y="37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4051" y="37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05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9299" y="3772650"/>
            <a:ext cx="2257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Key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Achievements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Milestones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00587" y="37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6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4000" y="3867459"/>
            <a:ext cx="6876415" cy="687070"/>
            <a:chOff x="504000" y="3867459"/>
            <a:chExt cx="6876415" cy="687070"/>
          </a:xfrm>
        </p:grpSpPr>
        <p:sp>
          <p:nvSpPr>
            <p:cNvPr id="40" name="object 40"/>
            <p:cNvSpPr/>
            <p:nvPr/>
          </p:nvSpPr>
          <p:spPr>
            <a:xfrm>
              <a:off x="2874695" y="3869999"/>
              <a:ext cx="3605529" cy="0"/>
            </a:xfrm>
            <a:custGeom>
              <a:avLst/>
              <a:gdLst/>
              <a:ahLst/>
              <a:cxnLst/>
              <a:rect l="l" t="t" r="r" b="b"/>
              <a:pathLst>
                <a:path w="3605529">
                  <a:moveTo>
                    <a:pt x="0" y="0"/>
                  </a:moveTo>
                  <a:lnTo>
                    <a:pt x="360530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04000" y="41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54051" y="42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06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39299" y="4222650"/>
            <a:ext cx="17245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Outcomes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Impact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700587" y="42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7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4000" y="4317459"/>
            <a:ext cx="6876415" cy="687070"/>
            <a:chOff x="504000" y="4317459"/>
            <a:chExt cx="6876415" cy="687070"/>
          </a:xfrm>
        </p:grpSpPr>
        <p:sp>
          <p:nvSpPr>
            <p:cNvPr id="46" name="object 46"/>
            <p:cNvSpPr/>
            <p:nvPr/>
          </p:nvSpPr>
          <p:spPr>
            <a:xfrm>
              <a:off x="2257012" y="4319999"/>
              <a:ext cx="4223385" cy="0"/>
            </a:xfrm>
            <a:custGeom>
              <a:avLst/>
              <a:gdLst/>
              <a:ahLst/>
              <a:cxnLst/>
              <a:rect l="l" t="t" r="r" b="b"/>
              <a:pathLst>
                <a:path w="4223385">
                  <a:moveTo>
                    <a:pt x="0" y="0"/>
                  </a:moveTo>
                  <a:lnTo>
                    <a:pt x="4222987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04000" y="46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54051" y="46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07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39299" y="4672649"/>
            <a:ext cx="21055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Challenges</a:t>
            </a:r>
            <a:r>
              <a:rPr sz="1200" b="1" spc="-2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2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Mitigation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00587" y="468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8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04000" y="4767460"/>
            <a:ext cx="6876415" cy="687070"/>
            <a:chOff x="504000" y="4767460"/>
            <a:chExt cx="6876415" cy="687070"/>
          </a:xfrm>
        </p:grpSpPr>
        <p:sp>
          <p:nvSpPr>
            <p:cNvPr id="52" name="object 52"/>
            <p:cNvSpPr/>
            <p:nvPr/>
          </p:nvSpPr>
          <p:spPr>
            <a:xfrm>
              <a:off x="2462905" y="4770000"/>
              <a:ext cx="4017645" cy="0"/>
            </a:xfrm>
            <a:custGeom>
              <a:avLst/>
              <a:gdLst/>
              <a:ahLst/>
              <a:cxnLst/>
              <a:rect l="l" t="t" r="r" b="b"/>
              <a:pathLst>
                <a:path w="4017645">
                  <a:moveTo>
                    <a:pt x="0" y="0"/>
                  </a:moveTo>
                  <a:lnTo>
                    <a:pt x="401709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504000" y="50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54051" y="51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08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39298" y="5122650"/>
            <a:ext cx="172454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Lessons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Learned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00587" y="513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8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04000" y="5217460"/>
            <a:ext cx="6876415" cy="687070"/>
            <a:chOff x="504000" y="5217460"/>
            <a:chExt cx="6876415" cy="687070"/>
          </a:xfrm>
        </p:grpSpPr>
        <p:sp>
          <p:nvSpPr>
            <p:cNvPr id="58" name="object 58"/>
            <p:cNvSpPr/>
            <p:nvPr/>
          </p:nvSpPr>
          <p:spPr>
            <a:xfrm>
              <a:off x="2077450" y="5220000"/>
              <a:ext cx="4403090" cy="0"/>
            </a:xfrm>
            <a:custGeom>
              <a:avLst/>
              <a:gdLst/>
              <a:ahLst/>
              <a:cxnLst/>
              <a:rect l="l" t="t" r="r" b="b"/>
              <a:pathLst>
                <a:path w="4403090">
                  <a:moveTo>
                    <a:pt x="0" y="0"/>
                  </a:moveTo>
                  <a:lnTo>
                    <a:pt x="440254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504000" y="55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54051" y="55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09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39299" y="5572650"/>
            <a:ext cx="16483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Sustainability</a:t>
            </a:r>
            <a:r>
              <a:rPr sz="1200" b="1" spc="3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4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Roadmap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00587" y="5585350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8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04000" y="5667459"/>
            <a:ext cx="6876415" cy="687070"/>
            <a:chOff x="504000" y="5667459"/>
            <a:chExt cx="6876415" cy="687070"/>
          </a:xfrm>
        </p:grpSpPr>
        <p:sp>
          <p:nvSpPr>
            <p:cNvPr id="64" name="object 64"/>
            <p:cNvSpPr/>
            <p:nvPr/>
          </p:nvSpPr>
          <p:spPr>
            <a:xfrm>
              <a:off x="2556929" y="5669999"/>
              <a:ext cx="3923665" cy="0"/>
            </a:xfrm>
            <a:custGeom>
              <a:avLst/>
              <a:gdLst/>
              <a:ahLst/>
              <a:cxnLst/>
              <a:rect l="l" t="t" r="r" b="b"/>
              <a:pathLst>
                <a:path w="3923665">
                  <a:moveTo>
                    <a:pt x="0" y="0"/>
                  </a:moveTo>
                  <a:lnTo>
                    <a:pt x="3923070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04000" y="59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39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54051" y="60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10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39299" y="6022649"/>
            <a:ext cx="18769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Monitoring</a:t>
            </a:r>
            <a:r>
              <a:rPr sz="1200" b="1" spc="-3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2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Evaluation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00587" y="603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9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04000" y="6117459"/>
            <a:ext cx="6876415" cy="687070"/>
            <a:chOff x="504000" y="6117459"/>
            <a:chExt cx="6876415" cy="687070"/>
          </a:xfrm>
        </p:grpSpPr>
        <p:sp>
          <p:nvSpPr>
            <p:cNvPr id="70" name="object 70"/>
            <p:cNvSpPr/>
            <p:nvPr/>
          </p:nvSpPr>
          <p:spPr>
            <a:xfrm>
              <a:off x="2495896" y="6119999"/>
              <a:ext cx="3984625" cy="0"/>
            </a:xfrm>
            <a:custGeom>
              <a:avLst/>
              <a:gdLst/>
              <a:ahLst/>
              <a:cxnLst/>
              <a:rect l="l" t="t" r="r" b="b"/>
              <a:pathLst>
                <a:path w="3984625">
                  <a:moveTo>
                    <a:pt x="0" y="0"/>
                  </a:moveTo>
                  <a:lnTo>
                    <a:pt x="3984103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04000" y="640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54051" y="649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39299" y="6472649"/>
            <a:ext cx="18007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Events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Campaigns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00587" y="6485349"/>
            <a:ext cx="806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9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04000" y="6567460"/>
            <a:ext cx="6876415" cy="687070"/>
            <a:chOff x="504000" y="6567460"/>
            <a:chExt cx="6876415" cy="687070"/>
          </a:xfrm>
        </p:grpSpPr>
        <p:sp>
          <p:nvSpPr>
            <p:cNvPr id="76" name="object 76"/>
            <p:cNvSpPr/>
            <p:nvPr/>
          </p:nvSpPr>
          <p:spPr>
            <a:xfrm>
              <a:off x="2276511" y="6570000"/>
              <a:ext cx="4203700" cy="0"/>
            </a:xfrm>
            <a:custGeom>
              <a:avLst/>
              <a:gdLst/>
              <a:ahLst/>
              <a:cxnLst/>
              <a:rect l="l" t="t" r="r" b="b"/>
              <a:pathLst>
                <a:path w="4203700">
                  <a:moveTo>
                    <a:pt x="0" y="0"/>
                  </a:moveTo>
                  <a:lnTo>
                    <a:pt x="4203487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504000" y="685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399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399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54051" y="6948450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12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39299" y="6922650"/>
            <a:ext cx="24103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Case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Studies &amp;</a:t>
            </a:r>
            <a:r>
              <a:rPr sz="1200" b="1" spc="-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Success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Stories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645874" y="6935350"/>
            <a:ext cx="2565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10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01650" y="7022259"/>
            <a:ext cx="6876415" cy="687070"/>
            <a:chOff x="504000" y="7017459"/>
            <a:chExt cx="6876415" cy="687070"/>
          </a:xfrm>
        </p:grpSpPr>
        <p:sp>
          <p:nvSpPr>
            <p:cNvPr id="82" name="object 82"/>
            <p:cNvSpPr/>
            <p:nvPr/>
          </p:nvSpPr>
          <p:spPr>
            <a:xfrm>
              <a:off x="2778080" y="7019999"/>
              <a:ext cx="3702050" cy="0"/>
            </a:xfrm>
            <a:custGeom>
              <a:avLst/>
              <a:gdLst/>
              <a:ahLst/>
              <a:cxnLst/>
              <a:rect l="l" t="t" r="r" b="b"/>
              <a:pathLst>
                <a:path w="3702050">
                  <a:moveTo>
                    <a:pt x="0" y="0"/>
                  </a:moveTo>
                  <a:lnTo>
                    <a:pt x="3701919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504000" y="7307999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399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399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54051" y="739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13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39299" y="7372650"/>
            <a:ext cx="1572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Community</a:t>
            </a:r>
            <a:r>
              <a:rPr sz="1200" b="1" spc="-5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Feedback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45874" y="7385350"/>
            <a:ext cx="33277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10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504000" y="7467459"/>
            <a:ext cx="6876415" cy="687070"/>
            <a:chOff x="504000" y="7467459"/>
            <a:chExt cx="6876415" cy="687070"/>
          </a:xfrm>
        </p:grpSpPr>
        <p:sp>
          <p:nvSpPr>
            <p:cNvPr id="88" name="object 88"/>
            <p:cNvSpPr/>
            <p:nvPr/>
          </p:nvSpPr>
          <p:spPr>
            <a:xfrm>
              <a:off x="2344671" y="7469999"/>
              <a:ext cx="4135754" cy="0"/>
            </a:xfrm>
            <a:custGeom>
              <a:avLst/>
              <a:gdLst/>
              <a:ahLst/>
              <a:cxnLst/>
              <a:rect l="l" t="t" r="r" b="b"/>
              <a:pathLst>
                <a:path w="4135754">
                  <a:moveTo>
                    <a:pt x="0" y="0"/>
                  </a:moveTo>
                  <a:lnTo>
                    <a:pt x="4135328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504000" y="7758000"/>
              <a:ext cx="6876415" cy="396240"/>
            </a:xfrm>
            <a:custGeom>
              <a:avLst/>
              <a:gdLst/>
              <a:ahLst/>
              <a:cxnLst/>
              <a:rect l="l" t="t" r="r" b="b"/>
              <a:pathLst>
                <a:path w="6876415" h="396240">
                  <a:moveTo>
                    <a:pt x="6850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6850600" y="395999"/>
                  </a:lnTo>
                  <a:lnTo>
                    <a:pt x="6860492" y="394005"/>
                  </a:lnTo>
                  <a:lnTo>
                    <a:pt x="6868565" y="388565"/>
                  </a:lnTo>
                  <a:lnTo>
                    <a:pt x="6874006" y="380492"/>
                  </a:lnTo>
                  <a:lnTo>
                    <a:pt x="6876000" y="370599"/>
                  </a:lnTo>
                  <a:lnTo>
                    <a:pt x="6876000" y="25400"/>
                  </a:lnTo>
                  <a:lnTo>
                    <a:pt x="6874006" y="15507"/>
                  </a:lnTo>
                  <a:lnTo>
                    <a:pt x="6868565" y="7434"/>
                  </a:lnTo>
                  <a:lnTo>
                    <a:pt x="6860492" y="1994"/>
                  </a:lnTo>
                  <a:lnTo>
                    <a:pt x="6850600" y="0"/>
                  </a:lnTo>
                  <a:close/>
                </a:path>
              </a:pathLst>
            </a:custGeom>
            <a:solidFill>
              <a:srgbClr val="EDF7F0"/>
            </a:solidFill>
          </p:spPr>
          <p:txBody>
            <a:bodyPr wrap="square" lIns="0" tIns="0" rIns="0" bIns="0" rtlCol="0"/>
            <a:lstStyle/>
            <a:p>
              <a:endParaRPr sz="1200"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54051" y="78484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B8850A"/>
                </a:solidFill>
                <a:latin typeface="Footlight MT Light" panose="0204060206030A020304" pitchFamily="18" charset="0"/>
                <a:cs typeface="Calibri"/>
              </a:rPr>
              <a:t>14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39298" y="7822649"/>
            <a:ext cx="1572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Field</a:t>
            </a:r>
            <a:r>
              <a:rPr sz="1200" b="1" spc="-2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120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Photography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645874" y="7835349"/>
            <a:ext cx="2652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52B687"/>
                </a:solidFill>
                <a:latin typeface="Footlight MT Light" panose="0204060206030A020304" pitchFamily="18" charset="0"/>
                <a:cs typeface="Calibri"/>
              </a:rPr>
              <a:t>11</a:t>
            </a:r>
            <a:endParaRPr sz="120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0" y="7917460"/>
            <a:ext cx="7560309" cy="2774950"/>
            <a:chOff x="0" y="7917460"/>
            <a:chExt cx="7560309" cy="2774950"/>
          </a:xfrm>
        </p:grpSpPr>
        <p:sp>
          <p:nvSpPr>
            <p:cNvPr id="94" name="object 94"/>
            <p:cNvSpPr/>
            <p:nvPr/>
          </p:nvSpPr>
          <p:spPr>
            <a:xfrm>
              <a:off x="2174182" y="7920000"/>
              <a:ext cx="4305935" cy="0"/>
            </a:xfrm>
            <a:custGeom>
              <a:avLst/>
              <a:gdLst/>
              <a:ahLst/>
              <a:cxnLst/>
              <a:rect l="l" t="t" r="r" b="b"/>
              <a:pathLst>
                <a:path w="4305935">
                  <a:moveTo>
                    <a:pt x="0" y="0"/>
                  </a:moveTo>
                  <a:lnTo>
                    <a:pt x="4305816" y="0"/>
                  </a:lnTo>
                </a:path>
              </a:pathLst>
            </a:custGeom>
            <a:ln w="5080">
              <a:solidFill>
                <a:srgbClr val="D8F2D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5" name="object 95"/>
            <p:cNvSpPr/>
            <p:nvPr/>
          </p:nvSpPr>
          <p:spPr>
            <a:xfrm>
              <a:off x="0" y="10331999"/>
              <a:ext cx="7560309" cy="360045"/>
            </a:xfrm>
            <a:custGeom>
              <a:avLst/>
              <a:gdLst/>
              <a:ahLst/>
              <a:cxnLst/>
              <a:rect l="l" t="t" r="r" b="b"/>
              <a:pathLst>
                <a:path w="7560309" h="360045">
                  <a:moveTo>
                    <a:pt x="7560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7560000" y="3600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97" name="object 97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692130"/>
            <a:chOff x="0" y="0"/>
            <a:chExt cx="7560309" cy="10692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559999" cy="2340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7560309" cy="2340610"/>
            </a:xfrm>
            <a:custGeom>
              <a:avLst/>
              <a:gdLst/>
              <a:ahLst/>
              <a:cxnLst/>
              <a:rect l="l" t="t" r="r" b="b"/>
              <a:pathLst>
                <a:path w="7560309" h="2340610">
                  <a:moveTo>
                    <a:pt x="7560000" y="0"/>
                  </a:moveTo>
                  <a:lnTo>
                    <a:pt x="0" y="0"/>
                  </a:lnTo>
                  <a:lnTo>
                    <a:pt x="0" y="2340000"/>
                  </a:lnTo>
                  <a:lnTo>
                    <a:pt x="7560000" y="23400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11231C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340000"/>
              <a:ext cx="63500" cy="8352155"/>
            </a:xfrm>
            <a:custGeom>
              <a:avLst/>
              <a:gdLst/>
              <a:ahLst/>
              <a:cxnLst/>
              <a:rect l="l" t="t" r="r" b="b"/>
              <a:pathLst>
                <a:path w="63500" h="8352155">
                  <a:moveTo>
                    <a:pt x="63500" y="0"/>
                  </a:moveTo>
                  <a:lnTo>
                    <a:pt x="0" y="0"/>
                  </a:lnTo>
                  <a:lnTo>
                    <a:pt x="0" y="8352000"/>
                  </a:lnTo>
                  <a:lnTo>
                    <a:pt x="63500" y="8352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9298" y="438399"/>
            <a:ext cx="20019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01</a:t>
            </a:r>
            <a:r>
              <a:rPr sz="1400" b="1" spc="15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4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·</a:t>
            </a:r>
            <a:r>
              <a:rPr sz="1400" b="1" spc="15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EXECUTIVE</a:t>
            </a:r>
            <a:r>
              <a:rPr sz="1000" b="1" spc="-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SUMMARY</a:t>
            </a:r>
            <a:endParaRPr sz="1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9299" y="872700"/>
            <a:ext cx="5513551" cy="575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0"/>
              </a:lnSpc>
              <a:spcBef>
                <a:spcPts val="100"/>
              </a:spcBef>
            </a:pPr>
            <a:r>
              <a:rPr sz="3800" spc="60" dirty="0">
                <a:latin typeface="Felix Titling" panose="04060505060202020A04" pitchFamily="82" charset="0"/>
              </a:rPr>
              <a:t>Executive</a:t>
            </a:r>
            <a:r>
              <a:rPr lang="en-IN" sz="3800" spc="60" dirty="0">
                <a:latin typeface="Felix Titling" panose="04060505060202020A04" pitchFamily="82" charset="0"/>
              </a:rPr>
              <a:t> </a:t>
            </a:r>
            <a:r>
              <a:rPr sz="3800" b="0" i="1" spc="-1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Summary</a:t>
            </a:r>
            <a:endParaRPr sz="38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2336583"/>
            <a:ext cx="7560309" cy="1491606"/>
            <a:chOff x="0" y="2339999"/>
            <a:chExt cx="7560309" cy="1223418"/>
          </a:xfrm>
        </p:grpSpPr>
        <p:sp>
          <p:nvSpPr>
            <p:cNvPr id="10" name="object 10"/>
            <p:cNvSpPr/>
            <p:nvPr/>
          </p:nvSpPr>
          <p:spPr>
            <a:xfrm>
              <a:off x="0" y="2339999"/>
              <a:ext cx="7560309" cy="25400"/>
            </a:xfrm>
            <a:custGeom>
              <a:avLst/>
              <a:gdLst/>
              <a:ahLst/>
              <a:cxnLst/>
              <a:rect l="l" t="t" r="r" b="b"/>
              <a:pathLst>
                <a:path w="7560309" h="25400">
                  <a:moveTo>
                    <a:pt x="7560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7560000" y="254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60772" y="2635578"/>
              <a:ext cx="1440180" cy="927839"/>
            </a:xfrm>
            <a:custGeom>
              <a:avLst/>
              <a:gdLst/>
              <a:ahLst/>
              <a:cxnLst/>
              <a:rect l="l" t="t" r="r" b="b"/>
              <a:pathLst>
                <a:path w="1440180" h="936625">
                  <a:moveTo>
                    <a:pt x="14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97900"/>
                  </a:lnTo>
                  <a:lnTo>
                    <a:pt x="2991" y="912738"/>
                  </a:lnTo>
                  <a:lnTo>
                    <a:pt x="11151" y="924848"/>
                  </a:lnTo>
                  <a:lnTo>
                    <a:pt x="23261" y="933008"/>
                  </a:lnTo>
                  <a:lnTo>
                    <a:pt x="38100" y="936000"/>
                  </a:lnTo>
                  <a:lnTo>
                    <a:pt x="1401899" y="936000"/>
                  </a:lnTo>
                  <a:lnTo>
                    <a:pt x="1416738" y="933008"/>
                  </a:lnTo>
                  <a:lnTo>
                    <a:pt x="1428847" y="924848"/>
                  </a:lnTo>
                  <a:lnTo>
                    <a:pt x="1437008" y="912738"/>
                  </a:lnTo>
                  <a:lnTo>
                    <a:pt x="1439999" y="897900"/>
                  </a:lnTo>
                  <a:lnTo>
                    <a:pt x="1439999" y="38100"/>
                  </a:lnTo>
                  <a:lnTo>
                    <a:pt x="1437008" y="23261"/>
                  </a:lnTo>
                  <a:lnTo>
                    <a:pt x="1428847" y="11151"/>
                  </a:lnTo>
                  <a:lnTo>
                    <a:pt x="1416738" y="2991"/>
                  </a:lnTo>
                  <a:lnTo>
                    <a:pt x="1401899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60249" y="2626489"/>
              <a:ext cx="1440180" cy="72390"/>
            </a:xfrm>
            <a:custGeom>
              <a:avLst/>
              <a:gdLst/>
              <a:ahLst/>
              <a:cxnLst/>
              <a:rect l="l" t="t" r="r" b="b"/>
              <a:pathLst>
                <a:path w="1440180" h="72389">
                  <a:moveTo>
                    <a:pt x="1439999" y="0"/>
                  </a:moveTo>
                  <a:lnTo>
                    <a:pt x="0" y="0"/>
                  </a:lnTo>
                  <a:lnTo>
                    <a:pt x="0" y="71999"/>
                  </a:lnTo>
                  <a:lnTo>
                    <a:pt x="1439999" y="71999"/>
                  </a:lnTo>
                  <a:lnTo>
                    <a:pt x="1439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11250" y="2765829"/>
            <a:ext cx="772841" cy="933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lang="en-IN" sz="22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98</a:t>
            </a:r>
            <a:endParaRPr sz="22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lang="en-IN" sz="750" b="1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Households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6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Direct </a:t>
            </a:r>
            <a:r>
              <a:rPr sz="6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Beneficiaries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38070" y="2686244"/>
            <a:ext cx="1440180" cy="1141945"/>
            <a:chOff x="2303999" y="3420000"/>
            <a:chExt cx="1440180" cy="936625"/>
          </a:xfrm>
        </p:grpSpPr>
        <p:sp>
          <p:nvSpPr>
            <p:cNvPr id="15" name="object 15"/>
            <p:cNvSpPr/>
            <p:nvPr/>
          </p:nvSpPr>
          <p:spPr>
            <a:xfrm>
              <a:off x="2303999" y="3420000"/>
              <a:ext cx="1440180" cy="936625"/>
            </a:xfrm>
            <a:custGeom>
              <a:avLst/>
              <a:gdLst/>
              <a:ahLst/>
              <a:cxnLst/>
              <a:rect l="l" t="t" r="r" b="b"/>
              <a:pathLst>
                <a:path w="1440179" h="936625">
                  <a:moveTo>
                    <a:pt x="14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97900"/>
                  </a:lnTo>
                  <a:lnTo>
                    <a:pt x="2991" y="912738"/>
                  </a:lnTo>
                  <a:lnTo>
                    <a:pt x="11151" y="924848"/>
                  </a:lnTo>
                  <a:lnTo>
                    <a:pt x="23261" y="933008"/>
                  </a:lnTo>
                  <a:lnTo>
                    <a:pt x="38100" y="936000"/>
                  </a:lnTo>
                  <a:lnTo>
                    <a:pt x="1401899" y="936000"/>
                  </a:lnTo>
                  <a:lnTo>
                    <a:pt x="1416738" y="933008"/>
                  </a:lnTo>
                  <a:lnTo>
                    <a:pt x="1428847" y="924848"/>
                  </a:lnTo>
                  <a:lnTo>
                    <a:pt x="1437008" y="912738"/>
                  </a:lnTo>
                  <a:lnTo>
                    <a:pt x="1439999" y="897900"/>
                  </a:lnTo>
                  <a:lnTo>
                    <a:pt x="1439999" y="38100"/>
                  </a:lnTo>
                  <a:lnTo>
                    <a:pt x="1437008" y="23261"/>
                  </a:lnTo>
                  <a:lnTo>
                    <a:pt x="1428847" y="11151"/>
                  </a:lnTo>
                  <a:lnTo>
                    <a:pt x="1416738" y="2991"/>
                  </a:lnTo>
                  <a:lnTo>
                    <a:pt x="1401899" y="0"/>
                  </a:lnTo>
                  <a:close/>
                </a:path>
              </a:pathLst>
            </a:custGeom>
            <a:solidFill>
              <a:srgbClr val="2D694F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9" y="3420000"/>
              <a:ext cx="1440180" cy="72390"/>
            </a:xfrm>
            <a:custGeom>
              <a:avLst/>
              <a:gdLst/>
              <a:ahLst/>
              <a:cxnLst/>
              <a:rect l="l" t="t" r="r" b="b"/>
              <a:pathLst>
                <a:path w="1440179" h="72389">
                  <a:moveTo>
                    <a:pt x="1439999" y="0"/>
                  </a:moveTo>
                  <a:lnTo>
                    <a:pt x="0" y="0"/>
                  </a:lnTo>
                  <a:lnTo>
                    <a:pt x="0" y="71999"/>
                  </a:lnTo>
                  <a:lnTo>
                    <a:pt x="1439999" y="71999"/>
                  </a:lnTo>
                  <a:lnTo>
                    <a:pt x="1439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81234" y="2760657"/>
            <a:ext cx="553720" cy="933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2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18</a:t>
            </a:r>
            <a:endParaRPr sz="22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750" b="1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Acres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6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Land </a:t>
            </a:r>
            <a:r>
              <a:rPr sz="6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Reclaimed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50070" y="2686244"/>
            <a:ext cx="1440180" cy="1141945"/>
            <a:chOff x="3815999" y="3420000"/>
            <a:chExt cx="1440180" cy="936625"/>
          </a:xfrm>
        </p:grpSpPr>
        <p:sp>
          <p:nvSpPr>
            <p:cNvPr id="19" name="object 19"/>
            <p:cNvSpPr/>
            <p:nvPr/>
          </p:nvSpPr>
          <p:spPr>
            <a:xfrm>
              <a:off x="3815999" y="3420000"/>
              <a:ext cx="1440180" cy="936625"/>
            </a:xfrm>
            <a:custGeom>
              <a:avLst/>
              <a:gdLst/>
              <a:ahLst/>
              <a:cxnLst/>
              <a:rect l="l" t="t" r="r" b="b"/>
              <a:pathLst>
                <a:path w="1440179" h="936625">
                  <a:moveTo>
                    <a:pt x="140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97900"/>
                  </a:lnTo>
                  <a:lnTo>
                    <a:pt x="2991" y="912738"/>
                  </a:lnTo>
                  <a:lnTo>
                    <a:pt x="11151" y="924848"/>
                  </a:lnTo>
                  <a:lnTo>
                    <a:pt x="23261" y="933008"/>
                  </a:lnTo>
                  <a:lnTo>
                    <a:pt x="38100" y="936000"/>
                  </a:lnTo>
                  <a:lnTo>
                    <a:pt x="1401900" y="936000"/>
                  </a:lnTo>
                  <a:lnTo>
                    <a:pt x="1416739" y="933008"/>
                  </a:lnTo>
                  <a:lnTo>
                    <a:pt x="1428849" y="924848"/>
                  </a:lnTo>
                  <a:lnTo>
                    <a:pt x="1437009" y="912738"/>
                  </a:lnTo>
                  <a:lnTo>
                    <a:pt x="1440000" y="897900"/>
                  </a:lnTo>
                  <a:lnTo>
                    <a:pt x="1440000" y="38100"/>
                  </a:lnTo>
                  <a:lnTo>
                    <a:pt x="1437009" y="23261"/>
                  </a:lnTo>
                  <a:lnTo>
                    <a:pt x="1428849" y="11151"/>
                  </a:lnTo>
                  <a:lnTo>
                    <a:pt x="1416739" y="2991"/>
                  </a:lnTo>
                  <a:lnTo>
                    <a:pt x="1401900" y="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815999" y="3420000"/>
              <a:ext cx="1440180" cy="72390"/>
            </a:xfrm>
            <a:custGeom>
              <a:avLst/>
              <a:gdLst/>
              <a:ahLst/>
              <a:cxnLst/>
              <a:rect l="l" t="t" r="r" b="b"/>
              <a:pathLst>
                <a:path w="1440179" h="72389">
                  <a:moveTo>
                    <a:pt x="1439999" y="0"/>
                  </a:moveTo>
                  <a:lnTo>
                    <a:pt x="0" y="0"/>
                  </a:lnTo>
                  <a:lnTo>
                    <a:pt x="0" y="71999"/>
                  </a:lnTo>
                  <a:lnTo>
                    <a:pt x="1439999" y="71999"/>
                  </a:lnTo>
                  <a:lnTo>
                    <a:pt x="1439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08121" y="2760657"/>
            <a:ext cx="723900" cy="933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200" b="1" spc="-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100%</a:t>
            </a:r>
            <a:endParaRPr sz="22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750" b="1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Complete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6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650" spc="-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6 Targets </a:t>
            </a:r>
            <a:r>
              <a:rPr sz="6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Met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62071" y="2686244"/>
            <a:ext cx="1440180" cy="1141945"/>
            <a:chOff x="5328000" y="3420000"/>
            <a:chExt cx="1440180" cy="936625"/>
          </a:xfrm>
        </p:grpSpPr>
        <p:sp>
          <p:nvSpPr>
            <p:cNvPr id="23" name="object 23"/>
            <p:cNvSpPr/>
            <p:nvPr/>
          </p:nvSpPr>
          <p:spPr>
            <a:xfrm>
              <a:off x="5328000" y="3420000"/>
              <a:ext cx="1440180" cy="936625"/>
            </a:xfrm>
            <a:custGeom>
              <a:avLst/>
              <a:gdLst/>
              <a:ahLst/>
              <a:cxnLst/>
              <a:rect l="l" t="t" r="r" b="b"/>
              <a:pathLst>
                <a:path w="1440179" h="936625">
                  <a:moveTo>
                    <a:pt x="14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97900"/>
                  </a:lnTo>
                  <a:lnTo>
                    <a:pt x="2991" y="912738"/>
                  </a:lnTo>
                  <a:lnTo>
                    <a:pt x="11151" y="924848"/>
                  </a:lnTo>
                  <a:lnTo>
                    <a:pt x="23261" y="933008"/>
                  </a:lnTo>
                  <a:lnTo>
                    <a:pt x="38100" y="936000"/>
                  </a:lnTo>
                  <a:lnTo>
                    <a:pt x="1401899" y="936000"/>
                  </a:lnTo>
                  <a:lnTo>
                    <a:pt x="1416738" y="933008"/>
                  </a:lnTo>
                  <a:lnTo>
                    <a:pt x="1428847" y="924848"/>
                  </a:lnTo>
                  <a:lnTo>
                    <a:pt x="1437008" y="912738"/>
                  </a:lnTo>
                  <a:lnTo>
                    <a:pt x="1439999" y="897900"/>
                  </a:lnTo>
                  <a:lnTo>
                    <a:pt x="1439999" y="38100"/>
                  </a:lnTo>
                  <a:lnTo>
                    <a:pt x="1437008" y="23261"/>
                  </a:lnTo>
                  <a:lnTo>
                    <a:pt x="1428847" y="11151"/>
                  </a:lnTo>
                  <a:lnTo>
                    <a:pt x="1416738" y="2991"/>
                  </a:lnTo>
                  <a:lnTo>
                    <a:pt x="1401899" y="0"/>
                  </a:lnTo>
                  <a:close/>
                </a:path>
              </a:pathLst>
            </a:custGeom>
            <a:solidFill>
              <a:srgbClr val="3A6B5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328000" y="3420000"/>
              <a:ext cx="1440180" cy="72390"/>
            </a:xfrm>
            <a:custGeom>
              <a:avLst/>
              <a:gdLst/>
              <a:ahLst/>
              <a:cxnLst/>
              <a:rect l="l" t="t" r="r" b="b"/>
              <a:pathLst>
                <a:path w="1440179" h="72389">
                  <a:moveTo>
                    <a:pt x="1439999" y="0"/>
                  </a:moveTo>
                  <a:lnTo>
                    <a:pt x="0" y="0"/>
                  </a:lnTo>
                  <a:lnTo>
                    <a:pt x="0" y="71999"/>
                  </a:lnTo>
                  <a:lnTo>
                    <a:pt x="1439999" y="71999"/>
                  </a:lnTo>
                  <a:lnTo>
                    <a:pt x="1439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18150" y="2760657"/>
            <a:ext cx="1070661" cy="83356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2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38</a:t>
            </a:r>
            <a:r>
              <a:rPr lang="en-US" sz="22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,000</a:t>
            </a:r>
            <a:endParaRPr sz="22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750" b="1" spc="-25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6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Total </a:t>
            </a:r>
            <a:r>
              <a:rPr sz="6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Earthwork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9299" y="4334899"/>
            <a:ext cx="5954395" cy="8997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100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project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reached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final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milestone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during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January–March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2026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with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100%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execution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proposed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primary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activities.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structural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earthwork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interventions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met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their targets,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providing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immediate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agricultural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benefits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spc="-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—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land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reclamation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enhanced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storage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—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for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farming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community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10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Veloshi.</a:t>
            </a:r>
            <a:endParaRPr sz="10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1999" y="5427199"/>
            <a:ext cx="2844165" cy="612140"/>
            <a:chOff x="791999" y="5427199"/>
            <a:chExt cx="2844165" cy="612140"/>
          </a:xfrm>
        </p:grpSpPr>
        <p:sp>
          <p:nvSpPr>
            <p:cNvPr id="28" name="object 28"/>
            <p:cNvSpPr/>
            <p:nvPr/>
          </p:nvSpPr>
          <p:spPr>
            <a:xfrm>
              <a:off x="791999" y="5427199"/>
              <a:ext cx="2844165" cy="612140"/>
            </a:xfrm>
            <a:custGeom>
              <a:avLst/>
              <a:gdLst/>
              <a:ahLst/>
              <a:cxnLst/>
              <a:rect l="l" t="t" r="r" b="b"/>
              <a:pathLst>
                <a:path w="2844165" h="612139">
                  <a:moveTo>
                    <a:pt x="280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2805899" y="612000"/>
                  </a:lnTo>
                  <a:lnTo>
                    <a:pt x="2820738" y="609008"/>
                  </a:lnTo>
                  <a:lnTo>
                    <a:pt x="2832848" y="600848"/>
                  </a:lnTo>
                  <a:lnTo>
                    <a:pt x="2841008" y="588738"/>
                  </a:lnTo>
                  <a:lnTo>
                    <a:pt x="2843999" y="573900"/>
                  </a:lnTo>
                  <a:lnTo>
                    <a:pt x="2843999" y="38100"/>
                  </a:lnTo>
                  <a:lnTo>
                    <a:pt x="2841008" y="23261"/>
                  </a:lnTo>
                  <a:lnTo>
                    <a:pt x="2832848" y="11151"/>
                  </a:lnTo>
                  <a:lnTo>
                    <a:pt x="2820738" y="2991"/>
                  </a:lnTo>
                  <a:lnTo>
                    <a:pt x="2805899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91999" y="5427199"/>
              <a:ext cx="38100" cy="612140"/>
            </a:xfrm>
            <a:custGeom>
              <a:avLst/>
              <a:gdLst/>
              <a:ahLst/>
              <a:cxnLst/>
              <a:rect l="l" t="t" r="r" b="b"/>
              <a:pathLst>
                <a:path w="38100" h="612139">
                  <a:moveTo>
                    <a:pt x="3810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8100" y="612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59299" y="5522550"/>
            <a:ext cx="2195195" cy="465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Soil</a:t>
            </a:r>
            <a:r>
              <a:rPr sz="850" b="1" spc="-1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85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Conservation</a:t>
            </a:r>
            <a:endParaRPr sz="850" dirty="0">
              <a:latin typeface="Footlight MT Light" panose="0204060206030A020304" pitchFamily="18" charset="0"/>
              <a:cs typeface="Calibri"/>
            </a:endParaRPr>
          </a:p>
          <a:p>
            <a:pPr marL="12700" marR="5080">
              <a:lnSpc>
                <a:spcPct val="122200"/>
              </a:lnSpc>
              <a:spcBef>
                <a:spcPts val="439"/>
              </a:spcBef>
            </a:pP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1 </a:t>
            </a:r>
            <a:r>
              <a:rPr sz="750" b="1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Gabion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+</a:t>
            </a:r>
            <a:r>
              <a:rPr sz="750" b="1" spc="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15 Loose </a:t>
            </a:r>
            <a:r>
              <a:rPr sz="750" b="1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Boulder</a:t>
            </a:r>
            <a:r>
              <a:rPr sz="750" b="1" spc="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structures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fully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completed,</a:t>
            </a:r>
            <a:r>
              <a:rPr sz="750" spc="50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protecting</a:t>
            </a:r>
            <a:r>
              <a:rPr sz="750" spc="-3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watershed</a:t>
            </a:r>
            <a:r>
              <a:rPr sz="750" spc="-3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integrity.</a:t>
            </a:r>
            <a:endParaRPr sz="75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91999" y="6111200"/>
            <a:ext cx="2844165" cy="612140"/>
            <a:chOff x="791999" y="6111200"/>
            <a:chExt cx="2844165" cy="612140"/>
          </a:xfrm>
        </p:grpSpPr>
        <p:sp>
          <p:nvSpPr>
            <p:cNvPr id="32" name="object 32"/>
            <p:cNvSpPr/>
            <p:nvPr/>
          </p:nvSpPr>
          <p:spPr>
            <a:xfrm>
              <a:off x="791999" y="6111200"/>
              <a:ext cx="2844165" cy="612140"/>
            </a:xfrm>
            <a:custGeom>
              <a:avLst/>
              <a:gdLst/>
              <a:ahLst/>
              <a:cxnLst/>
              <a:rect l="l" t="t" r="r" b="b"/>
              <a:pathLst>
                <a:path w="2844165" h="612140">
                  <a:moveTo>
                    <a:pt x="280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2805899" y="612000"/>
                  </a:lnTo>
                  <a:lnTo>
                    <a:pt x="2820738" y="609008"/>
                  </a:lnTo>
                  <a:lnTo>
                    <a:pt x="2832848" y="600848"/>
                  </a:lnTo>
                  <a:lnTo>
                    <a:pt x="2841008" y="588738"/>
                  </a:lnTo>
                  <a:lnTo>
                    <a:pt x="2843999" y="573900"/>
                  </a:lnTo>
                  <a:lnTo>
                    <a:pt x="2843999" y="38100"/>
                  </a:lnTo>
                  <a:lnTo>
                    <a:pt x="2841008" y="23261"/>
                  </a:lnTo>
                  <a:lnTo>
                    <a:pt x="2832848" y="11151"/>
                  </a:lnTo>
                  <a:lnTo>
                    <a:pt x="2820738" y="2991"/>
                  </a:lnTo>
                  <a:lnTo>
                    <a:pt x="2805899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91999" y="6111200"/>
              <a:ext cx="38100" cy="612140"/>
            </a:xfrm>
            <a:custGeom>
              <a:avLst/>
              <a:gdLst/>
              <a:ahLst/>
              <a:cxnLst/>
              <a:rect l="l" t="t" r="r" b="b"/>
              <a:pathLst>
                <a:path w="38100" h="612140">
                  <a:moveTo>
                    <a:pt x="3810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8100" y="612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59299" y="6206550"/>
            <a:ext cx="2467610" cy="465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Water</a:t>
            </a:r>
            <a:r>
              <a:rPr sz="850" b="1" spc="-25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85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Management</a:t>
            </a:r>
            <a:endParaRPr sz="850" dirty="0">
              <a:latin typeface="Footlight MT Light" panose="0204060206030A020304" pitchFamily="18" charset="0"/>
              <a:cs typeface="Calibri"/>
            </a:endParaRPr>
          </a:p>
          <a:p>
            <a:pPr marL="12700" marR="5080">
              <a:lnSpc>
                <a:spcPct val="122200"/>
              </a:lnSpc>
              <a:spcBef>
                <a:spcPts val="439"/>
              </a:spcBef>
            </a:pPr>
            <a:r>
              <a:rPr lang="en-IN"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38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,000</a:t>
            </a:r>
            <a:r>
              <a:rPr sz="750" b="1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m³</a:t>
            </a:r>
            <a:r>
              <a:rPr sz="750" b="1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of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Nala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deepening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and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desilting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achieved,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improving</a:t>
            </a:r>
            <a:r>
              <a:rPr sz="750" spc="50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drainage</a:t>
            </a:r>
            <a:r>
              <a:rPr sz="750" spc="-3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and</a:t>
            </a:r>
            <a:r>
              <a:rPr sz="750" spc="-2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storage.</a:t>
            </a:r>
            <a:endParaRPr sz="75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24000" y="5427199"/>
            <a:ext cx="2844165" cy="612140"/>
            <a:chOff x="3924000" y="5427199"/>
            <a:chExt cx="2844165" cy="612140"/>
          </a:xfrm>
        </p:grpSpPr>
        <p:sp>
          <p:nvSpPr>
            <p:cNvPr id="36" name="object 36"/>
            <p:cNvSpPr/>
            <p:nvPr/>
          </p:nvSpPr>
          <p:spPr>
            <a:xfrm>
              <a:off x="3924000" y="5427199"/>
              <a:ext cx="2844165" cy="612140"/>
            </a:xfrm>
            <a:custGeom>
              <a:avLst/>
              <a:gdLst/>
              <a:ahLst/>
              <a:cxnLst/>
              <a:rect l="l" t="t" r="r" b="b"/>
              <a:pathLst>
                <a:path w="2844165" h="612139">
                  <a:moveTo>
                    <a:pt x="280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2805899" y="612000"/>
                  </a:lnTo>
                  <a:lnTo>
                    <a:pt x="2820738" y="609008"/>
                  </a:lnTo>
                  <a:lnTo>
                    <a:pt x="2832848" y="600848"/>
                  </a:lnTo>
                  <a:lnTo>
                    <a:pt x="2841008" y="588738"/>
                  </a:lnTo>
                  <a:lnTo>
                    <a:pt x="2843999" y="573900"/>
                  </a:lnTo>
                  <a:lnTo>
                    <a:pt x="2843999" y="38100"/>
                  </a:lnTo>
                  <a:lnTo>
                    <a:pt x="2841008" y="23261"/>
                  </a:lnTo>
                  <a:lnTo>
                    <a:pt x="2832848" y="11151"/>
                  </a:lnTo>
                  <a:lnTo>
                    <a:pt x="2820738" y="2991"/>
                  </a:lnTo>
                  <a:lnTo>
                    <a:pt x="2805899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924000" y="5427199"/>
              <a:ext cx="38100" cy="612140"/>
            </a:xfrm>
            <a:custGeom>
              <a:avLst/>
              <a:gdLst/>
              <a:ahLst/>
              <a:cxnLst/>
              <a:rect l="l" t="t" r="r" b="b"/>
              <a:pathLst>
                <a:path w="38100" h="612139">
                  <a:moveTo>
                    <a:pt x="3810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8100" y="612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091299" y="5522550"/>
            <a:ext cx="2290445" cy="465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Land </a:t>
            </a:r>
            <a:r>
              <a:rPr sz="85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Reclamation</a:t>
            </a:r>
            <a:endParaRPr sz="850" dirty="0">
              <a:latin typeface="Footlight MT Light" panose="0204060206030A020304" pitchFamily="18" charset="0"/>
              <a:cs typeface="Calibri"/>
            </a:endParaRPr>
          </a:p>
          <a:p>
            <a:pPr marL="12700" marR="5080">
              <a:lnSpc>
                <a:spcPct val="122200"/>
              </a:lnSpc>
              <a:spcBef>
                <a:spcPts val="439"/>
              </a:spcBef>
            </a:pP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18</a:t>
            </a:r>
            <a:r>
              <a:rPr sz="750" b="1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acres</a:t>
            </a:r>
            <a:r>
              <a:rPr sz="750" b="1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of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barren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land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converted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to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fertile</a:t>
            </a:r>
            <a:r>
              <a:rPr sz="750" spc="-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farmland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using</a:t>
            </a:r>
            <a:r>
              <a:rPr sz="750" spc="50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nutrient-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rich</a:t>
            </a:r>
            <a:r>
              <a:rPr sz="750" spc="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desilted</a:t>
            </a:r>
            <a:r>
              <a:rPr sz="750" spc="1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soil.</a:t>
            </a:r>
            <a:endParaRPr sz="750" dirty="0">
              <a:latin typeface="Footlight MT Light" panose="0204060206030A020304" pitchFamily="18" charset="0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924000" y="6111200"/>
            <a:ext cx="2844165" cy="612140"/>
            <a:chOff x="3924000" y="6111200"/>
            <a:chExt cx="2844165" cy="612140"/>
          </a:xfrm>
        </p:grpSpPr>
        <p:sp>
          <p:nvSpPr>
            <p:cNvPr id="40" name="object 40"/>
            <p:cNvSpPr/>
            <p:nvPr/>
          </p:nvSpPr>
          <p:spPr>
            <a:xfrm>
              <a:off x="3924000" y="6111200"/>
              <a:ext cx="2844165" cy="612140"/>
            </a:xfrm>
            <a:custGeom>
              <a:avLst/>
              <a:gdLst/>
              <a:ahLst/>
              <a:cxnLst/>
              <a:rect l="l" t="t" r="r" b="b"/>
              <a:pathLst>
                <a:path w="2844165" h="612140">
                  <a:moveTo>
                    <a:pt x="280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2805899" y="612000"/>
                  </a:lnTo>
                  <a:lnTo>
                    <a:pt x="2820738" y="609008"/>
                  </a:lnTo>
                  <a:lnTo>
                    <a:pt x="2832848" y="600848"/>
                  </a:lnTo>
                  <a:lnTo>
                    <a:pt x="2841008" y="588738"/>
                  </a:lnTo>
                  <a:lnTo>
                    <a:pt x="2843999" y="573900"/>
                  </a:lnTo>
                  <a:lnTo>
                    <a:pt x="2843999" y="38100"/>
                  </a:lnTo>
                  <a:lnTo>
                    <a:pt x="2841008" y="23261"/>
                  </a:lnTo>
                  <a:lnTo>
                    <a:pt x="2832848" y="11151"/>
                  </a:lnTo>
                  <a:lnTo>
                    <a:pt x="2820738" y="2991"/>
                  </a:lnTo>
                  <a:lnTo>
                    <a:pt x="2805899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3924000" y="6111200"/>
              <a:ext cx="38100" cy="612140"/>
            </a:xfrm>
            <a:custGeom>
              <a:avLst/>
              <a:gdLst/>
              <a:ahLst/>
              <a:cxnLst/>
              <a:rect l="l" t="t" r="r" b="b"/>
              <a:pathLst>
                <a:path w="38100" h="612140">
                  <a:moveTo>
                    <a:pt x="3810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8100" y="612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ootlight MT Light" panose="0204060206030A020304" pitchFamily="18" charset="0"/>
              </a:endParaRP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2545DEF6-739E-8860-3B82-07643C468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7797"/>
            <a:ext cx="7804087" cy="4795102"/>
          </a:xfrm>
          <a:prstGeom prst="flowChartManualInpu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4091299" y="6206550"/>
            <a:ext cx="2454275" cy="465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Community </a:t>
            </a:r>
            <a:r>
              <a:rPr sz="850" b="1" spc="-10" dirty="0">
                <a:solidFill>
                  <a:srgbClr val="1A3A2D"/>
                </a:solidFill>
                <a:latin typeface="Footlight MT Light" panose="0204060206030A020304" pitchFamily="18" charset="0"/>
                <a:cs typeface="Calibri"/>
              </a:rPr>
              <a:t>Impact</a:t>
            </a:r>
            <a:endParaRPr sz="850" dirty="0">
              <a:latin typeface="Footlight MT Light" panose="0204060206030A020304" pitchFamily="18" charset="0"/>
              <a:cs typeface="Calibri"/>
            </a:endParaRPr>
          </a:p>
          <a:p>
            <a:pPr marL="12700" marR="5080">
              <a:lnSpc>
                <a:spcPct val="122200"/>
              </a:lnSpc>
              <a:spcBef>
                <a:spcPts val="439"/>
              </a:spcBef>
            </a:pPr>
            <a:r>
              <a:rPr lang="en-IN" sz="750" b="1" spc="-2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98 </a:t>
            </a:r>
            <a:r>
              <a:rPr sz="750" b="1" spc="-2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farming</a:t>
            </a:r>
            <a:r>
              <a:rPr sz="750" b="1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b="1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families</a:t>
            </a:r>
            <a:r>
              <a:rPr sz="750" b="1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lang="en-IN" sz="750" b="1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are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directly</a:t>
            </a:r>
            <a:r>
              <a:rPr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lang="en-IN"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&amp; 72 indirectly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benefiting</a:t>
            </a:r>
            <a:r>
              <a:rPr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from</a:t>
            </a:r>
            <a:r>
              <a:rPr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improved</a:t>
            </a:r>
            <a:r>
              <a:rPr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land</a:t>
            </a:r>
            <a:r>
              <a:rPr sz="750" spc="-25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and</a:t>
            </a:r>
            <a:r>
              <a:rPr sz="750" spc="50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water</a:t>
            </a:r>
            <a:r>
              <a:rPr sz="750" spc="-2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750" spc="-10" dirty="0">
                <a:solidFill>
                  <a:srgbClr val="6B7280"/>
                </a:solidFill>
                <a:latin typeface="Footlight MT Light" panose="0204060206030A020304" pitchFamily="18" charset="0"/>
                <a:cs typeface="Calibri"/>
              </a:rPr>
              <a:t>access.</a:t>
            </a:r>
            <a:endParaRPr sz="75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33FDA5AB-4133-548D-206E-8CE9EF709F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6" r="18060"/>
          <a:stretch>
            <a:fillRect/>
          </a:stretch>
        </p:blipFill>
        <p:spPr>
          <a:xfrm>
            <a:off x="-2277248" y="1295797"/>
            <a:ext cx="11747500" cy="9071357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3500" cy="10332085"/>
            </a:xfrm>
            <a:custGeom>
              <a:avLst/>
              <a:gdLst/>
              <a:ahLst/>
              <a:cxnLst/>
              <a:rect l="l" t="t" r="r" b="b"/>
              <a:pathLst>
                <a:path w="63500" h="10332085">
                  <a:moveTo>
                    <a:pt x="0" y="10332000"/>
                  </a:moveTo>
                  <a:lnTo>
                    <a:pt x="63500" y="10332000"/>
                  </a:lnTo>
                  <a:lnTo>
                    <a:pt x="63500" y="0"/>
                  </a:lnTo>
                  <a:lnTo>
                    <a:pt x="0" y="0"/>
                  </a:lnTo>
                  <a:lnTo>
                    <a:pt x="0" y="1033200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0"/>
              <a:ext cx="7496809" cy="1296035"/>
            </a:xfrm>
            <a:custGeom>
              <a:avLst/>
              <a:gdLst/>
              <a:ahLst/>
              <a:cxnLst/>
              <a:rect l="l" t="t" r="r" b="b"/>
              <a:pathLst>
                <a:path w="7496809" h="1296035">
                  <a:moveTo>
                    <a:pt x="7496500" y="0"/>
                  </a:moveTo>
                  <a:lnTo>
                    <a:pt x="0" y="0"/>
                  </a:lnTo>
                  <a:lnTo>
                    <a:pt x="0" y="1295999"/>
                  </a:lnTo>
                  <a:lnTo>
                    <a:pt x="7496500" y="1295999"/>
                  </a:lnTo>
                  <a:lnTo>
                    <a:pt x="7496500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9299" y="402399"/>
            <a:ext cx="317608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02</a:t>
            </a:r>
            <a:r>
              <a:rPr sz="1400" b="1" spc="14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4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·</a:t>
            </a:r>
            <a:r>
              <a:rPr sz="1400" b="1" spc="15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PROJECT</a:t>
            </a:r>
            <a:r>
              <a:rPr sz="1000" b="1" spc="-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OVERVIEW</a:t>
            </a:r>
            <a:r>
              <a:rPr sz="10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</a:t>
            </a:r>
            <a:r>
              <a:rPr sz="1000" b="1" spc="-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BACKGROUND</a:t>
            </a:r>
            <a:endParaRPr sz="1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9299" y="675700"/>
            <a:ext cx="6004250" cy="469803"/>
          </a:xfrm>
          <a:prstGeom prst="rect">
            <a:avLst/>
          </a:prstGeom>
        </p:spPr>
        <p:txBody>
          <a:bodyPr vert="horz" wrap="square" lIns="0" tIns="994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Project</a:t>
            </a:r>
            <a:r>
              <a:rPr sz="2400" u="sng" spc="9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4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Overview</a:t>
            </a:r>
            <a:r>
              <a:rPr lang="en-IN" sz="2400" u="sng" spc="9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&amp;</a:t>
            </a:r>
            <a:r>
              <a:rPr lang="en-IN" sz="2400" spc="95" dirty="0">
                <a:latin typeface="Felix Titling" panose="04060505060202020A04" pitchFamily="82" charset="0"/>
              </a:rPr>
              <a:t> </a:t>
            </a:r>
            <a:r>
              <a:rPr lang="en-IN" sz="2400" spc="-10" dirty="0">
                <a:latin typeface="Felix Titling" panose="04060505060202020A04" pitchFamily="82" charset="0"/>
              </a:rPr>
              <a:t>Background</a:t>
            </a:r>
            <a:endParaRPr sz="2400" dirty="0">
              <a:latin typeface="Felix Titling" panose="04060505060202020A04" pitchFamily="82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1997" y="4671209"/>
            <a:ext cx="38100" cy="1292860"/>
          </a:xfrm>
          <a:custGeom>
            <a:avLst/>
            <a:gdLst/>
            <a:ahLst/>
            <a:cxnLst/>
            <a:rect l="l" t="t" r="r" b="b"/>
            <a:pathLst>
              <a:path w="38100" h="1292860">
                <a:moveTo>
                  <a:pt x="38100" y="1136078"/>
                </a:moveTo>
                <a:lnTo>
                  <a:pt x="32423" y="1130401"/>
                </a:lnTo>
                <a:lnTo>
                  <a:pt x="5676" y="1130401"/>
                </a:lnTo>
                <a:lnTo>
                  <a:pt x="0" y="1136078"/>
                </a:lnTo>
                <a:lnTo>
                  <a:pt x="0" y="1286713"/>
                </a:lnTo>
                <a:lnTo>
                  <a:pt x="5676" y="1292390"/>
                </a:lnTo>
                <a:lnTo>
                  <a:pt x="12700" y="1292390"/>
                </a:lnTo>
                <a:lnTo>
                  <a:pt x="32423" y="1292390"/>
                </a:lnTo>
                <a:lnTo>
                  <a:pt x="38100" y="1286713"/>
                </a:lnTo>
                <a:lnTo>
                  <a:pt x="38100" y="1136078"/>
                </a:lnTo>
                <a:close/>
              </a:path>
              <a:path w="38100" h="1292860">
                <a:moveTo>
                  <a:pt x="38100" y="777278"/>
                </a:moveTo>
                <a:lnTo>
                  <a:pt x="32423" y="771601"/>
                </a:lnTo>
                <a:lnTo>
                  <a:pt x="5676" y="771601"/>
                </a:lnTo>
                <a:lnTo>
                  <a:pt x="0" y="777278"/>
                </a:lnTo>
                <a:lnTo>
                  <a:pt x="0" y="927912"/>
                </a:lnTo>
                <a:lnTo>
                  <a:pt x="5676" y="933602"/>
                </a:lnTo>
                <a:lnTo>
                  <a:pt x="12700" y="933602"/>
                </a:lnTo>
                <a:lnTo>
                  <a:pt x="32423" y="933602"/>
                </a:lnTo>
                <a:lnTo>
                  <a:pt x="38100" y="927912"/>
                </a:lnTo>
                <a:lnTo>
                  <a:pt x="38100" y="777278"/>
                </a:lnTo>
                <a:close/>
              </a:path>
              <a:path w="38100" h="1292860">
                <a:moveTo>
                  <a:pt x="38100" y="570877"/>
                </a:moveTo>
                <a:lnTo>
                  <a:pt x="32423" y="565200"/>
                </a:lnTo>
                <a:lnTo>
                  <a:pt x="5676" y="565200"/>
                </a:lnTo>
                <a:lnTo>
                  <a:pt x="0" y="570877"/>
                </a:lnTo>
                <a:lnTo>
                  <a:pt x="0" y="721512"/>
                </a:lnTo>
                <a:lnTo>
                  <a:pt x="5676" y="727202"/>
                </a:lnTo>
                <a:lnTo>
                  <a:pt x="12700" y="727202"/>
                </a:lnTo>
                <a:lnTo>
                  <a:pt x="32423" y="727202"/>
                </a:lnTo>
                <a:lnTo>
                  <a:pt x="38100" y="721512"/>
                </a:lnTo>
                <a:lnTo>
                  <a:pt x="38100" y="570877"/>
                </a:lnTo>
                <a:close/>
              </a:path>
              <a:path w="38100" h="1292860">
                <a:moveTo>
                  <a:pt x="38100" y="212077"/>
                </a:moveTo>
                <a:lnTo>
                  <a:pt x="32423" y="206400"/>
                </a:lnTo>
                <a:lnTo>
                  <a:pt x="5676" y="206400"/>
                </a:lnTo>
                <a:lnTo>
                  <a:pt x="0" y="212077"/>
                </a:lnTo>
                <a:lnTo>
                  <a:pt x="0" y="362712"/>
                </a:lnTo>
                <a:lnTo>
                  <a:pt x="5676" y="368401"/>
                </a:lnTo>
                <a:lnTo>
                  <a:pt x="12700" y="368401"/>
                </a:lnTo>
                <a:lnTo>
                  <a:pt x="32423" y="368401"/>
                </a:lnTo>
                <a:lnTo>
                  <a:pt x="38100" y="362712"/>
                </a:lnTo>
                <a:lnTo>
                  <a:pt x="38100" y="212077"/>
                </a:lnTo>
                <a:close/>
              </a:path>
              <a:path w="38100" h="1292860">
                <a:moveTo>
                  <a:pt x="38100" y="5676"/>
                </a:moveTo>
                <a:lnTo>
                  <a:pt x="32423" y="0"/>
                </a:lnTo>
                <a:lnTo>
                  <a:pt x="5676" y="0"/>
                </a:lnTo>
                <a:lnTo>
                  <a:pt x="0" y="5676"/>
                </a:lnTo>
                <a:lnTo>
                  <a:pt x="0" y="156311"/>
                </a:lnTo>
                <a:lnTo>
                  <a:pt x="5676" y="162001"/>
                </a:lnTo>
                <a:lnTo>
                  <a:pt x="12700" y="162001"/>
                </a:lnTo>
                <a:lnTo>
                  <a:pt x="32423" y="162001"/>
                </a:lnTo>
                <a:lnTo>
                  <a:pt x="38100" y="156311"/>
                </a:lnTo>
                <a:lnTo>
                  <a:pt x="38100" y="5676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995300" y="4671209"/>
            <a:ext cx="2601202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Geographic</a:t>
            </a:r>
            <a:r>
              <a:rPr sz="850" spc="-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focus</a:t>
            </a:r>
            <a:r>
              <a:rPr sz="850" spc="-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on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Veloshi,</a:t>
            </a:r>
            <a:r>
              <a:rPr sz="850" spc="-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Satara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watershed</a:t>
            </a:r>
            <a:endParaRPr sz="850" dirty="0"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808" y="4884018"/>
            <a:ext cx="2808604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Gabion</a:t>
            </a:r>
            <a:r>
              <a:rPr sz="850" spc="-2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&amp;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Loose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Boulder</a:t>
            </a:r>
            <a:r>
              <a:rPr sz="850" spc="-2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construction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for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soil</a:t>
            </a:r>
            <a:r>
              <a:rPr sz="850" spc="-2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conservation</a:t>
            </a:r>
            <a:endParaRPr sz="850" dirty="0"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5742" y="5245094"/>
            <a:ext cx="2726128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Nala</a:t>
            </a:r>
            <a:r>
              <a:rPr sz="850" spc="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deepening/widening</a:t>
            </a:r>
            <a:r>
              <a:rPr sz="850" spc="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and</a:t>
            </a:r>
            <a:r>
              <a:rPr sz="850" spc="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ENB</a:t>
            </a:r>
            <a:r>
              <a:rPr sz="850" spc="1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desilting</a:t>
            </a:r>
            <a:endParaRPr sz="850" dirty="0">
              <a:latin typeface="Bahnschrift SemiBold" panose="020B0502040204020203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Land</a:t>
            </a:r>
            <a:r>
              <a:rPr sz="850" spc="-2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reclamation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through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desilted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soil</a:t>
            </a:r>
            <a:r>
              <a:rPr sz="850" spc="-2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distribution</a:t>
            </a:r>
            <a:endParaRPr sz="850" dirty="0"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5300" y="5791698"/>
            <a:ext cx="253555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Farmer</a:t>
            </a:r>
            <a:r>
              <a:rPr sz="850" spc="-3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Exposure</a:t>
            </a:r>
            <a:r>
              <a:rPr sz="850" spc="-3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Visit</a:t>
            </a:r>
            <a:r>
              <a:rPr sz="850" spc="-3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for</a:t>
            </a:r>
            <a:r>
              <a:rPr sz="850" spc="-3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community</a:t>
            </a:r>
            <a:r>
              <a:rPr sz="850" spc="-3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knowledge</a:t>
            </a:r>
            <a:r>
              <a:rPr sz="850" spc="-25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 </a:t>
            </a:r>
            <a:r>
              <a:rPr sz="850" spc="-10" dirty="0">
                <a:solidFill>
                  <a:srgbClr val="2A2A2A"/>
                </a:solidFill>
                <a:latin typeface="Bahnschrift SemiBold" panose="020B0502040204020203" pitchFamily="34" charset="0"/>
                <a:cs typeface="Calibri"/>
              </a:rPr>
              <a:t>transfer</a:t>
            </a:r>
            <a:endParaRPr sz="850" dirty="0"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0097" y="2839960"/>
            <a:ext cx="5942965" cy="168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Background &amp; </a:t>
            </a:r>
            <a:r>
              <a:rPr sz="10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Context</a:t>
            </a:r>
            <a:endParaRPr sz="1050" dirty="0">
              <a:latin typeface="Felix Titling" panose="04060505060202020A04" pitchFamily="82" charset="0"/>
              <a:cs typeface="Calibri"/>
            </a:endParaRPr>
          </a:p>
          <a:p>
            <a:pPr marL="12700" marR="5080" algn="just">
              <a:lnSpc>
                <a:spcPct val="122800"/>
              </a:lnSpc>
              <a:spcBef>
                <a:spcPts val="565"/>
              </a:spcBef>
            </a:pP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Shramjivi</a:t>
            </a:r>
            <a:r>
              <a:rPr sz="95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Janata Sahayyak Mandal (SJSM)</a:t>
            </a:r>
            <a:r>
              <a:rPr sz="95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is a registered NGO</a:t>
            </a:r>
            <a:r>
              <a:rPr sz="95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based in Satara, Maharashtra,</a:t>
            </a:r>
            <a:r>
              <a:rPr sz="95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committed to </a:t>
            </a:r>
            <a:r>
              <a:rPr sz="9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integrated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watershed development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rural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livelihood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support. Supported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by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Parivartan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Small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Grants Programme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HDFC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Bank, this initiative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restores the watershed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in Veloshi village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— a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rain-fed agricultural community</a:t>
            </a:r>
            <a:r>
              <a:rPr sz="950" spc="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vulnerable to </a:t>
            </a:r>
            <a:r>
              <a:rPr sz="9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monsoon variability.</a:t>
            </a:r>
            <a:endParaRPr lang="en-IN" sz="950" spc="-10" dirty="0">
              <a:solidFill>
                <a:srgbClr val="2A2A2A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 algn="l">
              <a:lnSpc>
                <a:spcPct val="122800"/>
              </a:lnSpc>
              <a:spcBef>
                <a:spcPts val="565"/>
              </a:spcBef>
            </a:pPr>
            <a:endParaRPr lang="en-IN" sz="950" spc="-10" dirty="0">
              <a:solidFill>
                <a:srgbClr val="2A2A2A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22800"/>
              </a:lnSpc>
              <a:spcBef>
                <a:spcPts val="565"/>
              </a:spcBef>
            </a:pPr>
            <a:endParaRPr sz="200" dirty="0">
              <a:latin typeface="Felix Titling" panose="04060505060202020A04" pitchFamily="82" charset="0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180080" algn="l"/>
              </a:tabLst>
            </a:pPr>
            <a:r>
              <a:rPr sz="10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Project </a:t>
            </a:r>
            <a:r>
              <a:rPr sz="10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Scope</a:t>
            </a:r>
            <a:r>
              <a:rPr sz="10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	Beneficiary</a:t>
            </a:r>
            <a:r>
              <a:rPr sz="1050" b="1" spc="-5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Profile</a:t>
            </a:r>
            <a:endParaRPr sz="10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55386" y="4705567"/>
            <a:ext cx="2808605" cy="1512570"/>
          </a:xfrm>
          <a:custGeom>
            <a:avLst/>
            <a:gdLst/>
            <a:ahLst/>
            <a:cxnLst/>
            <a:rect l="l" t="t" r="r" b="b"/>
            <a:pathLst>
              <a:path w="2808604" h="1512570">
                <a:moveTo>
                  <a:pt x="27572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1461199"/>
                </a:lnTo>
                <a:lnTo>
                  <a:pt x="3988" y="1480984"/>
                </a:lnTo>
                <a:lnTo>
                  <a:pt x="14869" y="1497130"/>
                </a:lnTo>
                <a:lnTo>
                  <a:pt x="31015" y="1508011"/>
                </a:lnTo>
                <a:lnTo>
                  <a:pt x="50800" y="1511999"/>
                </a:lnTo>
                <a:lnTo>
                  <a:pt x="2757200" y="1511999"/>
                </a:lnTo>
                <a:lnTo>
                  <a:pt x="2776985" y="1508011"/>
                </a:lnTo>
                <a:lnTo>
                  <a:pt x="2793131" y="1497130"/>
                </a:lnTo>
                <a:lnTo>
                  <a:pt x="2804012" y="1480984"/>
                </a:lnTo>
                <a:lnTo>
                  <a:pt x="2808000" y="1461199"/>
                </a:lnTo>
                <a:lnTo>
                  <a:pt x="2808000" y="50800"/>
                </a:lnTo>
                <a:lnTo>
                  <a:pt x="2804012" y="31015"/>
                </a:lnTo>
                <a:lnTo>
                  <a:pt x="2793131" y="14869"/>
                </a:lnTo>
                <a:lnTo>
                  <a:pt x="2776985" y="3988"/>
                </a:lnTo>
                <a:lnTo>
                  <a:pt x="27572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 txBox="1"/>
          <p:nvPr/>
        </p:nvSpPr>
        <p:spPr>
          <a:xfrm>
            <a:off x="4921250" y="4496338"/>
            <a:ext cx="838200" cy="1177245"/>
          </a:xfrm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560"/>
              </a:spcBef>
            </a:pPr>
            <a:r>
              <a:rPr lang="en-IN" sz="4200" b="1" spc="5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98</a:t>
            </a:r>
            <a:endParaRPr sz="4200" dirty="0">
              <a:latin typeface="Felix Titling" panose="04060505060202020A04" pitchFamily="82" charset="0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530"/>
              </a:spcBef>
            </a:pPr>
            <a:r>
              <a:rPr lang="en-IN" sz="900" b="1" spc="-1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Households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61999" y="5741039"/>
            <a:ext cx="1404620" cy="10160"/>
          </a:xfrm>
          <a:custGeom>
            <a:avLst/>
            <a:gdLst/>
            <a:ahLst/>
            <a:cxnLst/>
            <a:rect l="l" t="t" r="r" b="b"/>
            <a:pathLst>
              <a:path w="1404620" h="10160">
                <a:moveTo>
                  <a:pt x="1404000" y="0"/>
                </a:moveTo>
                <a:lnTo>
                  <a:pt x="0" y="0"/>
                </a:lnTo>
                <a:lnTo>
                  <a:pt x="0" y="10160"/>
                </a:lnTo>
                <a:lnTo>
                  <a:pt x="1404000" y="10160"/>
                </a:lnTo>
                <a:lnTo>
                  <a:pt x="1404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4387850" y="5780899"/>
            <a:ext cx="19812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directly</a:t>
            </a:r>
            <a:r>
              <a:rPr sz="800" spc="-3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benefiting</a:t>
            </a:r>
            <a:r>
              <a:rPr sz="800" spc="-3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from</a:t>
            </a:r>
            <a:endParaRPr sz="800" dirty="0">
              <a:latin typeface="Felix Titling" panose="04060505060202020A04" pitchFamily="82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soil</a:t>
            </a:r>
            <a:r>
              <a:rPr sz="800" spc="-25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distribution</a:t>
            </a:r>
            <a:r>
              <a:rPr sz="800" spc="-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&amp;</a:t>
            </a:r>
            <a:r>
              <a:rPr sz="800" spc="-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land</a:t>
            </a:r>
            <a:r>
              <a:rPr sz="800" spc="-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prep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9999" y="6337139"/>
            <a:ext cx="2823550" cy="1548398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A02EA83-C66F-1B6B-F0B3-53C82C848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800523"/>
              </p:ext>
            </p:extLst>
          </p:nvPr>
        </p:nvGraphicFramePr>
        <p:xfrm>
          <a:off x="697503" y="1682144"/>
          <a:ext cx="5904864" cy="487680"/>
        </p:xfrm>
        <a:graphic>
          <a:graphicData uri="http://schemas.openxmlformats.org/drawingml/2006/table">
            <a:tbl>
              <a:tblPr/>
              <a:tblGrid>
                <a:gridCol w="2952432">
                  <a:extLst>
                    <a:ext uri="{9D8B030D-6E8A-4147-A177-3AD203B41FA5}">
                      <a16:colId xmlns:a16="http://schemas.microsoft.com/office/drawing/2014/main" val="3769416225"/>
                    </a:ext>
                  </a:extLst>
                </a:gridCol>
                <a:gridCol w="2952432">
                  <a:extLst>
                    <a:ext uri="{9D8B030D-6E8A-4147-A177-3AD203B41FA5}">
                      <a16:colId xmlns:a16="http://schemas.microsoft.com/office/drawing/2014/main" val="2527510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LOCATION</a:t>
                      </a:r>
                      <a:endParaRPr lang="en-IN" sz="1000" dirty="0">
                        <a:latin typeface="Tiro Devanagari Marathi" panose="02000000000000000000" pitchFamily="2" charset="0"/>
                        <a:cs typeface="Tiro Devanagari Marathi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PERIOD</a:t>
                      </a:r>
                      <a:endParaRPr lang="en-IN" sz="1000" dirty="0">
                        <a:latin typeface="Tiro Devanagari Marathi" panose="02000000000000000000" pitchFamily="2" charset="0"/>
                        <a:cs typeface="Tiro Devanagari Marathi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16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Veloshi, Block Phaltan</a:t>
                      </a:r>
                      <a:r>
                        <a:rPr lang="en-IN" sz="1000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 Dist. Satara Maharashtra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January – March 2026</a:t>
                      </a:r>
                      <a:r>
                        <a:rPr lang="en-US" sz="1000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 </a:t>
                      </a:r>
                      <a:r>
                        <a:rPr lang="en-US" sz="1000" i="1" dirty="0">
                          <a:latin typeface="Tiro Devanagari Marathi" panose="02000000000000000000" pitchFamily="2" charset="0"/>
                          <a:cs typeface="Tiro Devanagari Marathi" panose="02000000000000000000" pitchFamily="2" charset="0"/>
                        </a:rPr>
                        <a:t>(Final Reporting)</a:t>
                      </a:r>
                      <a:endParaRPr lang="en-US" sz="1000" dirty="0">
                        <a:latin typeface="Tiro Devanagari Marathi" panose="02000000000000000000" pitchFamily="2" charset="0"/>
                        <a:cs typeface="Tiro Devanagari Marathi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074559"/>
                  </a:ext>
                </a:extLst>
              </a:tr>
            </a:tbl>
          </a:graphicData>
        </a:graphic>
      </p:graphicFrame>
      <p:pic>
        <p:nvPicPr>
          <p:cNvPr id="44" name="Picture 43">
            <a:extLst>
              <a:ext uri="{FF2B5EF4-FFF2-40B4-BE49-F238E27FC236}">
                <a16:creationId xmlns:a16="http://schemas.microsoft.com/office/drawing/2014/main" id="{89C5672F-2018-9E7B-B5C3-B2E2C9AF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55" y="8052400"/>
            <a:ext cx="2823550" cy="1900958"/>
          </a:xfrm>
          <a:prstGeom prst="rect">
            <a:avLst/>
          </a:prstGeom>
        </p:spPr>
      </p:pic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B3695574-05D0-DB54-3C62-E270DB847A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1997" y="6296255"/>
            <a:ext cx="3006727" cy="1864766"/>
          </a:xfrm>
          <a:prstGeom prst="rect">
            <a:avLst/>
          </a:prstGeom>
        </p:spPr>
      </p:pic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9BB22049-7F06-ACA0-B99C-4017DEC2A8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5347" y="8315264"/>
            <a:ext cx="3037529" cy="180392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>
            <a:extLst>
              <a:ext uri="{FF2B5EF4-FFF2-40B4-BE49-F238E27FC236}">
                <a16:creationId xmlns:a16="http://schemas.microsoft.com/office/drawing/2014/main" id="{DE590DB8-6F32-1217-4A42-06E65AD4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4" r="32973"/>
          <a:stretch>
            <a:fillRect/>
          </a:stretch>
        </p:blipFill>
        <p:spPr>
          <a:xfrm>
            <a:off x="44450" y="1239806"/>
            <a:ext cx="7560309" cy="990900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79299" y="402400"/>
            <a:ext cx="261998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04</a:t>
            </a:r>
            <a:r>
              <a:rPr sz="1000" b="1" spc="18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·</a:t>
            </a:r>
            <a:r>
              <a:rPr sz="1000" b="1" spc="19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KEY</a:t>
            </a:r>
            <a:r>
              <a:rPr sz="1000" b="1" spc="1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INTERVENTIONS</a:t>
            </a:r>
            <a:r>
              <a:rPr sz="1000" b="1" spc="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</a:t>
            </a:r>
            <a:r>
              <a:rPr sz="1000" b="1" spc="1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10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APPROACH</a:t>
            </a:r>
            <a:endParaRPr sz="1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299" y="675700"/>
            <a:ext cx="6004250" cy="469803"/>
          </a:xfrm>
          <a:prstGeom prst="rect">
            <a:avLst/>
          </a:prstGeom>
        </p:spPr>
        <p:txBody>
          <a:bodyPr vert="horz" wrap="square" lIns="0" tIns="994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Key</a:t>
            </a:r>
            <a:r>
              <a:rPr sz="2400" u="sng" spc="-7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400" u="sng" spc="7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Intervention</a:t>
            </a:r>
            <a:r>
              <a:rPr sz="2400" spc="75" dirty="0">
                <a:latin typeface="Felix Titling" panose="04060505060202020A04" pitchFamily="82" charset="0"/>
              </a:rPr>
              <a:t>s</a:t>
            </a:r>
            <a:r>
              <a:rPr sz="2400" spc="-70" dirty="0">
                <a:latin typeface="Felix Titling" panose="04060505060202020A04" pitchFamily="82" charset="0"/>
              </a:rPr>
              <a:t> </a:t>
            </a:r>
            <a:r>
              <a:rPr lang="en-IN" sz="2400" spc="-100" dirty="0">
                <a:latin typeface="Felix Titling" panose="04060505060202020A04" pitchFamily="82" charset="0"/>
              </a:rPr>
              <a:t>&amp;</a:t>
            </a:r>
            <a:r>
              <a:rPr sz="2400" spc="-70" dirty="0">
                <a:latin typeface="Felix Titling" panose="04060505060202020A04" pitchFamily="82" charset="0"/>
              </a:rPr>
              <a:t> </a:t>
            </a:r>
            <a:r>
              <a:rPr sz="2400" spc="-10" dirty="0">
                <a:latin typeface="Felix Titling" panose="04060505060202020A04" pitchFamily="82" charset="0"/>
              </a:rPr>
              <a:t>Approach</a:t>
            </a:r>
            <a:endParaRPr sz="2400" dirty="0">
              <a:latin typeface="Felix Titling" panose="04060505060202020A04" pitchFamily="82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25" y="1406752"/>
            <a:ext cx="2880360" cy="1872614"/>
            <a:chOff x="791999" y="1512000"/>
            <a:chExt cx="2880360" cy="1872614"/>
          </a:xfrm>
        </p:grpSpPr>
        <p:sp>
          <p:nvSpPr>
            <p:cNvPr id="5" name="object 5"/>
            <p:cNvSpPr/>
            <p:nvPr/>
          </p:nvSpPr>
          <p:spPr>
            <a:xfrm>
              <a:off x="791999" y="1512000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60" h="1872614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899"/>
                  </a:lnTo>
                  <a:lnTo>
                    <a:pt x="2991" y="1848737"/>
                  </a:lnTo>
                  <a:lnTo>
                    <a:pt x="11151" y="1860847"/>
                  </a:lnTo>
                  <a:lnTo>
                    <a:pt x="23261" y="1869007"/>
                  </a:lnTo>
                  <a:lnTo>
                    <a:pt x="38100" y="1871999"/>
                  </a:lnTo>
                  <a:lnTo>
                    <a:pt x="2841900" y="1871999"/>
                  </a:lnTo>
                  <a:lnTo>
                    <a:pt x="2856739" y="1869007"/>
                  </a:lnTo>
                  <a:lnTo>
                    <a:pt x="2868848" y="1860847"/>
                  </a:lnTo>
                  <a:lnTo>
                    <a:pt x="2877009" y="1848737"/>
                  </a:lnTo>
                  <a:lnTo>
                    <a:pt x="2880000" y="1833899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91997" y="1512007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60" h="180339">
                  <a:moveTo>
                    <a:pt x="2879991" y="38100"/>
                  </a:moveTo>
                  <a:lnTo>
                    <a:pt x="2877007" y="23266"/>
                  </a:lnTo>
                  <a:lnTo>
                    <a:pt x="2868841" y="11150"/>
                  </a:lnTo>
                  <a:lnTo>
                    <a:pt x="2856738" y="2984"/>
                  </a:lnTo>
                  <a:lnTo>
                    <a:pt x="2841891" y="0"/>
                  </a:lnTo>
                  <a:lnTo>
                    <a:pt x="38100" y="0"/>
                  </a:lnTo>
                  <a:lnTo>
                    <a:pt x="23253" y="2984"/>
                  </a:lnTo>
                  <a:lnTo>
                    <a:pt x="11150" y="11150"/>
                  </a:lnTo>
                  <a:lnTo>
                    <a:pt x="2984" y="23266"/>
                  </a:lnTo>
                  <a:lnTo>
                    <a:pt x="0" y="38100"/>
                  </a:lnTo>
                  <a:lnTo>
                    <a:pt x="0" y="89992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891" y="179997"/>
                  </a:lnTo>
                  <a:lnTo>
                    <a:pt x="2879991" y="179997"/>
                  </a:lnTo>
                  <a:lnTo>
                    <a:pt x="2879991" y="141897"/>
                  </a:lnTo>
                  <a:lnTo>
                    <a:pt x="2879991" y="89992"/>
                  </a:lnTo>
                  <a:lnTo>
                    <a:pt x="2879991" y="3810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000" y="1764000"/>
              <a:ext cx="252000" cy="251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24131" y="2097581"/>
            <a:ext cx="44434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endParaRPr sz="7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2926" y="1710020"/>
            <a:ext cx="1940560" cy="509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Gabion</a:t>
            </a:r>
            <a:r>
              <a:rPr sz="950" b="1" spc="-3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Structures</a:t>
            </a: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60" dirty="0">
              <a:latin typeface="Felix Titling" panose="04060505060202020A04" pitchFamily="82" charset="0"/>
              <a:cs typeface="Calibri"/>
            </a:endParaRPr>
          </a:p>
          <a:p>
            <a:pPr marL="264160">
              <a:lnSpc>
                <a:spcPct val="100000"/>
              </a:lnSpc>
              <a:spcBef>
                <a:spcPts val="950"/>
              </a:spcBef>
              <a:tabLst>
                <a:tab pos="984250" algn="l"/>
                <a:tab pos="1668145" algn="l"/>
              </a:tabLst>
            </a:pPr>
            <a:r>
              <a:rPr sz="70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1 </a:t>
            </a:r>
            <a:r>
              <a:rPr sz="700" b="1" spc="-2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No.</a:t>
            </a:r>
            <a:r>
              <a:rPr sz="70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1 </a:t>
            </a:r>
            <a:r>
              <a:rPr sz="700" b="1" spc="-2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No.</a:t>
            </a:r>
            <a:endParaRPr sz="7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6035" y="1947099"/>
            <a:ext cx="2664460" cy="6350"/>
          </a:xfrm>
          <a:custGeom>
            <a:avLst/>
            <a:gdLst/>
            <a:ahLst/>
            <a:cxnLst/>
            <a:rect l="l" t="t" r="r" b="b"/>
            <a:pathLst>
              <a:path w="2664460" h="6350">
                <a:moveTo>
                  <a:pt x="2664000" y="0"/>
                </a:moveTo>
                <a:lnTo>
                  <a:pt x="0" y="0"/>
                </a:lnTo>
                <a:lnTo>
                  <a:pt x="0" y="6350"/>
                </a:lnTo>
                <a:lnTo>
                  <a:pt x="2664000" y="6350"/>
                </a:lnTo>
                <a:lnTo>
                  <a:pt x="2664000" y="0"/>
                </a:lnTo>
                <a:close/>
              </a:path>
            </a:pathLst>
          </a:custGeom>
          <a:solidFill>
            <a:srgbClr val="D8F2DB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6850" y="2423795"/>
            <a:ext cx="2461895" cy="769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Wire-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mesh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rock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structures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built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 stabilise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stream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banks,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reduce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velocity,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prevent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downstream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erosion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—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especially</a:t>
            </a:r>
            <a:r>
              <a:rPr sz="800" spc="-3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critical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during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monsoon</a:t>
            </a:r>
            <a:r>
              <a:rPr sz="800" spc="-3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floods.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52925" y="1406752"/>
            <a:ext cx="2880360" cy="1872614"/>
            <a:chOff x="3887999" y="1512000"/>
            <a:chExt cx="2880360" cy="1872614"/>
          </a:xfrm>
        </p:grpSpPr>
        <p:sp>
          <p:nvSpPr>
            <p:cNvPr id="13" name="object 13"/>
            <p:cNvSpPr/>
            <p:nvPr/>
          </p:nvSpPr>
          <p:spPr>
            <a:xfrm>
              <a:off x="3887999" y="1512000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59" h="1872614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899"/>
                  </a:lnTo>
                  <a:lnTo>
                    <a:pt x="2991" y="1848737"/>
                  </a:lnTo>
                  <a:lnTo>
                    <a:pt x="11151" y="1860847"/>
                  </a:lnTo>
                  <a:lnTo>
                    <a:pt x="23261" y="1869007"/>
                  </a:lnTo>
                  <a:lnTo>
                    <a:pt x="38100" y="1871999"/>
                  </a:lnTo>
                  <a:lnTo>
                    <a:pt x="2841900" y="1871999"/>
                  </a:lnTo>
                  <a:lnTo>
                    <a:pt x="2856739" y="1869007"/>
                  </a:lnTo>
                  <a:lnTo>
                    <a:pt x="2868848" y="1860847"/>
                  </a:lnTo>
                  <a:lnTo>
                    <a:pt x="2877009" y="1848737"/>
                  </a:lnTo>
                  <a:lnTo>
                    <a:pt x="2880000" y="1833899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87990" y="1512007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59" h="180339">
                  <a:moveTo>
                    <a:pt x="2880004" y="38100"/>
                  </a:moveTo>
                  <a:lnTo>
                    <a:pt x="2877007" y="23266"/>
                  </a:lnTo>
                  <a:lnTo>
                    <a:pt x="2868853" y="11150"/>
                  </a:lnTo>
                  <a:lnTo>
                    <a:pt x="2856738" y="2984"/>
                  </a:lnTo>
                  <a:lnTo>
                    <a:pt x="2841904" y="0"/>
                  </a:lnTo>
                  <a:lnTo>
                    <a:pt x="38100" y="0"/>
                  </a:lnTo>
                  <a:lnTo>
                    <a:pt x="23266" y="2984"/>
                  </a:lnTo>
                  <a:lnTo>
                    <a:pt x="11150" y="11150"/>
                  </a:lnTo>
                  <a:lnTo>
                    <a:pt x="2997" y="23266"/>
                  </a:lnTo>
                  <a:lnTo>
                    <a:pt x="0" y="38100"/>
                  </a:lnTo>
                  <a:lnTo>
                    <a:pt x="0" y="89992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904" y="179997"/>
                  </a:lnTo>
                  <a:lnTo>
                    <a:pt x="2880004" y="179997"/>
                  </a:lnTo>
                  <a:lnTo>
                    <a:pt x="2880004" y="141897"/>
                  </a:lnTo>
                  <a:lnTo>
                    <a:pt x="2880004" y="89992"/>
                  </a:lnTo>
                  <a:lnTo>
                    <a:pt x="2880004" y="3810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9999" y="1764000"/>
              <a:ext cx="251999" cy="2519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96000" y="2135650"/>
              <a:ext cx="2664460" cy="6350"/>
            </a:xfrm>
            <a:custGeom>
              <a:avLst/>
              <a:gdLst/>
              <a:ahLst/>
              <a:cxnLst/>
              <a:rect l="l" t="t" r="r" b="b"/>
              <a:pathLst>
                <a:path w="2664459" h="6350">
                  <a:moveTo>
                    <a:pt x="26640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664000" y="6350"/>
                  </a:lnTo>
                  <a:lnTo>
                    <a:pt x="2664000" y="0"/>
                  </a:lnTo>
                  <a:close/>
                </a:path>
              </a:pathLst>
            </a:custGeom>
            <a:solidFill>
              <a:srgbClr val="D8F2DB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06677" y="1678427"/>
            <a:ext cx="2677795" cy="140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algn="just">
              <a:lnSpc>
                <a:spcPct val="100000"/>
              </a:lnSpc>
              <a:spcBef>
                <a:spcPts val="100"/>
              </a:spcBef>
            </a:pPr>
            <a:r>
              <a:rPr lang="en-IN"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     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Loose</a:t>
            </a:r>
            <a:r>
              <a:rPr sz="950" b="1" spc="-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Boulder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Structures</a:t>
            </a: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111125" algn="just">
              <a:lnSpc>
                <a:spcPct val="100000"/>
              </a:lnSpc>
              <a:spcBef>
                <a:spcPts val="100"/>
              </a:spcBef>
            </a:pPr>
            <a:endParaRPr sz="950" dirty="0">
              <a:latin typeface="Felix Titling" panose="04060505060202020A04" pitchFamily="82" charset="0"/>
              <a:cs typeface="Calibri"/>
            </a:endParaRPr>
          </a:p>
          <a:p>
            <a:pPr marL="63500" algn="just">
              <a:lnSpc>
                <a:spcPct val="100000"/>
              </a:lnSpc>
              <a:spcBef>
                <a:spcPts val="950"/>
              </a:spcBef>
              <a:tabLst>
                <a:tab pos="603250" algn="l"/>
                <a:tab pos="1323340" algn="l"/>
                <a:tab pos="2007235" algn="l"/>
              </a:tabLst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15</a:t>
            </a:r>
            <a:r>
              <a:rPr sz="700" b="1" spc="5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No.</a:t>
            </a:r>
            <a:r>
              <a:rPr sz="700" b="1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15</a:t>
            </a:r>
            <a:r>
              <a:rPr sz="700" b="1" spc="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No.</a:t>
            </a:r>
            <a:endParaRPr lang="en-IN" sz="700" b="1" spc="-25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63500" algn="just">
              <a:lnSpc>
                <a:spcPct val="100000"/>
              </a:lnSpc>
              <a:spcBef>
                <a:spcPts val="950"/>
              </a:spcBef>
              <a:tabLst>
                <a:tab pos="603250" algn="l"/>
                <a:tab pos="1323340" algn="l"/>
                <a:tab pos="2007235" algn="l"/>
              </a:tabLst>
            </a:pPr>
            <a:endParaRPr sz="700" dirty="0">
              <a:latin typeface="Felix Titling" panose="04060505060202020A04" pitchFamily="82" charset="0"/>
              <a:cs typeface="Calibri"/>
            </a:endParaRPr>
          </a:p>
          <a:p>
            <a:pPr marL="63500" marR="30480" algn="just">
              <a:lnSpc>
                <a:spcPct val="125000"/>
              </a:lnSpc>
              <a:spcBef>
                <a:spcPts val="95"/>
              </a:spcBef>
            </a:pP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Fifteen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permeable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check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dams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placed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across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seasonal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streams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slow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flow,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encourage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infiltration,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reduce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soil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loss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from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sloped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agricultural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fields.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6925" y="3422751"/>
            <a:ext cx="2880360" cy="1872614"/>
            <a:chOff x="791999" y="3527999"/>
            <a:chExt cx="2880360" cy="1872614"/>
          </a:xfrm>
        </p:grpSpPr>
        <p:sp>
          <p:nvSpPr>
            <p:cNvPr id="19" name="object 19"/>
            <p:cNvSpPr/>
            <p:nvPr/>
          </p:nvSpPr>
          <p:spPr>
            <a:xfrm>
              <a:off x="791999" y="3527999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60" h="1872614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900"/>
                  </a:lnTo>
                  <a:lnTo>
                    <a:pt x="2991" y="1848738"/>
                  </a:lnTo>
                  <a:lnTo>
                    <a:pt x="11151" y="1860848"/>
                  </a:lnTo>
                  <a:lnTo>
                    <a:pt x="23261" y="1869008"/>
                  </a:lnTo>
                  <a:lnTo>
                    <a:pt x="38100" y="1872000"/>
                  </a:lnTo>
                  <a:lnTo>
                    <a:pt x="2841900" y="1872000"/>
                  </a:lnTo>
                  <a:lnTo>
                    <a:pt x="2856739" y="1869008"/>
                  </a:lnTo>
                  <a:lnTo>
                    <a:pt x="2868848" y="1860848"/>
                  </a:lnTo>
                  <a:lnTo>
                    <a:pt x="2877009" y="1848738"/>
                  </a:lnTo>
                  <a:lnTo>
                    <a:pt x="2880000" y="1833900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91997" y="3528005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60" h="180339">
                  <a:moveTo>
                    <a:pt x="2879991" y="38100"/>
                  </a:moveTo>
                  <a:lnTo>
                    <a:pt x="2877007" y="23266"/>
                  </a:lnTo>
                  <a:lnTo>
                    <a:pt x="2868841" y="11150"/>
                  </a:lnTo>
                  <a:lnTo>
                    <a:pt x="2856738" y="2997"/>
                  </a:lnTo>
                  <a:lnTo>
                    <a:pt x="2841891" y="0"/>
                  </a:lnTo>
                  <a:lnTo>
                    <a:pt x="38100" y="0"/>
                  </a:lnTo>
                  <a:lnTo>
                    <a:pt x="23253" y="2997"/>
                  </a:lnTo>
                  <a:lnTo>
                    <a:pt x="11150" y="11150"/>
                  </a:lnTo>
                  <a:lnTo>
                    <a:pt x="2984" y="23266"/>
                  </a:lnTo>
                  <a:lnTo>
                    <a:pt x="0" y="38100"/>
                  </a:lnTo>
                  <a:lnTo>
                    <a:pt x="0" y="90004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891" y="179997"/>
                  </a:lnTo>
                  <a:lnTo>
                    <a:pt x="2879991" y="179997"/>
                  </a:lnTo>
                  <a:lnTo>
                    <a:pt x="2879991" y="141897"/>
                  </a:lnTo>
                  <a:lnTo>
                    <a:pt x="2879991" y="90004"/>
                  </a:lnTo>
                  <a:lnTo>
                    <a:pt x="2879991" y="38100"/>
                  </a:lnTo>
                  <a:close/>
                </a:path>
              </a:pathLst>
            </a:custGeom>
            <a:solidFill>
              <a:srgbClr val="3A6B5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000" y="3779999"/>
              <a:ext cx="252000" cy="25200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99999" y="4151649"/>
              <a:ext cx="2664460" cy="6350"/>
            </a:xfrm>
            <a:custGeom>
              <a:avLst/>
              <a:gdLst/>
              <a:ahLst/>
              <a:cxnLst/>
              <a:rect l="l" t="t" r="r" b="b"/>
              <a:pathLst>
                <a:path w="2664460" h="6350">
                  <a:moveTo>
                    <a:pt x="26640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664000" y="6350"/>
                  </a:lnTo>
                  <a:lnTo>
                    <a:pt x="2664000" y="0"/>
                  </a:lnTo>
                  <a:close/>
                </a:path>
              </a:pathLst>
            </a:custGeom>
            <a:solidFill>
              <a:srgbClr val="D8F2DB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21695" y="3728629"/>
            <a:ext cx="2588895" cy="142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  <a:tabLst>
                <a:tab pos="351155" algn="l"/>
              </a:tabLst>
            </a:pPr>
            <a:r>
              <a:rPr sz="975" b="1" baseline="-25641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Staggered</a:t>
            </a:r>
            <a:r>
              <a:rPr sz="950" b="1" spc="-2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Contour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Trenches</a:t>
            </a: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100"/>
              </a:spcBef>
              <a:tabLst>
                <a:tab pos="351155" algn="l"/>
              </a:tabLst>
            </a:pPr>
            <a:endParaRPr sz="950" dirty="0">
              <a:latin typeface="Felix Titling" panose="04060505060202020A04" pitchFamily="82" charset="0"/>
              <a:cs typeface="Calibri"/>
            </a:endParaRPr>
          </a:p>
          <a:p>
            <a:pPr marL="63500" marR="30480">
              <a:lnSpc>
                <a:spcPct val="130000"/>
              </a:lnSpc>
              <a:spcBef>
                <a:spcPts val="700"/>
              </a:spcBef>
              <a:tabLst>
                <a:tab pos="603250" algn="l"/>
                <a:tab pos="1323340" algn="l"/>
                <a:tab pos="2007235" algn="l"/>
              </a:tabLst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3A6B59"/>
                </a:solidFill>
                <a:latin typeface="Felix Titling" panose="04060505060202020A04" pitchFamily="82" charset="0"/>
                <a:cs typeface="Calibri"/>
              </a:rPr>
              <a:t>4,500</a:t>
            </a:r>
            <a:r>
              <a:rPr sz="700" b="1" spc="15" dirty="0">
                <a:solidFill>
                  <a:srgbClr val="3A6B59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3A6B59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700" b="1" dirty="0">
                <a:solidFill>
                  <a:srgbClr val="3A6B59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4,500</a:t>
            </a:r>
            <a:r>
              <a:rPr sz="700" b="1" spc="1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lang="en-IN" sz="700" b="1" spc="-25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63500" marR="30480">
              <a:lnSpc>
                <a:spcPct val="130000"/>
              </a:lnSpc>
              <a:spcBef>
                <a:spcPts val="700"/>
              </a:spcBef>
              <a:tabLst>
                <a:tab pos="603250" algn="l"/>
                <a:tab pos="1323340" algn="l"/>
                <a:tab pos="2007235" algn="l"/>
              </a:tabLst>
            </a:pP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Trenches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dug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across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hill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slopes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capture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rainwater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for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percolation,</a:t>
            </a:r>
            <a:r>
              <a:rPr sz="800" spc="-3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enhancing</a:t>
            </a:r>
            <a:r>
              <a:rPr sz="800" spc="-3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groundwater</a:t>
            </a:r>
            <a:r>
              <a:rPr sz="800" spc="-3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recharge</a:t>
            </a:r>
            <a:r>
              <a:rPr sz="800" spc="-3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3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providing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moisture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vegetation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through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dry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periods.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52925" y="3422751"/>
            <a:ext cx="2880360" cy="1872614"/>
            <a:chOff x="3887999" y="3527999"/>
            <a:chExt cx="2880360" cy="1872614"/>
          </a:xfrm>
        </p:grpSpPr>
        <p:sp>
          <p:nvSpPr>
            <p:cNvPr id="25" name="object 25"/>
            <p:cNvSpPr/>
            <p:nvPr/>
          </p:nvSpPr>
          <p:spPr>
            <a:xfrm>
              <a:off x="3887999" y="3527999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59" h="1872614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900"/>
                  </a:lnTo>
                  <a:lnTo>
                    <a:pt x="2991" y="1848738"/>
                  </a:lnTo>
                  <a:lnTo>
                    <a:pt x="11151" y="1860848"/>
                  </a:lnTo>
                  <a:lnTo>
                    <a:pt x="23261" y="1869008"/>
                  </a:lnTo>
                  <a:lnTo>
                    <a:pt x="38100" y="1872000"/>
                  </a:lnTo>
                  <a:lnTo>
                    <a:pt x="2841900" y="1872000"/>
                  </a:lnTo>
                  <a:lnTo>
                    <a:pt x="2856739" y="1869008"/>
                  </a:lnTo>
                  <a:lnTo>
                    <a:pt x="2868848" y="1860848"/>
                  </a:lnTo>
                  <a:lnTo>
                    <a:pt x="2877009" y="1848738"/>
                  </a:lnTo>
                  <a:lnTo>
                    <a:pt x="2880000" y="1833900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87990" y="3528005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59" h="180339">
                  <a:moveTo>
                    <a:pt x="2880004" y="38100"/>
                  </a:moveTo>
                  <a:lnTo>
                    <a:pt x="2877007" y="23266"/>
                  </a:lnTo>
                  <a:lnTo>
                    <a:pt x="2868853" y="11150"/>
                  </a:lnTo>
                  <a:lnTo>
                    <a:pt x="2856738" y="2997"/>
                  </a:lnTo>
                  <a:lnTo>
                    <a:pt x="2841904" y="0"/>
                  </a:lnTo>
                  <a:lnTo>
                    <a:pt x="38100" y="0"/>
                  </a:lnTo>
                  <a:lnTo>
                    <a:pt x="23266" y="2997"/>
                  </a:lnTo>
                  <a:lnTo>
                    <a:pt x="11150" y="11150"/>
                  </a:lnTo>
                  <a:lnTo>
                    <a:pt x="2997" y="23266"/>
                  </a:lnTo>
                  <a:lnTo>
                    <a:pt x="0" y="38100"/>
                  </a:lnTo>
                  <a:lnTo>
                    <a:pt x="0" y="90004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904" y="179997"/>
                  </a:lnTo>
                  <a:lnTo>
                    <a:pt x="2880004" y="179997"/>
                  </a:lnTo>
                  <a:lnTo>
                    <a:pt x="2880004" y="141897"/>
                  </a:lnTo>
                  <a:lnTo>
                    <a:pt x="2880004" y="90004"/>
                  </a:lnTo>
                  <a:lnTo>
                    <a:pt x="2880004" y="38100"/>
                  </a:lnTo>
                  <a:close/>
                </a:path>
              </a:pathLst>
            </a:custGeom>
            <a:solidFill>
              <a:srgbClr val="1F5B8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9999" y="3779999"/>
              <a:ext cx="251999" cy="2520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996000" y="4151649"/>
              <a:ext cx="2664460" cy="6350"/>
            </a:xfrm>
            <a:custGeom>
              <a:avLst/>
              <a:gdLst/>
              <a:ahLst/>
              <a:cxnLst/>
              <a:rect l="l" t="t" r="r" b="b"/>
              <a:pathLst>
                <a:path w="2664459" h="6350">
                  <a:moveTo>
                    <a:pt x="266400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2664000" y="6350"/>
                  </a:lnTo>
                  <a:lnTo>
                    <a:pt x="2664000" y="0"/>
                  </a:lnTo>
                  <a:close/>
                </a:path>
              </a:pathLst>
            </a:custGeom>
            <a:solidFill>
              <a:srgbClr val="D8F2DB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91436" y="3723768"/>
            <a:ext cx="2708275" cy="12631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  <a:tabLst>
                <a:tab pos="351155" algn="l"/>
              </a:tabLst>
            </a:pPr>
            <a:r>
              <a:rPr sz="975" b="1" baseline="-25641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Nala</a:t>
            </a:r>
            <a:r>
              <a:rPr sz="950" b="1" spc="-2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Deepening</a:t>
            </a:r>
            <a:r>
              <a:rPr sz="950" b="1" spc="-2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&amp;</a:t>
            </a:r>
            <a:r>
              <a:rPr sz="950" b="1" spc="-2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Widening</a:t>
            </a: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111125">
              <a:lnSpc>
                <a:spcPct val="100000"/>
              </a:lnSpc>
              <a:spcBef>
                <a:spcPts val="100"/>
              </a:spcBef>
              <a:tabLst>
                <a:tab pos="351155" algn="l"/>
              </a:tabLst>
            </a:pPr>
            <a:endParaRPr sz="950" dirty="0">
              <a:latin typeface="Felix Titling" panose="04060505060202020A04" pitchFamily="82" charset="0"/>
              <a:cs typeface="Calibri"/>
            </a:endParaRPr>
          </a:p>
          <a:p>
            <a:pPr marL="63500" marR="30480">
              <a:lnSpc>
                <a:spcPct val="130000"/>
              </a:lnSpc>
              <a:spcBef>
                <a:spcPts val="700"/>
              </a:spcBef>
              <a:tabLst>
                <a:tab pos="603250" algn="l"/>
                <a:tab pos="1323340" algn="l"/>
                <a:tab pos="2007235" algn="l"/>
              </a:tabLst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1F5B8A"/>
                </a:solidFill>
                <a:latin typeface="Felix Titling" panose="04060505060202020A04" pitchFamily="82" charset="0"/>
                <a:cs typeface="Calibri"/>
              </a:rPr>
              <a:t>19,000</a:t>
            </a:r>
            <a:r>
              <a:rPr sz="700" b="1" spc="15" dirty="0">
                <a:solidFill>
                  <a:srgbClr val="1F5B8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1F5B8A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700" b="1" dirty="0">
                <a:solidFill>
                  <a:srgbClr val="1F5B8A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19,000</a:t>
            </a:r>
            <a:r>
              <a:rPr sz="700" b="1" spc="1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lang="en-IN" sz="700" b="1" spc="-25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63500" marR="30480">
              <a:lnSpc>
                <a:spcPct val="130000"/>
              </a:lnSpc>
              <a:spcBef>
                <a:spcPts val="700"/>
              </a:spcBef>
              <a:tabLst>
                <a:tab pos="603250" algn="l"/>
                <a:tab pos="1323340" algn="l"/>
                <a:tab pos="2007235" algn="l"/>
              </a:tabLst>
            </a:pP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Deepening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widening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seasonal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streams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improve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carrying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capacity,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storage,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drainage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—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reducing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flood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risk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extending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availability.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56925" y="5438752"/>
            <a:ext cx="2880360" cy="1872614"/>
            <a:chOff x="791999" y="5544000"/>
            <a:chExt cx="2880360" cy="1872614"/>
          </a:xfrm>
        </p:grpSpPr>
        <p:sp>
          <p:nvSpPr>
            <p:cNvPr id="31" name="object 31"/>
            <p:cNvSpPr/>
            <p:nvPr/>
          </p:nvSpPr>
          <p:spPr>
            <a:xfrm>
              <a:off x="791999" y="5544000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60" h="1872615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899"/>
                  </a:lnTo>
                  <a:lnTo>
                    <a:pt x="2991" y="1848737"/>
                  </a:lnTo>
                  <a:lnTo>
                    <a:pt x="11151" y="1860847"/>
                  </a:lnTo>
                  <a:lnTo>
                    <a:pt x="23261" y="1869007"/>
                  </a:lnTo>
                  <a:lnTo>
                    <a:pt x="38100" y="1871999"/>
                  </a:lnTo>
                  <a:lnTo>
                    <a:pt x="2841900" y="1871999"/>
                  </a:lnTo>
                  <a:lnTo>
                    <a:pt x="2856739" y="1869007"/>
                  </a:lnTo>
                  <a:lnTo>
                    <a:pt x="2868848" y="1860847"/>
                  </a:lnTo>
                  <a:lnTo>
                    <a:pt x="2877009" y="1848737"/>
                  </a:lnTo>
                  <a:lnTo>
                    <a:pt x="2880000" y="1833899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91997" y="5544003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60" h="180339">
                  <a:moveTo>
                    <a:pt x="2879991" y="38100"/>
                  </a:moveTo>
                  <a:lnTo>
                    <a:pt x="2877007" y="23266"/>
                  </a:lnTo>
                  <a:lnTo>
                    <a:pt x="2868841" y="11150"/>
                  </a:lnTo>
                  <a:lnTo>
                    <a:pt x="2856738" y="2997"/>
                  </a:lnTo>
                  <a:lnTo>
                    <a:pt x="2841891" y="0"/>
                  </a:lnTo>
                  <a:lnTo>
                    <a:pt x="38100" y="0"/>
                  </a:lnTo>
                  <a:lnTo>
                    <a:pt x="23253" y="2997"/>
                  </a:lnTo>
                  <a:lnTo>
                    <a:pt x="11150" y="11150"/>
                  </a:lnTo>
                  <a:lnTo>
                    <a:pt x="2984" y="23266"/>
                  </a:lnTo>
                  <a:lnTo>
                    <a:pt x="0" y="38100"/>
                  </a:lnTo>
                  <a:lnTo>
                    <a:pt x="0" y="90004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891" y="179997"/>
                  </a:lnTo>
                  <a:lnTo>
                    <a:pt x="2879991" y="179997"/>
                  </a:lnTo>
                  <a:lnTo>
                    <a:pt x="2879991" y="141897"/>
                  </a:lnTo>
                  <a:lnTo>
                    <a:pt x="2879991" y="90004"/>
                  </a:lnTo>
                  <a:lnTo>
                    <a:pt x="2879991" y="38100"/>
                  </a:lnTo>
                  <a:close/>
                </a:path>
              </a:pathLst>
            </a:custGeom>
            <a:solidFill>
              <a:srgbClr val="7B4F8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000" y="5796000"/>
              <a:ext cx="252000" cy="25199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64925" y="5703501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05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46301" y="5715034"/>
            <a:ext cx="2039729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Desilting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Bodies</a:t>
            </a:r>
            <a:endParaRPr sz="9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64926" y="6062402"/>
            <a:ext cx="2664460" cy="6350"/>
          </a:xfrm>
          <a:custGeom>
            <a:avLst/>
            <a:gdLst/>
            <a:ahLst/>
            <a:cxnLst/>
            <a:rect l="l" t="t" r="r" b="b"/>
            <a:pathLst>
              <a:path w="2664460" h="6350">
                <a:moveTo>
                  <a:pt x="2664000" y="0"/>
                </a:moveTo>
                <a:lnTo>
                  <a:pt x="0" y="0"/>
                </a:lnTo>
                <a:lnTo>
                  <a:pt x="0" y="6350"/>
                </a:lnTo>
                <a:lnTo>
                  <a:pt x="2664000" y="6350"/>
                </a:lnTo>
                <a:lnTo>
                  <a:pt x="2664000" y="0"/>
                </a:lnTo>
                <a:close/>
              </a:path>
            </a:pathLst>
          </a:custGeom>
          <a:solidFill>
            <a:srgbClr val="D8F2DB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8669" y="6194311"/>
            <a:ext cx="2477770" cy="104926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40"/>
              </a:spcBef>
              <a:tabLst>
                <a:tab pos="552450" algn="l"/>
                <a:tab pos="1272540" algn="l"/>
                <a:tab pos="1956435" algn="l"/>
              </a:tabLst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7B4F89"/>
                </a:solidFill>
                <a:latin typeface="Felix Titling" panose="04060505060202020A04" pitchFamily="82" charset="0"/>
                <a:cs typeface="Calibri"/>
              </a:rPr>
              <a:t>19,000</a:t>
            </a:r>
            <a:r>
              <a:rPr sz="700" b="1" spc="15" dirty="0">
                <a:solidFill>
                  <a:srgbClr val="7B4F89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7B4F89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700" b="1" dirty="0">
                <a:solidFill>
                  <a:srgbClr val="7B4F89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19,000</a:t>
            </a:r>
            <a:r>
              <a:rPr sz="700" b="1" spc="1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25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lang="en-IN" sz="700" b="1" spc="-25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140"/>
              </a:spcBef>
              <a:tabLst>
                <a:tab pos="552450" algn="l"/>
                <a:tab pos="1272540" algn="l"/>
                <a:tab pos="1956435" algn="l"/>
              </a:tabLst>
            </a:pPr>
            <a:endParaRPr lang="en-IN" sz="400" b="1" spc="-25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140"/>
              </a:spcBef>
              <a:tabLst>
                <a:tab pos="552450" algn="l"/>
                <a:tab pos="1272540" algn="l"/>
                <a:tab pos="1956435" algn="l"/>
              </a:tabLst>
            </a:pP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Existing</a:t>
            </a:r>
            <a:r>
              <a:rPr sz="80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bodies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were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desilt</a:t>
            </a:r>
            <a:r>
              <a:rPr sz="80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ed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restore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capacity.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Nutrient-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rich</a:t>
            </a:r>
            <a:r>
              <a:rPr sz="80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excavated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soil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was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redistributed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to</a:t>
            </a:r>
            <a:r>
              <a:rPr sz="80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reclaim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18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acres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barren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agricultural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land.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952925" y="5438752"/>
            <a:ext cx="2880360" cy="1872614"/>
            <a:chOff x="3887999" y="5544000"/>
            <a:chExt cx="2880360" cy="1872614"/>
          </a:xfrm>
        </p:grpSpPr>
        <p:sp>
          <p:nvSpPr>
            <p:cNvPr id="39" name="object 39"/>
            <p:cNvSpPr/>
            <p:nvPr/>
          </p:nvSpPr>
          <p:spPr>
            <a:xfrm>
              <a:off x="3887999" y="5544000"/>
              <a:ext cx="2880360" cy="1872614"/>
            </a:xfrm>
            <a:custGeom>
              <a:avLst/>
              <a:gdLst/>
              <a:ahLst/>
              <a:cxnLst/>
              <a:rect l="l" t="t" r="r" b="b"/>
              <a:pathLst>
                <a:path w="2880359" h="1872615">
                  <a:moveTo>
                    <a:pt x="2841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833899"/>
                  </a:lnTo>
                  <a:lnTo>
                    <a:pt x="2991" y="1848737"/>
                  </a:lnTo>
                  <a:lnTo>
                    <a:pt x="11151" y="1860847"/>
                  </a:lnTo>
                  <a:lnTo>
                    <a:pt x="23261" y="1869007"/>
                  </a:lnTo>
                  <a:lnTo>
                    <a:pt x="38100" y="1871999"/>
                  </a:lnTo>
                  <a:lnTo>
                    <a:pt x="2841900" y="1871999"/>
                  </a:lnTo>
                  <a:lnTo>
                    <a:pt x="2856739" y="1869007"/>
                  </a:lnTo>
                  <a:lnTo>
                    <a:pt x="2868848" y="1860847"/>
                  </a:lnTo>
                  <a:lnTo>
                    <a:pt x="2877009" y="1848737"/>
                  </a:lnTo>
                  <a:lnTo>
                    <a:pt x="2880000" y="1833899"/>
                  </a:lnTo>
                  <a:lnTo>
                    <a:pt x="2880000" y="38100"/>
                  </a:lnTo>
                  <a:lnTo>
                    <a:pt x="2877009" y="23261"/>
                  </a:lnTo>
                  <a:lnTo>
                    <a:pt x="2868848" y="11151"/>
                  </a:lnTo>
                  <a:lnTo>
                    <a:pt x="2856739" y="2991"/>
                  </a:lnTo>
                  <a:lnTo>
                    <a:pt x="28419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3887990" y="5544003"/>
              <a:ext cx="2880360" cy="180340"/>
            </a:xfrm>
            <a:custGeom>
              <a:avLst/>
              <a:gdLst/>
              <a:ahLst/>
              <a:cxnLst/>
              <a:rect l="l" t="t" r="r" b="b"/>
              <a:pathLst>
                <a:path w="2880359" h="180339">
                  <a:moveTo>
                    <a:pt x="2880004" y="38100"/>
                  </a:moveTo>
                  <a:lnTo>
                    <a:pt x="2877007" y="23266"/>
                  </a:lnTo>
                  <a:lnTo>
                    <a:pt x="2868853" y="11150"/>
                  </a:lnTo>
                  <a:lnTo>
                    <a:pt x="2856738" y="2997"/>
                  </a:lnTo>
                  <a:lnTo>
                    <a:pt x="2841904" y="0"/>
                  </a:lnTo>
                  <a:lnTo>
                    <a:pt x="38100" y="0"/>
                  </a:lnTo>
                  <a:lnTo>
                    <a:pt x="23266" y="2997"/>
                  </a:lnTo>
                  <a:lnTo>
                    <a:pt x="11150" y="11150"/>
                  </a:lnTo>
                  <a:lnTo>
                    <a:pt x="2997" y="23266"/>
                  </a:lnTo>
                  <a:lnTo>
                    <a:pt x="0" y="38100"/>
                  </a:lnTo>
                  <a:lnTo>
                    <a:pt x="0" y="90004"/>
                  </a:lnTo>
                  <a:lnTo>
                    <a:pt x="0" y="141897"/>
                  </a:lnTo>
                  <a:lnTo>
                    <a:pt x="0" y="179997"/>
                  </a:lnTo>
                  <a:lnTo>
                    <a:pt x="38100" y="179997"/>
                  </a:lnTo>
                  <a:lnTo>
                    <a:pt x="2841904" y="179997"/>
                  </a:lnTo>
                  <a:lnTo>
                    <a:pt x="2880004" y="179997"/>
                  </a:lnTo>
                  <a:lnTo>
                    <a:pt x="2880004" y="141897"/>
                  </a:lnTo>
                  <a:lnTo>
                    <a:pt x="2880004" y="90004"/>
                  </a:lnTo>
                  <a:lnTo>
                    <a:pt x="2880004" y="38100"/>
                  </a:lnTo>
                  <a:close/>
                </a:path>
              </a:pathLst>
            </a:custGeom>
            <a:solidFill>
              <a:srgbClr val="5979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9999" y="5796000"/>
              <a:ext cx="251999" cy="251999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4060926" y="6062402"/>
            <a:ext cx="2664460" cy="6350"/>
          </a:xfrm>
          <a:custGeom>
            <a:avLst/>
            <a:gdLst/>
            <a:ahLst/>
            <a:cxnLst/>
            <a:rect l="l" t="t" r="r" b="b"/>
            <a:pathLst>
              <a:path w="2664459" h="6350">
                <a:moveTo>
                  <a:pt x="2664000" y="0"/>
                </a:moveTo>
                <a:lnTo>
                  <a:pt x="0" y="0"/>
                </a:lnTo>
                <a:lnTo>
                  <a:pt x="0" y="6350"/>
                </a:lnTo>
                <a:lnTo>
                  <a:pt x="2664000" y="6350"/>
                </a:lnTo>
                <a:lnTo>
                  <a:pt x="2664000" y="0"/>
                </a:lnTo>
                <a:close/>
              </a:path>
            </a:pathLst>
          </a:custGeom>
          <a:solidFill>
            <a:srgbClr val="D8F2DB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49983" y="5738669"/>
            <a:ext cx="2630170" cy="143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Farmer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Exposure</a:t>
            </a:r>
            <a:r>
              <a:rPr sz="950" b="1" spc="-15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5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Visit</a:t>
            </a: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300355">
              <a:lnSpc>
                <a:spcPct val="100000"/>
              </a:lnSpc>
              <a:spcBef>
                <a:spcPts val="100"/>
              </a:spcBef>
            </a:pPr>
            <a:endParaRPr lang="en-IN" sz="950" b="1" spc="-10" dirty="0">
              <a:solidFill>
                <a:srgbClr val="1A3A2D"/>
              </a:solidFill>
              <a:latin typeface="Felix Titling" panose="04060505060202020A04" pitchFamily="82" charset="0"/>
              <a:cs typeface="Calibri"/>
            </a:endParaRPr>
          </a:p>
          <a:p>
            <a:pPr marL="300355">
              <a:lnSpc>
                <a:spcPct val="100000"/>
              </a:lnSpc>
              <a:spcBef>
                <a:spcPts val="100"/>
              </a:spcBef>
            </a:pPr>
            <a:endParaRPr sz="300" dirty="0"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700"/>
              </a:spcBef>
              <a:tabLst>
                <a:tab pos="552450" algn="l"/>
                <a:tab pos="1272540" algn="l"/>
                <a:tab pos="1956435" algn="l"/>
              </a:tabLst>
            </a:pP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Target: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9793A"/>
                </a:solidFill>
                <a:latin typeface="Felix Titling" panose="04060505060202020A04" pitchFamily="82" charset="0"/>
                <a:cs typeface="Calibri"/>
              </a:rPr>
              <a:t>1 </a:t>
            </a:r>
            <a:r>
              <a:rPr sz="700" b="1" spc="-10" dirty="0">
                <a:solidFill>
                  <a:srgbClr val="59793A"/>
                </a:solidFill>
                <a:latin typeface="Felix Titling" panose="04060505060202020A04" pitchFamily="82" charset="0"/>
                <a:cs typeface="Calibri"/>
              </a:rPr>
              <a:t>Visit</a:t>
            </a:r>
            <a:r>
              <a:rPr sz="700" b="1" dirty="0">
                <a:solidFill>
                  <a:srgbClr val="59793A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Achieved: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	</a:t>
            </a:r>
            <a:r>
              <a:rPr sz="700" b="1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1 </a:t>
            </a:r>
            <a:r>
              <a:rPr sz="700" b="1" spc="-10" dirty="0">
                <a:solidFill>
                  <a:srgbClr val="52B687"/>
                </a:solidFill>
                <a:latin typeface="Felix Titling" panose="04060505060202020A04" pitchFamily="82" charset="0"/>
                <a:cs typeface="Calibri"/>
              </a:rPr>
              <a:t>Visit</a:t>
            </a:r>
            <a:endParaRPr lang="en-IN" sz="700" b="1" spc="-10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700"/>
              </a:spcBef>
              <a:tabLst>
                <a:tab pos="552450" algn="l"/>
                <a:tab pos="1272540" algn="l"/>
                <a:tab pos="1956435" algn="l"/>
              </a:tabLst>
            </a:pPr>
            <a:endParaRPr lang="en-IN" sz="100" b="1" spc="-10" dirty="0">
              <a:solidFill>
                <a:srgbClr val="52B687"/>
              </a:solidFill>
              <a:latin typeface="Felix Titling" panose="04060505060202020A04" pitchFamily="82" charset="0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700"/>
              </a:spcBef>
              <a:tabLst>
                <a:tab pos="552450" algn="l"/>
                <a:tab pos="1272540" algn="l"/>
                <a:tab pos="1956435" algn="l"/>
              </a:tabLst>
            </a:pP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Structured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field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visit to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Village Ghatdare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demonstrated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best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practices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in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watershed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management,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building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local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capacity</a:t>
            </a:r>
            <a:r>
              <a:rPr sz="800" spc="-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for</a:t>
            </a:r>
            <a:r>
              <a:rPr sz="80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ongoing</a:t>
            </a:r>
            <a:r>
              <a:rPr sz="800" spc="-3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maintenance</a:t>
            </a:r>
            <a:r>
              <a:rPr sz="800" spc="-3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00" spc="-3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0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replication.</a:t>
            </a:r>
            <a:endParaRPr sz="8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50" name="object 34">
            <a:extLst>
              <a:ext uri="{FF2B5EF4-FFF2-40B4-BE49-F238E27FC236}">
                <a16:creationId xmlns:a16="http://schemas.microsoft.com/office/drawing/2014/main" id="{E39469B4-9965-D122-3378-290C4FF5DE90}"/>
              </a:ext>
            </a:extLst>
          </p:cNvPr>
          <p:cNvSpPr txBox="1"/>
          <p:nvPr/>
        </p:nvSpPr>
        <p:spPr>
          <a:xfrm>
            <a:off x="976742" y="3722670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</a:t>
            </a:r>
            <a:r>
              <a:rPr lang="en-IN"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3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51" name="object 34">
            <a:extLst>
              <a:ext uri="{FF2B5EF4-FFF2-40B4-BE49-F238E27FC236}">
                <a16:creationId xmlns:a16="http://schemas.microsoft.com/office/drawing/2014/main" id="{4C6676E5-D29D-28E2-0A36-544598FE9B78}"/>
              </a:ext>
            </a:extLst>
          </p:cNvPr>
          <p:cNvSpPr txBox="1"/>
          <p:nvPr/>
        </p:nvSpPr>
        <p:spPr>
          <a:xfrm>
            <a:off x="976741" y="1704105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</a:t>
            </a:r>
            <a:r>
              <a:rPr lang="en-IN"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1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52" name="object 34">
            <a:extLst>
              <a:ext uri="{FF2B5EF4-FFF2-40B4-BE49-F238E27FC236}">
                <a16:creationId xmlns:a16="http://schemas.microsoft.com/office/drawing/2014/main" id="{AC427D27-D4BD-DC37-A559-B1E4CCCF4B31}"/>
              </a:ext>
            </a:extLst>
          </p:cNvPr>
          <p:cNvSpPr txBox="1"/>
          <p:nvPr/>
        </p:nvSpPr>
        <p:spPr>
          <a:xfrm>
            <a:off x="4072338" y="1704105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</a:t>
            </a:r>
            <a:r>
              <a:rPr lang="en-IN"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2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53" name="object 34">
            <a:extLst>
              <a:ext uri="{FF2B5EF4-FFF2-40B4-BE49-F238E27FC236}">
                <a16:creationId xmlns:a16="http://schemas.microsoft.com/office/drawing/2014/main" id="{4C4D6ECF-9A88-528F-C354-49176892C27D}"/>
              </a:ext>
            </a:extLst>
          </p:cNvPr>
          <p:cNvSpPr txBox="1"/>
          <p:nvPr/>
        </p:nvSpPr>
        <p:spPr>
          <a:xfrm>
            <a:off x="4083260" y="3720124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</a:t>
            </a:r>
            <a:r>
              <a:rPr lang="en-IN"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4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54" name="object 34">
            <a:extLst>
              <a:ext uri="{FF2B5EF4-FFF2-40B4-BE49-F238E27FC236}">
                <a16:creationId xmlns:a16="http://schemas.microsoft.com/office/drawing/2014/main" id="{75D87F65-CA59-78ED-969F-AF1B05876662}"/>
              </a:ext>
            </a:extLst>
          </p:cNvPr>
          <p:cNvSpPr txBox="1"/>
          <p:nvPr/>
        </p:nvSpPr>
        <p:spPr>
          <a:xfrm>
            <a:off x="4082519" y="5733282"/>
            <a:ext cx="14468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0</a:t>
            </a:r>
            <a:r>
              <a:rPr lang="en-IN" sz="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Calibri"/>
              </a:rPr>
              <a:t>6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3" name="object 3"/>
            <p:cNvSpPr/>
            <p:nvPr/>
          </p:nvSpPr>
          <p:spPr>
            <a:xfrm>
              <a:off x="63500" y="1296000"/>
              <a:ext cx="7496809" cy="9036050"/>
            </a:xfrm>
            <a:custGeom>
              <a:avLst/>
              <a:gdLst/>
              <a:ahLst/>
              <a:cxnLst/>
              <a:rect l="l" t="t" r="r" b="b"/>
              <a:pathLst>
                <a:path w="7496809" h="9036050">
                  <a:moveTo>
                    <a:pt x="0" y="9035999"/>
                  </a:moveTo>
                  <a:lnTo>
                    <a:pt x="7496500" y="9035999"/>
                  </a:lnTo>
                  <a:lnTo>
                    <a:pt x="7496500" y="0"/>
                  </a:lnTo>
                  <a:lnTo>
                    <a:pt x="0" y="0"/>
                  </a:lnTo>
                  <a:lnTo>
                    <a:pt x="0" y="9035999"/>
                  </a:lnTo>
                  <a:close/>
                </a:path>
              </a:pathLst>
            </a:custGeom>
            <a:solidFill>
              <a:srgbClr val="FDF7E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3500" cy="10332085"/>
            </a:xfrm>
            <a:custGeom>
              <a:avLst/>
              <a:gdLst/>
              <a:ahLst/>
              <a:cxnLst/>
              <a:rect l="l" t="t" r="r" b="b"/>
              <a:pathLst>
                <a:path w="63500" h="10332085">
                  <a:moveTo>
                    <a:pt x="0" y="10332000"/>
                  </a:moveTo>
                  <a:lnTo>
                    <a:pt x="63500" y="10332000"/>
                  </a:lnTo>
                  <a:lnTo>
                    <a:pt x="63500" y="0"/>
                  </a:lnTo>
                  <a:lnTo>
                    <a:pt x="0" y="0"/>
                  </a:lnTo>
                  <a:lnTo>
                    <a:pt x="0" y="1033200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0"/>
              <a:ext cx="7496809" cy="1296035"/>
            </a:xfrm>
            <a:custGeom>
              <a:avLst/>
              <a:gdLst/>
              <a:ahLst/>
              <a:cxnLst/>
              <a:rect l="l" t="t" r="r" b="b"/>
              <a:pathLst>
                <a:path w="7496809" h="1296035">
                  <a:moveTo>
                    <a:pt x="7496500" y="0"/>
                  </a:moveTo>
                  <a:lnTo>
                    <a:pt x="0" y="0"/>
                  </a:lnTo>
                  <a:lnTo>
                    <a:pt x="0" y="1295999"/>
                  </a:lnTo>
                  <a:lnTo>
                    <a:pt x="7496500" y="1295999"/>
                  </a:lnTo>
                  <a:lnTo>
                    <a:pt x="7496500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9298" y="402401"/>
            <a:ext cx="26941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05</a:t>
            </a:r>
            <a:r>
              <a:rPr sz="1200" b="1" spc="15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9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·</a:t>
            </a:r>
            <a:r>
              <a:rPr sz="900" b="1" spc="16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900" b="1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KEY ACHIEVEMENTS &amp;</a:t>
            </a:r>
            <a:r>
              <a:rPr sz="900" b="1" spc="5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900" b="1" spc="-10" dirty="0">
                <a:solidFill>
                  <a:srgbClr val="B8850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MILESTONES</a:t>
            </a:r>
            <a:endParaRPr sz="9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9299" y="675700"/>
            <a:ext cx="6004250" cy="572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70"/>
              </a:lnSpc>
              <a:spcBef>
                <a:spcPts val="100"/>
              </a:spcBef>
            </a:pPr>
            <a:r>
              <a:rPr sz="2800" dirty="0">
                <a:latin typeface="Felix Titling" panose="04060505060202020A04" pitchFamily="82" charset="0"/>
              </a:rPr>
              <a:t>100%</a:t>
            </a:r>
            <a:r>
              <a:rPr sz="2800" spc="50" dirty="0">
                <a:latin typeface="Felix Titling" panose="04060505060202020A04" pitchFamily="82" charset="0"/>
              </a:rPr>
              <a:t> </a:t>
            </a:r>
            <a:r>
              <a:rPr sz="2800" dirty="0">
                <a:latin typeface="Felix Titling" panose="04060505060202020A04" pitchFamily="82" charset="0"/>
              </a:rPr>
              <a:t>Targets</a:t>
            </a:r>
            <a:r>
              <a:rPr sz="2800" spc="50" dirty="0">
                <a:latin typeface="Felix Titling" panose="04060505060202020A04" pitchFamily="82" charset="0"/>
              </a:rPr>
              <a:t> </a:t>
            </a:r>
            <a:r>
              <a:rPr sz="2800" spc="-25" dirty="0">
                <a:latin typeface="Felix Titling" panose="04060505060202020A04" pitchFamily="82" charset="0"/>
              </a:rPr>
              <a:t>Met</a:t>
            </a:r>
            <a:endParaRPr sz="2800" dirty="0">
              <a:latin typeface="Felix Titling" panose="04060505060202020A04" pitchFamily="82" charset="0"/>
            </a:endParaRPr>
          </a:p>
          <a:p>
            <a:pPr marL="12700">
              <a:lnSpc>
                <a:spcPts val="990"/>
              </a:lnSpc>
            </a:pP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Every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planned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intervention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completed</a:t>
            </a:r>
            <a:r>
              <a:rPr sz="1100" b="0" i="1" spc="-5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on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time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—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meeting</a:t>
            </a:r>
            <a:r>
              <a:rPr sz="1100" b="0" i="1" spc="-5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or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exceeding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sz="1100" b="0" i="1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all</a:t>
            </a:r>
            <a:r>
              <a:rPr sz="1100" b="0" i="1" spc="-10" dirty="0">
                <a:solidFill>
                  <a:srgbClr val="A8D4B5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targets.</a:t>
            </a:r>
            <a:endParaRPr sz="11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1999" y="1871999"/>
            <a:ext cx="5976620" cy="2052320"/>
            <a:chOff x="791999" y="1871999"/>
            <a:chExt cx="5976620" cy="2052320"/>
          </a:xfrm>
        </p:grpSpPr>
        <p:sp>
          <p:nvSpPr>
            <p:cNvPr id="10" name="object 10"/>
            <p:cNvSpPr/>
            <p:nvPr/>
          </p:nvSpPr>
          <p:spPr>
            <a:xfrm>
              <a:off x="791997" y="1872001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1998"/>
                  </a:lnTo>
                  <a:lnTo>
                    <a:pt x="2808719" y="341998"/>
                  </a:lnTo>
                  <a:lnTo>
                    <a:pt x="4003916" y="341998"/>
                  </a:lnTo>
                  <a:lnTo>
                    <a:pt x="5199113" y="341998"/>
                  </a:lnTo>
                  <a:lnTo>
                    <a:pt x="5975997" y="341998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055559" y="1943999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1997" y="2214000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2011"/>
                  </a:lnTo>
                  <a:lnTo>
                    <a:pt x="2808719" y="342011"/>
                  </a:lnTo>
                  <a:lnTo>
                    <a:pt x="4003916" y="342011"/>
                  </a:lnTo>
                  <a:lnTo>
                    <a:pt x="5199113" y="342011"/>
                  </a:lnTo>
                  <a:lnTo>
                    <a:pt x="5975997" y="342011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055559" y="2285999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91997" y="2556011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1998"/>
                  </a:lnTo>
                  <a:lnTo>
                    <a:pt x="2808719" y="341998"/>
                  </a:lnTo>
                  <a:lnTo>
                    <a:pt x="4003916" y="341998"/>
                  </a:lnTo>
                  <a:lnTo>
                    <a:pt x="5199113" y="341998"/>
                  </a:lnTo>
                  <a:lnTo>
                    <a:pt x="5975997" y="341998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055559" y="2628000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91997" y="2898009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1998"/>
                  </a:lnTo>
                  <a:lnTo>
                    <a:pt x="2808719" y="341998"/>
                  </a:lnTo>
                  <a:lnTo>
                    <a:pt x="4003916" y="341998"/>
                  </a:lnTo>
                  <a:lnTo>
                    <a:pt x="5199113" y="341998"/>
                  </a:lnTo>
                  <a:lnTo>
                    <a:pt x="5975997" y="341998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055559" y="2970000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91997" y="3240007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1998"/>
                  </a:lnTo>
                  <a:lnTo>
                    <a:pt x="2808719" y="341998"/>
                  </a:lnTo>
                  <a:lnTo>
                    <a:pt x="4003916" y="341998"/>
                  </a:lnTo>
                  <a:lnTo>
                    <a:pt x="5199113" y="341998"/>
                  </a:lnTo>
                  <a:lnTo>
                    <a:pt x="5975997" y="341998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055559" y="3311999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91997" y="3582006"/>
              <a:ext cx="5976620" cy="342265"/>
            </a:xfrm>
            <a:custGeom>
              <a:avLst/>
              <a:gdLst/>
              <a:ahLst/>
              <a:cxnLst/>
              <a:rect l="l" t="t" r="r" b="b"/>
              <a:pathLst>
                <a:path w="5976620" h="342264">
                  <a:moveTo>
                    <a:pt x="5975997" y="0"/>
                  </a:moveTo>
                  <a:lnTo>
                    <a:pt x="5199113" y="0"/>
                  </a:lnTo>
                  <a:lnTo>
                    <a:pt x="4003916" y="0"/>
                  </a:lnTo>
                  <a:lnTo>
                    <a:pt x="2808719" y="0"/>
                  </a:lnTo>
                  <a:lnTo>
                    <a:pt x="0" y="0"/>
                  </a:lnTo>
                  <a:lnTo>
                    <a:pt x="0" y="341998"/>
                  </a:lnTo>
                  <a:lnTo>
                    <a:pt x="2808719" y="341998"/>
                  </a:lnTo>
                  <a:lnTo>
                    <a:pt x="4003916" y="341998"/>
                  </a:lnTo>
                  <a:lnTo>
                    <a:pt x="5199113" y="341998"/>
                  </a:lnTo>
                  <a:lnTo>
                    <a:pt x="5975997" y="341998"/>
                  </a:lnTo>
                  <a:lnTo>
                    <a:pt x="5975997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055559" y="3654000"/>
              <a:ext cx="648335" cy="234315"/>
            </a:xfrm>
            <a:custGeom>
              <a:avLst/>
              <a:gdLst/>
              <a:ahLst/>
              <a:cxnLst/>
              <a:rect l="l" t="t" r="r" b="b"/>
              <a:pathLst>
                <a:path w="648334" h="234314">
                  <a:moveTo>
                    <a:pt x="622600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08600"/>
                  </a:lnTo>
                  <a:lnTo>
                    <a:pt x="1994" y="218492"/>
                  </a:lnTo>
                  <a:lnTo>
                    <a:pt x="7434" y="226565"/>
                  </a:lnTo>
                  <a:lnTo>
                    <a:pt x="15507" y="232005"/>
                  </a:lnTo>
                  <a:lnTo>
                    <a:pt x="25400" y="234000"/>
                  </a:lnTo>
                  <a:lnTo>
                    <a:pt x="622600" y="234000"/>
                  </a:lnTo>
                  <a:lnTo>
                    <a:pt x="632493" y="232005"/>
                  </a:lnTo>
                  <a:lnTo>
                    <a:pt x="640566" y="226565"/>
                  </a:lnTo>
                  <a:lnTo>
                    <a:pt x="646006" y="218492"/>
                  </a:lnTo>
                  <a:lnTo>
                    <a:pt x="648000" y="208600"/>
                  </a:lnTo>
                  <a:lnTo>
                    <a:pt x="648000" y="25400"/>
                  </a:lnTo>
                  <a:lnTo>
                    <a:pt x="646006" y="15507"/>
                  </a:lnTo>
                  <a:lnTo>
                    <a:pt x="640566" y="7434"/>
                  </a:lnTo>
                  <a:lnTo>
                    <a:pt x="632493" y="1994"/>
                  </a:lnTo>
                  <a:lnTo>
                    <a:pt x="622600" y="0"/>
                  </a:lnTo>
                  <a:close/>
                </a:path>
              </a:pathLst>
            </a:custGeom>
            <a:solidFill>
              <a:srgbClr val="52B687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17726"/>
              </p:ext>
            </p:extLst>
          </p:nvPr>
        </p:nvGraphicFramePr>
        <p:xfrm>
          <a:off x="785649" y="1577649"/>
          <a:ext cx="5975349" cy="233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2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Activity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/</a:t>
                      </a:r>
                      <a:r>
                        <a:rPr sz="800" b="1" spc="-15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Intervention</a:t>
                      </a:r>
                      <a:endParaRPr sz="8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12700">
                      <a:solidFill>
                        <a:srgbClr val="C8E6CF"/>
                      </a:solidFill>
                      <a:prstDash val="solid"/>
                    </a:lnT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 marL="85788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Target</a:t>
                      </a:r>
                      <a:endParaRPr sz="8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96520" marB="0">
                    <a:lnT w="12700">
                      <a:solidFill>
                        <a:srgbClr val="C8E6CF"/>
                      </a:solidFill>
                      <a:prstDash val="solid"/>
                    </a:lnT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Achieved</a:t>
                      </a:r>
                      <a:endParaRPr sz="8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96520" marB="0">
                    <a:lnT w="12700">
                      <a:solidFill>
                        <a:srgbClr val="C8E6CF"/>
                      </a:solidFill>
                      <a:prstDash val="solid"/>
                    </a:lnT>
                    <a:solidFill>
                      <a:srgbClr val="1A3A2D"/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Status</a:t>
                      </a:r>
                      <a:endParaRPr sz="8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9652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12700">
                      <a:solidFill>
                        <a:srgbClr val="C8E6CF"/>
                      </a:solidFill>
                      <a:prstDash val="solid"/>
                    </a:lnT>
                    <a:solidFill>
                      <a:srgbClr val="1A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Gabion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Structures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C8E6CF"/>
                      </a:solidFill>
                      <a:prstDash val="solid"/>
                    </a:lnL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8044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No.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19380" marB="0"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No.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19380" marB="0"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0795" marB="0">
                    <a:lnR w="12700">
                      <a:solidFill>
                        <a:srgbClr val="C8E6CF"/>
                      </a:solidFill>
                      <a:prstDash val="solid"/>
                    </a:lnR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Loose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Boulder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Structures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(LB)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83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15</a:t>
                      </a:r>
                      <a:r>
                        <a:rPr sz="900" b="1" spc="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No.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15</a:t>
                      </a:r>
                      <a:r>
                        <a:rPr sz="900" b="1" spc="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No.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Staggered Contour Trenches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(SCT)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0365" algn="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4,500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4,500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Desilting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of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Small</a:t>
                      </a:r>
                      <a:r>
                        <a:rPr sz="900" spc="-2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spc="-25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ENB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1790" algn="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19,000</a:t>
                      </a:r>
                      <a:r>
                        <a:rPr sz="900" b="1" spc="2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19,000</a:t>
                      </a:r>
                      <a:r>
                        <a:rPr sz="900" b="1" spc="2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Nala</a:t>
                      </a:r>
                      <a:r>
                        <a:rPr sz="900" spc="-15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Deepening</a:t>
                      </a:r>
                      <a:r>
                        <a:rPr sz="900" spc="-15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&amp;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Widening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1790" algn="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19,000</a:t>
                      </a:r>
                      <a:r>
                        <a:rPr sz="900" b="1" spc="2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19,000</a:t>
                      </a:r>
                      <a:r>
                        <a:rPr sz="900" b="1" spc="2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 </a:t>
                      </a:r>
                      <a:r>
                        <a:rPr sz="900" b="1" spc="-25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m³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6350">
                      <a:solidFill>
                        <a:srgbClr val="D8F2DB"/>
                      </a:solidFill>
                      <a:prstDash val="solid"/>
                    </a:lnT>
                    <a:lnB w="635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Farmer Exposure </a:t>
                      </a:r>
                      <a:r>
                        <a:rPr sz="900" spc="-10" dirty="0">
                          <a:solidFill>
                            <a:srgbClr val="2A2A2A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Visit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C8E6CF"/>
                      </a:solidFill>
                      <a:prstDash val="solid"/>
                    </a:lnL>
                    <a:lnT w="6350">
                      <a:solidFill>
                        <a:srgbClr val="D8F2DB"/>
                      </a:solidFill>
                      <a:prstDash val="solid"/>
                    </a:lnT>
                    <a:lnB w="12700">
                      <a:solidFill>
                        <a:srgbClr val="C8E6C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709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 </a:t>
                      </a:r>
                      <a:r>
                        <a:rPr sz="900" b="1" spc="-1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Visit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12700">
                      <a:solidFill>
                        <a:srgbClr val="C8E6C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900" b="1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 </a:t>
                      </a:r>
                      <a:r>
                        <a:rPr sz="900" b="1" spc="-10" dirty="0">
                          <a:solidFill>
                            <a:srgbClr val="2D694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Visit</a:t>
                      </a:r>
                      <a:endParaRPr sz="90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22555" marB="0">
                    <a:lnT w="6350">
                      <a:solidFill>
                        <a:srgbClr val="D8F2DB"/>
                      </a:solidFill>
                      <a:prstDash val="solid"/>
                    </a:lnT>
                    <a:lnB w="12700">
                      <a:solidFill>
                        <a:srgbClr val="C8E6C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750" dirty="0">
                        <a:latin typeface="Footlight MT Light" panose="0204060206030A020304" pitchFamily="18" charset="0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FFFFFF"/>
                          </a:solidFill>
                          <a:latin typeface="Footlight MT Light" panose="0204060206030A020304" pitchFamily="18" charset="0"/>
                          <a:cs typeface="Calibri"/>
                        </a:rPr>
                        <a:t>100%</a:t>
                      </a:r>
                      <a:endParaRPr sz="750" dirty="0">
                        <a:latin typeface="Footlight MT Light" panose="0204060206030A020304" pitchFamily="18" charset="0"/>
                        <a:cs typeface="Calibri"/>
                      </a:endParaRPr>
                    </a:p>
                  </a:txBody>
                  <a:tcPr marL="0" marR="0" marT="13970" marB="0">
                    <a:lnR w="12700">
                      <a:solidFill>
                        <a:srgbClr val="C8E6CF"/>
                      </a:solidFill>
                      <a:prstDash val="solid"/>
                    </a:lnR>
                    <a:lnT w="6350">
                      <a:solidFill>
                        <a:srgbClr val="D8F2DB"/>
                      </a:solidFill>
                      <a:prstDash val="solid"/>
                    </a:lnT>
                    <a:lnB w="12700">
                      <a:solidFill>
                        <a:srgbClr val="C8E6C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785649" y="4164803"/>
            <a:ext cx="6027316" cy="997276"/>
            <a:chOff x="791999" y="4212000"/>
            <a:chExt cx="5976620" cy="720090"/>
          </a:xfrm>
        </p:grpSpPr>
        <p:sp>
          <p:nvSpPr>
            <p:cNvPr id="24" name="object 24"/>
            <p:cNvSpPr/>
            <p:nvPr/>
          </p:nvSpPr>
          <p:spPr>
            <a:xfrm>
              <a:off x="791999" y="4212000"/>
              <a:ext cx="5976620" cy="720090"/>
            </a:xfrm>
            <a:custGeom>
              <a:avLst/>
              <a:gdLst/>
              <a:ahLst/>
              <a:cxnLst/>
              <a:rect l="l" t="t" r="r" b="b"/>
              <a:pathLst>
                <a:path w="5976620" h="720089">
                  <a:moveTo>
                    <a:pt x="5925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lnTo>
                    <a:pt x="5925200" y="719999"/>
                  </a:lnTo>
                  <a:lnTo>
                    <a:pt x="5944984" y="716011"/>
                  </a:lnTo>
                  <a:lnTo>
                    <a:pt x="5961131" y="705130"/>
                  </a:lnTo>
                  <a:lnTo>
                    <a:pt x="5972011" y="688984"/>
                  </a:lnTo>
                  <a:lnTo>
                    <a:pt x="5976000" y="669199"/>
                  </a:lnTo>
                  <a:lnTo>
                    <a:pt x="5976000" y="50800"/>
                  </a:lnTo>
                  <a:lnTo>
                    <a:pt x="5972011" y="31015"/>
                  </a:lnTo>
                  <a:lnTo>
                    <a:pt x="5961131" y="14869"/>
                  </a:lnTo>
                  <a:lnTo>
                    <a:pt x="5944984" y="3988"/>
                  </a:lnTo>
                  <a:lnTo>
                    <a:pt x="5925200" y="0"/>
                  </a:lnTo>
                  <a:close/>
                </a:path>
              </a:pathLst>
            </a:custGeom>
            <a:solidFill>
              <a:srgbClr val="1A3A2D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91999" y="4212000"/>
              <a:ext cx="50800" cy="720090"/>
            </a:xfrm>
            <a:custGeom>
              <a:avLst/>
              <a:gdLst/>
              <a:ahLst/>
              <a:cxnLst/>
              <a:rect l="l" t="t" r="r" b="b"/>
              <a:pathLst>
                <a:path w="50800" h="720089">
                  <a:moveTo>
                    <a:pt x="5080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50800" y="719999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4470" y="4396940"/>
            <a:ext cx="5105400" cy="575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i="1" spc="-6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“Every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watershed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intervention</a:t>
            </a:r>
            <a:r>
              <a:rPr sz="1050" i="1" spc="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fully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delivered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on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time</a:t>
            </a:r>
            <a:r>
              <a:rPr sz="1050" i="1" spc="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spc="11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—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a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milestone</a:t>
            </a:r>
            <a:r>
              <a:rPr sz="1050" i="1" spc="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reflecting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the</a:t>
            </a:r>
            <a:r>
              <a:rPr sz="1050" i="1" spc="1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entire</a:t>
            </a:r>
            <a:r>
              <a:rPr sz="1050" i="1" spc="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team’s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dedication</a:t>
            </a:r>
            <a:r>
              <a:rPr sz="1050" i="1" spc="3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to</a:t>
            </a:r>
            <a:r>
              <a:rPr sz="1050" i="1" spc="3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climate-resilient</a:t>
            </a:r>
            <a:r>
              <a:rPr sz="1050" i="1" spc="3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050" i="1" spc="-1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development.”</a:t>
            </a:r>
            <a:endParaRPr sz="1050" dirty="0">
              <a:latin typeface="Felix Titling" panose="04060505060202020A04" pitchFamily="82" charset="0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9519" y="5298683"/>
            <a:ext cx="1413510" cy="648335"/>
          </a:xfrm>
          <a:custGeom>
            <a:avLst/>
            <a:gdLst/>
            <a:ahLst/>
            <a:cxnLst/>
            <a:rect l="l" t="t" r="r" b="b"/>
            <a:pathLst>
              <a:path w="1413510" h="648335">
                <a:moveTo>
                  <a:pt x="1374899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609899"/>
                </a:lnTo>
                <a:lnTo>
                  <a:pt x="2991" y="624738"/>
                </a:lnTo>
                <a:lnTo>
                  <a:pt x="11151" y="636847"/>
                </a:lnTo>
                <a:lnTo>
                  <a:pt x="23261" y="645008"/>
                </a:lnTo>
                <a:lnTo>
                  <a:pt x="38100" y="647999"/>
                </a:lnTo>
                <a:lnTo>
                  <a:pt x="1374899" y="647999"/>
                </a:lnTo>
                <a:lnTo>
                  <a:pt x="1389737" y="645008"/>
                </a:lnTo>
                <a:lnTo>
                  <a:pt x="1401847" y="636847"/>
                </a:lnTo>
                <a:lnTo>
                  <a:pt x="1410008" y="624738"/>
                </a:lnTo>
                <a:lnTo>
                  <a:pt x="1412999" y="609899"/>
                </a:lnTo>
                <a:lnTo>
                  <a:pt x="1412999" y="38100"/>
                </a:lnTo>
                <a:lnTo>
                  <a:pt x="1410008" y="23261"/>
                </a:lnTo>
                <a:lnTo>
                  <a:pt x="1401847" y="11151"/>
                </a:lnTo>
                <a:lnTo>
                  <a:pt x="1389737" y="2991"/>
                </a:lnTo>
                <a:lnTo>
                  <a:pt x="1374899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3451" y="5266639"/>
            <a:ext cx="1185296" cy="6110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16</a:t>
            </a:r>
            <a:endParaRPr sz="19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75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Structures</a:t>
            </a:r>
            <a:r>
              <a:rPr sz="750" spc="-35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Built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20520" y="5298683"/>
            <a:ext cx="1413510" cy="648335"/>
          </a:xfrm>
          <a:custGeom>
            <a:avLst/>
            <a:gdLst/>
            <a:ahLst/>
            <a:cxnLst/>
            <a:rect l="l" t="t" r="r" b="b"/>
            <a:pathLst>
              <a:path w="1413510" h="648335">
                <a:moveTo>
                  <a:pt x="1374899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609899"/>
                </a:lnTo>
                <a:lnTo>
                  <a:pt x="2991" y="624738"/>
                </a:lnTo>
                <a:lnTo>
                  <a:pt x="11151" y="636847"/>
                </a:lnTo>
                <a:lnTo>
                  <a:pt x="23261" y="645008"/>
                </a:lnTo>
                <a:lnTo>
                  <a:pt x="38100" y="647999"/>
                </a:lnTo>
                <a:lnTo>
                  <a:pt x="1374899" y="647999"/>
                </a:lnTo>
                <a:lnTo>
                  <a:pt x="1389737" y="645008"/>
                </a:lnTo>
                <a:lnTo>
                  <a:pt x="1401847" y="636847"/>
                </a:lnTo>
                <a:lnTo>
                  <a:pt x="1410008" y="624738"/>
                </a:lnTo>
                <a:lnTo>
                  <a:pt x="1412999" y="609899"/>
                </a:lnTo>
                <a:lnTo>
                  <a:pt x="1412999" y="38100"/>
                </a:lnTo>
                <a:lnTo>
                  <a:pt x="1410008" y="23261"/>
                </a:lnTo>
                <a:lnTo>
                  <a:pt x="1401847" y="11151"/>
                </a:lnTo>
                <a:lnTo>
                  <a:pt x="1389737" y="2991"/>
                </a:lnTo>
                <a:lnTo>
                  <a:pt x="1374899" y="0"/>
                </a:lnTo>
                <a:close/>
              </a:path>
            </a:pathLst>
          </a:custGeom>
          <a:solidFill>
            <a:srgbClr val="2D694F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7404" y="5266639"/>
            <a:ext cx="1059766" cy="6110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67945" algn="ctr">
              <a:lnSpc>
                <a:spcPct val="100000"/>
              </a:lnSpc>
              <a:spcBef>
                <a:spcPts val="1185"/>
              </a:spcBef>
            </a:pPr>
            <a:r>
              <a:rPr sz="1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38</a:t>
            </a:r>
            <a:r>
              <a:rPr lang="en-IN" sz="1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,000</a:t>
            </a:r>
            <a:endParaRPr sz="1900" dirty="0">
              <a:latin typeface="Felix Titling" panose="04060505060202020A04" pitchFamily="82" charset="0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430"/>
              </a:spcBef>
            </a:pPr>
            <a:r>
              <a:rPr sz="75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750" spc="-15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Earthwork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41520" y="5298683"/>
            <a:ext cx="1413510" cy="648335"/>
          </a:xfrm>
          <a:custGeom>
            <a:avLst/>
            <a:gdLst/>
            <a:ahLst/>
            <a:cxnLst/>
            <a:rect l="l" t="t" r="r" b="b"/>
            <a:pathLst>
              <a:path w="1413510" h="648335">
                <a:moveTo>
                  <a:pt x="1374899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609899"/>
                </a:lnTo>
                <a:lnTo>
                  <a:pt x="2991" y="624738"/>
                </a:lnTo>
                <a:lnTo>
                  <a:pt x="11151" y="636847"/>
                </a:lnTo>
                <a:lnTo>
                  <a:pt x="23261" y="645008"/>
                </a:lnTo>
                <a:lnTo>
                  <a:pt x="38100" y="647999"/>
                </a:lnTo>
                <a:lnTo>
                  <a:pt x="1374899" y="647999"/>
                </a:lnTo>
                <a:lnTo>
                  <a:pt x="1389737" y="645008"/>
                </a:lnTo>
                <a:lnTo>
                  <a:pt x="1401847" y="636847"/>
                </a:lnTo>
                <a:lnTo>
                  <a:pt x="1410008" y="624738"/>
                </a:lnTo>
                <a:lnTo>
                  <a:pt x="1412999" y="609899"/>
                </a:lnTo>
                <a:lnTo>
                  <a:pt x="1412999" y="38100"/>
                </a:lnTo>
                <a:lnTo>
                  <a:pt x="1410008" y="23261"/>
                </a:lnTo>
                <a:lnTo>
                  <a:pt x="1401847" y="11151"/>
                </a:lnTo>
                <a:lnTo>
                  <a:pt x="1389737" y="2991"/>
                </a:lnTo>
                <a:lnTo>
                  <a:pt x="1374899" y="0"/>
                </a:lnTo>
                <a:close/>
              </a:path>
            </a:pathLst>
          </a:custGeom>
          <a:solidFill>
            <a:srgbClr val="7B5B3A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80122" y="5266639"/>
            <a:ext cx="1135810" cy="6110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900" b="1" spc="-1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4,500</a:t>
            </a:r>
            <a:endParaRPr sz="19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75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750" spc="-15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25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SCT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362519" y="5298683"/>
            <a:ext cx="1413510" cy="648335"/>
          </a:xfrm>
          <a:custGeom>
            <a:avLst/>
            <a:gdLst/>
            <a:ahLst/>
            <a:cxnLst/>
            <a:rect l="l" t="t" r="r" b="b"/>
            <a:pathLst>
              <a:path w="1413509" h="648335">
                <a:moveTo>
                  <a:pt x="1374900" y="0"/>
                </a:moveTo>
                <a:lnTo>
                  <a:pt x="38100" y="0"/>
                </a:lnTo>
                <a:lnTo>
                  <a:pt x="23261" y="2991"/>
                </a:lnTo>
                <a:lnTo>
                  <a:pt x="11151" y="11151"/>
                </a:lnTo>
                <a:lnTo>
                  <a:pt x="2991" y="23261"/>
                </a:lnTo>
                <a:lnTo>
                  <a:pt x="0" y="38100"/>
                </a:lnTo>
                <a:lnTo>
                  <a:pt x="0" y="609899"/>
                </a:lnTo>
                <a:lnTo>
                  <a:pt x="2991" y="624738"/>
                </a:lnTo>
                <a:lnTo>
                  <a:pt x="11151" y="636847"/>
                </a:lnTo>
                <a:lnTo>
                  <a:pt x="23261" y="645008"/>
                </a:lnTo>
                <a:lnTo>
                  <a:pt x="38100" y="647999"/>
                </a:lnTo>
                <a:lnTo>
                  <a:pt x="1374900" y="647999"/>
                </a:lnTo>
                <a:lnTo>
                  <a:pt x="1389739" y="645008"/>
                </a:lnTo>
                <a:lnTo>
                  <a:pt x="1401848" y="636847"/>
                </a:lnTo>
                <a:lnTo>
                  <a:pt x="1410009" y="624738"/>
                </a:lnTo>
                <a:lnTo>
                  <a:pt x="1413000" y="609899"/>
                </a:lnTo>
                <a:lnTo>
                  <a:pt x="1413000" y="38100"/>
                </a:lnTo>
                <a:lnTo>
                  <a:pt x="1410009" y="23261"/>
                </a:lnTo>
                <a:lnTo>
                  <a:pt x="1401848" y="11151"/>
                </a:lnTo>
                <a:lnTo>
                  <a:pt x="1389739" y="2991"/>
                </a:lnTo>
                <a:lnTo>
                  <a:pt x="1374900" y="0"/>
                </a:lnTo>
                <a:close/>
              </a:path>
            </a:pathLst>
          </a:custGeom>
          <a:solidFill>
            <a:srgbClr val="3A6B59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38114" y="5266639"/>
            <a:ext cx="1062180" cy="6110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900" b="1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18</a:t>
            </a:r>
            <a:r>
              <a:rPr sz="1900" b="1" spc="-4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lang="en-IN" sz="19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acres</a:t>
            </a:r>
            <a:endParaRPr sz="19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750" spc="-10" dirty="0">
                <a:solidFill>
                  <a:srgbClr val="F4E6B8"/>
                </a:solidFill>
                <a:latin typeface="Felix Titling" panose="04060505060202020A04" pitchFamily="82" charset="0"/>
                <a:cs typeface="Calibri"/>
              </a:rPr>
              <a:t>Reclaimed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439" y="8203132"/>
            <a:ext cx="3043876" cy="1814568"/>
            <a:chOff x="791999" y="8784000"/>
            <a:chExt cx="2880360" cy="151257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" y="8784000"/>
              <a:ext cx="2880000" cy="15119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91999" y="10007999"/>
              <a:ext cx="2880360" cy="288290"/>
            </a:xfrm>
            <a:custGeom>
              <a:avLst/>
              <a:gdLst/>
              <a:ahLst/>
              <a:cxnLst/>
              <a:rect l="l" t="t" r="r" b="b"/>
              <a:pathLst>
                <a:path w="2880360" h="288290">
                  <a:moveTo>
                    <a:pt x="2880000" y="0"/>
                  </a:moveTo>
                  <a:lnTo>
                    <a:pt x="0" y="0"/>
                  </a:lnTo>
                  <a:lnTo>
                    <a:pt x="0" y="288000"/>
                  </a:lnTo>
                  <a:lnTo>
                    <a:pt x="2880000" y="288000"/>
                  </a:lnTo>
                  <a:lnTo>
                    <a:pt x="28800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8388" y="9784165"/>
            <a:ext cx="862297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Nala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Deepening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endParaRPr sz="7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775439" y="8203132"/>
            <a:ext cx="3043876" cy="1814568"/>
            <a:chOff x="3887999" y="8784000"/>
            <a:chExt cx="2880360" cy="151257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999" y="8784000"/>
              <a:ext cx="2880000" cy="15119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887999" y="10007999"/>
              <a:ext cx="2880360" cy="288290"/>
            </a:xfrm>
            <a:custGeom>
              <a:avLst/>
              <a:gdLst/>
              <a:ahLst/>
              <a:cxnLst/>
              <a:rect l="l" t="t" r="r" b="b"/>
              <a:pathLst>
                <a:path w="2880359" h="288290">
                  <a:moveTo>
                    <a:pt x="2880000" y="0"/>
                  </a:moveTo>
                  <a:lnTo>
                    <a:pt x="0" y="0"/>
                  </a:lnTo>
                  <a:lnTo>
                    <a:pt x="0" y="288000"/>
                  </a:lnTo>
                  <a:lnTo>
                    <a:pt x="2880000" y="288000"/>
                  </a:lnTo>
                  <a:lnTo>
                    <a:pt x="28800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913024" y="9768451"/>
            <a:ext cx="969665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Desilted</a:t>
            </a:r>
            <a:r>
              <a:rPr sz="7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Soil</a:t>
            </a:r>
            <a:r>
              <a:rPr sz="7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8F8233-0A11-271F-4F48-47C32501BB22}"/>
              </a:ext>
            </a:extLst>
          </p:cNvPr>
          <p:cNvSpPr txBox="1"/>
          <p:nvPr/>
        </p:nvSpPr>
        <p:spPr>
          <a:xfrm rot="10800000">
            <a:off x="779300" y="3896212"/>
            <a:ext cx="7569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rgbClr val="B8850A"/>
                </a:solidFill>
                <a:latin typeface="Footlight MT Light" panose="0204060206030A020304" pitchFamily="18" charset="0"/>
                <a:cs typeface="Aparajita" panose="02020603050405020304" pitchFamily="18" charset="0"/>
              </a:rPr>
              <a:t>,,</a:t>
            </a:r>
          </a:p>
        </p:txBody>
      </p:sp>
      <p:sp>
        <p:nvSpPr>
          <p:cNvPr id="47" name="Text 50">
            <a:extLst>
              <a:ext uri="{FF2B5EF4-FFF2-40B4-BE49-F238E27FC236}">
                <a16:creationId xmlns:a16="http://schemas.microsoft.com/office/drawing/2014/main" id="{3DD9AACF-C94E-E26A-CA20-5C9FFE8C8D96}"/>
              </a:ext>
            </a:extLst>
          </p:cNvPr>
          <p:cNvSpPr/>
          <p:nvPr/>
        </p:nvSpPr>
        <p:spPr>
          <a:xfrm>
            <a:off x="738137" y="607152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Achievement Rate</a:t>
            </a:r>
            <a:endParaRPr lang="en-US" sz="16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8" name="Shape 51">
            <a:extLst>
              <a:ext uri="{FF2B5EF4-FFF2-40B4-BE49-F238E27FC236}">
                <a16:creationId xmlns:a16="http://schemas.microsoft.com/office/drawing/2014/main" id="{9B50CE44-422A-A21D-174F-F88CF4AC5EC0}"/>
              </a:ext>
            </a:extLst>
          </p:cNvPr>
          <p:cNvSpPr/>
          <p:nvPr/>
        </p:nvSpPr>
        <p:spPr>
          <a:xfrm>
            <a:off x="738137" y="6409857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Shape 52">
            <a:extLst>
              <a:ext uri="{FF2B5EF4-FFF2-40B4-BE49-F238E27FC236}">
                <a16:creationId xmlns:a16="http://schemas.microsoft.com/office/drawing/2014/main" id="{FF615C6D-486E-A07D-B00F-AFC3D0D4A25D}"/>
              </a:ext>
            </a:extLst>
          </p:cNvPr>
          <p:cNvSpPr/>
          <p:nvPr/>
        </p:nvSpPr>
        <p:spPr>
          <a:xfrm>
            <a:off x="738137" y="6409857"/>
            <a:ext cx="1261872" cy="2011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0" name="Text 53">
            <a:extLst>
              <a:ext uri="{FF2B5EF4-FFF2-40B4-BE49-F238E27FC236}">
                <a16:creationId xmlns:a16="http://schemas.microsoft.com/office/drawing/2014/main" id="{7FAD2CD7-E9E7-8A41-9D6E-B0A8176DA558}"/>
              </a:ext>
            </a:extLst>
          </p:cNvPr>
          <p:cNvSpPr/>
          <p:nvPr/>
        </p:nvSpPr>
        <p:spPr>
          <a:xfrm>
            <a:off x="738137" y="6409857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1" name="Text 54">
            <a:extLst>
              <a:ext uri="{FF2B5EF4-FFF2-40B4-BE49-F238E27FC236}">
                <a16:creationId xmlns:a16="http://schemas.microsoft.com/office/drawing/2014/main" id="{580061DB-8AB6-3406-0747-C907A76AC6FF}"/>
              </a:ext>
            </a:extLst>
          </p:cNvPr>
          <p:cNvSpPr/>
          <p:nvPr/>
        </p:nvSpPr>
        <p:spPr>
          <a:xfrm>
            <a:off x="738137" y="6638457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Gabion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2" name="Shape 55">
            <a:extLst>
              <a:ext uri="{FF2B5EF4-FFF2-40B4-BE49-F238E27FC236}">
                <a16:creationId xmlns:a16="http://schemas.microsoft.com/office/drawing/2014/main" id="{299E17A1-7604-EE69-5799-43A36F09DE75}"/>
              </a:ext>
            </a:extLst>
          </p:cNvPr>
          <p:cNvSpPr/>
          <p:nvPr/>
        </p:nvSpPr>
        <p:spPr>
          <a:xfrm>
            <a:off x="1765433" y="6624624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Shape 56">
            <a:extLst>
              <a:ext uri="{FF2B5EF4-FFF2-40B4-BE49-F238E27FC236}">
                <a16:creationId xmlns:a16="http://schemas.microsoft.com/office/drawing/2014/main" id="{EFEB91EC-EE0F-B5B5-66E8-C8CF9306906A}"/>
              </a:ext>
            </a:extLst>
          </p:cNvPr>
          <p:cNvSpPr/>
          <p:nvPr/>
        </p:nvSpPr>
        <p:spPr>
          <a:xfrm>
            <a:off x="1765433" y="6624624"/>
            <a:ext cx="1261872" cy="20116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4" name="Text 57">
            <a:extLst>
              <a:ext uri="{FF2B5EF4-FFF2-40B4-BE49-F238E27FC236}">
                <a16:creationId xmlns:a16="http://schemas.microsoft.com/office/drawing/2014/main" id="{35372E33-0DE3-7895-11CF-427474A68523}"/>
              </a:ext>
            </a:extLst>
          </p:cNvPr>
          <p:cNvSpPr/>
          <p:nvPr/>
        </p:nvSpPr>
        <p:spPr>
          <a:xfrm>
            <a:off x="1765433" y="6624624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5" name="Text 58">
            <a:extLst>
              <a:ext uri="{FF2B5EF4-FFF2-40B4-BE49-F238E27FC236}">
                <a16:creationId xmlns:a16="http://schemas.microsoft.com/office/drawing/2014/main" id="{1D6CA327-F90F-F095-DEFA-AB4BB6BA2FED}"/>
              </a:ext>
            </a:extLst>
          </p:cNvPr>
          <p:cNvSpPr/>
          <p:nvPr/>
        </p:nvSpPr>
        <p:spPr>
          <a:xfrm>
            <a:off x="1765433" y="685322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Loose Boulders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Shape 59">
            <a:extLst>
              <a:ext uri="{FF2B5EF4-FFF2-40B4-BE49-F238E27FC236}">
                <a16:creationId xmlns:a16="http://schemas.microsoft.com/office/drawing/2014/main" id="{53950EBE-7D2F-7402-2868-4D5F6F164BFF}"/>
              </a:ext>
            </a:extLst>
          </p:cNvPr>
          <p:cNvSpPr/>
          <p:nvPr/>
        </p:nvSpPr>
        <p:spPr>
          <a:xfrm>
            <a:off x="2908282" y="6847215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7" name="Shape 60">
            <a:extLst>
              <a:ext uri="{FF2B5EF4-FFF2-40B4-BE49-F238E27FC236}">
                <a16:creationId xmlns:a16="http://schemas.microsoft.com/office/drawing/2014/main" id="{77F010D8-9699-6430-BC6E-5C10C959EB24}"/>
              </a:ext>
            </a:extLst>
          </p:cNvPr>
          <p:cNvSpPr/>
          <p:nvPr/>
        </p:nvSpPr>
        <p:spPr>
          <a:xfrm>
            <a:off x="2908282" y="6839391"/>
            <a:ext cx="1261872" cy="201168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Text 61">
            <a:extLst>
              <a:ext uri="{FF2B5EF4-FFF2-40B4-BE49-F238E27FC236}">
                <a16:creationId xmlns:a16="http://schemas.microsoft.com/office/drawing/2014/main" id="{2351B66A-DBDC-9FD3-6FF5-640B09AFEFE8}"/>
              </a:ext>
            </a:extLst>
          </p:cNvPr>
          <p:cNvSpPr/>
          <p:nvPr/>
        </p:nvSpPr>
        <p:spPr>
          <a:xfrm>
            <a:off x="2908282" y="6847215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9" name="Text 62">
            <a:extLst>
              <a:ext uri="{FF2B5EF4-FFF2-40B4-BE49-F238E27FC236}">
                <a16:creationId xmlns:a16="http://schemas.microsoft.com/office/drawing/2014/main" id="{FADFF6F9-95EF-07AA-F6B6-08F4613AA163}"/>
              </a:ext>
            </a:extLst>
          </p:cNvPr>
          <p:cNvSpPr/>
          <p:nvPr/>
        </p:nvSpPr>
        <p:spPr>
          <a:xfrm>
            <a:off x="2908282" y="7075815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SCT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0" name="Shape 63">
            <a:extLst>
              <a:ext uri="{FF2B5EF4-FFF2-40B4-BE49-F238E27FC236}">
                <a16:creationId xmlns:a16="http://schemas.microsoft.com/office/drawing/2014/main" id="{19E33B47-4DD3-F6BA-F9DA-1912E10AF3E5}"/>
              </a:ext>
            </a:extLst>
          </p:cNvPr>
          <p:cNvSpPr/>
          <p:nvPr/>
        </p:nvSpPr>
        <p:spPr>
          <a:xfrm>
            <a:off x="4006255" y="7068326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1" name="Shape 64">
            <a:extLst>
              <a:ext uri="{FF2B5EF4-FFF2-40B4-BE49-F238E27FC236}">
                <a16:creationId xmlns:a16="http://schemas.microsoft.com/office/drawing/2014/main" id="{2679C784-A62A-0162-A5FA-9CC45D4D2DE5}"/>
              </a:ext>
            </a:extLst>
          </p:cNvPr>
          <p:cNvSpPr/>
          <p:nvPr/>
        </p:nvSpPr>
        <p:spPr>
          <a:xfrm>
            <a:off x="4006255" y="7068326"/>
            <a:ext cx="1261872" cy="2011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Text 65">
            <a:extLst>
              <a:ext uri="{FF2B5EF4-FFF2-40B4-BE49-F238E27FC236}">
                <a16:creationId xmlns:a16="http://schemas.microsoft.com/office/drawing/2014/main" id="{C9EE8039-45C4-5812-40EE-1F38625941DE}"/>
              </a:ext>
            </a:extLst>
          </p:cNvPr>
          <p:cNvSpPr/>
          <p:nvPr/>
        </p:nvSpPr>
        <p:spPr>
          <a:xfrm>
            <a:off x="4006255" y="7068326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3" name="Text 66">
            <a:extLst>
              <a:ext uri="{FF2B5EF4-FFF2-40B4-BE49-F238E27FC236}">
                <a16:creationId xmlns:a16="http://schemas.microsoft.com/office/drawing/2014/main" id="{D319EEA4-B531-5290-BB4E-BD5660E90B05}"/>
              </a:ext>
            </a:extLst>
          </p:cNvPr>
          <p:cNvSpPr/>
          <p:nvPr/>
        </p:nvSpPr>
        <p:spPr>
          <a:xfrm>
            <a:off x="4006255" y="729692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Desilting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4" name="Shape 67">
            <a:extLst>
              <a:ext uri="{FF2B5EF4-FFF2-40B4-BE49-F238E27FC236}">
                <a16:creationId xmlns:a16="http://schemas.microsoft.com/office/drawing/2014/main" id="{031A8E4E-613F-2955-6D6A-C447388D76E9}"/>
              </a:ext>
            </a:extLst>
          </p:cNvPr>
          <p:cNvSpPr/>
          <p:nvPr/>
        </p:nvSpPr>
        <p:spPr>
          <a:xfrm>
            <a:off x="5099801" y="7283603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5" name="Shape 68">
            <a:extLst>
              <a:ext uri="{FF2B5EF4-FFF2-40B4-BE49-F238E27FC236}">
                <a16:creationId xmlns:a16="http://schemas.microsoft.com/office/drawing/2014/main" id="{AD9D2FD1-C864-8EEF-D0C6-36562DD634B8}"/>
              </a:ext>
            </a:extLst>
          </p:cNvPr>
          <p:cNvSpPr/>
          <p:nvPr/>
        </p:nvSpPr>
        <p:spPr>
          <a:xfrm>
            <a:off x="5099801" y="7283603"/>
            <a:ext cx="1261872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6" name="Text 69">
            <a:extLst>
              <a:ext uri="{FF2B5EF4-FFF2-40B4-BE49-F238E27FC236}">
                <a16:creationId xmlns:a16="http://schemas.microsoft.com/office/drawing/2014/main" id="{28D8D3E4-849A-8A30-373E-E1A1D1339E1F}"/>
              </a:ext>
            </a:extLst>
          </p:cNvPr>
          <p:cNvSpPr/>
          <p:nvPr/>
        </p:nvSpPr>
        <p:spPr>
          <a:xfrm>
            <a:off x="5099801" y="7283603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7" name="Text 70">
            <a:extLst>
              <a:ext uri="{FF2B5EF4-FFF2-40B4-BE49-F238E27FC236}">
                <a16:creationId xmlns:a16="http://schemas.microsoft.com/office/drawing/2014/main" id="{71D08BCA-84F2-2C9E-4F49-824FAB02C6D0}"/>
              </a:ext>
            </a:extLst>
          </p:cNvPr>
          <p:cNvSpPr/>
          <p:nvPr/>
        </p:nvSpPr>
        <p:spPr>
          <a:xfrm>
            <a:off x="5099801" y="7512203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Nala Work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Shape 71">
            <a:extLst>
              <a:ext uri="{FF2B5EF4-FFF2-40B4-BE49-F238E27FC236}">
                <a16:creationId xmlns:a16="http://schemas.microsoft.com/office/drawing/2014/main" id="{B2ACAEF8-E655-C0D7-D638-F018B2469838}"/>
              </a:ext>
            </a:extLst>
          </p:cNvPr>
          <p:cNvSpPr/>
          <p:nvPr/>
        </p:nvSpPr>
        <p:spPr>
          <a:xfrm>
            <a:off x="6231128" y="749888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9" name="Shape 72">
            <a:extLst>
              <a:ext uri="{FF2B5EF4-FFF2-40B4-BE49-F238E27FC236}">
                <a16:creationId xmlns:a16="http://schemas.microsoft.com/office/drawing/2014/main" id="{F24AFAF3-FB7F-5E3B-33CD-982789104DEE}"/>
              </a:ext>
            </a:extLst>
          </p:cNvPr>
          <p:cNvSpPr/>
          <p:nvPr/>
        </p:nvSpPr>
        <p:spPr>
          <a:xfrm>
            <a:off x="6231128" y="7498880"/>
            <a:ext cx="126187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0" name="Text 73">
            <a:extLst>
              <a:ext uri="{FF2B5EF4-FFF2-40B4-BE49-F238E27FC236}">
                <a16:creationId xmlns:a16="http://schemas.microsoft.com/office/drawing/2014/main" id="{5767BE47-4EF4-F490-71AB-F8B04A439927}"/>
              </a:ext>
            </a:extLst>
          </p:cNvPr>
          <p:cNvSpPr/>
          <p:nvPr/>
        </p:nvSpPr>
        <p:spPr>
          <a:xfrm>
            <a:off x="6231128" y="749888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Text 74">
            <a:extLst>
              <a:ext uri="{FF2B5EF4-FFF2-40B4-BE49-F238E27FC236}">
                <a16:creationId xmlns:a16="http://schemas.microsoft.com/office/drawing/2014/main" id="{64532ECA-5310-69FA-DBE1-759AD33FF5BE}"/>
              </a:ext>
            </a:extLst>
          </p:cNvPr>
          <p:cNvSpPr/>
          <p:nvPr/>
        </p:nvSpPr>
        <p:spPr>
          <a:xfrm>
            <a:off x="6231128" y="772748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Exposure Visit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823999" y="0"/>
            <a:ext cx="2736215" cy="3096260"/>
          </a:xfrm>
          <a:custGeom>
            <a:avLst/>
            <a:gdLst/>
            <a:ahLst/>
            <a:cxnLst/>
            <a:rect l="l" t="t" r="r" b="b"/>
            <a:pathLst>
              <a:path w="2736215" h="3096260">
                <a:moveTo>
                  <a:pt x="2736000" y="0"/>
                </a:moveTo>
                <a:lnTo>
                  <a:pt x="259128" y="0"/>
                </a:lnTo>
                <a:lnTo>
                  <a:pt x="247950" y="20245"/>
                </a:lnTo>
                <a:lnTo>
                  <a:pt x="226804" y="60606"/>
                </a:lnTo>
                <a:lnTo>
                  <a:pt x="206519" y="101480"/>
                </a:lnTo>
                <a:lnTo>
                  <a:pt x="187106" y="142854"/>
                </a:lnTo>
                <a:lnTo>
                  <a:pt x="168577" y="184716"/>
                </a:lnTo>
                <a:lnTo>
                  <a:pt x="150945" y="227053"/>
                </a:lnTo>
                <a:lnTo>
                  <a:pt x="134222" y="269855"/>
                </a:lnTo>
                <a:lnTo>
                  <a:pt x="118419" y="313109"/>
                </a:lnTo>
                <a:lnTo>
                  <a:pt x="103548" y="356804"/>
                </a:lnTo>
                <a:lnTo>
                  <a:pt x="89622" y="400926"/>
                </a:lnTo>
                <a:lnTo>
                  <a:pt x="76653" y="445464"/>
                </a:lnTo>
                <a:lnTo>
                  <a:pt x="64652" y="490406"/>
                </a:lnTo>
                <a:lnTo>
                  <a:pt x="53631" y="535740"/>
                </a:lnTo>
                <a:lnTo>
                  <a:pt x="43603" y="581454"/>
                </a:lnTo>
                <a:lnTo>
                  <a:pt x="34580" y="627536"/>
                </a:lnTo>
                <a:lnTo>
                  <a:pt x="26573" y="673975"/>
                </a:lnTo>
                <a:lnTo>
                  <a:pt x="19595" y="720757"/>
                </a:lnTo>
                <a:lnTo>
                  <a:pt x="13658" y="767871"/>
                </a:lnTo>
                <a:lnTo>
                  <a:pt x="8773" y="815305"/>
                </a:lnTo>
                <a:lnTo>
                  <a:pt x="4952" y="863046"/>
                </a:lnTo>
                <a:lnTo>
                  <a:pt x="2209" y="911084"/>
                </a:lnTo>
                <a:lnTo>
                  <a:pt x="554" y="959406"/>
                </a:lnTo>
                <a:lnTo>
                  <a:pt x="0" y="1007999"/>
                </a:lnTo>
                <a:lnTo>
                  <a:pt x="554" y="1056593"/>
                </a:lnTo>
                <a:lnTo>
                  <a:pt x="2209" y="1104915"/>
                </a:lnTo>
                <a:lnTo>
                  <a:pt x="4952" y="1152952"/>
                </a:lnTo>
                <a:lnTo>
                  <a:pt x="8773" y="1200694"/>
                </a:lnTo>
                <a:lnTo>
                  <a:pt x="13658" y="1248128"/>
                </a:lnTo>
                <a:lnTo>
                  <a:pt x="19595" y="1295242"/>
                </a:lnTo>
                <a:lnTo>
                  <a:pt x="26573" y="1342024"/>
                </a:lnTo>
                <a:lnTo>
                  <a:pt x="34580" y="1388462"/>
                </a:lnTo>
                <a:lnTo>
                  <a:pt x="43603" y="1434545"/>
                </a:lnTo>
                <a:lnTo>
                  <a:pt x="53631" y="1480259"/>
                </a:lnTo>
                <a:lnTo>
                  <a:pt x="64652" y="1525593"/>
                </a:lnTo>
                <a:lnTo>
                  <a:pt x="76653" y="1570535"/>
                </a:lnTo>
                <a:lnTo>
                  <a:pt x="89622" y="1615073"/>
                </a:lnTo>
                <a:lnTo>
                  <a:pt x="103548" y="1659195"/>
                </a:lnTo>
                <a:lnTo>
                  <a:pt x="118419" y="1702889"/>
                </a:lnTo>
                <a:lnTo>
                  <a:pt x="134222" y="1746144"/>
                </a:lnTo>
                <a:lnTo>
                  <a:pt x="150945" y="1788946"/>
                </a:lnTo>
                <a:lnTo>
                  <a:pt x="168577" y="1831283"/>
                </a:lnTo>
                <a:lnTo>
                  <a:pt x="187106" y="1873145"/>
                </a:lnTo>
                <a:lnTo>
                  <a:pt x="206519" y="1914519"/>
                </a:lnTo>
                <a:lnTo>
                  <a:pt x="226804" y="1955393"/>
                </a:lnTo>
                <a:lnTo>
                  <a:pt x="247950" y="1995754"/>
                </a:lnTo>
                <a:lnTo>
                  <a:pt x="269944" y="2035592"/>
                </a:lnTo>
                <a:lnTo>
                  <a:pt x="292775" y="2074893"/>
                </a:lnTo>
                <a:lnTo>
                  <a:pt x="316430" y="2113646"/>
                </a:lnTo>
                <a:lnTo>
                  <a:pt x="340898" y="2151839"/>
                </a:lnTo>
                <a:lnTo>
                  <a:pt x="366166" y="2189460"/>
                </a:lnTo>
                <a:lnTo>
                  <a:pt x="392222" y="2226497"/>
                </a:lnTo>
                <a:lnTo>
                  <a:pt x="419054" y="2262937"/>
                </a:lnTo>
                <a:lnTo>
                  <a:pt x="446651" y="2298769"/>
                </a:lnTo>
                <a:lnTo>
                  <a:pt x="475001" y="2333982"/>
                </a:lnTo>
                <a:lnTo>
                  <a:pt x="504090" y="2368561"/>
                </a:lnTo>
                <a:lnTo>
                  <a:pt x="533908" y="2402497"/>
                </a:lnTo>
                <a:lnTo>
                  <a:pt x="564442" y="2435776"/>
                </a:lnTo>
                <a:lnTo>
                  <a:pt x="595681" y="2468387"/>
                </a:lnTo>
                <a:lnTo>
                  <a:pt x="627612" y="2500318"/>
                </a:lnTo>
                <a:lnTo>
                  <a:pt x="660223" y="2531557"/>
                </a:lnTo>
                <a:lnTo>
                  <a:pt x="693502" y="2562091"/>
                </a:lnTo>
                <a:lnTo>
                  <a:pt x="727438" y="2591909"/>
                </a:lnTo>
                <a:lnTo>
                  <a:pt x="762018" y="2620998"/>
                </a:lnTo>
                <a:lnTo>
                  <a:pt x="797230" y="2649348"/>
                </a:lnTo>
                <a:lnTo>
                  <a:pt x="833062" y="2676945"/>
                </a:lnTo>
                <a:lnTo>
                  <a:pt x="869502" y="2703777"/>
                </a:lnTo>
                <a:lnTo>
                  <a:pt x="906539" y="2729834"/>
                </a:lnTo>
                <a:lnTo>
                  <a:pt x="944160" y="2755102"/>
                </a:lnTo>
                <a:lnTo>
                  <a:pt x="982353" y="2779569"/>
                </a:lnTo>
                <a:lnTo>
                  <a:pt x="1021106" y="2803224"/>
                </a:lnTo>
                <a:lnTo>
                  <a:pt x="1060407" y="2826055"/>
                </a:lnTo>
                <a:lnTo>
                  <a:pt x="1100245" y="2848049"/>
                </a:lnTo>
                <a:lnTo>
                  <a:pt x="1140606" y="2869195"/>
                </a:lnTo>
                <a:lnTo>
                  <a:pt x="1181480" y="2889480"/>
                </a:lnTo>
                <a:lnTo>
                  <a:pt x="1222854" y="2908893"/>
                </a:lnTo>
                <a:lnTo>
                  <a:pt x="1264716" y="2927422"/>
                </a:lnTo>
                <a:lnTo>
                  <a:pt x="1307053" y="2945054"/>
                </a:lnTo>
                <a:lnTo>
                  <a:pt x="1349856" y="2961778"/>
                </a:lnTo>
                <a:lnTo>
                  <a:pt x="1393110" y="2977581"/>
                </a:lnTo>
                <a:lnTo>
                  <a:pt x="1436804" y="2992451"/>
                </a:lnTo>
                <a:lnTo>
                  <a:pt x="1480926" y="3006377"/>
                </a:lnTo>
                <a:lnTo>
                  <a:pt x="1525464" y="3019347"/>
                </a:lnTo>
                <a:lnTo>
                  <a:pt x="1570406" y="3031348"/>
                </a:lnTo>
                <a:lnTo>
                  <a:pt x="1615740" y="3042368"/>
                </a:lnTo>
                <a:lnTo>
                  <a:pt x="1661455" y="3052396"/>
                </a:lnTo>
                <a:lnTo>
                  <a:pt x="1707537" y="3061419"/>
                </a:lnTo>
                <a:lnTo>
                  <a:pt x="1753975" y="3069426"/>
                </a:lnTo>
                <a:lnTo>
                  <a:pt x="1800757" y="3076404"/>
                </a:lnTo>
                <a:lnTo>
                  <a:pt x="1847871" y="3082342"/>
                </a:lnTo>
                <a:lnTo>
                  <a:pt x="1895305" y="3087227"/>
                </a:lnTo>
                <a:lnTo>
                  <a:pt x="1943047" y="3091047"/>
                </a:lnTo>
                <a:lnTo>
                  <a:pt x="1991085" y="3093791"/>
                </a:lnTo>
                <a:lnTo>
                  <a:pt x="2039407" y="3095446"/>
                </a:lnTo>
                <a:lnTo>
                  <a:pt x="2088000" y="3096000"/>
                </a:lnTo>
                <a:lnTo>
                  <a:pt x="2136594" y="3095446"/>
                </a:lnTo>
                <a:lnTo>
                  <a:pt x="2184915" y="3093791"/>
                </a:lnTo>
                <a:lnTo>
                  <a:pt x="2232953" y="3091047"/>
                </a:lnTo>
                <a:lnTo>
                  <a:pt x="2280695" y="3087227"/>
                </a:lnTo>
                <a:lnTo>
                  <a:pt x="2328129" y="3082342"/>
                </a:lnTo>
                <a:lnTo>
                  <a:pt x="2375243" y="3076404"/>
                </a:lnTo>
                <a:lnTo>
                  <a:pt x="2422025" y="3069426"/>
                </a:lnTo>
                <a:lnTo>
                  <a:pt x="2468463" y="3061419"/>
                </a:lnTo>
                <a:lnTo>
                  <a:pt x="2514545" y="3052396"/>
                </a:lnTo>
                <a:lnTo>
                  <a:pt x="2560259" y="3042368"/>
                </a:lnTo>
                <a:lnTo>
                  <a:pt x="2605594" y="3031348"/>
                </a:lnTo>
                <a:lnTo>
                  <a:pt x="2650536" y="3019347"/>
                </a:lnTo>
                <a:lnTo>
                  <a:pt x="2695074" y="3006377"/>
                </a:lnTo>
                <a:lnTo>
                  <a:pt x="2736000" y="2993460"/>
                </a:lnTo>
                <a:lnTo>
                  <a:pt x="2736000" y="0"/>
                </a:lnTo>
                <a:close/>
              </a:path>
            </a:pathLst>
          </a:custGeom>
          <a:solidFill>
            <a:srgbClr val="336B4C">
              <a:alpha val="15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8172000"/>
            <a:ext cx="2520315" cy="2520315"/>
          </a:xfrm>
          <a:custGeom>
            <a:avLst/>
            <a:gdLst/>
            <a:ahLst/>
            <a:cxnLst/>
            <a:rect l="l" t="t" r="r" b="b"/>
            <a:pathLst>
              <a:path w="2520315" h="2520315">
                <a:moveTo>
                  <a:pt x="1008000" y="0"/>
                </a:moveTo>
                <a:lnTo>
                  <a:pt x="960002" y="747"/>
                </a:lnTo>
                <a:lnTo>
                  <a:pt x="912378" y="2974"/>
                </a:lnTo>
                <a:lnTo>
                  <a:pt x="865149" y="6659"/>
                </a:lnTo>
                <a:lnTo>
                  <a:pt x="818337" y="11780"/>
                </a:lnTo>
                <a:lnTo>
                  <a:pt x="771965" y="18314"/>
                </a:lnTo>
                <a:lnTo>
                  <a:pt x="726054" y="26240"/>
                </a:lnTo>
                <a:lnTo>
                  <a:pt x="680627" y="35535"/>
                </a:lnTo>
                <a:lnTo>
                  <a:pt x="635706" y="46177"/>
                </a:lnTo>
                <a:lnTo>
                  <a:pt x="591312" y="58145"/>
                </a:lnTo>
                <a:lnTo>
                  <a:pt x="547469" y="71414"/>
                </a:lnTo>
                <a:lnTo>
                  <a:pt x="504198" y="85965"/>
                </a:lnTo>
                <a:lnTo>
                  <a:pt x="461521" y="101774"/>
                </a:lnTo>
                <a:lnTo>
                  <a:pt x="419461" y="118820"/>
                </a:lnTo>
                <a:lnTo>
                  <a:pt x="378039" y="137080"/>
                </a:lnTo>
                <a:lnTo>
                  <a:pt x="337279" y="156532"/>
                </a:lnTo>
                <a:lnTo>
                  <a:pt x="297201" y="177154"/>
                </a:lnTo>
                <a:lnTo>
                  <a:pt x="257828" y="198924"/>
                </a:lnTo>
                <a:lnTo>
                  <a:pt x="219182" y="221820"/>
                </a:lnTo>
                <a:lnTo>
                  <a:pt x="181286" y="245819"/>
                </a:lnTo>
                <a:lnTo>
                  <a:pt x="144161" y="270900"/>
                </a:lnTo>
                <a:lnTo>
                  <a:pt x="107830" y="297040"/>
                </a:lnTo>
                <a:lnTo>
                  <a:pt x="72315" y="324217"/>
                </a:lnTo>
                <a:lnTo>
                  <a:pt x="37637" y="352409"/>
                </a:lnTo>
                <a:lnTo>
                  <a:pt x="3820" y="381594"/>
                </a:lnTo>
                <a:lnTo>
                  <a:pt x="0" y="385092"/>
                </a:lnTo>
                <a:lnTo>
                  <a:pt x="0" y="2520000"/>
                </a:lnTo>
                <a:lnTo>
                  <a:pt x="2134907" y="2520000"/>
                </a:lnTo>
                <a:lnTo>
                  <a:pt x="2138405" y="2516179"/>
                </a:lnTo>
                <a:lnTo>
                  <a:pt x="2167590" y="2482362"/>
                </a:lnTo>
                <a:lnTo>
                  <a:pt x="2195782" y="2447684"/>
                </a:lnTo>
                <a:lnTo>
                  <a:pt x="2222960" y="2412169"/>
                </a:lnTo>
                <a:lnTo>
                  <a:pt x="2249100" y="2375838"/>
                </a:lnTo>
                <a:lnTo>
                  <a:pt x="2274180" y="2338713"/>
                </a:lnTo>
                <a:lnTo>
                  <a:pt x="2298179" y="2300817"/>
                </a:lnTo>
                <a:lnTo>
                  <a:pt x="2321075" y="2262171"/>
                </a:lnTo>
                <a:lnTo>
                  <a:pt x="2342845" y="2222798"/>
                </a:lnTo>
                <a:lnTo>
                  <a:pt x="2363467" y="2182721"/>
                </a:lnTo>
                <a:lnTo>
                  <a:pt x="2382919" y="2141960"/>
                </a:lnTo>
                <a:lnTo>
                  <a:pt x="2401179" y="2100538"/>
                </a:lnTo>
                <a:lnTo>
                  <a:pt x="2418225" y="2058478"/>
                </a:lnTo>
                <a:lnTo>
                  <a:pt x="2434034" y="2015801"/>
                </a:lnTo>
                <a:lnTo>
                  <a:pt x="2448585" y="1972530"/>
                </a:lnTo>
                <a:lnTo>
                  <a:pt x="2461855" y="1928687"/>
                </a:lnTo>
                <a:lnTo>
                  <a:pt x="2473822" y="1884293"/>
                </a:lnTo>
                <a:lnTo>
                  <a:pt x="2484464" y="1839372"/>
                </a:lnTo>
                <a:lnTo>
                  <a:pt x="2493759" y="1793945"/>
                </a:lnTo>
                <a:lnTo>
                  <a:pt x="2501685" y="1748034"/>
                </a:lnTo>
                <a:lnTo>
                  <a:pt x="2508219" y="1701662"/>
                </a:lnTo>
                <a:lnTo>
                  <a:pt x="2513340" y="1654850"/>
                </a:lnTo>
                <a:lnTo>
                  <a:pt x="2517025" y="1607621"/>
                </a:lnTo>
                <a:lnTo>
                  <a:pt x="2519252" y="1559997"/>
                </a:lnTo>
                <a:lnTo>
                  <a:pt x="2520000" y="1512000"/>
                </a:lnTo>
                <a:lnTo>
                  <a:pt x="2519252" y="1464002"/>
                </a:lnTo>
                <a:lnTo>
                  <a:pt x="2517025" y="1416378"/>
                </a:lnTo>
                <a:lnTo>
                  <a:pt x="2513340" y="1369149"/>
                </a:lnTo>
                <a:lnTo>
                  <a:pt x="2508219" y="1322337"/>
                </a:lnTo>
                <a:lnTo>
                  <a:pt x="2501685" y="1275965"/>
                </a:lnTo>
                <a:lnTo>
                  <a:pt x="2493759" y="1230054"/>
                </a:lnTo>
                <a:lnTo>
                  <a:pt x="2484464" y="1184627"/>
                </a:lnTo>
                <a:lnTo>
                  <a:pt x="2473822" y="1139706"/>
                </a:lnTo>
                <a:lnTo>
                  <a:pt x="2461855" y="1095312"/>
                </a:lnTo>
                <a:lnTo>
                  <a:pt x="2448585" y="1051469"/>
                </a:lnTo>
                <a:lnTo>
                  <a:pt x="2434034" y="1008198"/>
                </a:lnTo>
                <a:lnTo>
                  <a:pt x="2418225" y="965521"/>
                </a:lnTo>
                <a:lnTo>
                  <a:pt x="2401179" y="923461"/>
                </a:lnTo>
                <a:lnTo>
                  <a:pt x="2382919" y="882039"/>
                </a:lnTo>
                <a:lnTo>
                  <a:pt x="2363467" y="841279"/>
                </a:lnTo>
                <a:lnTo>
                  <a:pt x="2342845" y="801201"/>
                </a:lnTo>
                <a:lnTo>
                  <a:pt x="2321075" y="761828"/>
                </a:lnTo>
                <a:lnTo>
                  <a:pt x="2298179" y="723182"/>
                </a:lnTo>
                <a:lnTo>
                  <a:pt x="2274180" y="685286"/>
                </a:lnTo>
                <a:lnTo>
                  <a:pt x="2249100" y="648161"/>
                </a:lnTo>
                <a:lnTo>
                  <a:pt x="2222960" y="611830"/>
                </a:lnTo>
                <a:lnTo>
                  <a:pt x="2195782" y="576315"/>
                </a:lnTo>
                <a:lnTo>
                  <a:pt x="2167590" y="541638"/>
                </a:lnTo>
                <a:lnTo>
                  <a:pt x="2138405" y="507820"/>
                </a:lnTo>
                <a:lnTo>
                  <a:pt x="2108249" y="474885"/>
                </a:lnTo>
                <a:lnTo>
                  <a:pt x="2077145" y="442854"/>
                </a:lnTo>
                <a:lnTo>
                  <a:pt x="2045114" y="411750"/>
                </a:lnTo>
                <a:lnTo>
                  <a:pt x="2012179" y="381594"/>
                </a:lnTo>
                <a:lnTo>
                  <a:pt x="1978361" y="352409"/>
                </a:lnTo>
                <a:lnTo>
                  <a:pt x="1943684" y="324217"/>
                </a:lnTo>
                <a:lnTo>
                  <a:pt x="1908169" y="297040"/>
                </a:lnTo>
                <a:lnTo>
                  <a:pt x="1871838" y="270900"/>
                </a:lnTo>
                <a:lnTo>
                  <a:pt x="1834713" y="245819"/>
                </a:lnTo>
                <a:lnTo>
                  <a:pt x="1796817" y="221820"/>
                </a:lnTo>
                <a:lnTo>
                  <a:pt x="1758171" y="198924"/>
                </a:lnTo>
                <a:lnTo>
                  <a:pt x="1718798" y="177154"/>
                </a:lnTo>
                <a:lnTo>
                  <a:pt x="1678720" y="156532"/>
                </a:lnTo>
                <a:lnTo>
                  <a:pt x="1637960" y="137080"/>
                </a:lnTo>
                <a:lnTo>
                  <a:pt x="1596538" y="118820"/>
                </a:lnTo>
                <a:lnTo>
                  <a:pt x="1554478" y="101774"/>
                </a:lnTo>
                <a:lnTo>
                  <a:pt x="1511801" y="85965"/>
                </a:lnTo>
                <a:lnTo>
                  <a:pt x="1468530" y="71414"/>
                </a:lnTo>
                <a:lnTo>
                  <a:pt x="1424687" y="58145"/>
                </a:lnTo>
                <a:lnTo>
                  <a:pt x="1380293" y="46177"/>
                </a:lnTo>
                <a:lnTo>
                  <a:pt x="1335372" y="35535"/>
                </a:lnTo>
                <a:lnTo>
                  <a:pt x="1289945" y="26240"/>
                </a:lnTo>
                <a:lnTo>
                  <a:pt x="1244034" y="18314"/>
                </a:lnTo>
                <a:lnTo>
                  <a:pt x="1197662" y="11780"/>
                </a:lnTo>
                <a:lnTo>
                  <a:pt x="1150850" y="6659"/>
                </a:lnTo>
                <a:lnTo>
                  <a:pt x="1103621" y="2974"/>
                </a:lnTo>
                <a:lnTo>
                  <a:pt x="1055997" y="747"/>
                </a:lnTo>
                <a:lnTo>
                  <a:pt x="1008000" y="0"/>
                </a:lnTo>
                <a:close/>
              </a:path>
            </a:pathLst>
          </a:custGeom>
          <a:solidFill>
            <a:srgbClr val="B7870A">
              <a:alpha val="7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6" name="object 6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791999" y="1475999"/>
              <a:ext cx="1137920" cy="1296035"/>
            </a:xfrm>
            <a:custGeom>
              <a:avLst/>
              <a:gdLst/>
              <a:ahLst/>
              <a:cxnLst/>
              <a:rect l="l" t="t" r="r" b="b"/>
              <a:pathLst>
                <a:path w="1137920" h="1296035">
                  <a:moveTo>
                    <a:pt x="10994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257900"/>
                  </a:lnTo>
                  <a:lnTo>
                    <a:pt x="2991" y="1272739"/>
                  </a:lnTo>
                  <a:lnTo>
                    <a:pt x="11151" y="1284848"/>
                  </a:lnTo>
                  <a:lnTo>
                    <a:pt x="23261" y="1293009"/>
                  </a:lnTo>
                  <a:lnTo>
                    <a:pt x="38100" y="1296000"/>
                  </a:lnTo>
                  <a:lnTo>
                    <a:pt x="1099499" y="1296000"/>
                  </a:lnTo>
                  <a:lnTo>
                    <a:pt x="1114338" y="1293009"/>
                  </a:lnTo>
                  <a:lnTo>
                    <a:pt x="1126448" y="1284848"/>
                  </a:lnTo>
                  <a:lnTo>
                    <a:pt x="1134608" y="1272739"/>
                  </a:lnTo>
                  <a:lnTo>
                    <a:pt x="1137599" y="1257900"/>
                  </a:lnTo>
                  <a:lnTo>
                    <a:pt x="1137599" y="38100"/>
                  </a:lnTo>
                  <a:lnTo>
                    <a:pt x="1134608" y="23261"/>
                  </a:lnTo>
                  <a:lnTo>
                    <a:pt x="1126448" y="11151"/>
                  </a:lnTo>
                  <a:lnTo>
                    <a:pt x="1114338" y="2991"/>
                  </a:lnTo>
                  <a:lnTo>
                    <a:pt x="10994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91999" y="1475999"/>
              <a:ext cx="1137920" cy="25400"/>
            </a:xfrm>
            <a:custGeom>
              <a:avLst/>
              <a:gdLst/>
              <a:ahLst/>
              <a:cxnLst/>
              <a:rect l="l" t="t" r="r" b="b"/>
              <a:pathLst>
                <a:path w="1137920" h="25400">
                  <a:moveTo>
                    <a:pt x="11375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37599" y="25400"/>
                  </a:lnTo>
                  <a:lnTo>
                    <a:pt x="1137599" y="0"/>
                  </a:lnTo>
                  <a:close/>
                </a:path>
              </a:pathLst>
            </a:custGeom>
            <a:solidFill>
              <a:srgbClr val="2D69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9299" y="402400"/>
            <a:ext cx="10490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06</a:t>
            </a:r>
            <a:r>
              <a:rPr sz="700" b="1" spc="150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5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OUTCOMES</a:t>
            </a:r>
            <a:r>
              <a:rPr sz="700" b="1" spc="-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&amp;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IMPACT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79298" y="675700"/>
            <a:ext cx="6885151" cy="4360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u="sng" spc="5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Transforming</a:t>
            </a:r>
            <a:r>
              <a:rPr sz="2700" u="sng" spc="-3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700" u="sng" spc="-3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L</a:t>
            </a:r>
            <a:r>
              <a:rPr sz="2700" spc="-30" dirty="0">
                <a:latin typeface="Felix Titling" panose="04060505060202020A04" pitchFamily="82" charset="0"/>
              </a:rPr>
              <a:t>and, </a:t>
            </a:r>
            <a:r>
              <a:rPr sz="2700" dirty="0">
                <a:latin typeface="Felix Titling" panose="04060505060202020A04" pitchFamily="82" charset="0"/>
              </a:rPr>
              <a:t>Water</a:t>
            </a:r>
            <a:r>
              <a:rPr sz="2700" spc="-30" dirty="0">
                <a:latin typeface="Felix Titling" panose="04060505060202020A04" pitchFamily="82" charset="0"/>
              </a:rPr>
              <a:t> </a:t>
            </a:r>
            <a:r>
              <a:rPr lang="en-IN" sz="2700" spc="-114" dirty="0">
                <a:latin typeface="Felix Titling" panose="04060505060202020A04" pitchFamily="82" charset="0"/>
              </a:rPr>
              <a:t>&amp;</a:t>
            </a:r>
            <a:r>
              <a:rPr sz="2700" spc="-30" dirty="0">
                <a:latin typeface="Felix Titling" panose="04060505060202020A04" pitchFamily="82" charset="0"/>
              </a:rPr>
              <a:t> </a:t>
            </a:r>
            <a:r>
              <a:rPr sz="2700" spc="-10" dirty="0">
                <a:latin typeface="Felix Titling" panose="04060505060202020A04" pitchFamily="82" charset="0"/>
              </a:rPr>
              <a:t>Lives</a:t>
            </a:r>
            <a:endParaRPr sz="2700" dirty="0">
              <a:latin typeface="Felix Titling" panose="04060505060202020A04" pitchFamily="82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180" y="1574763"/>
            <a:ext cx="1137920" cy="115429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18</a:t>
            </a:r>
            <a:endParaRPr sz="20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750" b="1" spc="-1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Acres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marL="12065" marR="5080" algn="ctr">
              <a:lnSpc>
                <a:spcPts val="1420"/>
              </a:lnSpc>
              <a:spcBef>
                <a:spcPts val="75"/>
              </a:spcBef>
            </a:pP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Barren land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converted</a:t>
            </a:r>
            <a:r>
              <a:rPr sz="650" spc="5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to cultivable</a:t>
            </a:r>
            <a:r>
              <a:rPr sz="650" spc="5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farmland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01599" y="1476000"/>
            <a:ext cx="1137920" cy="1296035"/>
            <a:chOff x="2001599" y="1476000"/>
            <a:chExt cx="1137920" cy="1296035"/>
          </a:xfrm>
        </p:grpSpPr>
        <p:sp>
          <p:nvSpPr>
            <p:cNvPr id="13" name="object 13"/>
            <p:cNvSpPr/>
            <p:nvPr/>
          </p:nvSpPr>
          <p:spPr>
            <a:xfrm>
              <a:off x="2001599" y="1476000"/>
              <a:ext cx="1137920" cy="1296035"/>
            </a:xfrm>
            <a:custGeom>
              <a:avLst/>
              <a:gdLst/>
              <a:ahLst/>
              <a:cxnLst/>
              <a:rect l="l" t="t" r="r" b="b"/>
              <a:pathLst>
                <a:path w="1137920" h="1296035">
                  <a:moveTo>
                    <a:pt x="10994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257900"/>
                  </a:lnTo>
                  <a:lnTo>
                    <a:pt x="2991" y="1272739"/>
                  </a:lnTo>
                  <a:lnTo>
                    <a:pt x="11151" y="1284848"/>
                  </a:lnTo>
                  <a:lnTo>
                    <a:pt x="23261" y="1293009"/>
                  </a:lnTo>
                  <a:lnTo>
                    <a:pt x="38100" y="1296000"/>
                  </a:lnTo>
                  <a:lnTo>
                    <a:pt x="1099499" y="1296000"/>
                  </a:lnTo>
                  <a:lnTo>
                    <a:pt x="1114338" y="1293009"/>
                  </a:lnTo>
                  <a:lnTo>
                    <a:pt x="1126448" y="1284848"/>
                  </a:lnTo>
                  <a:lnTo>
                    <a:pt x="1134608" y="1272739"/>
                  </a:lnTo>
                  <a:lnTo>
                    <a:pt x="1137599" y="1257900"/>
                  </a:lnTo>
                  <a:lnTo>
                    <a:pt x="1137599" y="38100"/>
                  </a:lnTo>
                  <a:lnTo>
                    <a:pt x="1134608" y="23261"/>
                  </a:lnTo>
                  <a:lnTo>
                    <a:pt x="1126448" y="11151"/>
                  </a:lnTo>
                  <a:lnTo>
                    <a:pt x="1114338" y="2991"/>
                  </a:lnTo>
                  <a:lnTo>
                    <a:pt x="10994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001599" y="1476000"/>
              <a:ext cx="1137920" cy="25400"/>
            </a:xfrm>
            <a:custGeom>
              <a:avLst/>
              <a:gdLst/>
              <a:ahLst/>
              <a:cxnLst/>
              <a:rect l="l" t="t" r="r" b="b"/>
              <a:pathLst>
                <a:path w="1137920" h="25400">
                  <a:moveTo>
                    <a:pt x="11375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37599" y="25400"/>
                  </a:lnTo>
                  <a:lnTo>
                    <a:pt x="1137599" y="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43927" y="1574763"/>
            <a:ext cx="1042989" cy="974754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190"/>
              </a:spcBef>
            </a:pPr>
            <a:r>
              <a:rPr lang="en-US"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  98</a:t>
            </a:r>
            <a:endParaRPr lang="en-US" sz="2000" dirty="0">
              <a:latin typeface="Felix Titling" panose="04060505060202020A04" pitchFamily="82" charset="0"/>
              <a:cs typeface="Times New Roman"/>
            </a:endParaRPr>
          </a:p>
          <a:p>
            <a:pPr marL="12700" marR="5080" indent="163195" algn="l">
              <a:lnSpc>
                <a:spcPts val="1420"/>
              </a:lnSpc>
            </a:pPr>
            <a:r>
              <a:rPr lang="en-US" sz="750" b="1" spc="-1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   Households</a:t>
            </a:r>
            <a:r>
              <a:rPr lang="en-US" sz="750" b="1" spc="50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   </a:t>
            </a:r>
            <a:r>
              <a:rPr lang="en-US"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Direct </a:t>
            </a:r>
            <a:r>
              <a:rPr lang="en-US"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beneficiaries</a:t>
            </a:r>
            <a:r>
              <a:rPr lang="en-US" sz="650" spc="5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lang="en-US"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from</a:t>
            </a:r>
            <a:r>
              <a:rPr lang="en-US"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lang="en-US"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desilted</a:t>
            </a:r>
            <a:r>
              <a:rPr lang="en-US" sz="650" spc="-5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lang="en-US" sz="650" spc="-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soil</a:t>
            </a:r>
            <a:endParaRPr lang="en-US"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11200" y="1476000"/>
            <a:ext cx="1137920" cy="1296035"/>
            <a:chOff x="3211200" y="1476000"/>
            <a:chExt cx="1137920" cy="1296035"/>
          </a:xfrm>
        </p:grpSpPr>
        <p:sp>
          <p:nvSpPr>
            <p:cNvPr id="17" name="object 17"/>
            <p:cNvSpPr/>
            <p:nvPr/>
          </p:nvSpPr>
          <p:spPr>
            <a:xfrm>
              <a:off x="3211200" y="1476000"/>
              <a:ext cx="1137920" cy="1296035"/>
            </a:xfrm>
            <a:custGeom>
              <a:avLst/>
              <a:gdLst/>
              <a:ahLst/>
              <a:cxnLst/>
              <a:rect l="l" t="t" r="r" b="b"/>
              <a:pathLst>
                <a:path w="1137920" h="1296035">
                  <a:moveTo>
                    <a:pt x="10994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257900"/>
                  </a:lnTo>
                  <a:lnTo>
                    <a:pt x="2991" y="1272739"/>
                  </a:lnTo>
                  <a:lnTo>
                    <a:pt x="11151" y="1284848"/>
                  </a:lnTo>
                  <a:lnTo>
                    <a:pt x="23261" y="1293009"/>
                  </a:lnTo>
                  <a:lnTo>
                    <a:pt x="38100" y="1296000"/>
                  </a:lnTo>
                  <a:lnTo>
                    <a:pt x="1099499" y="1296000"/>
                  </a:lnTo>
                  <a:lnTo>
                    <a:pt x="1114338" y="1293009"/>
                  </a:lnTo>
                  <a:lnTo>
                    <a:pt x="1126448" y="1284848"/>
                  </a:lnTo>
                  <a:lnTo>
                    <a:pt x="1134608" y="1272739"/>
                  </a:lnTo>
                  <a:lnTo>
                    <a:pt x="1137599" y="1257900"/>
                  </a:lnTo>
                  <a:lnTo>
                    <a:pt x="1137599" y="38100"/>
                  </a:lnTo>
                  <a:lnTo>
                    <a:pt x="1134608" y="23261"/>
                  </a:lnTo>
                  <a:lnTo>
                    <a:pt x="1126448" y="11151"/>
                  </a:lnTo>
                  <a:lnTo>
                    <a:pt x="1114338" y="2991"/>
                  </a:lnTo>
                  <a:lnTo>
                    <a:pt x="10994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11200" y="1476000"/>
              <a:ext cx="1137920" cy="25400"/>
            </a:xfrm>
            <a:custGeom>
              <a:avLst/>
              <a:gdLst/>
              <a:ahLst/>
              <a:cxnLst/>
              <a:rect l="l" t="t" r="r" b="b"/>
              <a:pathLst>
                <a:path w="1137920" h="25400">
                  <a:moveTo>
                    <a:pt x="11375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37599" y="25400"/>
                  </a:lnTo>
                  <a:lnTo>
                    <a:pt x="1137599" y="0"/>
                  </a:lnTo>
                  <a:close/>
                </a:path>
              </a:pathLst>
            </a:custGeom>
            <a:solidFill>
              <a:srgbClr val="2A5D8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55099" y="1574763"/>
            <a:ext cx="1042938" cy="974754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19</a:t>
            </a:r>
            <a:r>
              <a:rPr lang="en-US"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,</a:t>
            </a:r>
            <a:r>
              <a:rPr lang="en-IN"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000</a:t>
            </a:r>
            <a:endParaRPr sz="20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750" b="1" spc="-25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marL="12700" marR="5080" algn="ctr">
              <a:lnSpc>
                <a:spcPts val="1420"/>
              </a:lnSpc>
              <a:spcBef>
                <a:spcPts val="75"/>
              </a:spcBef>
            </a:pP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Nala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deepening</a:t>
            </a:r>
            <a:r>
              <a:rPr sz="650" spc="-5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spc="-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&amp;</a:t>
            </a:r>
            <a:r>
              <a:rPr sz="650" spc="5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widening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completed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20800" y="1476000"/>
            <a:ext cx="1137920" cy="1296035"/>
            <a:chOff x="4420800" y="1476000"/>
            <a:chExt cx="1137920" cy="1296035"/>
          </a:xfrm>
        </p:grpSpPr>
        <p:sp>
          <p:nvSpPr>
            <p:cNvPr id="21" name="object 21"/>
            <p:cNvSpPr/>
            <p:nvPr/>
          </p:nvSpPr>
          <p:spPr>
            <a:xfrm>
              <a:off x="4420800" y="1476000"/>
              <a:ext cx="1137920" cy="1296035"/>
            </a:xfrm>
            <a:custGeom>
              <a:avLst/>
              <a:gdLst/>
              <a:ahLst/>
              <a:cxnLst/>
              <a:rect l="l" t="t" r="r" b="b"/>
              <a:pathLst>
                <a:path w="1137920" h="1296035">
                  <a:moveTo>
                    <a:pt x="10994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257900"/>
                  </a:lnTo>
                  <a:lnTo>
                    <a:pt x="2991" y="1272739"/>
                  </a:lnTo>
                  <a:lnTo>
                    <a:pt x="11151" y="1284848"/>
                  </a:lnTo>
                  <a:lnTo>
                    <a:pt x="23261" y="1293009"/>
                  </a:lnTo>
                  <a:lnTo>
                    <a:pt x="38100" y="1296000"/>
                  </a:lnTo>
                  <a:lnTo>
                    <a:pt x="1099499" y="1296000"/>
                  </a:lnTo>
                  <a:lnTo>
                    <a:pt x="1114338" y="1293009"/>
                  </a:lnTo>
                  <a:lnTo>
                    <a:pt x="1126448" y="1284848"/>
                  </a:lnTo>
                  <a:lnTo>
                    <a:pt x="1134608" y="1272739"/>
                  </a:lnTo>
                  <a:lnTo>
                    <a:pt x="1137599" y="1257900"/>
                  </a:lnTo>
                  <a:lnTo>
                    <a:pt x="1137599" y="38100"/>
                  </a:lnTo>
                  <a:lnTo>
                    <a:pt x="1134608" y="23261"/>
                  </a:lnTo>
                  <a:lnTo>
                    <a:pt x="1126448" y="11151"/>
                  </a:lnTo>
                  <a:lnTo>
                    <a:pt x="1114338" y="2991"/>
                  </a:lnTo>
                  <a:lnTo>
                    <a:pt x="10994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420800" y="1476000"/>
              <a:ext cx="1137920" cy="25400"/>
            </a:xfrm>
            <a:custGeom>
              <a:avLst/>
              <a:gdLst/>
              <a:ahLst/>
              <a:cxnLst/>
              <a:rect l="l" t="t" r="r" b="b"/>
              <a:pathLst>
                <a:path w="1137920" h="25400">
                  <a:moveTo>
                    <a:pt x="11375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37599" y="25400"/>
                  </a:lnTo>
                  <a:lnTo>
                    <a:pt x="1137599" y="0"/>
                  </a:lnTo>
                  <a:close/>
                </a:path>
              </a:pathLst>
            </a:custGeom>
            <a:solidFill>
              <a:srgbClr val="59498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88106" y="1574763"/>
            <a:ext cx="996378" cy="974754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19</a:t>
            </a:r>
            <a:r>
              <a:rPr lang="en-US"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,</a:t>
            </a:r>
            <a:r>
              <a:rPr lang="en-IN" sz="2000" b="1" spc="-25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000</a:t>
            </a:r>
            <a:endParaRPr sz="20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750" b="1" spc="-25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marL="12065" marR="5080" algn="ctr">
              <a:lnSpc>
                <a:spcPts val="1420"/>
              </a:lnSpc>
              <a:spcBef>
                <a:spcPts val="75"/>
              </a:spcBef>
            </a:pP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Desilting of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existing</a:t>
            </a:r>
            <a:r>
              <a:rPr sz="650" spc="5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water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bodies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30400" y="1476000"/>
            <a:ext cx="1137920" cy="1296035"/>
            <a:chOff x="5630400" y="1476000"/>
            <a:chExt cx="1137920" cy="1296035"/>
          </a:xfrm>
        </p:grpSpPr>
        <p:sp>
          <p:nvSpPr>
            <p:cNvPr id="25" name="object 25"/>
            <p:cNvSpPr/>
            <p:nvPr/>
          </p:nvSpPr>
          <p:spPr>
            <a:xfrm>
              <a:off x="5630400" y="1476000"/>
              <a:ext cx="1137920" cy="1296035"/>
            </a:xfrm>
            <a:custGeom>
              <a:avLst/>
              <a:gdLst/>
              <a:ahLst/>
              <a:cxnLst/>
              <a:rect l="l" t="t" r="r" b="b"/>
              <a:pathLst>
                <a:path w="1137920" h="1296035">
                  <a:moveTo>
                    <a:pt x="10994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257900"/>
                  </a:lnTo>
                  <a:lnTo>
                    <a:pt x="2991" y="1272739"/>
                  </a:lnTo>
                  <a:lnTo>
                    <a:pt x="11151" y="1284848"/>
                  </a:lnTo>
                  <a:lnTo>
                    <a:pt x="23261" y="1293009"/>
                  </a:lnTo>
                  <a:lnTo>
                    <a:pt x="38100" y="1296000"/>
                  </a:lnTo>
                  <a:lnTo>
                    <a:pt x="1099499" y="1296000"/>
                  </a:lnTo>
                  <a:lnTo>
                    <a:pt x="1114338" y="1293009"/>
                  </a:lnTo>
                  <a:lnTo>
                    <a:pt x="1126448" y="1284848"/>
                  </a:lnTo>
                  <a:lnTo>
                    <a:pt x="1134608" y="1272739"/>
                  </a:lnTo>
                  <a:lnTo>
                    <a:pt x="1137599" y="1257900"/>
                  </a:lnTo>
                  <a:lnTo>
                    <a:pt x="1137599" y="38100"/>
                  </a:lnTo>
                  <a:lnTo>
                    <a:pt x="1134608" y="23261"/>
                  </a:lnTo>
                  <a:lnTo>
                    <a:pt x="1126448" y="11151"/>
                  </a:lnTo>
                  <a:lnTo>
                    <a:pt x="1114338" y="2991"/>
                  </a:lnTo>
                  <a:lnTo>
                    <a:pt x="10994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5630400" y="1476000"/>
              <a:ext cx="1137920" cy="25400"/>
            </a:xfrm>
            <a:custGeom>
              <a:avLst/>
              <a:gdLst/>
              <a:ahLst/>
              <a:cxnLst/>
              <a:rect l="l" t="t" r="r" b="b"/>
              <a:pathLst>
                <a:path w="1137920" h="25400">
                  <a:moveTo>
                    <a:pt x="11375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137599" y="25400"/>
                  </a:lnTo>
                  <a:lnTo>
                    <a:pt x="1137599" y="0"/>
                  </a:lnTo>
                  <a:close/>
                </a:path>
              </a:pathLst>
            </a:custGeom>
            <a:solidFill>
              <a:srgbClr val="3A6B5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748228" y="1574763"/>
            <a:ext cx="895809" cy="115429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000" b="1" spc="-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4</a:t>
            </a:r>
            <a:r>
              <a:rPr lang="en-IN" sz="2000" b="1" spc="-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,</a:t>
            </a:r>
            <a:r>
              <a:rPr sz="2000" b="1" spc="-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5</a:t>
            </a:r>
            <a:r>
              <a:rPr lang="en-IN" sz="2000" b="1" spc="-20" dirty="0">
                <a:solidFill>
                  <a:srgbClr val="FFFFFF"/>
                </a:solidFill>
                <a:latin typeface="Felix Titling" panose="04060505060202020A04" pitchFamily="82" charset="0"/>
                <a:cs typeface="Times New Roman"/>
              </a:rPr>
              <a:t>00</a:t>
            </a:r>
            <a:endParaRPr sz="2000" dirty="0">
              <a:latin typeface="Felix Titling" panose="04060505060202020A04" pitchFamily="82" charset="0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750" b="1" spc="-25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m³</a:t>
            </a:r>
            <a:endParaRPr sz="750" dirty="0">
              <a:latin typeface="Felix Titling" panose="04060505060202020A04" pitchFamily="82" charset="0"/>
              <a:cs typeface="Calibri"/>
            </a:endParaRPr>
          </a:p>
          <a:p>
            <a:pPr marL="12700" marR="5715" algn="ctr">
              <a:lnSpc>
                <a:spcPts val="1420"/>
              </a:lnSpc>
              <a:spcBef>
                <a:spcPts val="75"/>
              </a:spcBef>
            </a:pPr>
            <a:r>
              <a:rPr sz="65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Contour</a:t>
            </a:r>
            <a:r>
              <a:rPr sz="650" spc="2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trenches</a:t>
            </a:r>
            <a:r>
              <a:rPr sz="650" spc="50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650" spc="-10" dirty="0">
                <a:solidFill>
                  <a:srgbClr val="C8E6CF"/>
                </a:solidFill>
                <a:latin typeface="Felix Titling" panose="04060505060202020A04" pitchFamily="82" charset="0"/>
                <a:cs typeface="Calibri"/>
              </a:rPr>
              <a:t>constructed</a:t>
            </a:r>
            <a:endParaRPr sz="6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0758" y="3442976"/>
            <a:ext cx="1442787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Land</a:t>
            </a:r>
            <a:r>
              <a:rPr sz="900" b="1" spc="-2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spc="-1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Reclamation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03458" y="3622342"/>
            <a:ext cx="1124049" cy="45719"/>
          </a:xfrm>
          <a:custGeom>
            <a:avLst/>
            <a:gdLst/>
            <a:ahLst/>
            <a:cxnLst/>
            <a:rect l="l" t="t" r="r" b="b"/>
            <a:pathLst>
              <a:path w="1008380" h="10160">
                <a:moveTo>
                  <a:pt x="1008000" y="0"/>
                </a:moveTo>
                <a:lnTo>
                  <a:pt x="0" y="0"/>
                </a:lnTo>
                <a:lnTo>
                  <a:pt x="0" y="10159"/>
                </a:lnTo>
                <a:lnTo>
                  <a:pt x="1008000" y="10159"/>
                </a:lnTo>
                <a:lnTo>
                  <a:pt x="1008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3137" y="3741982"/>
            <a:ext cx="3013982" cy="662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100"/>
              </a:spcBef>
            </a:pP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Through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19,000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50" spc="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desilting,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nutrient-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rich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soil</a:t>
            </a:r>
            <a:r>
              <a:rPr sz="850" spc="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was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distributed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across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18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acres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barren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land,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directly expanding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the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cultivable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area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for </a:t>
            </a:r>
            <a:r>
              <a:rPr lang="en-IN"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98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beneficiary</a:t>
            </a:r>
            <a:r>
              <a:rPr sz="850" spc="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families.</a:t>
            </a:r>
            <a:endParaRPr sz="8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58758" y="3466215"/>
            <a:ext cx="1670237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900" b="1" spc="-25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spc="-10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Infrastructure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71458" y="3622342"/>
            <a:ext cx="1124049" cy="45719"/>
          </a:xfrm>
          <a:custGeom>
            <a:avLst/>
            <a:gdLst/>
            <a:ahLst/>
            <a:cxnLst/>
            <a:rect l="l" t="t" r="r" b="b"/>
            <a:pathLst>
              <a:path w="1008379" h="10160">
                <a:moveTo>
                  <a:pt x="1008000" y="0"/>
                </a:moveTo>
                <a:lnTo>
                  <a:pt x="0" y="0"/>
                </a:lnTo>
                <a:lnTo>
                  <a:pt x="0" y="10159"/>
                </a:lnTo>
                <a:lnTo>
                  <a:pt x="1008000" y="10159"/>
                </a:lnTo>
                <a:lnTo>
                  <a:pt x="1008000" y="0"/>
                </a:lnTo>
                <a:close/>
              </a:path>
            </a:pathLst>
          </a:custGeom>
          <a:solidFill>
            <a:srgbClr val="74C69C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58758" y="3734169"/>
            <a:ext cx="3096091" cy="829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100"/>
              </a:spcBef>
            </a:pP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Combined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Nala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deepening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desilting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(38,000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m³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total)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has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dramatically</a:t>
            </a:r>
            <a:r>
              <a:rPr sz="850" spc="-3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improved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drainage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storage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across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Veloshi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watershed,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reducing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flood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risk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extending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irrigation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access.</a:t>
            </a:r>
            <a:endParaRPr sz="8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0759" y="4604060"/>
            <a:ext cx="161589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Climate</a:t>
            </a:r>
            <a:r>
              <a:rPr sz="900" b="1" spc="-3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spc="-10" dirty="0">
                <a:solidFill>
                  <a:srgbClr val="B8850A"/>
                </a:solidFill>
                <a:latin typeface="Felix Titling" panose="04060505060202020A04" pitchFamily="82" charset="0"/>
                <a:cs typeface="Calibri"/>
              </a:rPr>
              <a:t>Resilience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03458" y="4774342"/>
            <a:ext cx="1124049" cy="45719"/>
          </a:xfrm>
          <a:custGeom>
            <a:avLst/>
            <a:gdLst/>
            <a:ahLst/>
            <a:cxnLst/>
            <a:rect l="l" t="t" r="r" b="b"/>
            <a:pathLst>
              <a:path w="1008380" h="10160">
                <a:moveTo>
                  <a:pt x="1008000" y="0"/>
                </a:moveTo>
                <a:lnTo>
                  <a:pt x="0" y="0"/>
                </a:lnTo>
                <a:lnTo>
                  <a:pt x="0" y="10160"/>
                </a:lnTo>
                <a:lnTo>
                  <a:pt x="1008000" y="10160"/>
                </a:lnTo>
                <a:lnTo>
                  <a:pt x="1008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0759" y="4904056"/>
            <a:ext cx="3007611" cy="829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100"/>
              </a:spcBef>
            </a:pP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Pre-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monsoon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completion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Gabions,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Loose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Boulders,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2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SCT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means</a:t>
            </a:r>
            <a:r>
              <a:rPr sz="850" spc="-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watershed</a:t>
            </a:r>
            <a:r>
              <a:rPr sz="850" spc="-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now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harvests</a:t>
            </a:r>
            <a:r>
              <a:rPr sz="850" spc="-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-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retains rainfall,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reducing</a:t>
            </a:r>
            <a:r>
              <a:rPr sz="850" spc="-3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runoff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replenishing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groundwater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reserves.</a:t>
            </a:r>
            <a:endParaRPr sz="8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58759" y="4606829"/>
            <a:ext cx="187689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Community</a:t>
            </a:r>
            <a:r>
              <a:rPr sz="900" b="1" spc="-45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spc="-10" dirty="0">
                <a:solidFill>
                  <a:srgbClr val="74C69C"/>
                </a:solidFill>
                <a:latin typeface="Felix Titling" panose="04060505060202020A04" pitchFamily="82" charset="0"/>
                <a:cs typeface="Calibri"/>
              </a:rPr>
              <a:t>Empowerment</a:t>
            </a:r>
            <a:endParaRPr sz="90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971458" y="4774342"/>
            <a:ext cx="1124049" cy="45719"/>
          </a:xfrm>
          <a:custGeom>
            <a:avLst/>
            <a:gdLst/>
            <a:ahLst/>
            <a:cxnLst/>
            <a:rect l="l" t="t" r="r" b="b"/>
            <a:pathLst>
              <a:path w="1008379" h="10160">
                <a:moveTo>
                  <a:pt x="1008000" y="0"/>
                </a:moveTo>
                <a:lnTo>
                  <a:pt x="0" y="0"/>
                </a:lnTo>
                <a:lnTo>
                  <a:pt x="0" y="10160"/>
                </a:lnTo>
                <a:lnTo>
                  <a:pt x="1008000" y="10160"/>
                </a:lnTo>
                <a:lnTo>
                  <a:pt x="1008000" y="0"/>
                </a:lnTo>
                <a:close/>
              </a:path>
            </a:pathLst>
          </a:custGeom>
          <a:solidFill>
            <a:srgbClr val="74C69C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58758" y="4914279"/>
            <a:ext cx="3064946" cy="829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100"/>
              </a:spcBef>
            </a:pP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The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Farmer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Exposure</a:t>
            </a:r>
            <a:r>
              <a:rPr sz="850" spc="-3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Visit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equipped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local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stakeholders</a:t>
            </a:r>
            <a:r>
              <a:rPr sz="850" spc="-3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with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hands-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on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watershed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knowledge.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Water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User</a:t>
            </a:r>
            <a:r>
              <a:rPr sz="850" spc="-2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Group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formation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will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ensure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community-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led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maintenance</a:t>
            </a:r>
            <a:r>
              <a:rPr sz="850" spc="-15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completed</a:t>
            </a:r>
            <a:r>
              <a:rPr sz="850" spc="50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850" spc="-10" dirty="0">
                <a:solidFill>
                  <a:srgbClr val="CFEDD8"/>
                </a:solidFill>
                <a:latin typeface="Felix Titling" panose="04060505060202020A04" pitchFamily="82" charset="0"/>
                <a:cs typeface="Calibri"/>
              </a:rPr>
              <a:t>infrastructure.</a:t>
            </a:r>
            <a:endParaRPr sz="850" dirty="0">
              <a:latin typeface="Felix Titling" panose="04060505060202020A04" pitchFamily="82" charset="0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10331999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sp>
        <p:nvSpPr>
          <p:cNvPr id="50" name="object 8">
            <a:extLst>
              <a:ext uri="{FF2B5EF4-FFF2-40B4-BE49-F238E27FC236}">
                <a16:creationId xmlns:a16="http://schemas.microsoft.com/office/drawing/2014/main" id="{193DA63E-1434-5A73-F393-3638CDE30744}"/>
              </a:ext>
            </a:extLst>
          </p:cNvPr>
          <p:cNvSpPr txBox="1"/>
          <p:nvPr/>
        </p:nvSpPr>
        <p:spPr>
          <a:xfrm>
            <a:off x="777680" y="5911762"/>
            <a:ext cx="1444625" cy="335989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Events</a:t>
            </a:r>
            <a:r>
              <a:rPr sz="1050" b="1" spc="-20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&amp;</a:t>
            </a:r>
            <a:r>
              <a:rPr sz="1050" b="1" spc="-15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b="1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Field</a:t>
            </a:r>
            <a:r>
              <a:rPr sz="1050" b="1" spc="-15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1050" b="1" spc="-10" dirty="0">
                <a:solidFill>
                  <a:schemeClr val="bg1"/>
                </a:solidFill>
                <a:latin typeface="Felix Titling" panose="04060505060202020A04" pitchFamily="82" charset="0"/>
                <a:cs typeface="Calibri"/>
              </a:rPr>
              <a:t>Campaigns</a:t>
            </a:r>
            <a:endParaRPr sz="1050" dirty="0">
              <a:solidFill>
                <a:schemeClr val="bg1"/>
              </a:solidFill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51" name="object 9">
            <a:extLst>
              <a:ext uri="{FF2B5EF4-FFF2-40B4-BE49-F238E27FC236}">
                <a16:creationId xmlns:a16="http://schemas.microsoft.com/office/drawing/2014/main" id="{7444AA5D-40BD-8C7E-4147-244989D77AE8}"/>
              </a:ext>
            </a:extLst>
          </p:cNvPr>
          <p:cNvGrpSpPr/>
          <p:nvPr/>
        </p:nvGrpSpPr>
        <p:grpSpPr>
          <a:xfrm>
            <a:off x="791495" y="5970988"/>
            <a:ext cx="5976504" cy="2961869"/>
            <a:chOff x="791999" y="3828089"/>
            <a:chExt cx="5976504" cy="2126977"/>
          </a:xfrm>
        </p:grpSpPr>
        <p:sp>
          <p:nvSpPr>
            <p:cNvPr id="52" name="object 10">
              <a:extLst>
                <a:ext uri="{FF2B5EF4-FFF2-40B4-BE49-F238E27FC236}">
                  <a16:creationId xmlns:a16="http://schemas.microsoft.com/office/drawing/2014/main" id="{0EFA6DED-F2A1-A52D-B7B8-BD74C916FE2C}"/>
                </a:ext>
              </a:extLst>
            </p:cNvPr>
            <p:cNvSpPr/>
            <p:nvPr/>
          </p:nvSpPr>
          <p:spPr>
            <a:xfrm>
              <a:off x="2319058" y="3828089"/>
              <a:ext cx="4449445" cy="10160"/>
            </a:xfrm>
            <a:custGeom>
              <a:avLst/>
              <a:gdLst/>
              <a:ahLst/>
              <a:cxnLst/>
              <a:rect l="l" t="t" r="r" b="b"/>
              <a:pathLst>
                <a:path w="4449445" h="10160">
                  <a:moveTo>
                    <a:pt x="4448942" y="0"/>
                  </a:moveTo>
                  <a:lnTo>
                    <a:pt x="0" y="0"/>
                  </a:lnTo>
                  <a:lnTo>
                    <a:pt x="0" y="10159"/>
                  </a:lnTo>
                  <a:lnTo>
                    <a:pt x="4448942" y="10159"/>
                  </a:lnTo>
                  <a:lnTo>
                    <a:pt x="4448942" y="0"/>
                  </a:lnTo>
                  <a:close/>
                </a:path>
              </a:pathLst>
            </a:custGeom>
            <a:solidFill>
              <a:srgbClr val="D8F2DB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53" name="object 11">
              <a:extLst>
                <a:ext uri="{FF2B5EF4-FFF2-40B4-BE49-F238E27FC236}">
                  <a16:creationId xmlns:a16="http://schemas.microsoft.com/office/drawing/2014/main" id="{86214803-6165-6798-80D4-A607DEC30C87}"/>
                </a:ext>
              </a:extLst>
            </p:cNvPr>
            <p:cNvSpPr/>
            <p:nvPr/>
          </p:nvSpPr>
          <p:spPr>
            <a:xfrm>
              <a:off x="791999" y="4122000"/>
              <a:ext cx="2898140" cy="1833066"/>
            </a:xfrm>
            <a:custGeom>
              <a:avLst/>
              <a:gdLst/>
              <a:ahLst/>
              <a:cxnLst/>
              <a:rect l="l" t="t" r="r" b="b"/>
              <a:pathLst>
                <a:path w="2898140" h="1800225">
                  <a:moveTo>
                    <a:pt x="2847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1749198"/>
                  </a:lnTo>
                  <a:lnTo>
                    <a:pt x="3988" y="1768983"/>
                  </a:lnTo>
                  <a:lnTo>
                    <a:pt x="14869" y="1785129"/>
                  </a:lnTo>
                  <a:lnTo>
                    <a:pt x="31015" y="1796010"/>
                  </a:lnTo>
                  <a:lnTo>
                    <a:pt x="50800" y="1799998"/>
                  </a:lnTo>
                  <a:lnTo>
                    <a:pt x="2847200" y="1799998"/>
                  </a:lnTo>
                  <a:lnTo>
                    <a:pt x="2866984" y="1796010"/>
                  </a:lnTo>
                  <a:lnTo>
                    <a:pt x="2883131" y="1785129"/>
                  </a:lnTo>
                  <a:lnTo>
                    <a:pt x="2894011" y="1768983"/>
                  </a:lnTo>
                  <a:lnTo>
                    <a:pt x="2898000" y="1749198"/>
                  </a:lnTo>
                  <a:lnTo>
                    <a:pt x="2898000" y="50800"/>
                  </a:lnTo>
                  <a:lnTo>
                    <a:pt x="2894011" y="31015"/>
                  </a:lnTo>
                  <a:lnTo>
                    <a:pt x="2883131" y="14869"/>
                  </a:lnTo>
                  <a:lnTo>
                    <a:pt x="2866984" y="3988"/>
                  </a:lnTo>
                  <a:lnTo>
                    <a:pt x="28472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54" name="object 12">
              <a:extLst>
                <a:ext uri="{FF2B5EF4-FFF2-40B4-BE49-F238E27FC236}">
                  <a16:creationId xmlns:a16="http://schemas.microsoft.com/office/drawing/2014/main" id="{58B936D3-B59D-1C2E-2AC5-38F0681E886C}"/>
                </a:ext>
              </a:extLst>
            </p:cNvPr>
            <p:cNvSpPr/>
            <p:nvPr/>
          </p:nvSpPr>
          <p:spPr>
            <a:xfrm>
              <a:off x="791999" y="4121999"/>
              <a:ext cx="2898140" cy="144145"/>
            </a:xfrm>
            <a:custGeom>
              <a:avLst/>
              <a:gdLst/>
              <a:ahLst/>
              <a:cxnLst/>
              <a:rect l="l" t="t" r="r" b="b"/>
              <a:pathLst>
                <a:path w="2898140" h="144145">
                  <a:moveTo>
                    <a:pt x="2898000" y="0"/>
                  </a:moveTo>
                  <a:lnTo>
                    <a:pt x="0" y="0"/>
                  </a:lnTo>
                  <a:lnTo>
                    <a:pt x="0" y="143999"/>
                  </a:lnTo>
                  <a:lnTo>
                    <a:pt x="2898000" y="143999"/>
                  </a:lnTo>
                  <a:lnTo>
                    <a:pt x="2898000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rgbClr val="FFFF00"/>
                </a:solidFill>
                <a:latin typeface="Felix Titling" panose="04060505060202020A04" pitchFamily="82" charset="0"/>
              </a:endParaRPr>
            </a:p>
          </p:txBody>
        </p:sp>
        <p:pic>
          <p:nvPicPr>
            <p:cNvPr id="55" name="object 13">
              <a:extLst>
                <a:ext uri="{FF2B5EF4-FFF2-40B4-BE49-F238E27FC236}">
                  <a16:creationId xmlns:a16="http://schemas.microsoft.com/office/drawing/2014/main" id="{7AC540E3-43DC-EA04-B6E1-7F62B1F82F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" y="4266000"/>
              <a:ext cx="2898000" cy="827999"/>
            </a:xfrm>
            <a:prstGeom prst="rect">
              <a:avLst/>
            </a:prstGeom>
          </p:spPr>
        </p:pic>
        <p:sp>
          <p:nvSpPr>
            <p:cNvPr id="56" name="object 14">
              <a:extLst>
                <a:ext uri="{FF2B5EF4-FFF2-40B4-BE49-F238E27FC236}">
                  <a16:creationId xmlns:a16="http://schemas.microsoft.com/office/drawing/2014/main" id="{4BA13D4D-1D47-A919-5BEB-A1B77975FAF7}"/>
                </a:ext>
              </a:extLst>
            </p:cNvPr>
            <p:cNvSpPr/>
            <p:nvPr/>
          </p:nvSpPr>
          <p:spPr>
            <a:xfrm>
              <a:off x="791999" y="4266000"/>
              <a:ext cx="2898140" cy="828040"/>
            </a:xfrm>
            <a:custGeom>
              <a:avLst/>
              <a:gdLst/>
              <a:ahLst/>
              <a:cxnLst/>
              <a:rect l="l" t="t" r="r" b="b"/>
              <a:pathLst>
                <a:path w="2898140" h="828039">
                  <a:moveTo>
                    <a:pt x="2898000" y="0"/>
                  </a:moveTo>
                  <a:lnTo>
                    <a:pt x="0" y="0"/>
                  </a:lnTo>
                  <a:lnTo>
                    <a:pt x="0" y="827999"/>
                  </a:lnTo>
                  <a:lnTo>
                    <a:pt x="2898000" y="827999"/>
                  </a:lnTo>
                  <a:lnTo>
                    <a:pt x="2898000" y="0"/>
                  </a:lnTo>
                  <a:close/>
                </a:path>
              </a:pathLst>
            </a:custGeom>
            <a:solidFill>
              <a:srgbClr val="11231C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57" name="object 15">
            <a:extLst>
              <a:ext uri="{FF2B5EF4-FFF2-40B4-BE49-F238E27FC236}">
                <a16:creationId xmlns:a16="http://schemas.microsoft.com/office/drawing/2014/main" id="{D8F50ED8-9311-C90F-00DD-508A435DC230}"/>
              </a:ext>
            </a:extLst>
          </p:cNvPr>
          <p:cNvSpPr txBox="1"/>
          <p:nvPr/>
        </p:nvSpPr>
        <p:spPr>
          <a:xfrm>
            <a:off x="887995" y="7785100"/>
            <a:ext cx="2668620" cy="893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00" b="1" spc="-10" dirty="0">
                <a:solidFill>
                  <a:srgbClr val="1A3A2D"/>
                </a:solidFill>
                <a:latin typeface="Felix Titling" panose="04060505060202020A04" pitchFamily="82" charset="0"/>
                <a:cs typeface="Calibri"/>
              </a:rPr>
              <a:t>Project INAUGURATION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900" dirty="0">
              <a:latin typeface="Felix Titling" panose="04060505060202020A04" pitchFamily="82" charset="0"/>
              <a:cs typeface="Calibri"/>
            </a:endParaRPr>
          </a:p>
          <a:p>
            <a:pPr marL="12700" marR="5080" algn="just">
              <a:lnSpc>
                <a:spcPct val="127800"/>
              </a:lnSpc>
              <a:spcBef>
                <a:spcPts val="135"/>
              </a:spcBef>
            </a:pPr>
            <a:r>
              <a:rPr lang="en-US"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On February 3, 2026, the project was inaugurated at </a:t>
            </a:r>
            <a:r>
              <a:rPr lang="en-US" sz="750" dirty="0" err="1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Veloshi</a:t>
            </a:r>
            <a:r>
              <a:rPr lang="en-US"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village in </a:t>
            </a:r>
            <a:r>
              <a:rPr lang="en-US" sz="750" dirty="0" err="1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Phaltan</a:t>
            </a:r>
            <a:r>
              <a:rPr lang="en-US"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block, with villagers and SJSM members in attendance.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  <p:grpSp>
        <p:nvGrpSpPr>
          <p:cNvPr id="58" name="object 16">
            <a:extLst>
              <a:ext uri="{FF2B5EF4-FFF2-40B4-BE49-F238E27FC236}">
                <a16:creationId xmlns:a16="http://schemas.microsoft.com/office/drawing/2014/main" id="{81DC768A-0A1E-0789-4F6A-37E64A7FFFB1}"/>
              </a:ext>
            </a:extLst>
          </p:cNvPr>
          <p:cNvGrpSpPr/>
          <p:nvPr/>
        </p:nvGrpSpPr>
        <p:grpSpPr>
          <a:xfrm>
            <a:off x="3867439" y="6380264"/>
            <a:ext cx="3032451" cy="2552592"/>
            <a:chOff x="3869999" y="4121999"/>
            <a:chExt cx="2898140" cy="1823435"/>
          </a:xfrm>
        </p:grpSpPr>
        <p:sp>
          <p:nvSpPr>
            <p:cNvPr id="59" name="object 17">
              <a:extLst>
                <a:ext uri="{FF2B5EF4-FFF2-40B4-BE49-F238E27FC236}">
                  <a16:creationId xmlns:a16="http://schemas.microsoft.com/office/drawing/2014/main" id="{298795E2-B337-E761-7D4A-3E10F0328DA7}"/>
                </a:ext>
              </a:extLst>
            </p:cNvPr>
            <p:cNvSpPr/>
            <p:nvPr/>
          </p:nvSpPr>
          <p:spPr>
            <a:xfrm>
              <a:off x="3869999" y="4122000"/>
              <a:ext cx="2898140" cy="1823434"/>
            </a:xfrm>
            <a:custGeom>
              <a:avLst/>
              <a:gdLst/>
              <a:ahLst/>
              <a:cxnLst/>
              <a:rect l="l" t="t" r="r" b="b"/>
              <a:pathLst>
                <a:path w="2898140" h="1800225">
                  <a:moveTo>
                    <a:pt x="2847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1749198"/>
                  </a:lnTo>
                  <a:lnTo>
                    <a:pt x="3988" y="1768983"/>
                  </a:lnTo>
                  <a:lnTo>
                    <a:pt x="14869" y="1785129"/>
                  </a:lnTo>
                  <a:lnTo>
                    <a:pt x="31015" y="1796010"/>
                  </a:lnTo>
                  <a:lnTo>
                    <a:pt x="50800" y="1799998"/>
                  </a:lnTo>
                  <a:lnTo>
                    <a:pt x="2847200" y="1799998"/>
                  </a:lnTo>
                  <a:lnTo>
                    <a:pt x="2866984" y="1796010"/>
                  </a:lnTo>
                  <a:lnTo>
                    <a:pt x="2883131" y="1785129"/>
                  </a:lnTo>
                  <a:lnTo>
                    <a:pt x="2894011" y="1768983"/>
                  </a:lnTo>
                  <a:lnTo>
                    <a:pt x="2898000" y="1749198"/>
                  </a:lnTo>
                  <a:lnTo>
                    <a:pt x="2898000" y="50800"/>
                  </a:lnTo>
                  <a:lnTo>
                    <a:pt x="2894011" y="31015"/>
                  </a:lnTo>
                  <a:lnTo>
                    <a:pt x="2883131" y="14869"/>
                  </a:lnTo>
                  <a:lnTo>
                    <a:pt x="2866984" y="3988"/>
                  </a:lnTo>
                  <a:lnTo>
                    <a:pt x="2847200" y="0"/>
                  </a:lnTo>
                  <a:close/>
                </a:path>
              </a:pathLst>
            </a:custGeom>
            <a:solidFill>
              <a:srgbClr val="EFF9F2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sp>
          <p:nvSpPr>
            <p:cNvPr id="60" name="object 18">
              <a:extLst>
                <a:ext uri="{FF2B5EF4-FFF2-40B4-BE49-F238E27FC236}">
                  <a16:creationId xmlns:a16="http://schemas.microsoft.com/office/drawing/2014/main" id="{3A7C1B02-78C5-40C9-34FF-8F6A007F7A9E}"/>
                </a:ext>
              </a:extLst>
            </p:cNvPr>
            <p:cNvSpPr/>
            <p:nvPr/>
          </p:nvSpPr>
          <p:spPr>
            <a:xfrm>
              <a:off x="3869999" y="4121999"/>
              <a:ext cx="2898140" cy="144145"/>
            </a:xfrm>
            <a:custGeom>
              <a:avLst/>
              <a:gdLst/>
              <a:ahLst/>
              <a:cxnLst/>
              <a:rect l="l" t="t" r="r" b="b"/>
              <a:pathLst>
                <a:path w="2898140" h="144145">
                  <a:moveTo>
                    <a:pt x="2898000" y="0"/>
                  </a:moveTo>
                  <a:lnTo>
                    <a:pt x="0" y="0"/>
                  </a:lnTo>
                  <a:lnTo>
                    <a:pt x="0" y="143999"/>
                  </a:lnTo>
                  <a:lnTo>
                    <a:pt x="2898000" y="143999"/>
                  </a:lnTo>
                  <a:lnTo>
                    <a:pt x="2898000" y="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  <p:pic>
          <p:nvPicPr>
            <p:cNvPr id="61" name="object 19">
              <a:extLst>
                <a:ext uri="{FF2B5EF4-FFF2-40B4-BE49-F238E27FC236}">
                  <a16:creationId xmlns:a16="http://schemas.microsoft.com/office/drawing/2014/main" id="{AC842F19-0969-CF1B-333A-859CC71309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9999" y="4266000"/>
              <a:ext cx="2898000" cy="827999"/>
            </a:xfrm>
            <a:prstGeom prst="rect">
              <a:avLst/>
            </a:prstGeom>
          </p:spPr>
        </p:pic>
        <p:sp>
          <p:nvSpPr>
            <p:cNvPr id="62" name="object 20">
              <a:extLst>
                <a:ext uri="{FF2B5EF4-FFF2-40B4-BE49-F238E27FC236}">
                  <a16:creationId xmlns:a16="http://schemas.microsoft.com/office/drawing/2014/main" id="{184736CE-3C72-648F-3706-DB5003285077}"/>
                </a:ext>
              </a:extLst>
            </p:cNvPr>
            <p:cNvSpPr/>
            <p:nvPr/>
          </p:nvSpPr>
          <p:spPr>
            <a:xfrm>
              <a:off x="3869999" y="4266000"/>
              <a:ext cx="2898140" cy="828040"/>
            </a:xfrm>
            <a:custGeom>
              <a:avLst/>
              <a:gdLst/>
              <a:ahLst/>
              <a:cxnLst/>
              <a:rect l="l" t="t" r="r" b="b"/>
              <a:pathLst>
                <a:path w="2898140" h="828039">
                  <a:moveTo>
                    <a:pt x="2898000" y="0"/>
                  </a:moveTo>
                  <a:lnTo>
                    <a:pt x="0" y="0"/>
                  </a:lnTo>
                  <a:lnTo>
                    <a:pt x="0" y="827999"/>
                  </a:lnTo>
                  <a:lnTo>
                    <a:pt x="2898000" y="827999"/>
                  </a:lnTo>
                  <a:lnTo>
                    <a:pt x="2898000" y="0"/>
                  </a:lnTo>
                  <a:close/>
                </a:path>
              </a:pathLst>
            </a:custGeom>
            <a:solidFill>
              <a:srgbClr val="11231C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</a:endParaRPr>
            </a:p>
          </p:txBody>
        </p:sp>
      </p:grpSp>
      <p:sp>
        <p:nvSpPr>
          <p:cNvPr id="63" name="object 21">
            <a:extLst>
              <a:ext uri="{FF2B5EF4-FFF2-40B4-BE49-F238E27FC236}">
                <a16:creationId xmlns:a16="http://schemas.microsoft.com/office/drawing/2014/main" id="{78CE8F69-289E-13A5-CC27-2D044F2ACAF7}"/>
              </a:ext>
            </a:extLst>
          </p:cNvPr>
          <p:cNvSpPr txBox="1"/>
          <p:nvPr/>
        </p:nvSpPr>
        <p:spPr>
          <a:xfrm>
            <a:off x="3984428" y="7736539"/>
            <a:ext cx="2780577" cy="1209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Land</a:t>
            </a:r>
            <a:r>
              <a:rPr sz="900" b="1" spc="-35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Reclamation</a:t>
            </a:r>
            <a:r>
              <a:rPr sz="900" b="1" spc="-35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900" b="1" spc="-10" dirty="0">
                <a:solidFill>
                  <a:srgbClr val="7B5B3A"/>
                </a:solidFill>
                <a:latin typeface="Felix Titling" panose="04060505060202020A04" pitchFamily="82" charset="0"/>
                <a:cs typeface="Calibri"/>
              </a:rPr>
              <a:t>Drive</a:t>
            </a:r>
            <a:endParaRPr sz="900" dirty="0">
              <a:latin typeface="Felix Titling" panose="04060505060202020A04" pitchFamily="82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700" b="1" dirty="0" err="1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Veloshi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,</a:t>
            </a:r>
            <a:r>
              <a:rPr sz="700" b="1" spc="-5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Block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Phaltan,</a:t>
            </a:r>
            <a:r>
              <a:rPr sz="700" b="1" spc="-5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00" b="1" spc="-10" dirty="0">
                <a:solidFill>
                  <a:srgbClr val="6B7280"/>
                </a:solidFill>
                <a:latin typeface="Felix Titling" panose="04060505060202020A04" pitchFamily="82" charset="0"/>
                <a:cs typeface="Calibri"/>
              </a:rPr>
              <a:t>Satara</a:t>
            </a:r>
            <a:endParaRPr sz="700" dirty="0">
              <a:latin typeface="Felix Titling" panose="04060505060202020A04" pitchFamily="82" charset="0"/>
              <a:cs typeface="Calibri"/>
            </a:endParaRPr>
          </a:p>
          <a:p>
            <a:pPr marL="12700" marR="5080" algn="just">
              <a:lnSpc>
                <a:spcPct val="127800"/>
              </a:lnSpc>
              <a:spcBef>
                <a:spcPts val="135"/>
              </a:spcBef>
            </a:pP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Awareness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campaign</a:t>
            </a:r>
            <a:r>
              <a:rPr sz="7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on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lang="en-IN"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the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benefits</a:t>
            </a:r>
            <a:r>
              <a:rPr sz="7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of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using</a:t>
            </a:r>
            <a:r>
              <a:rPr sz="7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nutrient-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rich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desilted</a:t>
            </a:r>
            <a:r>
              <a:rPr sz="7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soil</a:t>
            </a:r>
            <a:r>
              <a:rPr sz="75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for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farmland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reclamation.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All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lang="en-IN"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98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beneficiary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households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were</a:t>
            </a:r>
            <a:r>
              <a:rPr sz="75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reached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with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guidance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on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land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preparation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and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crop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selection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2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for</a:t>
            </a:r>
            <a:r>
              <a:rPr lang="en-IN" sz="750" spc="50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newly</a:t>
            </a:r>
            <a:r>
              <a:rPr sz="750" spc="-2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converted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18-acre</a:t>
            </a:r>
            <a:r>
              <a:rPr sz="750" spc="-15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 </a:t>
            </a:r>
            <a:r>
              <a:rPr sz="750" spc="-10" dirty="0">
                <a:solidFill>
                  <a:srgbClr val="2A2A2A"/>
                </a:solidFill>
                <a:latin typeface="Felix Titling" panose="04060505060202020A04" pitchFamily="82" charset="0"/>
                <a:cs typeface="Calibri"/>
              </a:rPr>
              <a:t>plots.</a:t>
            </a:r>
            <a:endParaRPr sz="750" dirty="0">
              <a:latin typeface="Felix Titling" panose="04060505060202020A04" pitchFamily="82" charset="0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3" name="object 3"/>
            <p:cNvSpPr/>
            <p:nvPr/>
          </p:nvSpPr>
          <p:spPr>
            <a:xfrm>
              <a:off x="63500" y="1296000"/>
              <a:ext cx="7496809" cy="9036050"/>
            </a:xfrm>
            <a:custGeom>
              <a:avLst/>
              <a:gdLst/>
              <a:ahLst/>
              <a:cxnLst/>
              <a:rect l="l" t="t" r="r" b="b"/>
              <a:pathLst>
                <a:path w="7496809" h="9036050">
                  <a:moveTo>
                    <a:pt x="0" y="9035999"/>
                  </a:moveTo>
                  <a:lnTo>
                    <a:pt x="7496500" y="9035999"/>
                  </a:lnTo>
                  <a:lnTo>
                    <a:pt x="7496500" y="0"/>
                  </a:lnTo>
                  <a:lnTo>
                    <a:pt x="0" y="0"/>
                  </a:lnTo>
                  <a:lnTo>
                    <a:pt x="0" y="9035999"/>
                  </a:lnTo>
                  <a:close/>
                </a:path>
              </a:pathLst>
            </a:custGeom>
            <a:solidFill>
              <a:srgbClr val="FDF7E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1295996"/>
                  </a:lnTo>
                  <a:lnTo>
                    <a:pt x="7559992" y="1295996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79299" y="402400"/>
            <a:ext cx="1701164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F4E6B8"/>
                </a:solidFill>
                <a:latin typeface="Calibri"/>
                <a:cs typeface="Calibri"/>
              </a:rPr>
              <a:t>07–09</a:t>
            </a:r>
            <a:r>
              <a:rPr sz="700" b="1" spc="165" dirty="0">
                <a:solidFill>
                  <a:srgbClr val="F4E6B8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F4E6B8"/>
                </a:solidFill>
                <a:latin typeface="Calibri"/>
                <a:cs typeface="Calibri"/>
              </a:rPr>
              <a:t>·</a:t>
            </a:r>
            <a:r>
              <a:rPr sz="700" b="1" spc="170" dirty="0">
                <a:solidFill>
                  <a:srgbClr val="F4E6B8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F4E6B8"/>
                </a:solidFill>
                <a:latin typeface="Calibri"/>
                <a:cs typeface="Calibri"/>
              </a:rPr>
              <a:t>CHALLENGES, LESSONS</a:t>
            </a:r>
            <a:r>
              <a:rPr sz="700" b="1" spc="5" dirty="0">
                <a:solidFill>
                  <a:srgbClr val="F4E6B8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F4E6B8"/>
                </a:solidFill>
                <a:latin typeface="Calibri"/>
                <a:cs typeface="Calibri"/>
              </a:rPr>
              <a:t>&amp;</a:t>
            </a:r>
            <a:r>
              <a:rPr sz="700" b="1" spc="5" dirty="0">
                <a:solidFill>
                  <a:srgbClr val="F4E6B8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F4E6B8"/>
                </a:solidFill>
                <a:latin typeface="Calibri"/>
                <a:cs typeface="Calibri"/>
              </a:rPr>
              <a:t>ROADMAP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9298" y="675700"/>
            <a:ext cx="6713701" cy="42832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elix Titling" panose="04060505060202020A04" pitchFamily="82" charset="0"/>
              </a:rPr>
              <a:t>Challenges,</a:t>
            </a:r>
            <a:r>
              <a:rPr spc="105" dirty="0">
                <a:latin typeface="Felix Titling" panose="04060505060202020A04" pitchFamily="82" charset="0"/>
              </a:rPr>
              <a:t> </a:t>
            </a:r>
            <a:r>
              <a:rPr spc="50" dirty="0">
                <a:latin typeface="Felix Titling" panose="04060505060202020A04" pitchFamily="82" charset="0"/>
              </a:rPr>
              <a:t>Lessons</a:t>
            </a:r>
            <a:r>
              <a:rPr spc="110" dirty="0">
                <a:latin typeface="Felix Titling" panose="04060505060202020A04" pitchFamily="82" charset="0"/>
              </a:rPr>
              <a:t> </a:t>
            </a:r>
            <a:r>
              <a:rPr lang="en-IN" spc="-95" dirty="0">
                <a:latin typeface="Felix Titling" panose="04060505060202020A04" pitchFamily="82" charset="0"/>
              </a:rPr>
              <a:t>&amp;</a:t>
            </a:r>
            <a:r>
              <a:rPr spc="110" dirty="0">
                <a:latin typeface="Felix Titling" panose="04060505060202020A04" pitchFamily="82" charset="0"/>
              </a:rPr>
              <a:t> </a:t>
            </a:r>
            <a:r>
              <a:rPr dirty="0">
                <a:latin typeface="Felix Titling" panose="04060505060202020A04" pitchFamily="82" charset="0"/>
              </a:rPr>
              <a:t>Future</a:t>
            </a:r>
            <a:r>
              <a:rPr spc="110" dirty="0">
                <a:latin typeface="Felix Titling" panose="04060505060202020A04" pitchFamily="82" charset="0"/>
              </a:rPr>
              <a:t> </a:t>
            </a:r>
            <a:r>
              <a:rPr spc="-10" dirty="0">
                <a:latin typeface="Felix Titling" panose="04060505060202020A04" pitchFamily="82" charset="0"/>
              </a:rPr>
              <a:t>Roadmap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91999" y="1157299"/>
            <a:ext cx="5976620" cy="1183005"/>
            <a:chOff x="791999" y="1157299"/>
            <a:chExt cx="5976620" cy="1183005"/>
          </a:xfrm>
        </p:grpSpPr>
        <p:sp>
          <p:nvSpPr>
            <p:cNvPr id="9" name="object 9"/>
            <p:cNvSpPr/>
            <p:nvPr/>
          </p:nvSpPr>
          <p:spPr>
            <a:xfrm>
              <a:off x="791999" y="1157299"/>
              <a:ext cx="2520315" cy="12700"/>
            </a:xfrm>
            <a:custGeom>
              <a:avLst/>
              <a:gdLst/>
              <a:ahLst/>
              <a:cxnLst/>
              <a:rect l="l" t="t" r="r" b="b"/>
              <a:pathLst>
                <a:path w="2520315" h="12700">
                  <a:moveTo>
                    <a:pt x="2520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20000" y="12700"/>
                  </a:lnTo>
                  <a:lnTo>
                    <a:pt x="252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999" y="1548000"/>
              <a:ext cx="5976620" cy="792480"/>
            </a:xfrm>
            <a:custGeom>
              <a:avLst/>
              <a:gdLst/>
              <a:ahLst/>
              <a:cxnLst/>
              <a:rect l="l" t="t" r="r" b="b"/>
              <a:pathLst>
                <a:path w="5976620" h="792480">
                  <a:moveTo>
                    <a:pt x="5937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753899"/>
                  </a:lnTo>
                  <a:lnTo>
                    <a:pt x="2991" y="768738"/>
                  </a:lnTo>
                  <a:lnTo>
                    <a:pt x="11151" y="780848"/>
                  </a:lnTo>
                  <a:lnTo>
                    <a:pt x="23261" y="789008"/>
                  </a:lnTo>
                  <a:lnTo>
                    <a:pt x="38100" y="791999"/>
                  </a:lnTo>
                  <a:lnTo>
                    <a:pt x="5937900" y="791999"/>
                  </a:lnTo>
                  <a:lnTo>
                    <a:pt x="5952738" y="789008"/>
                  </a:lnTo>
                  <a:lnTo>
                    <a:pt x="5964848" y="780848"/>
                  </a:lnTo>
                  <a:lnTo>
                    <a:pt x="5973008" y="768738"/>
                  </a:lnTo>
                  <a:lnTo>
                    <a:pt x="5976000" y="753899"/>
                  </a:lnTo>
                  <a:lnTo>
                    <a:pt x="5976000" y="38100"/>
                  </a:lnTo>
                  <a:lnTo>
                    <a:pt x="5973008" y="23261"/>
                  </a:lnTo>
                  <a:lnTo>
                    <a:pt x="5964848" y="11151"/>
                  </a:lnTo>
                  <a:lnTo>
                    <a:pt x="5952738" y="2991"/>
                  </a:lnTo>
                  <a:lnTo>
                    <a:pt x="5937900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91999" y="1548000"/>
              <a:ext cx="50800" cy="792480"/>
            </a:xfrm>
            <a:custGeom>
              <a:avLst/>
              <a:gdLst/>
              <a:ahLst/>
              <a:cxnLst/>
              <a:rect l="l" t="t" r="r" b="b"/>
              <a:pathLst>
                <a:path w="50800" h="792480">
                  <a:moveTo>
                    <a:pt x="50800" y="0"/>
                  </a:moveTo>
                  <a:lnTo>
                    <a:pt x="0" y="0"/>
                  </a:lnTo>
                  <a:lnTo>
                    <a:pt x="0" y="791999"/>
                  </a:lnTo>
                  <a:lnTo>
                    <a:pt x="50800" y="791999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D8770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40243" y="1586204"/>
            <a:ext cx="5511800" cy="6987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434"/>
              </a:spcBef>
            </a:pPr>
            <a:r>
              <a:rPr sz="900" b="1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Challenge</a:t>
            </a:r>
            <a:r>
              <a:rPr sz="900" b="1" spc="-35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Encountered</a:t>
            </a:r>
            <a:r>
              <a:rPr sz="900" b="1" spc="-30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&amp;</a:t>
            </a:r>
            <a:r>
              <a:rPr sz="900" b="1" spc="-30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spc="-10" dirty="0">
                <a:solidFill>
                  <a:srgbClr val="913F0E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Overcome</a:t>
            </a:r>
            <a:endParaRPr sz="900" dirty="0">
              <a:latin typeface="Felix Titling" panose="04060505060202020A04" pitchFamily="82" charset="0"/>
              <a:cs typeface="Aharoni" panose="02010803020104030203" pitchFamily="2" charset="-79"/>
            </a:endParaRPr>
          </a:p>
          <a:p>
            <a:pPr marL="12700" marR="5080" algn="just">
              <a:lnSpc>
                <a:spcPct val="120400"/>
              </a:lnSpc>
              <a:spcBef>
                <a:spcPts val="120"/>
              </a:spcBef>
            </a:pP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Finalising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the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last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1,500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m³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of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Nala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deepening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within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the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reporting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deadline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required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intensive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daily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monitoring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spc="-2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and</a:t>
            </a:r>
            <a:r>
              <a:rPr sz="900" spc="5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field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execution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by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site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supervisors.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Through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sustained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effort,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100%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of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the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targeted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19,000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m³</a:t>
            </a:r>
            <a:r>
              <a:rPr sz="900" spc="-2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was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ultimately</a:t>
            </a:r>
            <a:r>
              <a:rPr sz="900" spc="-15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spc="-10" dirty="0">
                <a:solidFill>
                  <a:srgbClr val="77340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achieved.</a:t>
            </a:r>
            <a:endParaRPr sz="9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1999" y="2484000"/>
            <a:ext cx="1993324" cy="2225434"/>
            <a:chOff x="791999" y="2484000"/>
            <a:chExt cx="1896110" cy="1656080"/>
          </a:xfrm>
        </p:grpSpPr>
        <p:sp>
          <p:nvSpPr>
            <p:cNvPr id="14" name="object 14"/>
            <p:cNvSpPr/>
            <p:nvPr/>
          </p:nvSpPr>
          <p:spPr>
            <a:xfrm>
              <a:off x="791999" y="2484000"/>
              <a:ext cx="1896110" cy="1656080"/>
            </a:xfrm>
            <a:custGeom>
              <a:avLst/>
              <a:gdLst/>
              <a:ahLst/>
              <a:cxnLst/>
              <a:rect l="l" t="t" r="r" b="b"/>
              <a:pathLst>
                <a:path w="1896110" h="1656079">
                  <a:moveTo>
                    <a:pt x="1857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617899"/>
                  </a:lnTo>
                  <a:lnTo>
                    <a:pt x="2991" y="1632738"/>
                  </a:lnTo>
                  <a:lnTo>
                    <a:pt x="11151" y="1644848"/>
                  </a:lnTo>
                  <a:lnTo>
                    <a:pt x="23261" y="1653008"/>
                  </a:lnTo>
                  <a:lnTo>
                    <a:pt x="38100" y="1655999"/>
                  </a:lnTo>
                  <a:lnTo>
                    <a:pt x="1857899" y="1655999"/>
                  </a:lnTo>
                  <a:lnTo>
                    <a:pt x="1872738" y="1653008"/>
                  </a:lnTo>
                  <a:lnTo>
                    <a:pt x="1884847" y="1644848"/>
                  </a:lnTo>
                  <a:lnTo>
                    <a:pt x="1893008" y="1632738"/>
                  </a:lnTo>
                  <a:lnTo>
                    <a:pt x="1895999" y="1617899"/>
                  </a:lnTo>
                  <a:lnTo>
                    <a:pt x="1895999" y="38100"/>
                  </a:lnTo>
                  <a:lnTo>
                    <a:pt x="1893008" y="23261"/>
                  </a:lnTo>
                  <a:lnTo>
                    <a:pt x="1884847" y="11151"/>
                  </a:lnTo>
                  <a:lnTo>
                    <a:pt x="1872738" y="2991"/>
                  </a:lnTo>
                  <a:lnTo>
                    <a:pt x="1857899" y="0"/>
                  </a:lnTo>
                  <a:close/>
                </a:path>
              </a:pathLst>
            </a:custGeom>
            <a:solidFill>
              <a:srgbClr val="D1F9E4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91999" y="4114600"/>
              <a:ext cx="1896110" cy="25400"/>
            </a:xfrm>
            <a:custGeom>
              <a:avLst/>
              <a:gdLst/>
              <a:ahLst/>
              <a:cxnLst/>
              <a:rect l="l" t="t" r="r" b="b"/>
              <a:pathLst>
                <a:path w="1896110" h="25400">
                  <a:moveTo>
                    <a:pt x="18959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895999" y="25400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2D694F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22010" y="2599086"/>
            <a:ext cx="142415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2D694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What</a:t>
            </a:r>
            <a:r>
              <a:rPr sz="900" b="1" spc="-25" dirty="0">
                <a:solidFill>
                  <a:srgbClr val="2D694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spc="-10" dirty="0">
                <a:solidFill>
                  <a:srgbClr val="2D694F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Worked</a:t>
            </a:r>
            <a:endParaRPr sz="9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7054" y="2766392"/>
            <a:ext cx="948055" cy="10160"/>
          </a:xfrm>
          <a:custGeom>
            <a:avLst/>
            <a:gdLst/>
            <a:ahLst/>
            <a:cxnLst/>
            <a:rect l="l" t="t" r="r" b="b"/>
            <a:pathLst>
              <a:path w="948055" h="10160">
                <a:moveTo>
                  <a:pt x="948000" y="0"/>
                </a:moveTo>
                <a:lnTo>
                  <a:pt x="0" y="0"/>
                </a:lnTo>
                <a:lnTo>
                  <a:pt x="0" y="10159"/>
                </a:lnTo>
                <a:lnTo>
                  <a:pt x="948000" y="10159"/>
                </a:lnTo>
                <a:lnTo>
                  <a:pt x="948000" y="0"/>
                </a:lnTo>
                <a:close/>
              </a:path>
            </a:pathLst>
          </a:custGeom>
          <a:solidFill>
            <a:srgbClr val="2D694F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2010" y="2966182"/>
            <a:ext cx="1587500" cy="127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30200"/>
              </a:lnSpc>
              <a:spcBef>
                <a:spcPts val="100"/>
              </a:spcBef>
            </a:pP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Integration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of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desilting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with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land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reclamation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converted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18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acres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of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barren</a:t>
            </a:r>
            <a:r>
              <a:rPr sz="800" spc="-1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land.</a:t>
            </a:r>
            <a:r>
              <a:rPr sz="800" spc="-1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Pre-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monsoon</a:t>
            </a:r>
            <a:r>
              <a:rPr sz="800" spc="-1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structural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completion</a:t>
            </a:r>
            <a:r>
              <a:rPr sz="800" spc="-3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ensured</a:t>
            </a:r>
            <a:r>
              <a:rPr sz="800" spc="-3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immediate</a:t>
            </a:r>
            <a:r>
              <a:rPr sz="800" spc="-3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water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harvesting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before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rains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arrived.</a:t>
            </a:r>
            <a:endParaRPr sz="8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31998" y="2484000"/>
            <a:ext cx="1928291" cy="2225542"/>
            <a:chOff x="2831999" y="2484000"/>
            <a:chExt cx="1896110" cy="1656080"/>
          </a:xfrm>
        </p:grpSpPr>
        <p:sp>
          <p:nvSpPr>
            <p:cNvPr id="20" name="object 20"/>
            <p:cNvSpPr/>
            <p:nvPr/>
          </p:nvSpPr>
          <p:spPr>
            <a:xfrm>
              <a:off x="2831999" y="2484000"/>
              <a:ext cx="1896110" cy="1656080"/>
            </a:xfrm>
            <a:custGeom>
              <a:avLst/>
              <a:gdLst/>
              <a:ahLst/>
              <a:cxnLst/>
              <a:rect l="l" t="t" r="r" b="b"/>
              <a:pathLst>
                <a:path w="1896110" h="1656079">
                  <a:moveTo>
                    <a:pt x="1857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617899"/>
                  </a:lnTo>
                  <a:lnTo>
                    <a:pt x="2991" y="1632738"/>
                  </a:lnTo>
                  <a:lnTo>
                    <a:pt x="11151" y="1644848"/>
                  </a:lnTo>
                  <a:lnTo>
                    <a:pt x="23261" y="1653008"/>
                  </a:lnTo>
                  <a:lnTo>
                    <a:pt x="38100" y="1655999"/>
                  </a:lnTo>
                  <a:lnTo>
                    <a:pt x="1857900" y="1655999"/>
                  </a:lnTo>
                  <a:lnTo>
                    <a:pt x="1872739" y="1653008"/>
                  </a:lnTo>
                  <a:lnTo>
                    <a:pt x="1884848" y="1644848"/>
                  </a:lnTo>
                  <a:lnTo>
                    <a:pt x="1893009" y="1632738"/>
                  </a:lnTo>
                  <a:lnTo>
                    <a:pt x="1896000" y="1617899"/>
                  </a:lnTo>
                  <a:lnTo>
                    <a:pt x="1896000" y="38100"/>
                  </a:lnTo>
                  <a:lnTo>
                    <a:pt x="1893009" y="23261"/>
                  </a:lnTo>
                  <a:lnTo>
                    <a:pt x="1884848" y="11151"/>
                  </a:lnTo>
                  <a:lnTo>
                    <a:pt x="1872739" y="2991"/>
                  </a:lnTo>
                  <a:lnTo>
                    <a:pt x="1857900" y="0"/>
                  </a:lnTo>
                  <a:close/>
                </a:path>
              </a:pathLst>
            </a:custGeom>
            <a:solidFill>
              <a:srgbClr val="FDF2C6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31999" y="4114600"/>
              <a:ext cx="1896110" cy="25400"/>
            </a:xfrm>
            <a:custGeom>
              <a:avLst/>
              <a:gdLst/>
              <a:ahLst/>
              <a:cxnLst/>
              <a:rect l="l" t="t" r="r" b="b"/>
              <a:pathLst>
                <a:path w="1896110" h="25400">
                  <a:moveTo>
                    <a:pt x="18959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895999" y="25400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7B5B3A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65066" y="2608859"/>
            <a:ext cx="153248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What</a:t>
            </a:r>
            <a:r>
              <a:rPr sz="900" b="1" spc="-25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Could</a:t>
            </a:r>
            <a:r>
              <a:rPr sz="900" b="1" spc="-2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900" b="1" spc="-1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Improve</a:t>
            </a:r>
            <a:endParaRPr sz="9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14701" y="2786048"/>
            <a:ext cx="948055" cy="10160"/>
          </a:xfrm>
          <a:custGeom>
            <a:avLst/>
            <a:gdLst/>
            <a:ahLst/>
            <a:cxnLst/>
            <a:rect l="l" t="t" r="r" b="b"/>
            <a:pathLst>
              <a:path w="948054" h="10160">
                <a:moveTo>
                  <a:pt x="948000" y="0"/>
                </a:moveTo>
                <a:lnTo>
                  <a:pt x="0" y="0"/>
                </a:lnTo>
                <a:lnTo>
                  <a:pt x="0" y="10159"/>
                </a:lnTo>
                <a:lnTo>
                  <a:pt x="948000" y="10159"/>
                </a:lnTo>
                <a:lnTo>
                  <a:pt x="948000" y="0"/>
                </a:lnTo>
                <a:close/>
              </a:path>
            </a:pathLst>
          </a:custGeom>
          <a:solidFill>
            <a:srgbClr val="7B5B3A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81694" y="2957385"/>
            <a:ext cx="1539875" cy="127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30200"/>
              </a:lnSpc>
              <a:spcBef>
                <a:spcPts val="100"/>
              </a:spcBef>
            </a:pP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single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Farmer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Exposure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Visit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limits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deep</a:t>
            </a:r>
            <a:r>
              <a:rPr sz="800" spc="-3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knowledge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transfer.</a:t>
            </a:r>
            <a:r>
              <a:rPr sz="800" spc="-3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More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frequent</a:t>
            </a:r>
            <a:r>
              <a:rPr sz="800" spc="-3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community</a:t>
            </a:r>
            <a:r>
              <a:rPr sz="800" spc="-3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engagement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sessions</a:t>
            </a:r>
            <a:r>
              <a:rPr sz="800" spc="-3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would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enhance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adoption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of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watershed</a:t>
            </a:r>
            <a:r>
              <a:rPr sz="800" spc="-4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management</a:t>
            </a:r>
            <a:r>
              <a:rPr sz="800" spc="-4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techniques.</a:t>
            </a:r>
            <a:endParaRPr sz="8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871999" y="2484000"/>
            <a:ext cx="1947316" cy="2225326"/>
            <a:chOff x="4871999" y="2484000"/>
            <a:chExt cx="1896110" cy="1656080"/>
          </a:xfrm>
        </p:grpSpPr>
        <p:sp>
          <p:nvSpPr>
            <p:cNvPr id="26" name="object 26"/>
            <p:cNvSpPr/>
            <p:nvPr/>
          </p:nvSpPr>
          <p:spPr>
            <a:xfrm>
              <a:off x="4871999" y="2484000"/>
              <a:ext cx="1896110" cy="1656080"/>
            </a:xfrm>
            <a:custGeom>
              <a:avLst/>
              <a:gdLst/>
              <a:ahLst/>
              <a:cxnLst/>
              <a:rect l="l" t="t" r="r" b="b"/>
              <a:pathLst>
                <a:path w="1896109" h="1656079">
                  <a:moveTo>
                    <a:pt x="1857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617899"/>
                  </a:lnTo>
                  <a:lnTo>
                    <a:pt x="2991" y="1632738"/>
                  </a:lnTo>
                  <a:lnTo>
                    <a:pt x="11151" y="1644848"/>
                  </a:lnTo>
                  <a:lnTo>
                    <a:pt x="23261" y="1653008"/>
                  </a:lnTo>
                  <a:lnTo>
                    <a:pt x="38100" y="1655999"/>
                  </a:lnTo>
                  <a:lnTo>
                    <a:pt x="1857900" y="1655999"/>
                  </a:lnTo>
                  <a:lnTo>
                    <a:pt x="1872739" y="1653008"/>
                  </a:lnTo>
                  <a:lnTo>
                    <a:pt x="1884848" y="1644848"/>
                  </a:lnTo>
                  <a:lnTo>
                    <a:pt x="1893009" y="1632738"/>
                  </a:lnTo>
                  <a:lnTo>
                    <a:pt x="1896000" y="1617899"/>
                  </a:lnTo>
                  <a:lnTo>
                    <a:pt x="1896000" y="38100"/>
                  </a:lnTo>
                  <a:lnTo>
                    <a:pt x="1893009" y="23261"/>
                  </a:lnTo>
                  <a:lnTo>
                    <a:pt x="1884848" y="11151"/>
                  </a:lnTo>
                  <a:lnTo>
                    <a:pt x="1872739" y="2991"/>
                  </a:lnTo>
                  <a:lnTo>
                    <a:pt x="1857900" y="0"/>
                  </a:lnTo>
                  <a:close/>
                </a:path>
              </a:pathLst>
            </a:custGeom>
            <a:solidFill>
              <a:srgbClr val="EDE8FD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871999" y="4114600"/>
              <a:ext cx="1896110" cy="25400"/>
            </a:xfrm>
            <a:custGeom>
              <a:avLst/>
              <a:gdLst/>
              <a:ahLst/>
              <a:cxnLst/>
              <a:rect l="l" t="t" r="r" b="b"/>
              <a:pathLst>
                <a:path w="1896109" h="25400">
                  <a:moveTo>
                    <a:pt x="1895999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895999" y="25400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594989"/>
            </a:solidFill>
          </p:spPr>
          <p:txBody>
            <a:bodyPr wrap="square" lIns="0" tIns="0" rIns="0" bIns="0" rtlCol="0"/>
            <a:lstStyle/>
            <a:p>
              <a:endParaRPr dirty="0">
                <a:latin typeface="Felix Titling" panose="04060505060202020A04" pitchFamily="82" charset="0"/>
                <a:cs typeface="Aharoni" panose="02010803020104030203" pitchFamily="2" charset="-79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97450" y="2599315"/>
            <a:ext cx="13716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94989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Recommendations</a:t>
            </a:r>
            <a:endParaRPr sz="9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97450" y="2776552"/>
            <a:ext cx="948055" cy="10160"/>
          </a:xfrm>
          <a:custGeom>
            <a:avLst/>
            <a:gdLst/>
            <a:ahLst/>
            <a:cxnLst/>
            <a:rect l="l" t="t" r="r" b="b"/>
            <a:pathLst>
              <a:path w="948054" h="10160">
                <a:moveTo>
                  <a:pt x="948000" y="0"/>
                </a:moveTo>
                <a:lnTo>
                  <a:pt x="0" y="0"/>
                </a:lnTo>
                <a:lnTo>
                  <a:pt x="0" y="10159"/>
                </a:lnTo>
                <a:lnTo>
                  <a:pt x="948000" y="10159"/>
                </a:lnTo>
                <a:lnTo>
                  <a:pt x="948000" y="0"/>
                </a:lnTo>
                <a:close/>
              </a:path>
            </a:pathLst>
          </a:custGeom>
          <a:solidFill>
            <a:srgbClr val="594989"/>
          </a:solidFill>
        </p:spPr>
        <p:txBody>
          <a:bodyPr wrap="square" lIns="0" tIns="0" rIns="0" bIns="0" rtlCol="0"/>
          <a:lstStyle/>
          <a:p>
            <a:endParaRPr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05667" y="2947386"/>
            <a:ext cx="1689100" cy="127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30200"/>
              </a:lnSpc>
              <a:spcBef>
                <a:spcPts val="100"/>
              </a:spcBef>
            </a:pP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Future projects should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soil-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test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desilted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material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before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distribution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to</a:t>
            </a:r>
            <a:r>
              <a:rPr sz="800" spc="-2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optimise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crop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selection.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Form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Water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User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Groups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for</a:t>
            </a:r>
            <a:r>
              <a:rPr sz="800" spc="-1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long-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term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maintenance</a:t>
            </a:r>
            <a:r>
              <a:rPr sz="800" spc="-1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of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2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all</a:t>
            </a:r>
            <a:r>
              <a:rPr sz="800" spc="5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completed</a:t>
            </a:r>
            <a:r>
              <a:rPr sz="800" spc="-35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800" spc="-10" dirty="0">
                <a:solidFill>
                  <a:srgbClr val="364150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structures.</a:t>
            </a:r>
            <a:endParaRPr sz="80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1998" y="4813182"/>
            <a:ext cx="317075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Sustainability</a:t>
            </a:r>
            <a:r>
              <a:rPr sz="1050" b="1" spc="-3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1050" b="1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&amp;</a:t>
            </a:r>
            <a:r>
              <a:rPr sz="1050" b="1" spc="-3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1050" b="1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Future</a:t>
            </a:r>
            <a:r>
              <a:rPr sz="1050" b="1" spc="-3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 </a:t>
            </a:r>
            <a:r>
              <a:rPr sz="1050" b="1" spc="-10" dirty="0">
                <a:solidFill>
                  <a:srgbClr val="7B5B3A"/>
                </a:solidFill>
                <a:latin typeface="Felix Titling" panose="04060505060202020A04" pitchFamily="82" charset="0"/>
                <a:cs typeface="Aharoni" panose="02010803020104030203" pitchFamily="2" charset="-79"/>
              </a:rPr>
              <a:t>Roadmap</a:t>
            </a:r>
            <a:endParaRPr sz="1050" dirty="0">
              <a:latin typeface="Felix Titling" panose="04060505060202020A04" pitchFamily="82" charset="0"/>
              <a:cs typeface="Aharoni" panose="02010803020104030203" pitchFamily="2" charset="-79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CC819B29-782B-92F8-F1AD-845733C4D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778847"/>
              </p:ext>
            </p:extLst>
          </p:nvPr>
        </p:nvGraphicFramePr>
        <p:xfrm>
          <a:off x="778536" y="5033084"/>
          <a:ext cx="6199352" cy="1805520"/>
        </p:xfrm>
        <a:graphic>
          <a:graphicData uri="http://schemas.openxmlformats.org/drawingml/2006/table">
            <a:tbl>
              <a:tblPr/>
              <a:tblGrid>
                <a:gridCol w="712952">
                  <a:extLst>
                    <a:ext uri="{9D8B030D-6E8A-4147-A177-3AD203B41FA5}">
                      <a16:colId xmlns:a16="http://schemas.microsoft.com/office/drawing/2014/main" val="264053523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40710749"/>
                    </a:ext>
                  </a:extLst>
                </a:gridCol>
                <a:gridCol w="2412562">
                  <a:extLst>
                    <a:ext uri="{9D8B030D-6E8A-4147-A177-3AD203B41FA5}">
                      <a16:colId xmlns:a16="http://schemas.microsoft.com/office/drawing/2014/main" val="2623416254"/>
                    </a:ext>
                  </a:extLst>
                </a:gridCol>
                <a:gridCol w="1549838">
                  <a:extLst>
                    <a:ext uri="{9D8B030D-6E8A-4147-A177-3AD203B41FA5}">
                      <a16:colId xmlns:a16="http://schemas.microsoft.com/office/drawing/2014/main" val="2456296944"/>
                    </a:ext>
                  </a:extLst>
                </a:gridCol>
              </a:tblGrid>
              <a:tr h="825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latin typeface="Felix Titling" panose="04060505060202020A04" pitchFamily="82" charset="0"/>
                        </a:rPr>
                        <a:t>Sr. No.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latin typeface="Felix Titling" panose="04060505060202020A04" pitchFamily="82" charset="0"/>
                        </a:rPr>
                        <a:t>Component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latin typeface="Felix Titling" panose="04060505060202020A04" pitchFamily="82" charset="0"/>
                        </a:rPr>
                        <a:t>Description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latin typeface="Felix Titling" panose="04060505060202020A04" pitchFamily="82" charset="0"/>
                        </a:rPr>
                        <a:t>Key Focus Area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091890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01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b="1" dirty="0">
                          <a:latin typeface="Felix Titling" panose="04060505060202020A04" pitchFamily="82" charset="0"/>
                        </a:rPr>
                        <a:t>Capacity Building</a:t>
                      </a:r>
                      <a:endParaRPr lang="en-IN" sz="800" dirty="0">
                        <a:latin typeface="Felix Titling" panose="04060505060202020A04" pitchFamily="82" charset="0"/>
                      </a:endParaRP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Felix Titling" panose="04060505060202020A04" pitchFamily="82" charset="0"/>
                        </a:rPr>
                        <a:t>Conducted training for all  28 beneficiary Households on sustainable agriculture and soil management for newly reclaimed land.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Farmer training &amp; soil sustainability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45572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02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b="1" dirty="0">
                          <a:latin typeface="Felix Titling" panose="04060505060202020A04" pitchFamily="82" charset="0"/>
                        </a:rPr>
                        <a:t>Community Ownership</a:t>
                      </a:r>
                      <a:endParaRPr lang="en-IN" sz="800" dirty="0">
                        <a:latin typeface="Felix Titling" panose="04060505060202020A04" pitchFamily="82" charset="0"/>
                      </a:endParaRP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Felix Titling" panose="04060505060202020A04" pitchFamily="82" charset="0"/>
                        </a:rPr>
                        <a:t>Established water user groups from local farming communities to ensure long-term maintenance of watershed structures.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Local governance &amp; maintenance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23476"/>
                  </a:ext>
                </a:extLst>
              </a:tr>
              <a:tr h="3933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03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b="1" dirty="0">
                          <a:latin typeface="Felix Titling" panose="04060505060202020A04" pitchFamily="82" charset="0"/>
                        </a:rPr>
                        <a:t>Scale &amp; Continuity</a:t>
                      </a:r>
                      <a:endParaRPr lang="en-IN" sz="800" dirty="0">
                        <a:latin typeface="Felix Titling" panose="04060505060202020A04" pitchFamily="82" charset="0"/>
                      </a:endParaRP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Felix Titling" panose="04060505060202020A04" pitchFamily="82" charset="0"/>
                        </a:rPr>
                        <a:t>Expanded the nala deepening model to adjacent watersheds in Phaltan Block, replicating 19,000 m³ earthwork approach.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latin typeface="Felix Titling" panose="04060505060202020A04" pitchFamily="82" charset="0"/>
                        </a:rPr>
                        <a:t>Model replication &amp; expansion</a:t>
                      </a:r>
                    </a:p>
                  </a:txBody>
                  <a:tcPr marL="55141" marR="55141" marT="27570" marB="27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46997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3" name="object 3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1295996"/>
                  </a:lnTo>
                  <a:lnTo>
                    <a:pt x="7559992" y="1295996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2D694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560309" cy="38100"/>
            </a:xfrm>
            <a:custGeom>
              <a:avLst/>
              <a:gdLst/>
              <a:ahLst/>
              <a:cxnLst/>
              <a:rect l="l" t="t" r="r" b="b"/>
              <a:pathLst>
                <a:path w="7560309" h="38100">
                  <a:moveTo>
                    <a:pt x="75600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7560000" y="38100"/>
                  </a:lnTo>
                  <a:lnTo>
                    <a:pt x="7560000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79299" y="402400"/>
            <a:ext cx="186118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10</a:t>
            </a:r>
            <a:r>
              <a:rPr sz="700" b="1" spc="170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7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MONITORING,</a:t>
            </a:r>
            <a:r>
              <a:rPr sz="700" b="1" spc="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EVALUATION</a:t>
            </a:r>
            <a:r>
              <a:rPr sz="700" b="1" spc="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&amp;</a:t>
            </a:r>
            <a:r>
              <a:rPr sz="700" b="1" spc="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COMPLIANCE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9299" y="675700"/>
            <a:ext cx="6004250" cy="4334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Monitoring</a:t>
            </a:r>
            <a:r>
              <a:rPr sz="2400" u="sng" spc="9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lang="en-IN" sz="2400" u="sng" spc="-10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&amp;</a:t>
            </a:r>
            <a:r>
              <a:rPr sz="2400" u="sng" spc="9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400" u="sng" spc="-1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E</a:t>
            </a:r>
            <a:r>
              <a:rPr sz="2400" spc="-10" dirty="0">
                <a:latin typeface="Felix Titling" panose="04060505060202020A04" pitchFamily="82" charset="0"/>
              </a:rPr>
              <a:t>valuation</a:t>
            </a:r>
            <a:endParaRPr sz="2400" dirty="0">
              <a:latin typeface="Felix Titling" panose="04060505060202020A04" pitchFamily="82" charset="0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0590"/>
              </p:ext>
            </p:extLst>
          </p:nvPr>
        </p:nvGraphicFramePr>
        <p:xfrm>
          <a:off x="786919" y="1578920"/>
          <a:ext cx="6032397" cy="2819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7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Mechanism</a:t>
                      </a:r>
                      <a:endParaRPr sz="7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D8F2DB"/>
                      </a:solidFill>
                      <a:prstDash val="solid"/>
                    </a:lnL>
                    <a:lnT w="12700">
                      <a:solidFill>
                        <a:srgbClr val="D8F2DB"/>
                      </a:solidFill>
                      <a:prstDash val="solid"/>
                    </a:lnT>
                    <a:solidFill>
                      <a:srgbClr val="2D694F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Frequency</a:t>
                      </a:r>
                      <a:endParaRPr sz="7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02870" marB="0">
                    <a:lnT w="12700">
                      <a:solidFill>
                        <a:srgbClr val="D8F2DB"/>
                      </a:solidFill>
                      <a:prstDash val="solid"/>
                    </a:lnT>
                    <a:solidFill>
                      <a:srgbClr val="2D694F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Responsible</a:t>
                      </a:r>
                      <a:endParaRPr sz="7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02870" marB="0">
                    <a:lnT w="12700">
                      <a:solidFill>
                        <a:srgbClr val="D8F2DB"/>
                      </a:solidFill>
                      <a:prstDash val="solid"/>
                    </a:lnT>
                    <a:solidFill>
                      <a:srgbClr val="2D694F"/>
                    </a:solidFill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Key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Finding</a:t>
                      </a:r>
                      <a:endParaRPr sz="7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02870" marB="0">
                    <a:lnR w="12700">
                      <a:solidFill>
                        <a:srgbClr val="D8F2DB"/>
                      </a:solidFill>
                      <a:prstDash val="solid"/>
                    </a:lnR>
                    <a:lnT w="12700">
                      <a:solidFill>
                        <a:srgbClr val="D8F2DB"/>
                      </a:solidFill>
                      <a:prstDash val="solid"/>
                    </a:lnT>
                    <a:solidFill>
                      <a:srgbClr val="2D6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850" b="1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Field </a:t>
                      </a:r>
                      <a:r>
                        <a:rPr sz="850" b="1" spc="-1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Visits</a:t>
                      </a:r>
                      <a:endParaRPr sz="8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D8F2DB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Regular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Mr.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Suresh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Kadam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(PM)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Verified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SCT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&amp;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desilting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completion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D8F2DB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850" b="1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Weekly</a:t>
                      </a:r>
                      <a:r>
                        <a:rPr sz="850" b="1" spc="-3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Updates</a:t>
                      </a:r>
                      <a:endParaRPr sz="8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D8F2DB"/>
                      </a:solidFill>
                      <a:prstDash val="solid"/>
                    </a:lnL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Weekly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Site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Supervisors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Tracked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Nala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widening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to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19,000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m³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D8F2DB"/>
                      </a:solidFill>
                      <a:prstDash val="solid"/>
                    </a:lnR>
                    <a:solidFill>
                      <a:srgbClr val="EF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850" b="1" spc="-1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Dashboards</a:t>
                      </a:r>
                      <a:endParaRPr sz="8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D8F2DB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Monthly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Project </a:t>
                      </a:r>
                      <a:r>
                        <a:rPr sz="800" dirty="0" err="1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Mgmt</a:t>
                      </a:r>
                      <a:r>
                        <a:rPr lang="en-IN"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.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Unit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Progress</a:t>
                      </a:r>
                      <a:r>
                        <a:rPr sz="800" spc="-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vs</a:t>
                      </a:r>
                      <a:r>
                        <a:rPr sz="800" spc="-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all</a:t>
                      </a:r>
                      <a:r>
                        <a:rPr sz="800" spc="-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6 targets</a:t>
                      </a:r>
                      <a:r>
                        <a:rPr sz="800" spc="-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visualised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D8F2DB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850" b="1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Progress </a:t>
                      </a:r>
                      <a:r>
                        <a:rPr sz="850" b="1" spc="-2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Rpts</a:t>
                      </a:r>
                      <a:endParaRPr sz="8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D8F2DB"/>
                      </a:solidFill>
                      <a:prstDash val="solid"/>
                    </a:lnL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Monthly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Reporting</a:t>
                      </a:r>
                      <a:r>
                        <a:rPr sz="800" spc="-3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Team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solidFill>
                      <a:srgbClr val="EFF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Feb–Mar</a:t>
                      </a:r>
                      <a:r>
                        <a:rPr sz="800" spc="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2026</a:t>
                      </a:r>
                      <a:r>
                        <a:rPr sz="800" spc="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achievements</a:t>
                      </a:r>
                      <a:r>
                        <a:rPr sz="800" spc="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compiled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D8F2DB"/>
                      </a:solidFill>
                      <a:prstDash val="solid"/>
                    </a:lnR>
                    <a:solidFill>
                      <a:srgbClr val="EF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850" b="1" spc="-10" dirty="0">
                          <a:solidFill>
                            <a:srgbClr val="1A3A2D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Audit</a:t>
                      </a:r>
                      <a:endParaRPr sz="85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D8F2DB"/>
                      </a:solidFill>
                      <a:prstDash val="solid"/>
                    </a:lnL>
                    <a:lnB w="1270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End-of-</a:t>
                      </a:r>
                      <a:r>
                        <a:rPr sz="800" spc="-20" dirty="0" err="1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Proj</a:t>
                      </a:r>
                      <a:r>
                        <a:rPr lang="en-IN" sz="800" spc="-20" dirty="0" err="1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ect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B w="1270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Financial</a:t>
                      </a:r>
                      <a:r>
                        <a:rPr sz="800" spc="-3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Auditor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B w="12700">
                      <a:solidFill>
                        <a:srgbClr val="D8F2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800" dirty="0">
                        <a:latin typeface="Felix Titling" panose="04060505060202020A04" pitchFamily="82" charset="0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Aligned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with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Parivartan</a:t>
                      </a:r>
                      <a:r>
                        <a:rPr sz="800" spc="-15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SGP</a:t>
                      </a:r>
                      <a:r>
                        <a:rPr sz="800" spc="-2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2A2A2A"/>
                          </a:solidFill>
                          <a:latin typeface="Felix Titling" panose="04060505060202020A04" pitchFamily="82" charset="0"/>
                          <a:cs typeface="Calibri"/>
                        </a:rPr>
                        <a:t>guidelines</a:t>
                      </a:r>
                      <a:endParaRPr sz="800" dirty="0">
                        <a:latin typeface="Felix Titling" panose="04060505060202020A04" pitchFamily="82" charset="0"/>
                        <a:cs typeface="Calibri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D8F2DB"/>
                      </a:solidFill>
                      <a:prstDash val="solid"/>
                    </a:lnR>
                    <a:lnB w="12700">
                      <a:solidFill>
                        <a:srgbClr val="D8F2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5040000" y="0"/>
            <a:ext cx="2520315" cy="2628265"/>
          </a:xfrm>
          <a:custGeom>
            <a:avLst/>
            <a:gdLst/>
            <a:ahLst/>
            <a:cxnLst/>
            <a:rect l="l" t="t" r="r" b="b"/>
            <a:pathLst>
              <a:path w="2520315" h="2628265">
                <a:moveTo>
                  <a:pt x="2519999" y="0"/>
                </a:moveTo>
                <a:lnTo>
                  <a:pt x="108524" y="0"/>
                </a:lnTo>
                <a:lnTo>
                  <a:pt x="106797" y="4846"/>
                </a:lnTo>
                <a:lnTo>
                  <a:pt x="92450" y="48281"/>
                </a:lnTo>
                <a:lnTo>
                  <a:pt x="79085" y="92153"/>
                </a:lnTo>
                <a:lnTo>
                  <a:pt x="66715" y="136449"/>
                </a:lnTo>
                <a:lnTo>
                  <a:pt x="55352" y="181157"/>
                </a:lnTo>
                <a:lnTo>
                  <a:pt x="45010" y="226263"/>
                </a:lnTo>
                <a:lnTo>
                  <a:pt x="35702" y="271754"/>
                </a:lnTo>
                <a:lnTo>
                  <a:pt x="27440" y="317617"/>
                </a:lnTo>
                <a:lnTo>
                  <a:pt x="20238" y="363840"/>
                </a:lnTo>
                <a:lnTo>
                  <a:pt x="14108" y="410410"/>
                </a:lnTo>
                <a:lnTo>
                  <a:pt x="9063" y="457313"/>
                </a:lnTo>
                <a:lnTo>
                  <a:pt x="5117" y="504536"/>
                </a:lnTo>
                <a:lnTo>
                  <a:pt x="2283" y="552067"/>
                </a:lnTo>
                <a:lnTo>
                  <a:pt x="572" y="599893"/>
                </a:lnTo>
                <a:lnTo>
                  <a:pt x="0" y="648000"/>
                </a:lnTo>
                <a:lnTo>
                  <a:pt x="572" y="696107"/>
                </a:lnTo>
                <a:lnTo>
                  <a:pt x="2283" y="743933"/>
                </a:lnTo>
                <a:lnTo>
                  <a:pt x="5117" y="791464"/>
                </a:lnTo>
                <a:lnTo>
                  <a:pt x="9063" y="838687"/>
                </a:lnTo>
                <a:lnTo>
                  <a:pt x="14108" y="885590"/>
                </a:lnTo>
                <a:lnTo>
                  <a:pt x="20238" y="932160"/>
                </a:lnTo>
                <a:lnTo>
                  <a:pt x="27440" y="978383"/>
                </a:lnTo>
                <a:lnTo>
                  <a:pt x="35702" y="1024246"/>
                </a:lnTo>
                <a:lnTo>
                  <a:pt x="45010" y="1069737"/>
                </a:lnTo>
                <a:lnTo>
                  <a:pt x="55352" y="1114843"/>
                </a:lnTo>
                <a:lnTo>
                  <a:pt x="66715" y="1159551"/>
                </a:lnTo>
                <a:lnTo>
                  <a:pt x="79085" y="1203847"/>
                </a:lnTo>
                <a:lnTo>
                  <a:pt x="92450" y="1247719"/>
                </a:lnTo>
                <a:lnTo>
                  <a:pt x="106797" y="1291154"/>
                </a:lnTo>
                <a:lnTo>
                  <a:pt x="122112" y="1334138"/>
                </a:lnTo>
                <a:lnTo>
                  <a:pt x="138384" y="1376660"/>
                </a:lnTo>
                <a:lnTo>
                  <a:pt x="155598" y="1418705"/>
                </a:lnTo>
                <a:lnTo>
                  <a:pt x="173742" y="1460262"/>
                </a:lnTo>
                <a:lnTo>
                  <a:pt x="192803" y="1501316"/>
                </a:lnTo>
                <a:lnTo>
                  <a:pt x="212767" y="1541855"/>
                </a:lnTo>
                <a:lnTo>
                  <a:pt x="233623" y="1581867"/>
                </a:lnTo>
                <a:lnTo>
                  <a:pt x="255357" y="1621337"/>
                </a:lnTo>
                <a:lnTo>
                  <a:pt x="277956" y="1660254"/>
                </a:lnTo>
                <a:lnTo>
                  <a:pt x="301407" y="1698603"/>
                </a:lnTo>
                <a:lnTo>
                  <a:pt x="325697" y="1736373"/>
                </a:lnTo>
                <a:lnTo>
                  <a:pt x="350813" y="1773550"/>
                </a:lnTo>
                <a:lnTo>
                  <a:pt x="376742" y="1810122"/>
                </a:lnTo>
                <a:lnTo>
                  <a:pt x="403472" y="1846074"/>
                </a:lnTo>
                <a:lnTo>
                  <a:pt x="430989" y="1881395"/>
                </a:lnTo>
                <a:lnTo>
                  <a:pt x="459280" y="1916072"/>
                </a:lnTo>
                <a:lnTo>
                  <a:pt x="488332" y="1950090"/>
                </a:lnTo>
                <a:lnTo>
                  <a:pt x="518133" y="1983439"/>
                </a:lnTo>
                <a:lnTo>
                  <a:pt x="548670" y="2016103"/>
                </a:lnTo>
                <a:lnTo>
                  <a:pt x="579928" y="2048071"/>
                </a:lnTo>
                <a:lnTo>
                  <a:pt x="611896" y="2079330"/>
                </a:lnTo>
                <a:lnTo>
                  <a:pt x="644561" y="2109866"/>
                </a:lnTo>
                <a:lnTo>
                  <a:pt x="677909" y="2139667"/>
                </a:lnTo>
                <a:lnTo>
                  <a:pt x="711928" y="2168719"/>
                </a:lnTo>
                <a:lnTo>
                  <a:pt x="746604" y="2197011"/>
                </a:lnTo>
                <a:lnTo>
                  <a:pt x="781925" y="2224527"/>
                </a:lnTo>
                <a:lnTo>
                  <a:pt x="817878" y="2251257"/>
                </a:lnTo>
                <a:lnTo>
                  <a:pt x="854449" y="2277186"/>
                </a:lnTo>
                <a:lnTo>
                  <a:pt x="891626" y="2302303"/>
                </a:lnTo>
                <a:lnTo>
                  <a:pt x="929396" y="2326593"/>
                </a:lnTo>
                <a:lnTo>
                  <a:pt x="967746" y="2350044"/>
                </a:lnTo>
                <a:lnTo>
                  <a:pt x="1006662" y="2372642"/>
                </a:lnTo>
                <a:lnTo>
                  <a:pt x="1046133" y="2394376"/>
                </a:lnTo>
                <a:lnTo>
                  <a:pt x="1086144" y="2415232"/>
                </a:lnTo>
                <a:lnTo>
                  <a:pt x="1126684" y="2435197"/>
                </a:lnTo>
                <a:lnTo>
                  <a:pt x="1167738" y="2454258"/>
                </a:lnTo>
                <a:lnTo>
                  <a:pt x="1209294" y="2472402"/>
                </a:lnTo>
                <a:lnTo>
                  <a:pt x="1251340" y="2489616"/>
                </a:lnTo>
                <a:lnTo>
                  <a:pt x="1293861" y="2505887"/>
                </a:lnTo>
                <a:lnTo>
                  <a:pt x="1336846" y="2521203"/>
                </a:lnTo>
                <a:lnTo>
                  <a:pt x="1380281" y="2535549"/>
                </a:lnTo>
                <a:lnTo>
                  <a:pt x="1424153" y="2548914"/>
                </a:lnTo>
                <a:lnTo>
                  <a:pt x="1468449" y="2561285"/>
                </a:lnTo>
                <a:lnTo>
                  <a:pt x="1513156" y="2572647"/>
                </a:lnTo>
                <a:lnTo>
                  <a:pt x="1558262" y="2582989"/>
                </a:lnTo>
                <a:lnTo>
                  <a:pt x="1603753" y="2592298"/>
                </a:lnTo>
                <a:lnTo>
                  <a:pt x="1649617" y="2600559"/>
                </a:lnTo>
                <a:lnTo>
                  <a:pt x="1695840" y="2607762"/>
                </a:lnTo>
                <a:lnTo>
                  <a:pt x="1742409" y="2613892"/>
                </a:lnTo>
                <a:lnTo>
                  <a:pt x="1789312" y="2618936"/>
                </a:lnTo>
                <a:lnTo>
                  <a:pt x="1836536" y="2622882"/>
                </a:lnTo>
                <a:lnTo>
                  <a:pt x="1884067" y="2625717"/>
                </a:lnTo>
                <a:lnTo>
                  <a:pt x="1931892" y="2627427"/>
                </a:lnTo>
                <a:lnTo>
                  <a:pt x="1979999" y="2628000"/>
                </a:lnTo>
                <a:lnTo>
                  <a:pt x="2028107" y="2627427"/>
                </a:lnTo>
                <a:lnTo>
                  <a:pt x="2075932" y="2625717"/>
                </a:lnTo>
                <a:lnTo>
                  <a:pt x="2123463" y="2622882"/>
                </a:lnTo>
                <a:lnTo>
                  <a:pt x="2170686" y="2618936"/>
                </a:lnTo>
                <a:lnTo>
                  <a:pt x="2217589" y="2613892"/>
                </a:lnTo>
                <a:lnTo>
                  <a:pt x="2264159" y="2607762"/>
                </a:lnTo>
                <a:lnTo>
                  <a:pt x="2310382" y="2600559"/>
                </a:lnTo>
                <a:lnTo>
                  <a:pt x="2356245" y="2592298"/>
                </a:lnTo>
                <a:lnTo>
                  <a:pt x="2401737" y="2582989"/>
                </a:lnTo>
                <a:lnTo>
                  <a:pt x="2446842" y="2572647"/>
                </a:lnTo>
                <a:lnTo>
                  <a:pt x="2491550" y="2561285"/>
                </a:lnTo>
                <a:lnTo>
                  <a:pt x="2519999" y="2553340"/>
                </a:lnTo>
                <a:lnTo>
                  <a:pt x="2519999" y="0"/>
                </a:lnTo>
                <a:close/>
              </a:path>
            </a:pathLst>
          </a:custGeom>
          <a:solidFill>
            <a:srgbClr val="336B4C">
              <a:alpha val="13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8532000"/>
            <a:ext cx="2160270" cy="2160270"/>
          </a:xfrm>
          <a:custGeom>
            <a:avLst/>
            <a:gdLst/>
            <a:ahLst/>
            <a:cxnLst/>
            <a:rect l="l" t="t" r="r" b="b"/>
            <a:pathLst>
              <a:path w="2160270" h="2160270">
                <a:moveTo>
                  <a:pt x="719999" y="0"/>
                </a:moveTo>
                <a:lnTo>
                  <a:pt x="671501" y="801"/>
                </a:lnTo>
                <a:lnTo>
                  <a:pt x="623403" y="3188"/>
                </a:lnTo>
                <a:lnTo>
                  <a:pt x="575733" y="7136"/>
                </a:lnTo>
                <a:lnTo>
                  <a:pt x="528514" y="12620"/>
                </a:lnTo>
                <a:lnTo>
                  <a:pt x="481772" y="19613"/>
                </a:lnTo>
                <a:lnTo>
                  <a:pt x="435533" y="28092"/>
                </a:lnTo>
                <a:lnTo>
                  <a:pt x="389821" y="38031"/>
                </a:lnTo>
                <a:lnTo>
                  <a:pt x="344661" y="49404"/>
                </a:lnTo>
                <a:lnTo>
                  <a:pt x="300080" y="62187"/>
                </a:lnTo>
                <a:lnTo>
                  <a:pt x="256102" y="76355"/>
                </a:lnTo>
                <a:lnTo>
                  <a:pt x="212752" y="91881"/>
                </a:lnTo>
                <a:lnTo>
                  <a:pt x="170056" y="108741"/>
                </a:lnTo>
                <a:lnTo>
                  <a:pt x="128038" y="126910"/>
                </a:lnTo>
                <a:lnTo>
                  <a:pt x="86724" y="146363"/>
                </a:lnTo>
                <a:lnTo>
                  <a:pt x="46139" y="167073"/>
                </a:lnTo>
                <a:lnTo>
                  <a:pt x="6309" y="189017"/>
                </a:lnTo>
                <a:lnTo>
                  <a:pt x="0" y="192758"/>
                </a:lnTo>
                <a:lnTo>
                  <a:pt x="0" y="2159999"/>
                </a:lnTo>
                <a:lnTo>
                  <a:pt x="1967241" y="2159999"/>
                </a:lnTo>
                <a:lnTo>
                  <a:pt x="1970981" y="2153690"/>
                </a:lnTo>
                <a:lnTo>
                  <a:pt x="1992925" y="2113859"/>
                </a:lnTo>
                <a:lnTo>
                  <a:pt x="2013636" y="2073275"/>
                </a:lnTo>
                <a:lnTo>
                  <a:pt x="2033088" y="2031961"/>
                </a:lnTo>
                <a:lnTo>
                  <a:pt x="2051257" y="1989943"/>
                </a:lnTo>
                <a:lnTo>
                  <a:pt x="2068118" y="1947247"/>
                </a:lnTo>
                <a:lnTo>
                  <a:pt x="2083644" y="1903897"/>
                </a:lnTo>
                <a:lnTo>
                  <a:pt x="2097811" y="1859918"/>
                </a:lnTo>
                <a:lnTo>
                  <a:pt x="2110594" y="1815337"/>
                </a:lnTo>
                <a:lnTo>
                  <a:pt x="2121968" y="1770178"/>
                </a:lnTo>
                <a:lnTo>
                  <a:pt x="2131906" y="1724466"/>
                </a:lnTo>
                <a:lnTo>
                  <a:pt x="2140385" y="1678226"/>
                </a:lnTo>
                <a:lnTo>
                  <a:pt x="2147379" y="1631485"/>
                </a:lnTo>
                <a:lnTo>
                  <a:pt x="2152862" y="1584266"/>
                </a:lnTo>
                <a:lnTo>
                  <a:pt x="2156810" y="1536595"/>
                </a:lnTo>
                <a:lnTo>
                  <a:pt x="2159198" y="1488498"/>
                </a:lnTo>
                <a:lnTo>
                  <a:pt x="2159999" y="1439999"/>
                </a:lnTo>
                <a:lnTo>
                  <a:pt x="2159198" y="1391500"/>
                </a:lnTo>
                <a:lnTo>
                  <a:pt x="2156810" y="1343403"/>
                </a:lnTo>
                <a:lnTo>
                  <a:pt x="2152862" y="1295732"/>
                </a:lnTo>
                <a:lnTo>
                  <a:pt x="2147379" y="1248513"/>
                </a:lnTo>
                <a:lnTo>
                  <a:pt x="2140385" y="1201771"/>
                </a:lnTo>
                <a:lnTo>
                  <a:pt x="2131906" y="1155532"/>
                </a:lnTo>
                <a:lnTo>
                  <a:pt x="2121968" y="1109820"/>
                </a:lnTo>
                <a:lnTo>
                  <a:pt x="2110594" y="1064661"/>
                </a:lnTo>
                <a:lnTo>
                  <a:pt x="2097811" y="1020080"/>
                </a:lnTo>
                <a:lnTo>
                  <a:pt x="2083644" y="976101"/>
                </a:lnTo>
                <a:lnTo>
                  <a:pt x="2068118" y="932751"/>
                </a:lnTo>
                <a:lnTo>
                  <a:pt x="2051257" y="890055"/>
                </a:lnTo>
                <a:lnTo>
                  <a:pt x="2033088" y="848037"/>
                </a:lnTo>
                <a:lnTo>
                  <a:pt x="2013636" y="806723"/>
                </a:lnTo>
                <a:lnTo>
                  <a:pt x="1992925" y="766139"/>
                </a:lnTo>
                <a:lnTo>
                  <a:pt x="1970981" y="726308"/>
                </a:lnTo>
                <a:lnTo>
                  <a:pt x="1947829" y="687257"/>
                </a:lnTo>
                <a:lnTo>
                  <a:pt x="1923495" y="649011"/>
                </a:lnTo>
                <a:lnTo>
                  <a:pt x="1898003" y="611595"/>
                </a:lnTo>
                <a:lnTo>
                  <a:pt x="1871379" y="575033"/>
                </a:lnTo>
                <a:lnTo>
                  <a:pt x="1843647" y="539353"/>
                </a:lnTo>
                <a:lnTo>
                  <a:pt x="1814834" y="504577"/>
                </a:lnTo>
                <a:lnTo>
                  <a:pt x="1784964" y="470732"/>
                </a:lnTo>
                <a:lnTo>
                  <a:pt x="1754063" y="437843"/>
                </a:lnTo>
                <a:lnTo>
                  <a:pt x="1722155" y="405936"/>
                </a:lnTo>
                <a:lnTo>
                  <a:pt x="1689266" y="375034"/>
                </a:lnTo>
                <a:lnTo>
                  <a:pt x="1655421" y="345164"/>
                </a:lnTo>
                <a:lnTo>
                  <a:pt x="1620646" y="316351"/>
                </a:lnTo>
                <a:lnTo>
                  <a:pt x="1584965" y="288620"/>
                </a:lnTo>
                <a:lnTo>
                  <a:pt x="1548404" y="261995"/>
                </a:lnTo>
                <a:lnTo>
                  <a:pt x="1510987" y="236503"/>
                </a:lnTo>
                <a:lnTo>
                  <a:pt x="1472741" y="212169"/>
                </a:lnTo>
                <a:lnTo>
                  <a:pt x="1433690" y="189017"/>
                </a:lnTo>
                <a:lnTo>
                  <a:pt x="1393860" y="167073"/>
                </a:lnTo>
                <a:lnTo>
                  <a:pt x="1353275" y="146363"/>
                </a:lnTo>
                <a:lnTo>
                  <a:pt x="1311961" y="126910"/>
                </a:lnTo>
                <a:lnTo>
                  <a:pt x="1269943" y="108741"/>
                </a:lnTo>
                <a:lnTo>
                  <a:pt x="1227247" y="91881"/>
                </a:lnTo>
                <a:lnTo>
                  <a:pt x="1183897" y="76355"/>
                </a:lnTo>
                <a:lnTo>
                  <a:pt x="1139919" y="62187"/>
                </a:lnTo>
                <a:lnTo>
                  <a:pt x="1095338" y="49404"/>
                </a:lnTo>
                <a:lnTo>
                  <a:pt x="1050178" y="38031"/>
                </a:lnTo>
                <a:lnTo>
                  <a:pt x="1004466" y="28092"/>
                </a:lnTo>
                <a:lnTo>
                  <a:pt x="958227" y="19613"/>
                </a:lnTo>
                <a:lnTo>
                  <a:pt x="911485" y="12620"/>
                </a:lnTo>
                <a:lnTo>
                  <a:pt x="864266" y="7136"/>
                </a:lnTo>
                <a:lnTo>
                  <a:pt x="816596" y="3188"/>
                </a:lnTo>
                <a:lnTo>
                  <a:pt x="768498" y="801"/>
                </a:lnTo>
                <a:lnTo>
                  <a:pt x="719999" y="0"/>
                </a:lnTo>
                <a:close/>
              </a:path>
            </a:pathLst>
          </a:custGeom>
          <a:solidFill>
            <a:srgbClr val="B7870A">
              <a:alpha val="7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5"/>
          <p:cNvGrpSpPr/>
          <p:nvPr/>
        </p:nvGrpSpPr>
        <p:grpSpPr>
          <a:xfrm>
            <a:off x="0" y="9"/>
            <a:ext cx="7560309" cy="10332085"/>
            <a:chOff x="0" y="9"/>
            <a:chExt cx="7560309" cy="10332085"/>
          </a:xfrm>
        </p:grpSpPr>
        <p:sp>
          <p:nvSpPr>
            <p:cNvPr id="6" name="object 6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9" b="2509"/>
            <a:stretch/>
          </p:blipFill>
          <p:spPr>
            <a:xfrm>
              <a:off x="773571" y="1460533"/>
              <a:ext cx="2702703" cy="19253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79299" y="402400"/>
            <a:ext cx="188595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12–13</a:t>
            </a:r>
            <a:r>
              <a:rPr sz="700" b="1" spc="15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60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SUCCESS</a:t>
            </a:r>
            <a:r>
              <a:rPr sz="700" b="1" spc="-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STORIES &amp;</a:t>
            </a:r>
            <a:r>
              <a:rPr sz="700" b="1" spc="-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COMMUNITY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VOICES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79299" y="626270"/>
            <a:ext cx="6885151" cy="469803"/>
          </a:xfrm>
          <a:prstGeom prst="rect">
            <a:avLst/>
          </a:prstGeom>
        </p:spPr>
        <p:txBody>
          <a:bodyPr vert="horz" wrap="square" lIns="0" tIns="994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4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Success</a:t>
            </a:r>
            <a:r>
              <a:rPr sz="2400" u="heavy" spc="8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400" u="heavy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Stories</a:t>
            </a:r>
            <a:r>
              <a:rPr sz="2400" u="heavy" spc="8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lang="en-US" sz="2400" u="heavy" spc="-10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&amp;</a:t>
            </a:r>
            <a:r>
              <a:rPr sz="2400" u="heavy" spc="8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400" u="heavy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Co</a:t>
            </a:r>
            <a:r>
              <a:rPr sz="2400" dirty="0">
                <a:latin typeface="Felix Titling" panose="04060505060202020A04" pitchFamily="82" charset="0"/>
              </a:rPr>
              <a:t>mmunity</a:t>
            </a:r>
            <a:r>
              <a:rPr sz="2400" spc="80" dirty="0">
                <a:latin typeface="Felix Titling" panose="04060505060202020A04" pitchFamily="82" charset="0"/>
              </a:rPr>
              <a:t> </a:t>
            </a:r>
            <a:r>
              <a:rPr sz="2400" spc="-10" dirty="0">
                <a:latin typeface="Felix Titling" panose="04060505060202020A04" pitchFamily="82" charset="0"/>
              </a:rPr>
              <a:t>Voices</a:t>
            </a:r>
            <a:endParaRPr sz="2400" dirty="0">
              <a:latin typeface="Felix Titling" panose="04060505060202020A04" pitchFamily="82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1219" y="1303283"/>
            <a:ext cx="3216961" cy="6184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spc="10" dirty="0">
                <a:solidFill>
                  <a:srgbClr val="B8850A"/>
                </a:solidFill>
                <a:latin typeface="Felix Titling" panose="04060505060202020A04" pitchFamily="82" charset="0"/>
                <a:cs typeface="Times New Roman"/>
              </a:rPr>
              <a:t>Transforming</a:t>
            </a:r>
            <a:r>
              <a:rPr sz="1400" b="1" spc="95" dirty="0">
                <a:solidFill>
                  <a:srgbClr val="B8850A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400" b="1" spc="10" dirty="0">
                <a:solidFill>
                  <a:srgbClr val="B8850A"/>
                </a:solidFill>
                <a:latin typeface="Felix Titling" panose="04060505060202020A04" pitchFamily="82" charset="0"/>
                <a:cs typeface="Times New Roman"/>
              </a:rPr>
              <a:t>Barren</a:t>
            </a:r>
            <a:r>
              <a:rPr sz="1400" b="1" spc="95" dirty="0">
                <a:solidFill>
                  <a:srgbClr val="B8850A"/>
                </a:solidFill>
                <a:latin typeface="Felix Titling" panose="04060505060202020A04" pitchFamily="82" charset="0"/>
                <a:cs typeface="Times New Roman"/>
              </a:rPr>
              <a:t> </a:t>
            </a:r>
            <a:r>
              <a:rPr sz="1400" b="1" spc="-20" dirty="0">
                <a:solidFill>
                  <a:srgbClr val="B8850A"/>
                </a:solidFill>
                <a:latin typeface="Felix Titling" panose="04060505060202020A04" pitchFamily="82" charset="0"/>
                <a:cs typeface="Times New Roman"/>
              </a:rPr>
              <a:t>Land</a:t>
            </a:r>
            <a:endParaRPr sz="1400" dirty="0">
              <a:latin typeface="Felix Titling" panose="04060505060202020A04" pitchFamily="82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300" i="1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into</a:t>
            </a:r>
            <a:r>
              <a:rPr sz="1300" i="1" spc="-2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i="1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Productive</a:t>
            </a:r>
            <a:r>
              <a:rPr sz="1300" i="1" spc="-1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i="1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Farmland</a:t>
            </a:r>
            <a:endParaRPr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80409" y="1641810"/>
            <a:ext cx="1260475" cy="12700"/>
          </a:xfrm>
          <a:custGeom>
            <a:avLst/>
            <a:gdLst/>
            <a:ahLst/>
            <a:cxnLst/>
            <a:rect l="l" t="t" r="r" b="b"/>
            <a:pathLst>
              <a:path w="1260475" h="12700">
                <a:moveTo>
                  <a:pt x="1260000" y="0"/>
                </a:moveTo>
                <a:lnTo>
                  <a:pt x="0" y="0"/>
                </a:lnTo>
                <a:lnTo>
                  <a:pt x="0" y="12700"/>
                </a:lnTo>
                <a:lnTo>
                  <a:pt x="1260000" y="12700"/>
                </a:lnTo>
                <a:lnTo>
                  <a:pt x="1260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3532671" y="1910284"/>
            <a:ext cx="3826979" cy="1090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In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 err="1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Veloshi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village,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what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was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once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infertile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rocky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land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now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sustains</a:t>
            </a:r>
            <a:r>
              <a:rPr sz="900" spc="5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crops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for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lang="en-IN"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39</a:t>
            </a:r>
            <a:r>
              <a:rPr sz="900" spc="-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farming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families.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Through</a:t>
            </a:r>
            <a:r>
              <a:rPr sz="900" spc="-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19,000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m³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of</a:t>
            </a:r>
            <a:r>
              <a:rPr sz="900" spc="-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strategic</a:t>
            </a:r>
            <a:r>
              <a:rPr sz="900" spc="5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desilting,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the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project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restored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water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bodies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and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unlocked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18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acres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spc="-2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of</a:t>
            </a:r>
            <a:r>
              <a:rPr sz="900" spc="5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agricultural</a:t>
            </a:r>
            <a:r>
              <a:rPr sz="900" spc="-2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potential.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Nutrient-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rich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sediment,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carefully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spc="-1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redistributed,</a:t>
            </a:r>
            <a:r>
              <a:rPr sz="900" spc="5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has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transformed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the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soil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profile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of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barren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plots,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giving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each</a:t>
            </a:r>
            <a:r>
              <a:rPr sz="900" spc="-2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family</a:t>
            </a:r>
            <a:r>
              <a:rPr sz="900" spc="-15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900" spc="-5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a</a:t>
            </a:r>
            <a:r>
              <a:rPr lang="en-IN" sz="900" spc="-5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lang="en-US" sz="900" spc="-50" dirty="0">
                <a:solidFill>
                  <a:srgbClr val="C8E6CF"/>
                </a:solidFill>
                <a:latin typeface="Footlight MT Light" panose="0204060206030A020304" pitchFamily="18" charset="0"/>
                <a:cs typeface="Calibri"/>
              </a:rPr>
              <a:t>direct stake in the watershed’s recovery.</a:t>
            </a:r>
          </a:p>
          <a:p>
            <a:pPr marL="12700" marR="5080">
              <a:lnSpc>
                <a:spcPct val="129600"/>
              </a:lnSpc>
              <a:spcBef>
                <a:spcPts val="100"/>
              </a:spcBef>
            </a:pPr>
            <a:endParaRPr sz="900" dirty="0"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80409" y="3233621"/>
            <a:ext cx="3299460" cy="198120"/>
          </a:xfrm>
          <a:custGeom>
            <a:avLst/>
            <a:gdLst/>
            <a:ahLst/>
            <a:cxnLst/>
            <a:rect l="l" t="t" r="r" b="b"/>
            <a:pathLst>
              <a:path w="3299459" h="198119">
                <a:moveTo>
                  <a:pt x="875068" y="25400"/>
                </a:moveTo>
                <a:lnTo>
                  <a:pt x="873074" y="15506"/>
                </a:lnTo>
                <a:lnTo>
                  <a:pt x="867625" y="7429"/>
                </a:lnTo>
                <a:lnTo>
                  <a:pt x="859561" y="1993"/>
                </a:lnTo>
                <a:lnTo>
                  <a:pt x="849668" y="0"/>
                </a:lnTo>
                <a:lnTo>
                  <a:pt x="25400" y="0"/>
                </a:lnTo>
                <a:lnTo>
                  <a:pt x="15506" y="1993"/>
                </a:lnTo>
                <a:lnTo>
                  <a:pt x="7429" y="7429"/>
                </a:lnTo>
                <a:lnTo>
                  <a:pt x="1993" y="15506"/>
                </a:lnTo>
                <a:lnTo>
                  <a:pt x="0" y="25400"/>
                </a:lnTo>
                <a:lnTo>
                  <a:pt x="0" y="172593"/>
                </a:lnTo>
                <a:lnTo>
                  <a:pt x="1993" y="182486"/>
                </a:lnTo>
                <a:lnTo>
                  <a:pt x="7429" y="190563"/>
                </a:lnTo>
                <a:lnTo>
                  <a:pt x="15506" y="195999"/>
                </a:lnTo>
                <a:lnTo>
                  <a:pt x="25400" y="197993"/>
                </a:lnTo>
                <a:lnTo>
                  <a:pt x="849668" y="197993"/>
                </a:lnTo>
                <a:lnTo>
                  <a:pt x="859561" y="195999"/>
                </a:lnTo>
                <a:lnTo>
                  <a:pt x="867625" y="190563"/>
                </a:lnTo>
                <a:lnTo>
                  <a:pt x="873074" y="182486"/>
                </a:lnTo>
                <a:lnTo>
                  <a:pt x="875068" y="172593"/>
                </a:lnTo>
                <a:lnTo>
                  <a:pt x="875068" y="25400"/>
                </a:lnTo>
                <a:close/>
              </a:path>
              <a:path w="3299459" h="198119">
                <a:moveTo>
                  <a:pt x="1903260" y="25400"/>
                </a:moveTo>
                <a:lnTo>
                  <a:pt x="1901266" y="15506"/>
                </a:lnTo>
                <a:lnTo>
                  <a:pt x="1895830" y="7429"/>
                </a:lnTo>
                <a:lnTo>
                  <a:pt x="1887753" y="1993"/>
                </a:lnTo>
                <a:lnTo>
                  <a:pt x="1877860" y="0"/>
                </a:lnTo>
                <a:lnTo>
                  <a:pt x="972464" y="0"/>
                </a:lnTo>
                <a:lnTo>
                  <a:pt x="962571" y="1993"/>
                </a:lnTo>
                <a:lnTo>
                  <a:pt x="954493" y="7429"/>
                </a:lnTo>
                <a:lnTo>
                  <a:pt x="949058" y="15506"/>
                </a:lnTo>
                <a:lnTo>
                  <a:pt x="947064" y="25400"/>
                </a:lnTo>
                <a:lnTo>
                  <a:pt x="947064" y="172593"/>
                </a:lnTo>
                <a:lnTo>
                  <a:pt x="949058" y="182486"/>
                </a:lnTo>
                <a:lnTo>
                  <a:pt x="954493" y="190563"/>
                </a:lnTo>
                <a:lnTo>
                  <a:pt x="962571" y="195999"/>
                </a:lnTo>
                <a:lnTo>
                  <a:pt x="972464" y="197993"/>
                </a:lnTo>
                <a:lnTo>
                  <a:pt x="1877860" y="197993"/>
                </a:lnTo>
                <a:lnTo>
                  <a:pt x="1887753" y="195999"/>
                </a:lnTo>
                <a:lnTo>
                  <a:pt x="1895830" y="190563"/>
                </a:lnTo>
                <a:lnTo>
                  <a:pt x="1901266" y="182486"/>
                </a:lnTo>
                <a:lnTo>
                  <a:pt x="1903260" y="172593"/>
                </a:lnTo>
                <a:lnTo>
                  <a:pt x="1903260" y="25400"/>
                </a:lnTo>
                <a:close/>
              </a:path>
              <a:path w="3299459" h="198119">
                <a:moveTo>
                  <a:pt x="2775051" y="25400"/>
                </a:moveTo>
                <a:lnTo>
                  <a:pt x="2773057" y="15506"/>
                </a:lnTo>
                <a:lnTo>
                  <a:pt x="2767622" y="7429"/>
                </a:lnTo>
                <a:lnTo>
                  <a:pt x="2759545" y="1993"/>
                </a:lnTo>
                <a:lnTo>
                  <a:pt x="2749651" y="0"/>
                </a:lnTo>
                <a:lnTo>
                  <a:pt x="2000656" y="0"/>
                </a:lnTo>
                <a:lnTo>
                  <a:pt x="1990763" y="1993"/>
                </a:lnTo>
                <a:lnTo>
                  <a:pt x="1982698" y="7429"/>
                </a:lnTo>
                <a:lnTo>
                  <a:pt x="1977250" y="15506"/>
                </a:lnTo>
                <a:lnTo>
                  <a:pt x="1975256" y="25400"/>
                </a:lnTo>
                <a:lnTo>
                  <a:pt x="1975256" y="172593"/>
                </a:lnTo>
                <a:lnTo>
                  <a:pt x="1977250" y="182486"/>
                </a:lnTo>
                <a:lnTo>
                  <a:pt x="1982698" y="190563"/>
                </a:lnTo>
                <a:lnTo>
                  <a:pt x="1990763" y="195999"/>
                </a:lnTo>
                <a:lnTo>
                  <a:pt x="2000656" y="197993"/>
                </a:lnTo>
                <a:lnTo>
                  <a:pt x="2749651" y="197993"/>
                </a:lnTo>
                <a:lnTo>
                  <a:pt x="2759545" y="195999"/>
                </a:lnTo>
                <a:lnTo>
                  <a:pt x="2767622" y="190563"/>
                </a:lnTo>
                <a:lnTo>
                  <a:pt x="2773057" y="182486"/>
                </a:lnTo>
                <a:lnTo>
                  <a:pt x="2775051" y="172593"/>
                </a:lnTo>
                <a:lnTo>
                  <a:pt x="2775051" y="25400"/>
                </a:lnTo>
                <a:close/>
              </a:path>
              <a:path w="3299459" h="198119">
                <a:moveTo>
                  <a:pt x="3299155" y="25400"/>
                </a:moveTo>
                <a:lnTo>
                  <a:pt x="3297161" y="15506"/>
                </a:lnTo>
                <a:lnTo>
                  <a:pt x="3291725" y="7429"/>
                </a:lnTo>
                <a:lnTo>
                  <a:pt x="3283648" y="1993"/>
                </a:lnTo>
                <a:lnTo>
                  <a:pt x="3273755" y="0"/>
                </a:lnTo>
                <a:lnTo>
                  <a:pt x="2872460" y="0"/>
                </a:lnTo>
                <a:lnTo>
                  <a:pt x="2862567" y="1993"/>
                </a:lnTo>
                <a:lnTo>
                  <a:pt x="2854490" y="7429"/>
                </a:lnTo>
                <a:lnTo>
                  <a:pt x="2849054" y="15506"/>
                </a:lnTo>
                <a:lnTo>
                  <a:pt x="2847060" y="25400"/>
                </a:lnTo>
                <a:lnTo>
                  <a:pt x="2847060" y="172593"/>
                </a:lnTo>
                <a:lnTo>
                  <a:pt x="2849054" y="182486"/>
                </a:lnTo>
                <a:lnTo>
                  <a:pt x="2854490" y="190563"/>
                </a:lnTo>
                <a:lnTo>
                  <a:pt x="2862567" y="195999"/>
                </a:lnTo>
                <a:lnTo>
                  <a:pt x="2872460" y="197993"/>
                </a:lnTo>
                <a:lnTo>
                  <a:pt x="3273755" y="197993"/>
                </a:lnTo>
                <a:lnTo>
                  <a:pt x="3283648" y="195999"/>
                </a:lnTo>
                <a:lnTo>
                  <a:pt x="3291713" y="190563"/>
                </a:lnTo>
                <a:lnTo>
                  <a:pt x="3297161" y="182486"/>
                </a:lnTo>
                <a:lnTo>
                  <a:pt x="3299155" y="172593"/>
                </a:lnTo>
                <a:lnTo>
                  <a:pt x="3299155" y="2540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3649220" y="3265307"/>
            <a:ext cx="310896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485" algn="l"/>
                <a:tab pos="1987550" algn="l"/>
                <a:tab pos="2859405" algn="l"/>
              </a:tabLst>
            </a:pPr>
            <a:r>
              <a:rPr sz="700" b="1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Land</a:t>
            </a:r>
            <a:r>
              <a:rPr sz="700" b="1" spc="-15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Reclamation</a:t>
            </a:r>
            <a:r>
              <a:rPr sz="700" b="1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	Water</a:t>
            </a:r>
            <a:r>
              <a:rPr sz="700" b="1" spc="-20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Conservation</a:t>
            </a:r>
            <a:r>
              <a:rPr sz="700" b="1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	</a:t>
            </a:r>
            <a:r>
              <a:rPr lang="en-IN" sz="700" b="1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98</a:t>
            </a:r>
            <a:r>
              <a:rPr sz="700" b="1" spc="5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Beneficiaries</a:t>
            </a:r>
            <a:r>
              <a:rPr sz="700" b="1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	</a:t>
            </a:r>
            <a:r>
              <a:rPr sz="700" b="1" spc="-10" dirty="0">
                <a:solidFill>
                  <a:srgbClr val="B8850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Satara</a:t>
            </a:r>
            <a:endParaRPr sz="7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9122" y="3719896"/>
            <a:ext cx="1994077" cy="2194367"/>
            <a:chOff x="791999" y="3527999"/>
            <a:chExt cx="1896110" cy="1512570"/>
          </a:xfrm>
        </p:grpSpPr>
        <p:sp>
          <p:nvSpPr>
            <p:cNvPr id="18" name="object 18"/>
            <p:cNvSpPr/>
            <p:nvPr/>
          </p:nvSpPr>
          <p:spPr>
            <a:xfrm>
              <a:off x="791999" y="3527999"/>
              <a:ext cx="1896110" cy="1512570"/>
            </a:xfrm>
            <a:custGeom>
              <a:avLst/>
              <a:gdLst/>
              <a:ahLst/>
              <a:cxnLst/>
              <a:rect l="l" t="t" r="r" b="b"/>
              <a:pathLst>
                <a:path w="1896110" h="1512570">
                  <a:moveTo>
                    <a:pt x="1857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473899"/>
                  </a:lnTo>
                  <a:lnTo>
                    <a:pt x="2991" y="1488738"/>
                  </a:lnTo>
                  <a:lnTo>
                    <a:pt x="11151" y="1500847"/>
                  </a:lnTo>
                  <a:lnTo>
                    <a:pt x="23261" y="1509008"/>
                  </a:lnTo>
                  <a:lnTo>
                    <a:pt x="38100" y="1511999"/>
                  </a:lnTo>
                  <a:lnTo>
                    <a:pt x="1857899" y="1511999"/>
                  </a:lnTo>
                  <a:lnTo>
                    <a:pt x="1872738" y="1509008"/>
                  </a:lnTo>
                  <a:lnTo>
                    <a:pt x="1884847" y="1500847"/>
                  </a:lnTo>
                  <a:lnTo>
                    <a:pt x="1893008" y="1488738"/>
                  </a:lnTo>
                  <a:lnTo>
                    <a:pt x="1895999" y="1473899"/>
                  </a:lnTo>
                  <a:lnTo>
                    <a:pt x="1895999" y="38100"/>
                  </a:lnTo>
                  <a:lnTo>
                    <a:pt x="1893008" y="23261"/>
                  </a:lnTo>
                  <a:lnTo>
                    <a:pt x="1884847" y="11151"/>
                  </a:lnTo>
                  <a:lnTo>
                    <a:pt x="1872738" y="2991"/>
                  </a:lnTo>
                  <a:lnTo>
                    <a:pt x="1857899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999" y="3527999"/>
              <a:ext cx="1896110" cy="108585"/>
            </a:xfrm>
            <a:custGeom>
              <a:avLst/>
              <a:gdLst/>
              <a:ahLst/>
              <a:cxnLst/>
              <a:rect l="l" t="t" r="r" b="b"/>
              <a:pathLst>
                <a:path w="1896110" h="108585">
                  <a:moveTo>
                    <a:pt x="1895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895999" y="107999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89894" y="3630571"/>
            <a:ext cx="155384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00"/>
              </a:lnSpc>
              <a:spcBef>
                <a:spcPts val="100"/>
              </a:spcBef>
            </a:pPr>
            <a:r>
              <a:rPr sz="2600" b="1" spc="-325" dirty="0">
                <a:solidFill>
                  <a:srgbClr val="B7870A"/>
                </a:solidFill>
                <a:latin typeface="Times New Roman"/>
                <a:cs typeface="Times New Roman"/>
              </a:rPr>
              <a:t>“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ts val="900"/>
              </a:lnSpc>
            </a:pP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structural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earthwork</a:t>
            </a:r>
            <a:endParaRPr sz="850" dirty="0">
              <a:latin typeface="Times New Roman"/>
              <a:cs typeface="Times New Roman"/>
            </a:endParaRPr>
          </a:p>
          <a:p>
            <a:pPr marL="12700" marR="5080">
              <a:lnSpc>
                <a:spcPct val="127499"/>
              </a:lnSpc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interventions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successfully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met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 their primary</a:t>
            </a:r>
            <a:r>
              <a:rPr sz="85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targets, resulting</a:t>
            </a:r>
            <a:r>
              <a:rPr sz="85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194" y="4464114"/>
            <a:ext cx="1558925" cy="287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immediate</a:t>
            </a:r>
            <a:r>
              <a:rPr sz="850" i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agricultural</a:t>
            </a:r>
            <a:r>
              <a:rPr sz="850" i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r>
              <a:rPr sz="850" i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endParaRPr lang="en-IN" sz="850" i="1" spc="-25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50" i="1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lang="en-IN" sz="85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community.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21009" y="5456537"/>
            <a:ext cx="1680210" cy="6350"/>
          </a:xfrm>
          <a:custGeom>
            <a:avLst/>
            <a:gdLst/>
            <a:ahLst/>
            <a:cxnLst/>
            <a:rect l="l" t="t" r="r" b="b"/>
            <a:pathLst>
              <a:path w="1680210" h="6350">
                <a:moveTo>
                  <a:pt x="1680000" y="0"/>
                </a:moveTo>
                <a:lnTo>
                  <a:pt x="0" y="0"/>
                </a:lnTo>
                <a:lnTo>
                  <a:pt x="0" y="6350"/>
                </a:lnTo>
                <a:lnTo>
                  <a:pt x="1680000" y="6350"/>
                </a:lnTo>
                <a:lnTo>
                  <a:pt x="1680000" y="0"/>
                </a:lnTo>
                <a:close/>
              </a:path>
            </a:pathLst>
          </a:custGeom>
          <a:solidFill>
            <a:srgbClr val="B7870A">
              <a:alpha val="3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914024" y="5490827"/>
            <a:ext cx="112077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b="1" dirty="0">
                <a:solidFill>
                  <a:srgbClr val="B8850A"/>
                </a:solidFill>
                <a:latin typeface="Calibri"/>
                <a:cs typeface="Calibri"/>
              </a:rPr>
              <a:t>Chandrakant Jadhav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8784" y="5677426"/>
            <a:ext cx="942975" cy="1154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lang="en-IN" sz="700" dirty="0">
                <a:solidFill>
                  <a:srgbClr val="A8D4B5"/>
                </a:solidFill>
                <a:latin typeface="Calibri"/>
                <a:cs typeface="Calibri"/>
              </a:rPr>
              <a:t>Sarpanch, </a:t>
            </a:r>
            <a:r>
              <a:rPr lang="en-IN" sz="700" dirty="0" err="1">
                <a:solidFill>
                  <a:srgbClr val="A8D4B5"/>
                </a:solidFill>
                <a:latin typeface="Calibri"/>
                <a:cs typeface="Calibri"/>
              </a:rPr>
              <a:t>Veloshi</a:t>
            </a:r>
            <a:endParaRPr sz="70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9122" y="3719896"/>
            <a:ext cx="1994077" cy="2194367"/>
            <a:chOff x="2831999" y="3527999"/>
            <a:chExt cx="1896110" cy="1512570"/>
          </a:xfrm>
        </p:grpSpPr>
        <p:sp>
          <p:nvSpPr>
            <p:cNvPr id="26" name="object 26"/>
            <p:cNvSpPr/>
            <p:nvPr/>
          </p:nvSpPr>
          <p:spPr>
            <a:xfrm>
              <a:off x="2831999" y="3527999"/>
              <a:ext cx="1896110" cy="1512570"/>
            </a:xfrm>
            <a:custGeom>
              <a:avLst/>
              <a:gdLst/>
              <a:ahLst/>
              <a:cxnLst/>
              <a:rect l="l" t="t" r="r" b="b"/>
              <a:pathLst>
                <a:path w="1896110" h="1512570">
                  <a:moveTo>
                    <a:pt x="1857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473899"/>
                  </a:lnTo>
                  <a:lnTo>
                    <a:pt x="2991" y="1488738"/>
                  </a:lnTo>
                  <a:lnTo>
                    <a:pt x="11151" y="1500847"/>
                  </a:lnTo>
                  <a:lnTo>
                    <a:pt x="23261" y="1509008"/>
                  </a:lnTo>
                  <a:lnTo>
                    <a:pt x="38100" y="1511999"/>
                  </a:lnTo>
                  <a:lnTo>
                    <a:pt x="1857900" y="1511999"/>
                  </a:lnTo>
                  <a:lnTo>
                    <a:pt x="1872739" y="1509008"/>
                  </a:lnTo>
                  <a:lnTo>
                    <a:pt x="1884848" y="1500847"/>
                  </a:lnTo>
                  <a:lnTo>
                    <a:pt x="1893009" y="1488738"/>
                  </a:lnTo>
                  <a:lnTo>
                    <a:pt x="1896000" y="1473899"/>
                  </a:lnTo>
                  <a:lnTo>
                    <a:pt x="1896000" y="38100"/>
                  </a:lnTo>
                  <a:lnTo>
                    <a:pt x="1893009" y="23261"/>
                  </a:lnTo>
                  <a:lnTo>
                    <a:pt x="1884848" y="11151"/>
                  </a:lnTo>
                  <a:lnTo>
                    <a:pt x="1872739" y="2991"/>
                  </a:lnTo>
                  <a:lnTo>
                    <a:pt x="1857900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831999" y="3527999"/>
              <a:ext cx="1896110" cy="108585"/>
            </a:xfrm>
            <a:custGeom>
              <a:avLst/>
              <a:gdLst/>
              <a:ahLst/>
              <a:cxnLst/>
              <a:rect l="l" t="t" r="r" b="b"/>
              <a:pathLst>
                <a:path w="1896110" h="108585">
                  <a:moveTo>
                    <a:pt x="1895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895999" y="107999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29894" y="3630571"/>
            <a:ext cx="1675764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00"/>
              </a:lnSpc>
              <a:spcBef>
                <a:spcPts val="100"/>
              </a:spcBef>
            </a:pPr>
            <a:r>
              <a:rPr sz="2600" b="1" spc="-325" dirty="0">
                <a:solidFill>
                  <a:srgbClr val="B7870A"/>
                </a:solidFill>
                <a:latin typeface="Times New Roman"/>
                <a:cs typeface="Times New Roman"/>
              </a:rPr>
              <a:t>“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ts val="900"/>
              </a:lnSpc>
            </a:pPr>
            <a:r>
              <a:rPr sz="850" i="1" spc="-65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sz="8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acres</a:t>
            </a:r>
            <a:r>
              <a:rPr sz="8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8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previously</a:t>
            </a:r>
            <a:r>
              <a:rPr sz="8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barren</a:t>
            </a:r>
            <a:r>
              <a:rPr sz="85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land</a:t>
            </a:r>
            <a:endParaRPr sz="850" dirty="0">
              <a:latin typeface="Times New Roman"/>
              <a:cs typeface="Times New Roman"/>
            </a:endParaRPr>
          </a:p>
          <a:p>
            <a:pPr marL="12700" marR="5080">
              <a:lnSpc>
                <a:spcPct val="127499"/>
              </a:lnSpc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been</a:t>
            </a:r>
            <a:r>
              <a:rPr sz="85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transformed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8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cultivable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agricultural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land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9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85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life-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changing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7194" y="4464114"/>
            <a:ext cx="11118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outcome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85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families.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961009" y="5456537"/>
            <a:ext cx="1680210" cy="6350"/>
          </a:xfrm>
          <a:custGeom>
            <a:avLst/>
            <a:gdLst/>
            <a:ahLst/>
            <a:cxnLst/>
            <a:rect l="l" t="t" r="r" b="b"/>
            <a:pathLst>
              <a:path w="1680210" h="6350">
                <a:moveTo>
                  <a:pt x="1680000" y="0"/>
                </a:moveTo>
                <a:lnTo>
                  <a:pt x="0" y="0"/>
                </a:lnTo>
                <a:lnTo>
                  <a:pt x="0" y="6350"/>
                </a:lnTo>
                <a:lnTo>
                  <a:pt x="1680000" y="6350"/>
                </a:lnTo>
                <a:lnTo>
                  <a:pt x="1680000" y="0"/>
                </a:lnTo>
                <a:close/>
              </a:path>
            </a:pathLst>
          </a:custGeom>
          <a:solidFill>
            <a:srgbClr val="B7870A">
              <a:alpha val="3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 txBox="1"/>
          <p:nvPr/>
        </p:nvSpPr>
        <p:spPr>
          <a:xfrm>
            <a:off x="2954024" y="5490827"/>
            <a:ext cx="135762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b="1" dirty="0">
                <a:solidFill>
                  <a:srgbClr val="B8850A"/>
                </a:solidFill>
                <a:latin typeface="Calibri"/>
                <a:cs typeface="Calibri"/>
              </a:rPr>
              <a:t>Sunil Mane</a:t>
            </a:r>
            <a:br>
              <a:rPr lang="en-IN" sz="800" b="1" dirty="0">
                <a:solidFill>
                  <a:srgbClr val="B8850A"/>
                </a:solidFill>
                <a:latin typeface="Calibri"/>
                <a:cs typeface="Calibri"/>
              </a:rPr>
            </a:br>
            <a:r>
              <a:rPr lang="en-IN" sz="700" dirty="0">
                <a:solidFill>
                  <a:srgbClr val="A8D4B5"/>
                </a:solidFill>
                <a:latin typeface="Calibri"/>
                <a:cs typeface="Calibri"/>
              </a:rPr>
              <a:t>Benefited Farmer, </a:t>
            </a:r>
            <a:r>
              <a:rPr lang="en-IN" sz="700" dirty="0" err="1">
                <a:solidFill>
                  <a:srgbClr val="A8D4B5"/>
                </a:solidFill>
                <a:latin typeface="Calibri"/>
                <a:cs typeface="Calibri"/>
              </a:rPr>
              <a:t>Veloshi</a:t>
            </a:r>
            <a:endParaRPr sz="7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59122" y="3719896"/>
            <a:ext cx="1994077" cy="2194367"/>
            <a:chOff x="4871999" y="3527999"/>
            <a:chExt cx="1896110" cy="1512570"/>
          </a:xfrm>
        </p:grpSpPr>
        <p:sp>
          <p:nvSpPr>
            <p:cNvPr id="33" name="object 33"/>
            <p:cNvSpPr/>
            <p:nvPr/>
          </p:nvSpPr>
          <p:spPr>
            <a:xfrm>
              <a:off x="4871999" y="3527999"/>
              <a:ext cx="1896110" cy="1512570"/>
            </a:xfrm>
            <a:custGeom>
              <a:avLst/>
              <a:gdLst/>
              <a:ahLst/>
              <a:cxnLst/>
              <a:rect l="l" t="t" r="r" b="b"/>
              <a:pathLst>
                <a:path w="1896109" h="1512570">
                  <a:moveTo>
                    <a:pt x="1857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473899"/>
                  </a:lnTo>
                  <a:lnTo>
                    <a:pt x="2991" y="1488738"/>
                  </a:lnTo>
                  <a:lnTo>
                    <a:pt x="11151" y="1500847"/>
                  </a:lnTo>
                  <a:lnTo>
                    <a:pt x="23261" y="1509008"/>
                  </a:lnTo>
                  <a:lnTo>
                    <a:pt x="38100" y="1511999"/>
                  </a:lnTo>
                  <a:lnTo>
                    <a:pt x="1857900" y="1511999"/>
                  </a:lnTo>
                  <a:lnTo>
                    <a:pt x="1872739" y="1509008"/>
                  </a:lnTo>
                  <a:lnTo>
                    <a:pt x="1884848" y="1500847"/>
                  </a:lnTo>
                  <a:lnTo>
                    <a:pt x="1893009" y="1488738"/>
                  </a:lnTo>
                  <a:lnTo>
                    <a:pt x="1896000" y="1473899"/>
                  </a:lnTo>
                  <a:lnTo>
                    <a:pt x="1896000" y="38100"/>
                  </a:lnTo>
                  <a:lnTo>
                    <a:pt x="1893009" y="23261"/>
                  </a:lnTo>
                  <a:lnTo>
                    <a:pt x="1884848" y="11151"/>
                  </a:lnTo>
                  <a:lnTo>
                    <a:pt x="1872739" y="2991"/>
                  </a:lnTo>
                  <a:lnTo>
                    <a:pt x="1857900" y="0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871999" y="3527999"/>
              <a:ext cx="1896110" cy="108585"/>
            </a:xfrm>
            <a:custGeom>
              <a:avLst/>
              <a:gdLst/>
              <a:ahLst/>
              <a:cxnLst/>
              <a:rect l="l" t="t" r="r" b="b"/>
              <a:pathLst>
                <a:path w="1896109" h="108585">
                  <a:moveTo>
                    <a:pt x="1895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895999" y="107999"/>
                  </a:lnTo>
                  <a:lnTo>
                    <a:pt x="1895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69894" y="3630571"/>
            <a:ext cx="169735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00"/>
              </a:lnSpc>
              <a:spcBef>
                <a:spcPts val="100"/>
              </a:spcBef>
            </a:pPr>
            <a:r>
              <a:rPr sz="2600" b="1" spc="-325" dirty="0">
                <a:solidFill>
                  <a:srgbClr val="B7870A"/>
                </a:solidFill>
                <a:latin typeface="Times New Roman"/>
                <a:cs typeface="Times New Roman"/>
              </a:rPr>
              <a:t>“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ts val="900"/>
              </a:lnSpc>
            </a:pPr>
            <a:r>
              <a:rPr sz="8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proposed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activities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9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85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Gabions,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SCT,</a:t>
            </a:r>
            <a:endParaRPr sz="850" dirty="0">
              <a:latin typeface="Times New Roman"/>
              <a:cs typeface="Times New Roman"/>
            </a:endParaRPr>
          </a:p>
          <a:p>
            <a:pPr marL="12700" marR="19050">
              <a:lnSpc>
                <a:spcPct val="127499"/>
              </a:lnSpc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Nala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work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95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fully</a:t>
            </a:r>
            <a:r>
              <a:rPr sz="8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executed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time.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remarkable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achievement</a:t>
            </a:r>
            <a:r>
              <a:rPr sz="850" i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57194" y="4464114"/>
            <a:ext cx="11055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dirty="0">
                <a:solidFill>
                  <a:srgbClr val="FFFFFF"/>
                </a:solidFill>
                <a:latin typeface="Times New Roman"/>
                <a:cs typeface="Times New Roman"/>
              </a:rPr>
              <a:t>watershed</a:t>
            </a:r>
            <a:r>
              <a:rPr sz="850" i="1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management.</a:t>
            </a:r>
            <a:endParaRPr sz="85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001009" y="5456537"/>
            <a:ext cx="1680210" cy="6350"/>
          </a:xfrm>
          <a:custGeom>
            <a:avLst/>
            <a:gdLst/>
            <a:ahLst/>
            <a:cxnLst/>
            <a:rect l="l" t="t" r="r" b="b"/>
            <a:pathLst>
              <a:path w="1680209" h="6350">
                <a:moveTo>
                  <a:pt x="1680000" y="0"/>
                </a:moveTo>
                <a:lnTo>
                  <a:pt x="0" y="0"/>
                </a:lnTo>
                <a:lnTo>
                  <a:pt x="0" y="6350"/>
                </a:lnTo>
                <a:lnTo>
                  <a:pt x="1680000" y="6350"/>
                </a:lnTo>
                <a:lnTo>
                  <a:pt x="1680000" y="0"/>
                </a:lnTo>
                <a:close/>
              </a:path>
            </a:pathLst>
          </a:custGeom>
          <a:solidFill>
            <a:srgbClr val="B7870A">
              <a:alpha val="3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 txBox="1"/>
          <p:nvPr/>
        </p:nvSpPr>
        <p:spPr>
          <a:xfrm>
            <a:off x="4994024" y="5490827"/>
            <a:ext cx="1063625" cy="32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800" b="1" dirty="0">
                <a:solidFill>
                  <a:srgbClr val="B8850A"/>
                </a:solidFill>
                <a:latin typeface="Calibri"/>
                <a:cs typeface="Calibri"/>
              </a:rPr>
              <a:t>Ram Kolekar</a:t>
            </a:r>
            <a:endParaRPr lang="en-IN" sz="800" b="1" spc="-10" dirty="0">
              <a:solidFill>
                <a:srgbClr val="B8850A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IN" sz="700" dirty="0">
                <a:solidFill>
                  <a:srgbClr val="A8D4B5"/>
                </a:solidFill>
                <a:latin typeface="Calibri"/>
                <a:cs typeface="Calibri"/>
              </a:rPr>
              <a:t>Head Operations SJSM.</a:t>
            </a:r>
            <a:endParaRPr lang="en-IN" sz="700" dirty="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00" y="0"/>
            <a:ext cx="7496809" cy="10692130"/>
          </a:xfrm>
          <a:custGeom>
            <a:avLst/>
            <a:gdLst/>
            <a:ahLst/>
            <a:cxnLst/>
            <a:rect l="l" t="t" r="r" b="b"/>
            <a:pathLst>
              <a:path w="7496809" h="10692130">
                <a:moveTo>
                  <a:pt x="0" y="10692000"/>
                </a:moveTo>
                <a:lnTo>
                  <a:pt x="7496500" y="10692000"/>
                </a:lnTo>
                <a:lnTo>
                  <a:pt x="7496500" y="0"/>
                </a:lnTo>
                <a:lnTo>
                  <a:pt x="0" y="0"/>
                </a:lnTo>
                <a:lnTo>
                  <a:pt x="0" y="1069200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9"/>
            <a:ext cx="7560309" cy="10332085"/>
            <a:chOff x="0" y="9"/>
            <a:chExt cx="7560309" cy="10332085"/>
          </a:xfrm>
        </p:grpSpPr>
        <p:sp>
          <p:nvSpPr>
            <p:cNvPr id="4" name="object 4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1250" y="1268426"/>
              <a:ext cx="2310171" cy="32390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9299" y="402400"/>
            <a:ext cx="10191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14</a:t>
            </a:r>
            <a:r>
              <a:rPr sz="700" b="1" spc="15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60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FIELD</a:t>
            </a:r>
            <a:r>
              <a:rPr sz="700" b="1" spc="-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PHOTOGRAPHY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9298" y="629100"/>
            <a:ext cx="4218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Project</a:t>
            </a:r>
            <a:r>
              <a:rPr sz="2600" u="sng" spc="3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600" u="sng" spc="9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in</a:t>
            </a:r>
            <a:r>
              <a:rPr sz="2600" u="sng" spc="4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2600" u="sng" spc="-10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A</a:t>
            </a:r>
            <a:r>
              <a:rPr sz="2600" spc="-10" dirty="0">
                <a:latin typeface="Felix Titling" panose="04060505060202020A04" pitchFamily="82" charset="0"/>
              </a:rPr>
              <a:t>ction</a:t>
            </a:r>
            <a:endParaRPr sz="2600" dirty="0">
              <a:latin typeface="Felix Titling" panose="04060505060202020A04" pitchFamily="82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1CDCF3-E00E-1A34-37F3-16D80F578A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" y="4609127"/>
            <a:ext cx="2310171" cy="30802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3198825-E975-50CB-D9A8-80A0E6E018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505" r="44457" b="25481"/>
          <a:stretch>
            <a:fillRect/>
          </a:stretch>
        </p:blipFill>
        <p:spPr>
          <a:xfrm>
            <a:off x="1111250" y="7650668"/>
            <a:ext cx="2310171" cy="24339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FEAC23A-CBC5-9B00-78D7-9E0A9159CA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1248958"/>
            <a:ext cx="2832417" cy="21243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8A5E3E-418E-AF5C-DC1D-57BFC9FF8B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3492051"/>
            <a:ext cx="2832417" cy="21243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B4C10C-DA7E-00DA-707F-016B676D144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5752924"/>
            <a:ext cx="2832417" cy="21243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1DEEEF3-C4CD-FE0A-A247-AE58F25B12F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497" y="8026496"/>
            <a:ext cx="2802940" cy="210220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3B2555-62B2-24B1-8014-BFD37930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AE1BD8-95B5-CC1B-3B46-90CA038DB045}"/>
              </a:ext>
            </a:extLst>
          </p:cNvPr>
          <p:cNvSpPr/>
          <p:nvPr/>
        </p:nvSpPr>
        <p:spPr>
          <a:xfrm>
            <a:off x="63500" y="0"/>
            <a:ext cx="7496809" cy="10692130"/>
          </a:xfrm>
          <a:custGeom>
            <a:avLst/>
            <a:gdLst/>
            <a:ahLst/>
            <a:cxnLst/>
            <a:rect l="l" t="t" r="r" b="b"/>
            <a:pathLst>
              <a:path w="7496809" h="10692130">
                <a:moveTo>
                  <a:pt x="0" y="10692000"/>
                </a:moveTo>
                <a:lnTo>
                  <a:pt x="7496500" y="10692000"/>
                </a:lnTo>
                <a:lnTo>
                  <a:pt x="7496500" y="0"/>
                </a:lnTo>
                <a:lnTo>
                  <a:pt x="0" y="0"/>
                </a:lnTo>
                <a:lnTo>
                  <a:pt x="0" y="1069200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5BFE9A-AA17-BBE6-3D7F-924DE73FF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6" r="14406"/>
          <a:stretch/>
        </p:blipFill>
        <p:spPr>
          <a:xfrm>
            <a:off x="0" y="3824410"/>
            <a:ext cx="3903980" cy="2590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1940E4-EA0B-34F0-0DF8-626D5FC0B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6" r="14406"/>
          <a:stretch/>
        </p:blipFill>
        <p:spPr>
          <a:xfrm>
            <a:off x="-28422" y="6483385"/>
            <a:ext cx="3903981" cy="3470102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BCAF1BF9-60F1-E3E3-EDD5-8481FC469D56}"/>
              </a:ext>
            </a:extLst>
          </p:cNvPr>
          <p:cNvGrpSpPr/>
          <p:nvPr/>
        </p:nvGrpSpPr>
        <p:grpSpPr>
          <a:xfrm>
            <a:off x="-28421" y="9"/>
            <a:ext cx="7588730" cy="10332085"/>
            <a:chOff x="-28421" y="9"/>
            <a:chExt cx="7588730" cy="1033208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45C5C53-7C70-C4F8-1A08-0D3F5FAC6FE6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28421" y="1163571"/>
              <a:ext cx="3903980" cy="2590695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03AE227-4B37-B0E4-33A1-9069A65E79EB}"/>
                </a:ext>
              </a:extLst>
            </p:cNvPr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4D96B04F-1B8E-B88B-7D2F-5A3DA46F582E}"/>
              </a:ext>
            </a:extLst>
          </p:cNvPr>
          <p:cNvSpPr txBox="1"/>
          <p:nvPr/>
        </p:nvSpPr>
        <p:spPr>
          <a:xfrm>
            <a:off x="779299" y="402400"/>
            <a:ext cx="10191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14</a:t>
            </a:r>
            <a:r>
              <a:rPr sz="700" b="1" spc="15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60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FIELD</a:t>
            </a:r>
            <a:r>
              <a:rPr sz="700" b="1" spc="-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PHOTOGRAPHY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4CA1983-DCC0-8E3B-5D5C-D2616F20B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9298" y="629100"/>
            <a:ext cx="39895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u="sng" dirty="0" err="1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DroNe</a:t>
            </a:r>
            <a:r>
              <a:rPr lang="en-IN" sz="2600" u="sng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Photographs </a:t>
            </a:r>
            <a:endParaRPr sz="2600" dirty="0">
              <a:latin typeface="Felix Titling" panose="04060505060202020A04" pitchFamily="82" charset="0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4F7F3A1-3D16-1112-6387-CFC5356D95E6}"/>
              </a:ext>
            </a:extLst>
          </p:cNvPr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C4BF04E-6128-9E4E-5510-C8A3E86648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539CF84-5845-2282-2817-A4B45D79547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3C75612-A417-1210-E195-0C8B13979E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9059" y="2380980"/>
            <a:ext cx="3907155" cy="25223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C1FF4-ACB6-0D3C-7FB3-FD9608001D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9430" y="4988975"/>
            <a:ext cx="3903980" cy="25223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1473B0-1858-EFF6-5399-3619AD3333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014" y="7596971"/>
            <a:ext cx="3903980" cy="2433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664870-D708-7A81-04E1-8F92F0884A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67" b="24268"/>
          <a:stretch>
            <a:fillRect/>
          </a:stretch>
        </p:blipFill>
        <p:spPr>
          <a:xfrm>
            <a:off x="3967794" y="1163571"/>
            <a:ext cx="3878420" cy="115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1850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0332085"/>
            <a:chOff x="0" y="0"/>
            <a:chExt cx="7560309" cy="10332085"/>
          </a:xfrm>
        </p:grpSpPr>
        <p:sp>
          <p:nvSpPr>
            <p:cNvPr id="3" name="object 3"/>
            <p:cNvSpPr/>
            <p:nvPr/>
          </p:nvSpPr>
          <p:spPr>
            <a:xfrm>
              <a:off x="63500" y="0"/>
              <a:ext cx="7496809" cy="10332085"/>
            </a:xfrm>
            <a:custGeom>
              <a:avLst/>
              <a:gdLst/>
              <a:ahLst/>
              <a:cxnLst/>
              <a:rect l="l" t="t" r="r" b="b"/>
              <a:pathLst>
                <a:path w="7496809" h="10332085">
                  <a:moveTo>
                    <a:pt x="0" y="10332000"/>
                  </a:moveTo>
                  <a:lnTo>
                    <a:pt x="7496500" y="10332000"/>
                  </a:lnTo>
                  <a:lnTo>
                    <a:pt x="7496500" y="0"/>
                  </a:lnTo>
                  <a:lnTo>
                    <a:pt x="0" y="0"/>
                  </a:lnTo>
                  <a:lnTo>
                    <a:pt x="0" y="1033200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"/>
              <a:ext cx="7560309" cy="10332085"/>
            </a:xfrm>
            <a:custGeom>
              <a:avLst/>
              <a:gdLst/>
              <a:ahLst/>
              <a:cxnLst/>
              <a:rect l="l" t="t" r="r" b="b"/>
              <a:pathLst>
                <a:path w="7560309" h="10332085">
                  <a:moveTo>
                    <a:pt x="7559992" y="0"/>
                  </a:moveTo>
                  <a:lnTo>
                    <a:pt x="635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331996"/>
                  </a:lnTo>
                  <a:lnTo>
                    <a:pt x="63500" y="10331996"/>
                  </a:lnTo>
                  <a:lnTo>
                    <a:pt x="63500" y="38100"/>
                  </a:lnTo>
                  <a:lnTo>
                    <a:pt x="7559992" y="38100"/>
                  </a:lnTo>
                  <a:lnTo>
                    <a:pt x="7559992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79299" y="402400"/>
            <a:ext cx="222250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14</a:t>
            </a:r>
            <a:r>
              <a:rPr sz="700" b="1" spc="16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·</a:t>
            </a:r>
            <a:r>
              <a:rPr sz="700" b="1" spc="16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FIELD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PHOTOGRAPHY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 —</a:t>
            </a:r>
            <a:r>
              <a:rPr sz="700" b="1" spc="5" dirty="0">
                <a:solidFill>
                  <a:srgbClr val="B8850A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B8850A"/>
                </a:solidFill>
                <a:latin typeface="Calibri"/>
                <a:cs typeface="Calibri"/>
              </a:rPr>
              <a:t>EARTHWORK &amp; </a:t>
            </a:r>
            <a:r>
              <a:rPr sz="700" b="1" spc="-10" dirty="0">
                <a:solidFill>
                  <a:srgbClr val="B8850A"/>
                </a:solidFill>
                <a:latin typeface="Calibri"/>
                <a:cs typeface="Calibri"/>
              </a:rPr>
              <a:t>COMMUNITY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9299" y="675700"/>
            <a:ext cx="600425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elix Titling" panose="04060505060202020A04" pitchFamily="82" charset="0"/>
              </a:rPr>
              <a:t>Earthwork,</a:t>
            </a:r>
            <a:r>
              <a:rPr spc="-5" dirty="0">
                <a:latin typeface="Felix Titling" panose="04060505060202020A04" pitchFamily="82" charset="0"/>
              </a:rPr>
              <a:t> </a:t>
            </a:r>
            <a:r>
              <a:rPr spc="-20" dirty="0">
                <a:latin typeface="Felix Titling" panose="04060505060202020A04" pitchFamily="82" charset="0"/>
              </a:rPr>
              <a:t>Land</a:t>
            </a:r>
            <a:r>
              <a:rPr dirty="0">
                <a:latin typeface="Felix Titling" panose="04060505060202020A04" pitchFamily="82" charset="0"/>
              </a:rPr>
              <a:t> </a:t>
            </a:r>
            <a:r>
              <a:rPr lang="en-IN" spc="-95" dirty="0">
                <a:latin typeface="Felix Titling" panose="04060505060202020A04" pitchFamily="82" charset="0"/>
              </a:rPr>
              <a:t>&amp;</a:t>
            </a:r>
            <a:r>
              <a:rPr dirty="0">
                <a:latin typeface="Felix Titling" panose="04060505060202020A04" pitchFamily="82" charset="0"/>
              </a:rPr>
              <a:t> </a:t>
            </a:r>
            <a:r>
              <a:rPr spc="-10" dirty="0">
                <a:latin typeface="Felix Titling" panose="04060505060202020A04" pitchFamily="82" charset="0"/>
              </a:rPr>
              <a:t>Community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90799" y="996374"/>
            <a:ext cx="1980564" cy="3811969"/>
            <a:chOff x="791999" y="-139409"/>
            <a:chExt cx="1980564" cy="3811969"/>
          </a:xfrm>
        </p:grpSpPr>
        <p:sp>
          <p:nvSpPr>
            <p:cNvPr id="8" name="object 8"/>
            <p:cNvSpPr/>
            <p:nvPr/>
          </p:nvSpPr>
          <p:spPr>
            <a:xfrm>
              <a:off x="791999" y="-139409"/>
              <a:ext cx="1980564" cy="15240"/>
            </a:xfrm>
            <a:custGeom>
              <a:avLst/>
              <a:gdLst/>
              <a:ahLst/>
              <a:cxnLst/>
              <a:rect l="l" t="t" r="r" b="b"/>
              <a:pathLst>
                <a:path w="1980564" h="15240">
                  <a:moveTo>
                    <a:pt x="197999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979999" y="15240"/>
                  </a:lnTo>
                  <a:lnTo>
                    <a:pt x="1979999" y="0"/>
                  </a:lnTo>
                  <a:close/>
                </a:path>
              </a:pathLst>
            </a:custGeom>
            <a:solidFill>
              <a:srgbClr val="B8850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" y="1224000"/>
              <a:ext cx="1919999" cy="2447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1999" y="1224000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39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90799" y="4807783"/>
            <a:ext cx="1920239" cy="288290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Desilted</a:t>
            </a:r>
            <a:r>
              <a:rPr sz="7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Soil</a:t>
            </a:r>
            <a:r>
              <a:rPr sz="7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18799" y="2359783"/>
            <a:ext cx="1920239" cy="2448560"/>
            <a:chOff x="2819999" y="1224000"/>
            <a:chExt cx="1920239" cy="2448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999" y="1224000"/>
              <a:ext cx="1919999" cy="2447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19999" y="1224000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39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18799" y="4807783"/>
            <a:ext cx="1920239" cy="288290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Land</a:t>
            </a:r>
            <a:r>
              <a:rPr sz="7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Levelling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46800" y="2359783"/>
            <a:ext cx="1920239" cy="2448560"/>
            <a:chOff x="4848000" y="1224000"/>
            <a:chExt cx="1920239" cy="244856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8000" y="1224000"/>
              <a:ext cx="1919999" cy="24479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48000" y="1224000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40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46800" y="4807783"/>
            <a:ext cx="1920239" cy="288290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Reclaimed</a:t>
            </a:r>
            <a:r>
              <a:rPr sz="7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Agricultural</a:t>
            </a:r>
            <a:r>
              <a:rPr sz="7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Land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0799" y="5131782"/>
            <a:ext cx="1920239" cy="2448560"/>
            <a:chOff x="791999" y="3995999"/>
            <a:chExt cx="1920239" cy="244856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999" y="3995999"/>
              <a:ext cx="1919999" cy="24479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91999" y="3995999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39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9299" y="7579783"/>
            <a:ext cx="1931739" cy="273152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lang="en-IN" sz="750" spc="-30" dirty="0">
                <a:solidFill>
                  <a:srgbClr val="FFFFFF"/>
                </a:solidFill>
                <a:latin typeface="Calibri"/>
                <a:cs typeface="Calibri"/>
              </a:rPr>
              <a:t>Gabion Structure </a:t>
            </a:r>
            <a:endParaRPr lang="en-US" sz="75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755" lvl="1"/>
            <a:endParaRPr lang="en-US" sz="15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</a:pPr>
            <a:endParaRPr lang="en-IN" sz="200" spc="-1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818799" y="5131782"/>
            <a:ext cx="1920239" cy="2448560"/>
            <a:chOff x="2819999" y="3995999"/>
            <a:chExt cx="1920239" cy="244856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9999" y="3995999"/>
              <a:ext cx="1919999" cy="244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19999" y="3995999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39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818130" y="7579783"/>
            <a:ext cx="1920239" cy="273152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lang="en-IN" sz="750" dirty="0">
                <a:solidFill>
                  <a:srgbClr val="FFFFFF"/>
                </a:solidFill>
                <a:latin typeface="Calibri"/>
                <a:cs typeface="Calibri"/>
              </a:rPr>
              <a:t>Exposure Visit to </a:t>
            </a:r>
            <a:r>
              <a:rPr lang="en-IN" sz="750" dirty="0" err="1">
                <a:solidFill>
                  <a:srgbClr val="FFFFFF"/>
                </a:solidFill>
                <a:latin typeface="Calibri"/>
                <a:cs typeface="Calibri"/>
              </a:rPr>
              <a:t>Ghatdare</a:t>
            </a:r>
            <a:r>
              <a:rPr lang="en-IN" sz="75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lang="en-IN" sz="750" dirty="0" err="1">
                <a:solidFill>
                  <a:srgbClr val="FFFFFF"/>
                </a:solidFill>
                <a:latin typeface="Calibri"/>
                <a:cs typeface="Calibri"/>
              </a:rPr>
              <a:t>Khandala</a:t>
            </a:r>
            <a:r>
              <a:rPr lang="en-IN" sz="750" dirty="0">
                <a:solidFill>
                  <a:srgbClr val="FFFFFF"/>
                </a:solidFill>
                <a:latin typeface="Calibri"/>
                <a:cs typeface="Calibri"/>
              </a:rPr>
              <a:t> Block</a:t>
            </a:r>
          </a:p>
          <a:p>
            <a:pPr marL="71755">
              <a:lnSpc>
                <a:spcPct val="100000"/>
              </a:lnSpc>
              <a:spcBef>
                <a:spcPts val="300"/>
              </a:spcBef>
            </a:pPr>
            <a:endParaRPr sz="100" dirty="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46800" y="5131782"/>
            <a:ext cx="1920239" cy="2448560"/>
            <a:chOff x="4848000" y="3995999"/>
            <a:chExt cx="1920239" cy="244856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8000" y="3995999"/>
              <a:ext cx="1919999" cy="24479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848000" y="3995999"/>
              <a:ext cx="1920239" cy="2448560"/>
            </a:xfrm>
            <a:custGeom>
              <a:avLst/>
              <a:gdLst/>
              <a:ahLst/>
              <a:cxnLst/>
              <a:rect l="l" t="t" r="r" b="b"/>
              <a:pathLst>
                <a:path w="1920240" h="2448560">
                  <a:moveTo>
                    <a:pt x="1919999" y="0"/>
                  </a:moveTo>
                  <a:lnTo>
                    <a:pt x="0" y="0"/>
                  </a:lnTo>
                  <a:lnTo>
                    <a:pt x="0" y="2447999"/>
                  </a:lnTo>
                  <a:lnTo>
                    <a:pt x="1919999" y="2447999"/>
                  </a:lnTo>
                  <a:lnTo>
                    <a:pt x="191999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46800" y="7579783"/>
            <a:ext cx="1920239" cy="273152"/>
          </a:xfrm>
          <a:prstGeom prst="rect">
            <a:avLst/>
          </a:prstGeom>
          <a:solidFill>
            <a:srgbClr val="2D694F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810"/>
              </a:spcBef>
            </a:pPr>
            <a:r>
              <a:rPr lang="en-IN" sz="750" dirty="0">
                <a:solidFill>
                  <a:srgbClr val="FFFFFF"/>
                </a:solidFill>
                <a:latin typeface="Calibri"/>
                <a:cs typeface="Calibri"/>
              </a:rPr>
              <a:t>Structure Signage Board</a:t>
            </a:r>
          </a:p>
          <a:p>
            <a:pPr marL="71755">
              <a:lnSpc>
                <a:spcPct val="100000"/>
              </a:lnSpc>
              <a:spcBef>
                <a:spcPts val="300"/>
              </a:spcBef>
            </a:pPr>
            <a:endParaRPr sz="100" dirty="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10332000"/>
            <a:ext cx="7560309" cy="360045"/>
          </a:xfrm>
          <a:custGeom>
            <a:avLst/>
            <a:gdLst/>
            <a:ahLst/>
            <a:cxnLst/>
            <a:rect l="l" t="t" r="r" b="b"/>
            <a:pathLst>
              <a:path w="7560309" h="360045">
                <a:moveTo>
                  <a:pt x="7560000" y="0"/>
                </a:moveTo>
                <a:lnTo>
                  <a:pt x="0" y="0"/>
                </a:lnTo>
                <a:lnTo>
                  <a:pt x="0" y="360000"/>
                </a:lnTo>
                <a:lnTo>
                  <a:pt x="7560000" y="360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A3A2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779299" y="10468654"/>
            <a:ext cx="3133725" cy="22377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/>
              <a:t>SJSM</a:t>
            </a:r>
            <a:r>
              <a:rPr spc="-10" dirty="0"/>
              <a:t> </a:t>
            </a:r>
            <a:r>
              <a:rPr lang="en-IN" dirty="0"/>
              <a:t>Project Completion Report</a:t>
            </a:r>
            <a:r>
              <a:rPr dirty="0"/>
              <a:t>2025–26</a:t>
            </a:r>
            <a:r>
              <a:rPr spc="145" dirty="0"/>
              <a:t> </a:t>
            </a:r>
            <a:r>
              <a:rPr dirty="0"/>
              <a:t>·</a:t>
            </a:r>
            <a:r>
              <a:rPr spc="140" dirty="0"/>
              <a:t> </a:t>
            </a:r>
            <a:r>
              <a:rPr dirty="0"/>
              <a:t>Integrated</a:t>
            </a:r>
            <a:r>
              <a:rPr spc="-10" dirty="0"/>
              <a:t> </a:t>
            </a:r>
            <a:r>
              <a:rPr dirty="0"/>
              <a:t>Watershed</a:t>
            </a:r>
            <a:r>
              <a:rPr spc="-5" dirty="0"/>
              <a:t> </a:t>
            </a:r>
            <a:r>
              <a:rPr dirty="0"/>
              <a:t>Management</a:t>
            </a:r>
            <a:r>
              <a:rPr spc="140" dirty="0"/>
              <a:t> </a:t>
            </a:r>
            <a:r>
              <a:rPr dirty="0"/>
              <a:t>·</a:t>
            </a:r>
            <a:r>
              <a:rPr spc="145" dirty="0"/>
              <a:t> </a:t>
            </a:r>
            <a:r>
              <a:rPr dirty="0"/>
              <a:t>Veloshi,</a:t>
            </a:r>
            <a:r>
              <a:rPr spc="-10" dirty="0"/>
              <a:t> Satara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BEF4986-414B-B9B8-FCF5-ACF536C2B6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8" r="13542"/>
          <a:stretch>
            <a:fillRect/>
          </a:stretch>
        </p:blipFill>
        <p:spPr>
          <a:xfrm>
            <a:off x="2818559" y="5129147"/>
            <a:ext cx="1920239" cy="244599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9999" cy="10692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1231C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7560309" cy="38100"/>
          </a:xfrm>
          <a:custGeom>
            <a:avLst/>
            <a:gdLst/>
            <a:ahLst/>
            <a:cxnLst/>
            <a:rect l="l" t="t" r="r" b="b"/>
            <a:pathLst>
              <a:path w="7560309" h="38100">
                <a:moveTo>
                  <a:pt x="7560000" y="0"/>
                </a:moveTo>
                <a:lnTo>
                  <a:pt x="0" y="0"/>
                </a:lnTo>
                <a:lnTo>
                  <a:pt x="0" y="38100"/>
                </a:lnTo>
                <a:lnTo>
                  <a:pt x="7560000" y="38100"/>
                </a:lnTo>
                <a:lnTo>
                  <a:pt x="7560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0" y="10653900"/>
            <a:ext cx="7560309" cy="38100"/>
          </a:xfrm>
          <a:custGeom>
            <a:avLst/>
            <a:gdLst/>
            <a:ahLst/>
            <a:cxnLst/>
            <a:rect l="l" t="t" r="r" b="b"/>
            <a:pathLst>
              <a:path w="7560309" h="38100">
                <a:moveTo>
                  <a:pt x="7560000" y="0"/>
                </a:moveTo>
                <a:lnTo>
                  <a:pt x="0" y="0"/>
                </a:lnTo>
                <a:lnTo>
                  <a:pt x="0" y="38100"/>
                </a:lnTo>
                <a:lnTo>
                  <a:pt x="7560000" y="38100"/>
                </a:lnTo>
                <a:lnTo>
                  <a:pt x="7560000" y="0"/>
                </a:lnTo>
                <a:close/>
              </a:path>
            </a:pathLst>
          </a:custGeom>
          <a:solidFill>
            <a:srgbClr val="B8850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869652" y="4451641"/>
            <a:ext cx="5951534" cy="1123890"/>
          </a:xfrm>
          <a:custGeom>
            <a:avLst/>
            <a:gdLst/>
            <a:ahLst/>
            <a:cxnLst/>
            <a:rect l="l" t="t" r="r" b="b"/>
            <a:pathLst>
              <a:path w="6264275" h="7236459">
                <a:moveTo>
                  <a:pt x="61878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7159800"/>
                </a:lnTo>
                <a:lnTo>
                  <a:pt x="5982" y="7189477"/>
                </a:lnTo>
                <a:lnTo>
                  <a:pt x="22303" y="7213696"/>
                </a:lnTo>
                <a:lnTo>
                  <a:pt x="46522" y="7230017"/>
                </a:lnTo>
                <a:lnTo>
                  <a:pt x="76200" y="7236000"/>
                </a:lnTo>
                <a:lnTo>
                  <a:pt x="6187800" y="7236000"/>
                </a:lnTo>
                <a:lnTo>
                  <a:pt x="6217477" y="7230017"/>
                </a:lnTo>
                <a:lnTo>
                  <a:pt x="6241696" y="7213696"/>
                </a:lnTo>
                <a:lnTo>
                  <a:pt x="6258017" y="7189477"/>
                </a:lnTo>
                <a:lnTo>
                  <a:pt x="6264000" y="7159800"/>
                </a:lnTo>
                <a:lnTo>
                  <a:pt x="6264000" y="76200"/>
                </a:lnTo>
                <a:lnTo>
                  <a:pt x="6258017" y="46522"/>
                </a:lnTo>
                <a:lnTo>
                  <a:pt x="6241696" y="22303"/>
                </a:lnTo>
                <a:lnTo>
                  <a:pt x="6217477" y="5982"/>
                </a:lnTo>
                <a:lnTo>
                  <a:pt x="618780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95982" y="1735294"/>
            <a:ext cx="4571998" cy="81304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65" dirty="0">
                <a:latin typeface="Felix Titling" panose="04060505060202020A04" pitchFamily="82" charset="0"/>
              </a:rPr>
              <a:t>T</a:t>
            </a:r>
            <a:r>
              <a:rPr sz="5200" u="sng" spc="6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hank</a:t>
            </a:r>
            <a:r>
              <a:rPr sz="5200" u="sng" spc="-14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 </a:t>
            </a:r>
            <a:r>
              <a:rPr sz="5200" u="sng" spc="-65" dirty="0">
                <a:uFill>
                  <a:solidFill>
                    <a:srgbClr val="B8850A"/>
                  </a:solidFill>
                </a:uFill>
                <a:latin typeface="Felix Titling" panose="04060505060202020A04" pitchFamily="82" charset="0"/>
              </a:rPr>
              <a:t>Yo</a:t>
            </a:r>
            <a:r>
              <a:rPr sz="5200" spc="-65" dirty="0">
                <a:latin typeface="Felix Titling" panose="04060505060202020A04" pitchFamily="82" charset="0"/>
              </a:rPr>
              <a:t>u</a:t>
            </a:r>
            <a:endParaRPr sz="5200" dirty="0">
              <a:latin typeface="Felix Titling" panose="04060505060202020A04" pitchFamily="82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8000" y="3553840"/>
            <a:ext cx="3024505" cy="10160"/>
          </a:xfrm>
          <a:custGeom>
            <a:avLst/>
            <a:gdLst/>
            <a:ahLst/>
            <a:cxnLst/>
            <a:rect l="l" t="t" r="r" b="b"/>
            <a:pathLst>
              <a:path w="3024504" h="10160">
                <a:moveTo>
                  <a:pt x="3023999" y="0"/>
                </a:moveTo>
                <a:lnTo>
                  <a:pt x="0" y="0"/>
                </a:lnTo>
                <a:lnTo>
                  <a:pt x="0" y="10159"/>
                </a:lnTo>
                <a:lnTo>
                  <a:pt x="3023999" y="10159"/>
                </a:lnTo>
                <a:lnTo>
                  <a:pt x="3023999" y="0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1568450" y="2666199"/>
            <a:ext cx="4495799" cy="1700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Shramjivi</a:t>
            </a:r>
            <a:r>
              <a:rPr sz="1300" b="1" spc="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Janata</a:t>
            </a:r>
            <a:r>
              <a:rPr sz="1300" b="1" spc="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Sahayyak</a:t>
            </a:r>
            <a:r>
              <a:rPr sz="1300" b="1" spc="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Mandal</a:t>
            </a:r>
            <a:r>
              <a:rPr sz="1300" b="1" spc="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b="1" spc="-6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(SJSM),</a:t>
            </a:r>
            <a:r>
              <a:rPr sz="1300" b="1" spc="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Satara</a:t>
            </a:r>
            <a:endParaRPr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950" i="1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Integrated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Watershed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Management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1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for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2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Climate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2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Resilience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12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&amp;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1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Sustainable</a:t>
            </a:r>
            <a:r>
              <a:rPr sz="950" i="1" spc="35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i="1" spc="-10" dirty="0">
                <a:solidFill>
                  <a:srgbClr val="A8D4B5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Livelihoods</a:t>
            </a:r>
            <a:endParaRPr sz="9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algn="ctr"/>
            <a:r>
              <a:rPr lang="en-IN"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Project Completion Report</a:t>
            </a:r>
            <a:r>
              <a:rPr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2025–26</a:t>
            </a:r>
            <a:r>
              <a:rPr sz="950" spc="195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|</a:t>
            </a:r>
            <a:r>
              <a:rPr sz="950" spc="19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Submitted:</a:t>
            </a:r>
            <a:r>
              <a:rPr sz="950" spc="-1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30</a:t>
            </a:r>
            <a:r>
              <a:rPr sz="950" spc="-1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March</a:t>
            </a:r>
            <a:r>
              <a:rPr sz="950" spc="-1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950" spc="-20" dirty="0">
                <a:solidFill>
                  <a:srgbClr val="F4E6B8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2026</a:t>
            </a:r>
            <a:endParaRPr sz="9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949325" marR="947419" algn="ctr">
              <a:spcBef>
                <a:spcPts val="975"/>
              </a:spcBef>
            </a:pP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Veloshi,</a:t>
            </a:r>
            <a:r>
              <a:rPr sz="850" spc="-1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Block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–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Phaltan,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Dist.</a:t>
            </a:r>
            <a:r>
              <a:rPr sz="850" spc="-1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Satara,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Maharashtra</a:t>
            </a:r>
            <a:r>
              <a:rPr sz="850" spc="50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endParaRPr lang="en-IN" sz="850" spc="500" dirty="0">
              <a:solidFill>
                <a:srgbClr val="FFFFFF"/>
              </a:solidFill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949325" marR="947419" algn="ctr">
              <a:spcBef>
                <a:spcPts val="975"/>
              </a:spcBef>
            </a:pP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Reporting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Period: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January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–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March</a:t>
            </a:r>
            <a:r>
              <a:rPr sz="850" spc="-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2026</a:t>
            </a:r>
            <a:r>
              <a:rPr sz="850" spc="-1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(Final)</a:t>
            </a:r>
            <a:r>
              <a:rPr sz="850" spc="50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endParaRPr lang="en-IN" sz="850" spc="500" dirty="0">
              <a:solidFill>
                <a:srgbClr val="FFFFFF"/>
              </a:solidFill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949325" marR="947419" algn="ctr">
              <a:spcBef>
                <a:spcPts val="975"/>
              </a:spcBef>
            </a:pPr>
            <a:r>
              <a:rPr sz="850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Supported</a:t>
            </a:r>
            <a:r>
              <a:rPr sz="850" spc="-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 </a:t>
            </a:r>
            <a:r>
              <a:rPr lang="en-IN" sz="850" spc="-5" dirty="0">
                <a:solidFill>
                  <a:srgbClr val="FFFFFF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under the Parivartan Small Grants Programme 2025-2026 </a:t>
            </a:r>
            <a:endParaRPr lang="en-IN" sz="850" spc="500" dirty="0">
              <a:solidFill>
                <a:srgbClr val="FFFFFF"/>
              </a:solidFill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543" y="8140300"/>
            <a:ext cx="3249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5" dirty="0">
                <a:solidFill>
                  <a:srgbClr val="B8850A"/>
                </a:solidFill>
                <a:latin typeface="Times New Roman"/>
                <a:cs typeface="Times New Roman"/>
              </a:rPr>
              <a:t>Growing</a:t>
            </a:r>
            <a:r>
              <a:rPr sz="1000" i="1" spc="-30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B8850A"/>
                </a:solidFill>
                <a:latin typeface="Times New Roman"/>
                <a:cs typeface="Times New Roman"/>
              </a:rPr>
              <a:t>Communities</a:t>
            </a:r>
            <a:r>
              <a:rPr sz="1000" i="1" spc="130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spc="-100" dirty="0">
                <a:solidFill>
                  <a:srgbClr val="B8850A"/>
                </a:solidFill>
                <a:latin typeface="Times New Roman"/>
                <a:cs typeface="Times New Roman"/>
              </a:rPr>
              <a:t>·</a:t>
            </a:r>
            <a:r>
              <a:rPr sz="1000" i="1" spc="155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spc="-25" dirty="0">
                <a:solidFill>
                  <a:srgbClr val="B8850A"/>
                </a:solidFill>
                <a:latin typeface="Times New Roman"/>
                <a:cs typeface="Times New Roman"/>
              </a:rPr>
              <a:t>Conserving</a:t>
            </a:r>
            <a:r>
              <a:rPr sz="1000" i="1" spc="-35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solidFill>
                  <a:srgbClr val="B8850A"/>
                </a:solidFill>
                <a:latin typeface="Times New Roman"/>
                <a:cs typeface="Times New Roman"/>
              </a:rPr>
              <a:t>Water</a:t>
            </a:r>
            <a:r>
              <a:rPr sz="1000" i="1" spc="155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spc="-100" dirty="0">
                <a:solidFill>
                  <a:srgbClr val="B8850A"/>
                </a:solidFill>
                <a:latin typeface="Times New Roman"/>
                <a:cs typeface="Times New Roman"/>
              </a:rPr>
              <a:t>·</a:t>
            </a:r>
            <a:r>
              <a:rPr sz="1000" i="1" spc="155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spc="-10" dirty="0">
                <a:solidFill>
                  <a:srgbClr val="B8850A"/>
                </a:solidFill>
                <a:latin typeface="Times New Roman"/>
                <a:cs typeface="Times New Roman"/>
              </a:rPr>
              <a:t>Building</a:t>
            </a:r>
            <a:r>
              <a:rPr sz="1000" i="1" spc="-45" dirty="0">
                <a:solidFill>
                  <a:srgbClr val="B8850A"/>
                </a:solidFill>
                <a:latin typeface="Times New Roman"/>
                <a:cs typeface="Times New Roman"/>
              </a:rPr>
              <a:t> </a:t>
            </a:r>
            <a:r>
              <a:rPr sz="1000" i="1" spc="-10" dirty="0">
                <a:solidFill>
                  <a:srgbClr val="B8850A"/>
                </a:solidFill>
                <a:latin typeface="Times New Roman"/>
                <a:cs typeface="Times New Roman"/>
              </a:rPr>
              <a:t>Resilience</a:t>
            </a:r>
            <a:endParaRPr sz="1000" dirty="0">
              <a:latin typeface="Times New Roman"/>
              <a:cs typeface="Times New Roman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8C8908-16DB-FB9C-B119-EBAB1946A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" r="64773"/>
          <a:stretch>
            <a:fillRect/>
          </a:stretch>
        </p:blipFill>
        <p:spPr>
          <a:xfrm>
            <a:off x="958850" y="4544141"/>
            <a:ext cx="1787296" cy="9284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13C6B0-17BF-709B-FE8D-2CC276C38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98" r="2511"/>
          <a:stretch>
            <a:fillRect/>
          </a:stretch>
        </p:blipFill>
        <p:spPr>
          <a:xfrm>
            <a:off x="4899552" y="4522818"/>
            <a:ext cx="1787296" cy="92841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2148E591-36BC-645C-C62C-5C0006B67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189" y="4709996"/>
            <a:ext cx="1948320" cy="55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1809</Words>
  <Application>Microsoft Office PowerPoint</Application>
  <PresentationFormat>Custom</PresentationFormat>
  <Paragraphs>368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DengXian</vt:lpstr>
      <vt:lpstr>Aharoni</vt:lpstr>
      <vt:lpstr>Aparajita</vt:lpstr>
      <vt:lpstr>Arial Rounded MT Bold</vt:lpstr>
      <vt:lpstr>Bahnschrift SemiBold</vt:lpstr>
      <vt:lpstr>Calibri</vt:lpstr>
      <vt:lpstr>Felix Titling</vt:lpstr>
      <vt:lpstr>Footlight MT Light</vt:lpstr>
      <vt:lpstr>Source Sans Pro</vt:lpstr>
      <vt:lpstr>Times New Roman</vt:lpstr>
      <vt:lpstr>Tiro Devanagari Marathi</vt:lpstr>
      <vt:lpstr>Office Theme</vt:lpstr>
      <vt:lpstr>Integrated Watershed Management Project (IWMP) Climate Resilience &amp; Sustainable Livelihoods</vt:lpstr>
      <vt:lpstr>Table of Contents</vt:lpstr>
      <vt:lpstr>Executive Summary</vt:lpstr>
      <vt:lpstr>Project Overview &amp; Background</vt:lpstr>
      <vt:lpstr>Key Interventions &amp; Approach</vt:lpstr>
      <vt:lpstr>100% Targets Met Every planned intervention completed on time — meeting or exceeding all targets.</vt:lpstr>
      <vt:lpstr>Transforming Land, Water &amp; Lives</vt:lpstr>
      <vt:lpstr>Challenges, Lessons &amp; Future Roadmap</vt:lpstr>
      <vt:lpstr>Monitoring &amp; Evaluation</vt:lpstr>
      <vt:lpstr>Success Stories &amp; Community Voices</vt:lpstr>
      <vt:lpstr>Project in Action</vt:lpstr>
      <vt:lpstr>DroNe Photographs </vt:lpstr>
      <vt:lpstr>Earthwork, Land &amp; Community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SJSM Annual Report 2025–26</dc:title>
  <dc:subject>Integrated Watershed Management — Veloshi, Satara</dc:subject>
  <dc:creator>Shramjivi Janata Sahayyak Mandal</dc:creator>
  <cp:lastModifiedBy>Satwik Udupi</cp:lastModifiedBy>
  <cp:revision>7</cp:revision>
  <dcterms:created xsi:type="dcterms:W3CDTF">2026-03-29T08:09:24Z</dcterms:created>
  <dcterms:modified xsi:type="dcterms:W3CDTF">2026-04-26T13:15:05Z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2026-03-29T00:00:00Z</vt:filetime>
  </property>
  <property fmtid="{D5CDD505-2E9C-101B-9397-08002B2CF9AE}" pid="5" name="Producer">
    <vt:lpwstr>ReportLab PDF Library - (opensource)</vt:lpwstr>
  </property>
</Properties>
</file>