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3632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09113" y="11430"/>
            <a:ext cx="6995584" cy="52466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93805" y="0"/>
            <a:ext cx="1371387" cy="51435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592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347472"/>
            <a:ext cx="20116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3474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1B3A2D"/>
                </a:solidFill>
                <a:latin typeface="Bookman Old Style" panose="02050604050505020204" pitchFamily="18" charset="0"/>
              </a:rPr>
              <a:t>ANNUAL REPORT</a:t>
            </a:r>
            <a:endParaRPr lang="en-US" sz="800" dirty="0">
              <a:latin typeface="Bookman Old Style" panose="0205060405050502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" y="749808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0" b="1" dirty="0">
                <a:solidFill>
                  <a:srgbClr val="FFFFFF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9200" dirty="0">
              <a:latin typeface="Felix Titling" panose="04060505060202020A04" pitchFamily="8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26345" y="924750"/>
            <a:ext cx="177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dirty="0">
                <a:solidFill>
                  <a:srgbClr val="C9A84C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-26</a:t>
            </a:r>
            <a:endParaRPr lang="en-US" sz="9600" dirty="0">
              <a:latin typeface="Felix Titling" panose="04060505060202020A04" pitchFamily="8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11480" y="2633472"/>
            <a:ext cx="4114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7249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Integrated Watershed Management</a:t>
            </a:r>
            <a:endParaRPr lang="en-US" sz="1400" dirty="0">
              <a:latin typeface="Felix Titling" panose="04060505060202020A04" pitchFamily="8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1480" y="303580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Climate Resilience &amp; Sustainable Livelihoods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3401568"/>
            <a:ext cx="4114800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34930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C8E6C9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Shramjivi Janata Sahayyak Mandal (SJSM), Satara</a:t>
            </a:r>
            <a:endParaRPr lang="en-US" sz="14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11480" y="38587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</a:rPr>
              <a:t>📍  Veloshi, Phaltan, Satara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11480" y="4114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</a:rPr>
              <a:t>📅  Feb – Mar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1480" y="43708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F0E8"/>
                </a:solidFill>
              </a:rPr>
              <a:t>👤  Mr. Suresh Kadam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0" y="4617720"/>
            <a:ext cx="3383280" cy="347472"/>
          </a:xfrm>
          <a:prstGeom prst="rect">
            <a:avLst/>
          </a:prstGeom>
          <a:solidFill>
            <a:srgbClr val="000000">
              <a:alpha val="19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0" y="4617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  <a:latin typeface="Felix Titling" panose="04060505060202020A04" pitchFamily="82" charset="0"/>
              </a:rPr>
              <a:t>Supported By </a:t>
            </a:r>
            <a:r>
              <a:rPr lang="en-US" sz="900" dirty="0">
                <a:solidFill>
                  <a:srgbClr val="F0D080"/>
                </a:solidFill>
                <a:latin typeface="Felix Titling" panose="04060505060202020A04" pitchFamily="82" charset="0"/>
              </a:rPr>
              <a:t>Parivartan</a:t>
            </a:r>
            <a:r>
              <a:rPr lang="en-US" sz="750" dirty="0">
                <a:solidFill>
                  <a:srgbClr val="F0D080"/>
                </a:solidFill>
                <a:latin typeface="Felix Titling" panose="04060505060202020A04" pitchFamily="82" charset="0"/>
              </a:rPr>
              <a:t> Small Grants </a:t>
            </a:r>
            <a:r>
              <a:rPr lang="en-US" sz="750" dirty="0" err="1">
                <a:solidFill>
                  <a:srgbClr val="F0D080"/>
                </a:solidFill>
                <a:latin typeface="Felix Titling" panose="04060505060202020A04" pitchFamily="82" charset="0"/>
              </a:rPr>
              <a:t>Programme</a:t>
            </a:r>
            <a:r>
              <a:rPr lang="en-US" sz="750" dirty="0">
                <a:solidFill>
                  <a:srgbClr val="F0D080"/>
                </a:solidFill>
                <a:latin typeface="Felix Titling" panose="04060505060202020A04" pitchFamily="82" charset="0"/>
              </a:rPr>
              <a:t> — HDFC Bank</a:t>
            </a:r>
            <a:endParaRPr lang="en-US" sz="750" dirty="0">
              <a:latin typeface="Felix Titling" panose="04060505060202020A04" pitchFamily="82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7C6B7AE9-ED64-A57A-85CC-819B04FFC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21050" r="-1226" b="23363"/>
          <a:stretch>
            <a:fillRect/>
          </a:stretch>
        </p:blipFill>
        <p:spPr>
          <a:xfrm>
            <a:off x="5257800" y="11430"/>
            <a:ext cx="1742208" cy="9567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C5FD66-55B2-BA05-7C2D-69508C14D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0601" y="86964"/>
            <a:ext cx="1740991" cy="656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C28352A3-55D8-6022-8016-28A312A94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9144000" cy="54864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54864"/>
            <a:ext cx="4114800" cy="4114800"/>
          </a:xfrm>
          <a:prstGeom prst="ellipse">
            <a:avLst/>
          </a:prstGeom>
          <a:solidFill>
            <a:schemeClr val="accent6">
              <a:lumMod val="75000"/>
              <a:alpha val="30000"/>
            </a:schemeClr>
          </a:solidFill>
          <a:ln w="12700">
            <a:solidFill>
              <a:srgbClr val="2D5A3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201168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EXECUTIVE SUMMARY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7472" y="5669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at a Glance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8339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Felix Titling" panose="04060505060202020A04" pitchFamily="82" charset="0"/>
              </a:rPr>
              <a:t>The project achieved 100% completion of all primary activities during February–March 2026.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Felix Titling" panose="04060505060202020A04" pitchFamily="82" charset="0"/>
              </a:rPr>
              <a:t>All structural and earthwork interventions met their targets, delivering immediate agricultural and water infrastructure benefits to the farming community of Veloshi, Satara.</a:t>
            </a:r>
            <a:endParaRPr lang="en-US" sz="1100" dirty="0">
              <a:latin typeface="Felix Titling" panose="04060505060202020A04" pitchFamily="8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" y="2103120"/>
            <a:ext cx="56692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267712"/>
            <a:ext cx="1993392" cy="263347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1" name="Shape 9"/>
          <p:cNvSpPr/>
          <p:nvPr/>
        </p:nvSpPr>
        <p:spPr>
          <a:xfrm>
            <a:off x="347472" y="2267712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15730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FARMERS</a:t>
            </a:r>
            <a:endParaRPr lang="en-US" sz="1600" dirty="0">
              <a:latin typeface="Felix Titling" panose="04060505060202020A04" pitchFamily="8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0352" y="3502152"/>
            <a:ext cx="1627632" cy="13716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5021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8078"/>
                </a:solidFill>
              </a:rPr>
              <a:t>Direct Beneficiaries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23744" y="2267712"/>
            <a:ext cx="1993392" cy="263347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Shape 16"/>
          <p:cNvSpPr/>
          <p:nvPr/>
        </p:nvSpPr>
        <p:spPr>
          <a:xfrm>
            <a:off x="2523744" y="2267712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3744" y="315730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ACRES</a:t>
            </a:r>
            <a:endParaRPr lang="en-US" sz="1600" dirty="0">
              <a:latin typeface="Felix Titling" panose="04060505060202020A04" pitchFamily="8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06624" y="3502152"/>
            <a:ext cx="1627632" cy="13716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35021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8078"/>
                </a:solidFill>
              </a:rPr>
              <a:t>Barren Land Reclaimed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0016" y="2267712"/>
            <a:ext cx="1993392" cy="263347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5" name="Shape 23"/>
          <p:cNvSpPr/>
          <p:nvPr/>
        </p:nvSpPr>
        <p:spPr>
          <a:xfrm>
            <a:off x="4700016" y="2267712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15730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STRUCTURES</a:t>
            </a:r>
            <a:endParaRPr lang="en-US" sz="1600" dirty="0">
              <a:latin typeface="Felix Titling" panose="04060505060202020A04" pitchFamily="8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82896" y="3502152"/>
            <a:ext cx="1627632" cy="13716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5021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8078"/>
                </a:solidFill>
              </a:rPr>
              <a:t>Loose Boulders Built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76288" y="2300389"/>
            <a:ext cx="1993392" cy="263347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2" name="Shape 30"/>
          <p:cNvSpPr/>
          <p:nvPr/>
        </p:nvSpPr>
        <p:spPr>
          <a:xfrm>
            <a:off x="6876288" y="2267712"/>
            <a:ext cx="19933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240487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76288" y="315730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ACHIEVED</a:t>
            </a:r>
            <a:endParaRPr lang="en-US" sz="1600" dirty="0">
              <a:latin typeface="Felix Titling" panose="04060505060202020A04" pitchFamily="8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059168" y="3502152"/>
            <a:ext cx="1627632" cy="13716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76288" y="35021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8078"/>
                </a:solidFill>
              </a:rPr>
              <a:t>All Targets Met</a:t>
            </a:r>
            <a:endParaRPr lang="en-US" sz="8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9477FF82-B077-5E49-98D5-CF0C495E9B6D}"/>
              </a:ext>
            </a:extLst>
          </p:cNvPr>
          <p:cNvSpPr/>
          <p:nvPr/>
        </p:nvSpPr>
        <p:spPr>
          <a:xfrm>
            <a:off x="347472" y="25146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39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3CFD801E-EEBB-6C32-0C6B-B3C5F269E9EE}"/>
              </a:ext>
            </a:extLst>
          </p:cNvPr>
          <p:cNvSpPr/>
          <p:nvPr/>
        </p:nvSpPr>
        <p:spPr>
          <a:xfrm>
            <a:off x="2523744" y="25146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9462E2E2-3901-CE11-CB68-9A4B8DEE31C6}"/>
              </a:ext>
            </a:extLst>
          </p:cNvPr>
          <p:cNvSpPr/>
          <p:nvPr/>
        </p:nvSpPr>
        <p:spPr>
          <a:xfrm>
            <a:off x="4700016" y="25146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B4A406ED-85B4-1F7B-D4FF-06D2E00EFC3A}"/>
              </a:ext>
            </a:extLst>
          </p:cNvPr>
          <p:cNvSpPr/>
          <p:nvPr/>
        </p:nvSpPr>
        <p:spPr>
          <a:xfrm>
            <a:off x="6876288" y="251460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  <a:latin typeface="Felix Titling" panose="04060505060202020A04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DD8CD88-35EC-D9F6-0881-3072FB4CC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0"/>
            <a:ext cx="8979408" cy="5143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PROJECT OVERVIEW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56032" y="62179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56032" y="1874520"/>
            <a:ext cx="28346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" y="19385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D080"/>
                </a:solidFill>
              </a:rPr>
              <a:t>Veloshi · Phaltan · Satara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F0D080"/>
                </a:solidFill>
              </a:rPr>
              <a:t>2025 — 2026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49040" y="292608"/>
            <a:ext cx="5120640" cy="694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Shape 9"/>
          <p:cNvSpPr/>
          <p:nvPr/>
        </p:nvSpPr>
        <p:spPr>
          <a:xfrm>
            <a:off x="3749039" y="292608"/>
            <a:ext cx="82827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8767" y="338328"/>
            <a:ext cx="13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84C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PROJECT</a:t>
            </a:r>
            <a:endParaRPr lang="en-US" sz="1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58768" y="5669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Integrated Watershed Management for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Climate Resilience &amp; Sustainable Livelihoods</a:t>
            </a:r>
          </a:p>
        </p:txBody>
      </p:sp>
      <p:sp>
        <p:nvSpPr>
          <p:cNvPr id="15" name="Shape 12"/>
          <p:cNvSpPr/>
          <p:nvPr/>
        </p:nvSpPr>
        <p:spPr>
          <a:xfrm>
            <a:off x="3749040" y="1060704"/>
            <a:ext cx="5120640" cy="694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6" name="Shape 13"/>
          <p:cNvSpPr/>
          <p:nvPr/>
        </p:nvSpPr>
        <p:spPr>
          <a:xfrm>
            <a:off x="3749039" y="1060704"/>
            <a:ext cx="82827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7" y="1106424"/>
            <a:ext cx="13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84C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ORGANISATION</a:t>
            </a:r>
            <a:endParaRPr lang="en-US" sz="1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858768" y="13350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Shramjivi Janata Sahayyak Mandal (SJSM), Satara</a:t>
            </a:r>
          </a:p>
        </p:txBody>
      </p:sp>
      <p:sp>
        <p:nvSpPr>
          <p:cNvPr id="19" name="Shape 16"/>
          <p:cNvSpPr/>
          <p:nvPr/>
        </p:nvSpPr>
        <p:spPr>
          <a:xfrm>
            <a:off x="3749040" y="1828800"/>
            <a:ext cx="5120640" cy="694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Shape 17"/>
          <p:cNvSpPr/>
          <p:nvPr/>
        </p:nvSpPr>
        <p:spPr>
          <a:xfrm>
            <a:off x="3749039" y="1828800"/>
            <a:ext cx="82827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58767" y="1874520"/>
            <a:ext cx="13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84C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LOCATION</a:t>
            </a:r>
            <a:endParaRPr lang="en-US" sz="1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858768" y="2103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Veloshi, Block – Phaltan, District Satara, Maharashtra</a:t>
            </a:r>
          </a:p>
        </p:txBody>
      </p:sp>
      <p:sp>
        <p:nvSpPr>
          <p:cNvPr id="23" name="Shape 20"/>
          <p:cNvSpPr/>
          <p:nvPr/>
        </p:nvSpPr>
        <p:spPr>
          <a:xfrm>
            <a:off x="3749040" y="2596896"/>
            <a:ext cx="5120640" cy="694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4" name="Shape 21"/>
          <p:cNvSpPr/>
          <p:nvPr/>
        </p:nvSpPr>
        <p:spPr>
          <a:xfrm>
            <a:off x="3749039" y="2596896"/>
            <a:ext cx="82827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58767" y="2642616"/>
            <a:ext cx="13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84C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PERIOD</a:t>
            </a:r>
            <a:endParaRPr lang="en-US" sz="1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858768" y="28712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January – March 2026  |  Reporting: Feb – Mar 2026</a:t>
            </a:r>
          </a:p>
        </p:txBody>
      </p:sp>
      <p:sp>
        <p:nvSpPr>
          <p:cNvPr id="27" name="Shape 24"/>
          <p:cNvSpPr/>
          <p:nvPr/>
        </p:nvSpPr>
        <p:spPr>
          <a:xfrm>
            <a:off x="3749040" y="3364992"/>
            <a:ext cx="5120640" cy="694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8" name="Shape 25"/>
          <p:cNvSpPr/>
          <p:nvPr/>
        </p:nvSpPr>
        <p:spPr>
          <a:xfrm>
            <a:off x="3749039" y="3364992"/>
            <a:ext cx="82827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58767" y="3410712"/>
            <a:ext cx="13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84C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FUNDER</a:t>
            </a:r>
            <a:endParaRPr lang="en-US" sz="1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58768" y="3639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Parivartan Small Grants Programme — HDFC Bank</a:t>
            </a:r>
          </a:p>
        </p:txBody>
      </p:sp>
      <p:sp>
        <p:nvSpPr>
          <p:cNvPr id="31" name="Shape 28"/>
          <p:cNvSpPr/>
          <p:nvPr/>
        </p:nvSpPr>
        <p:spPr>
          <a:xfrm>
            <a:off x="3749040" y="4133088"/>
            <a:ext cx="5120640" cy="69494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2" name="Shape 29"/>
          <p:cNvSpPr/>
          <p:nvPr/>
        </p:nvSpPr>
        <p:spPr>
          <a:xfrm>
            <a:off x="3749039" y="4133088"/>
            <a:ext cx="82827" cy="6949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58767" y="4178808"/>
            <a:ext cx="13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84C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CONTACT</a:t>
            </a:r>
            <a:endParaRPr lang="en-US" sz="1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858768" y="44074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Mr. Suresh Kadam (Project Manager)</a:t>
            </a:r>
          </a:p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Felix Titling" panose="04060505060202020A04" pitchFamily="82" charset="0"/>
              </a:rPr>
              <a:t>Mr. Ram Kolekar (Head Operations)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5CC0F36A-37EB-8949-1D73-7B469F5D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0"/>
            <a:ext cx="8979408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93268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46304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6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KEY INTERVENTIONS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7472" y="411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 &amp; Method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4114800" cy="178308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9" name="Shape 7"/>
          <p:cNvSpPr/>
          <p:nvPr/>
        </p:nvSpPr>
        <p:spPr>
          <a:xfrm>
            <a:off x="347472" y="1115568"/>
            <a:ext cx="41148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🪨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60704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3A2D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Soil Conservation</a:t>
            </a:r>
            <a:endParaRPr lang="en-US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0704" y="1508760"/>
            <a:ext cx="3291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Gabion &amp; Loose Boulder structures to manage surface runoff and prevent erosion before monsoon season.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9744" y="1115568"/>
            <a:ext cx="4114800" cy="178308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4" name="Shape 12"/>
          <p:cNvSpPr/>
          <p:nvPr/>
        </p:nvSpPr>
        <p:spPr>
          <a:xfrm>
            <a:off x="4809744" y="1115568"/>
            <a:ext cx="41148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💧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22976" y="1170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47A1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Water Management</a:t>
            </a:r>
            <a:endParaRPr lang="en-US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22976" y="1508760"/>
            <a:ext cx="3291840" cy="81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Deepening &amp; widening of Nalas, desilting of water bodies to improve drainage and storage capacity.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7472" y="3035808"/>
            <a:ext cx="2697480" cy="192024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9" name="Shape 17"/>
          <p:cNvSpPr/>
          <p:nvPr/>
        </p:nvSpPr>
        <p:spPr>
          <a:xfrm>
            <a:off x="347472" y="3035808"/>
            <a:ext cx="2697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🌾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" y="3593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4037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Land Reclamation</a:t>
            </a:r>
            <a:endParaRPr lang="en-US" sz="1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8912" y="39136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Nutrient-rich desilted soil redistributed to convert barren land into fertile agricultural plots.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55264" y="3035808"/>
            <a:ext cx="2697480" cy="192024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4" name="Shape 22"/>
          <p:cNvSpPr/>
          <p:nvPr/>
        </p:nvSpPr>
        <p:spPr>
          <a:xfrm>
            <a:off x="3255264" y="3035808"/>
            <a:ext cx="2697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🌱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46704" y="3593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Climate Resilience</a:t>
            </a:r>
            <a:endParaRPr lang="en-US" sz="1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46704" y="39136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Staggered Contour Trenches (SCT) to enhance groundwater recharge and reduce monsoon runoff.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63056" y="3035808"/>
            <a:ext cx="2697480" cy="192024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9" name="Shape 27"/>
          <p:cNvSpPr/>
          <p:nvPr/>
        </p:nvSpPr>
        <p:spPr>
          <a:xfrm>
            <a:off x="6163056" y="3035808"/>
            <a:ext cx="26974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30906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👩‍🌾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54496" y="35935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360C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Community Empowerment</a:t>
            </a:r>
            <a:endParaRPr lang="en-US" sz="1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54496" y="39136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Farmer Exposure Visit to demonstrate techniques and build long-term community capacity.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6344" y="201168"/>
            <a:ext cx="6281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2D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Key Achievements &amp; Milestones</a:t>
            </a:r>
            <a:endParaRPr lang="en-US" sz="32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658368"/>
            <a:ext cx="85953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49808"/>
            <a:ext cx="347472" cy="3657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4980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#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749808"/>
            <a:ext cx="3840480" cy="3657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7498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Activity / Intervention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749808"/>
            <a:ext cx="1097280" cy="3657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749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Target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23560" y="749808"/>
            <a:ext cx="1097280" cy="3657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749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Achieved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20840" y="749808"/>
            <a:ext cx="2103120" cy="3657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749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Status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7472" y="1133856"/>
            <a:ext cx="84764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133856"/>
            <a:ext cx="34747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800" y="1133856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Gabion Structures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26280" y="1133856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 No.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23560" y="1133856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 No.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20840" y="1133856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7A4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✅ Complete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7472" y="1609344"/>
            <a:ext cx="8476488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609344"/>
            <a:ext cx="34747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5800" y="1609344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Loose Boulder Structures (LB)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26280" y="1609344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15 No.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23560" y="1609344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15 No.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20840" y="1609344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7A4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✅ Complete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7472" y="2084832"/>
            <a:ext cx="84764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084832"/>
            <a:ext cx="34747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580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Staggered Contour Trenches (SCT)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26280" y="2084832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4,500 m³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23560" y="2084832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4,500 m³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20840" y="2084832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7A4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✅ Complete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47472" y="2560320"/>
            <a:ext cx="8476488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560320"/>
            <a:ext cx="34747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580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Desilting of Small ENB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2628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19,000 m³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2356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19,000 m³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208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7A4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✅ Complete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47472" y="3035808"/>
            <a:ext cx="84764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035808"/>
            <a:ext cx="34747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5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5800" y="3035808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Nala Deepening &amp; Widening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2628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19,000 m³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623560" y="3035808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19,000 m³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720840" y="3035808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7A4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✅ Complete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47472" y="3511296"/>
            <a:ext cx="8476488" cy="4572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511296"/>
            <a:ext cx="347472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6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5800" y="3511296"/>
            <a:ext cx="38404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Farmer Exposure Visit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26280" y="3511296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 Visit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623560" y="3511296"/>
            <a:ext cx="109728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 Visit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720840" y="3511296"/>
            <a:ext cx="21031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7A4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✅ Complete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472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2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Achievement Rate</a:t>
            </a:r>
            <a:endParaRPr lang="en-US" sz="16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47472" y="443484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472" y="4434840"/>
            <a:ext cx="1261872" cy="20116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443484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47472" y="46634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Gabion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773936" y="443484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73936" y="4434840"/>
            <a:ext cx="1261872" cy="201168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73936" y="443484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773936" y="46634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Loose Boulders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3200400" y="443484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0" y="4434840"/>
            <a:ext cx="1261872" cy="201168"/>
          </a:xfrm>
          <a:prstGeom prst="rect">
            <a:avLst/>
          </a:prstGeom>
          <a:solidFill>
            <a:srgbClr val="3D7A4A"/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0" y="443484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200400" y="46634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SCT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626864" y="443484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26864" y="4434840"/>
            <a:ext cx="1261872" cy="201168"/>
          </a:xfrm>
          <a:prstGeom prst="rect">
            <a:avLst/>
          </a:prstGeom>
          <a:solidFill>
            <a:srgbClr val="6B4226"/>
          </a:solidFill>
          <a:ln w="12700">
            <a:solidFill>
              <a:srgbClr val="6B42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26864" y="443484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626864" y="46634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Desilting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053328" y="443484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53328" y="4434840"/>
            <a:ext cx="1261872" cy="2011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53328" y="443484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6053328" y="46634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Nala Work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479792" y="4434840"/>
            <a:ext cx="1261872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479792" y="4434840"/>
            <a:ext cx="1261872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79792" y="4434840"/>
            <a:ext cx="1261872" cy="2011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100%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7479792" y="466344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Exposure Visit</a:t>
            </a:r>
            <a:endParaRPr lang="en-US" sz="11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0" y="-524909"/>
            <a:ext cx="5486400" cy="5486400"/>
          </a:xfrm>
          <a:prstGeom prst="ellipse">
            <a:avLst/>
          </a:prstGeom>
          <a:solidFill>
            <a:srgbClr val="2D5A3D">
              <a:alpha val="25000"/>
            </a:srgbClr>
          </a:solidFill>
          <a:ln w="12700">
            <a:solidFill>
              <a:srgbClr val="2D5A3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D5A3D">
              <a:alpha val="25000"/>
            </a:srgbClr>
          </a:solidFill>
          <a:ln w="12700">
            <a:solidFill>
              <a:srgbClr val="2D5A3D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0"/>
            <a:ext cx="9144000" cy="54864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82880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OUTCOMES &amp; IMPACT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47472" y="39319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Transforming Land.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Empowering Farmers.</a:t>
            </a:r>
            <a:endParaRPr lang="en-US" sz="36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0" y="1572768"/>
            <a:ext cx="64008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10512"/>
            <a:ext cx="1572768" cy="3108960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10512"/>
            <a:ext cx="157276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38528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39</a:t>
            </a:r>
            <a:endParaRPr lang="en-US" sz="4400" dirty="0">
              <a:latin typeface="Felix Titling" panose="04060505060202020A04" pitchFamily="8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Farmers</a:t>
            </a:r>
            <a:endParaRPr lang="en-US" sz="1200" dirty="0">
              <a:latin typeface="Felix Titling" panose="04060505060202020A04" pitchFamily="8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1024128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090672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received nutrient-rich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desilted soil directly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11680" y="1810512"/>
            <a:ext cx="1572768" cy="3108960"/>
          </a:xfrm>
          <a:prstGeom prst="rect">
            <a:avLst/>
          </a:prstGeom>
          <a:solidFill>
            <a:srgbClr val="FBF3D5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1810512"/>
            <a:ext cx="157276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938528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400" dirty="0">
              <a:latin typeface="Felix Titling" panose="04060505060202020A04" pitchFamily="8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11680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Acres</a:t>
            </a:r>
            <a:endParaRPr lang="en-US" sz="1200" dirty="0">
              <a:latin typeface="Felix Titling" panose="04060505060202020A04" pitchFamily="8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0" y="3035808"/>
            <a:ext cx="1024128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3090672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of barren land transformed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into cultivable farmland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749040" y="1810512"/>
            <a:ext cx="1572768" cy="3108960"/>
          </a:xfrm>
          <a:prstGeom prst="rect">
            <a:avLst/>
          </a:prstGeom>
          <a:solidFill>
            <a:srgbClr val="E8F4FD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810512"/>
            <a:ext cx="157276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938528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19K</a:t>
            </a:r>
            <a:endParaRPr lang="en-US" sz="4400" dirty="0">
              <a:latin typeface="Felix Titling" panose="04060505060202020A04" pitchFamily="8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49040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m³</a:t>
            </a:r>
            <a:endParaRPr lang="en-US" sz="1200" dirty="0">
              <a:latin typeface="Felix Titling" panose="04060505060202020A04" pitchFamily="8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023360" y="3035808"/>
            <a:ext cx="1024128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2192" y="3090672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of Nala deepening &amp;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widening completed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0" y="1810512"/>
            <a:ext cx="1572768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810512"/>
            <a:ext cx="157276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938528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4,500</a:t>
            </a:r>
            <a:endParaRPr lang="en-US" sz="4400" dirty="0">
              <a:latin typeface="Felix Titling" panose="04060505060202020A04" pitchFamily="8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0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m³</a:t>
            </a:r>
            <a:endParaRPr lang="en-US" sz="1200" dirty="0">
              <a:latin typeface="Felix Titling" panose="04060505060202020A04" pitchFamily="8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760720" y="3035808"/>
            <a:ext cx="1024128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3090672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Staggered Contour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Trenches excavated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23760" y="1810512"/>
            <a:ext cx="1572768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810512"/>
            <a:ext cx="1572768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938528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>
              <a:latin typeface="Felix Titling" panose="04060505060202020A04" pitchFamily="8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23760" y="27249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Targets</a:t>
            </a:r>
            <a:endParaRPr lang="en-US" sz="1200" dirty="0">
              <a:latin typeface="Felix Titling" panose="04060505060202020A04" pitchFamily="8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498080" y="3035808"/>
            <a:ext cx="1024128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96912" y="3090672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all 6 project activities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fully achieved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9196"/>
          <a:stretch>
            <a:fillRect/>
          </a:stretch>
        </p:blipFill>
        <p:spPr>
          <a:xfrm>
            <a:off x="0" y="6858"/>
            <a:ext cx="404164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9738" y="6858"/>
            <a:ext cx="3840480" cy="5143500"/>
          </a:xfrm>
          <a:prstGeom prst="rect">
            <a:avLst/>
          </a:prstGeom>
          <a:solidFill>
            <a:srgbClr val="1B3A2D">
              <a:alpha val="60000"/>
            </a:srgbClr>
          </a:solidFill>
          <a:ln w="12700">
            <a:solidFill>
              <a:srgbClr val="1B3A2D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228600"/>
            <a:ext cx="32004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B3A2D"/>
                </a:solidFill>
              </a:rPr>
              <a:t>✦  SUCCESS STORY  ✦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6032" y="71323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Transforming</a:t>
            </a:r>
            <a:endParaRPr lang="en-US" sz="32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Barren Land</a:t>
            </a:r>
            <a:endParaRPr lang="en-US" sz="32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into Life</a:t>
            </a:r>
            <a:endParaRPr lang="en-US" sz="32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56032" y="4023360"/>
            <a:ext cx="1554480" cy="914400"/>
          </a:xfrm>
          <a:prstGeom prst="rect">
            <a:avLst/>
          </a:prstGeom>
          <a:solidFill>
            <a:srgbClr val="000000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>
              <a:latin typeface="Felix Titling" panose="04060505060202020A04" pitchFamily="8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56032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Acres Reclaimed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93392" y="4023360"/>
            <a:ext cx="1554480" cy="914400"/>
          </a:xfrm>
          <a:prstGeom prst="rect">
            <a:avLst/>
          </a:prstGeom>
          <a:solidFill>
            <a:srgbClr val="000000">
              <a:alpha val="2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93392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800" dirty="0">
              <a:latin typeface="Felix Titling" panose="04060505060202020A04" pitchFamily="8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993392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Families Benefited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256032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33672" y="256032"/>
            <a:ext cx="4636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2D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Community Impact</a:t>
            </a:r>
            <a:endParaRPr lang="en-US" sz="28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0" y="713232"/>
            <a:ext cx="475488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804672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Through the integrated use of 19,000 m³ of desilted soil from Nala deepening and ENB desilting works, the project successfully converted 18 acres of previously barren, unproductive land into fertile, cultivable agricultural plots — directly transforming the livelihoods of 39 farming families in the Veloshi area of Satara district.</a:t>
            </a:r>
            <a:endParaRPr lang="en-US" sz="12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114800" y="2212848"/>
            <a:ext cx="4754880" cy="1353312"/>
          </a:xfrm>
          <a:prstGeom prst="rect">
            <a:avLst/>
          </a:prstGeom>
          <a:solidFill>
            <a:srgbClr val="F0FAF4"/>
          </a:solidFill>
          <a:ln w="12700">
            <a:solidFill>
              <a:srgbClr val="2D5A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14800" y="2212848"/>
            <a:ext cx="64008" cy="13533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87952" y="221284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21" name="Text 18"/>
          <p:cNvSpPr/>
          <p:nvPr/>
        </p:nvSpPr>
        <p:spPr>
          <a:xfrm>
            <a:off x="4297680" y="2542032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earthwork interventions have successfully met primary targets, resulting in immediate agricultural benefits for our farming community.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297680" y="32186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D8078"/>
                </a:solidFill>
              </a:rPr>
              <a:t>— Local Farming Community, Satara Watershed Region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0" y="3749040"/>
            <a:ext cx="4754880" cy="566928"/>
          </a:xfrm>
          <a:prstGeom prst="rect">
            <a:avLst/>
          </a:prstGeom>
          <a:solidFill>
            <a:srgbClr val="FBF3D5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0" y="3803904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1480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</a:t>
            </a:r>
            <a:endParaRPr lang="en-US" sz="14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645152" y="37856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2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Soil Recipient Group</a:t>
            </a:r>
            <a:endParaRPr lang="en-US" sz="9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45152" y="3986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18 acres of barren land transformed into cultivable fields via desilted soil application.</a:t>
            </a:r>
            <a:endParaRPr lang="en-US" sz="9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114800" y="4407408"/>
            <a:ext cx="4754880" cy="566928"/>
          </a:xfrm>
          <a:prstGeom prst="rect">
            <a:avLst/>
          </a:prstGeom>
          <a:solidFill>
            <a:srgbClr val="F5F0E8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0" y="446227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1480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</a:t>
            </a:r>
            <a:endParaRPr lang="en-US" sz="14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45152" y="4443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2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Watershed Stakeholders</a:t>
            </a:r>
            <a:endParaRPr lang="en-US" sz="9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645152" y="4645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8078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All primary activities — Gabions, SCT, Nala widening — fully executed on schedule.</a:t>
            </a:r>
            <a:endParaRPr lang="en-US" sz="9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498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7274" y="73152"/>
            <a:ext cx="187985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7160"/>
            <a:ext cx="154990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PHOTO GALLERY · PART 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7472" y="34747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Documentation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25952" y="483561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D08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Soil Conservation &amp; Water Infrastructure</a:t>
            </a:r>
            <a:endParaRPr lang="en-US" sz="9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8DF3F9-21EC-0BF1-9560-86166A20BCFA}"/>
              </a:ext>
            </a:extLst>
          </p:cNvPr>
          <p:cNvGrpSpPr/>
          <p:nvPr/>
        </p:nvGrpSpPr>
        <p:grpSpPr>
          <a:xfrm>
            <a:off x="296799" y="-2433828"/>
            <a:ext cx="3913632" cy="2304288"/>
            <a:chOff x="-1993392" y="763524"/>
            <a:chExt cx="3913632" cy="2304288"/>
          </a:xfrm>
        </p:grpSpPr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-1920240" y="763524"/>
              <a:ext cx="3840480" cy="2304288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-1993392" y="2768346"/>
              <a:ext cx="3840480" cy="274320"/>
            </a:xfrm>
            <a:prstGeom prst="rect">
              <a:avLst/>
            </a:prstGeom>
            <a:solidFill>
              <a:srgbClr val="000000">
                <a:alpha val="53000"/>
              </a:srgbClr>
            </a:solidFill>
            <a:ln w="12700">
              <a:solidFill>
                <a:srgbClr val="000000"/>
              </a:solidFill>
              <a:prstDash val="solid"/>
            </a:ln>
          </p:spPr>
        </p:sp>
      </p:grpSp>
      <p:sp>
        <p:nvSpPr>
          <p:cNvPr id="11" name="Text 8"/>
          <p:cNvSpPr/>
          <p:nvPr/>
        </p:nvSpPr>
        <p:spPr>
          <a:xfrm>
            <a:off x="-2426208" y="27873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D080"/>
                </a:solidFill>
              </a:rPr>
              <a:t>Gabion Structure — Soil &amp; Water Conservation</a:t>
            </a:r>
            <a:endParaRPr lang="en-US" sz="8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819913"/>
            <a:ext cx="4482084" cy="266182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4978" y="795528"/>
            <a:ext cx="4482084" cy="26888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81356" y="3191256"/>
            <a:ext cx="4482084" cy="306015"/>
          </a:xfrm>
          <a:prstGeom prst="rect">
            <a:avLst/>
          </a:prstGeom>
          <a:solidFill>
            <a:srgbClr val="000000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5027776-3917-FAD8-0245-AF92B610AB00}"/>
              </a:ext>
            </a:extLst>
          </p:cNvPr>
          <p:cNvGrpSpPr/>
          <p:nvPr/>
        </p:nvGrpSpPr>
        <p:grpSpPr>
          <a:xfrm>
            <a:off x="274320" y="3552444"/>
            <a:ext cx="8759952" cy="1591056"/>
            <a:chOff x="256032" y="3364992"/>
            <a:chExt cx="8759952" cy="1591056"/>
          </a:xfrm>
        </p:grpSpPr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256032" y="3364992"/>
              <a:ext cx="2834640" cy="1554480"/>
            </a:xfrm>
            <a:prstGeom prst="rect">
              <a:avLst/>
            </a:prstGeom>
          </p:spPr>
        </p:pic>
        <p:sp>
          <p:nvSpPr>
            <p:cNvPr id="19" name="Shape 13"/>
            <p:cNvSpPr/>
            <p:nvPr/>
          </p:nvSpPr>
          <p:spPr>
            <a:xfrm>
              <a:off x="256032" y="4681728"/>
              <a:ext cx="2834640" cy="274320"/>
            </a:xfrm>
            <a:prstGeom prst="rect">
              <a:avLst/>
            </a:prstGeom>
            <a:solidFill>
              <a:srgbClr val="000000">
                <a:alpha val="53000"/>
              </a:srgbClr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20" name="Text 14"/>
            <p:cNvSpPr/>
            <p:nvPr/>
          </p:nvSpPr>
          <p:spPr>
            <a:xfrm>
              <a:off x="256032" y="468172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0D080"/>
                  </a:solidFill>
                  <a:latin typeface="Felix Titling" panose="04060505060202020A04" pitchFamily="82" charset="0"/>
                </a:rPr>
                <a:t>Nala Deepening Work</a:t>
              </a:r>
              <a:endParaRPr lang="en-US" sz="750" dirty="0">
                <a:latin typeface="Felix Titling" panose="04060505060202020A04" pitchFamily="82" charset="0"/>
              </a:endParaRPr>
            </a:p>
          </p:txBody>
        </p:sp>
        <p:pic>
          <p:nvPicPr>
            <p:cNvPr id="21" name="Image 4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3218688" y="3364992"/>
              <a:ext cx="2834640" cy="1554480"/>
            </a:xfrm>
            <a:prstGeom prst="rect">
              <a:avLst/>
            </a:prstGeom>
          </p:spPr>
        </p:pic>
        <p:sp>
          <p:nvSpPr>
            <p:cNvPr id="22" name="Shape 15"/>
            <p:cNvSpPr/>
            <p:nvPr/>
          </p:nvSpPr>
          <p:spPr>
            <a:xfrm>
              <a:off x="3218688" y="4681728"/>
              <a:ext cx="2834640" cy="274320"/>
            </a:xfrm>
            <a:prstGeom prst="rect">
              <a:avLst/>
            </a:prstGeom>
            <a:solidFill>
              <a:srgbClr val="000000">
                <a:alpha val="53000"/>
              </a:srgbClr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23" name="Text 16"/>
            <p:cNvSpPr/>
            <p:nvPr/>
          </p:nvSpPr>
          <p:spPr>
            <a:xfrm>
              <a:off x="3218688" y="468172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0D080"/>
                  </a:solidFill>
                  <a:latin typeface="Felix Titling" panose="04060505060202020A04" pitchFamily="82" charset="0"/>
                </a:rPr>
                <a:t>Excavation Progress</a:t>
              </a:r>
              <a:endParaRPr lang="en-US" sz="750" dirty="0">
                <a:latin typeface="Felix Titling" panose="04060505060202020A04" pitchFamily="82" charset="0"/>
              </a:endParaRPr>
            </a:p>
          </p:txBody>
        </p:sp>
        <p:pic>
          <p:nvPicPr>
            <p:cNvPr id="24" name="Image 5" descr="preencoded.png"/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6181344" y="3364992"/>
              <a:ext cx="2834640" cy="1554480"/>
            </a:xfrm>
            <a:prstGeom prst="rect">
              <a:avLst/>
            </a:prstGeom>
          </p:spPr>
        </p:pic>
        <p:sp>
          <p:nvSpPr>
            <p:cNvPr id="25" name="Shape 17"/>
            <p:cNvSpPr/>
            <p:nvPr/>
          </p:nvSpPr>
          <p:spPr>
            <a:xfrm>
              <a:off x="6181344" y="4681728"/>
              <a:ext cx="2834640" cy="274320"/>
            </a:xfrm>
            <a:prstGeom prst="rect">
              <a:avLst/>
            </a:prstGeom>
            <a:solidFill>
              <a:srgbClr val="000000">
                <a:alpha val="53000"/>
              </a:srgbClr>
            </a:solidFill>
            <a:ln w="12700">
              <a:solidFill>
                <a:srgbClr val="000000"/>
              </a:solidFill>
              <a:prstDash val="solid"/>
            </a:ln>
          </p:spPr>
        </p:sp>
        <p:sp>
          <p:nvSpPr>
            <p:cNvPr id="26" name="Text 18"/>
            <p:cNvSpPr/>
            <p:nvPr/>
          </p:nvSpPr>
          <p:spPr>
            <a:xfrm>
              <a:off x="6181344" y="4681728"/>
              <a:ext cx="2834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F0D080"/>
                  </a:solidFill>
                </a:rPr>
                <a:t>Earthwork — Ground Level</a:t>
              </a:r>
              <a:endParaRPr lang="en-US" sz="750" dirty="0"/>
            </a:p>
          </p:txBody>
        </p:sp>
      </p:grpSp>
      <p:sp>
        <p:nvSpPr>
          <p:cNvPr id="14" name="Text 10"/>
          <p:cNvSpPr/>
          <p:nvPr/>
        </p:nvSpPr>
        <p:spPr>
          <a:xfrm>
            <a:off x="287274" y="3246319"/>
            <a:ext cx="4000500" cy="20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  <a:latin typeface="Felix Titling" panose="04060505060202020A04" pitchFamily="82" charset="0"/>
              </a:rPr>
              <a:t>Watershed Site Overview</a:t>
            </a:r>
            <a:endParaRPr lang="en-US" sz="750" dirty="0">
              <a:latin typeface="Felix Titling" panose="04060505060202020A04" pitchFamily="82" charset="0"/>
            </a:endParaRPr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57C3A699-A509-8304-A07C-ECB0CEF97AC7}"/>
              </a:ext>
            </a:extLst>
          </p:cNvPr>
          <p:cNvSpPr/>
          <p:nvPr/>
        </p:nvSpPr>
        <p:spPr>
          <a:xfrm>
            <a:off x="4663440" y="3190959"/>
            <a:ext cx="4482084" cy="306015"/>
          </a:xfrm>
          <a:prstGeom prst="rect">
            <a:avLst/>
          </a:prstGeom>
          <a:solidFill>
            <a:srgbClr val="000000">
              <a:alpha val="53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63618" y="3217975"/>
            <a:ext cx="468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  <a:latin typeface="Felix Titling" panose="04060505060202020A04" pitchFamily="82" charset="0"/>
              </a:rPr>
              <a:t>Site Preparation</a:t>
            </a:r>
            <a:endParaRPr lang="en-US" sz="750" dirty="0">
              <a:latin typeface="Felix Titling" panose="04060505060202020A04" pitchFamily="8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2237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1440"/>
            <a:ext cx="1839468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"/>
            <a:ext cx="1839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PHOTO GALLERY · PART 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7472" y="3291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Documentation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38144" y="45720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D08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Land Reclamation &amp; Community Engagement</a:t>
            </a:r>
            <a:endParaRPr lang="en-US" sz="9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868680"/>
            <a:ext cx="2194560" cy="2194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" y="2825496"/>
            <a:ext cx="2194560" cy="25603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2825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Community Field Work</a:t>
            </a:r>
            <a:endParaRPr lang="en-US" sz="7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032" y="3145536"/>
            <a:ext cx="2194560" cy="17556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6032" y="4663440"/>
            <a:ext cx="2194560" cy="25603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6032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Desilted Soil Collection</a:t>
            </a:r>
            <a:endParaRPr lang="en-US" sz="7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23744" y="868680"/>
            <a:ext cx="4114800" cy="27432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523744" y="3374136"/>
            <a:ext cx="4114800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523744" y="3374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</a:rPr>
              <a:t>Reclaimed Land Preparation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23744" y="3730752"/>
            <a:ext cx="2057400" cy="11887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523744" y="4681728"/>
            <a:ext cx="2057400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523744" y="46817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Land Levelling</a:t>
            </a:r>
            <a:endParaRPr lang="en-US" sz="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00016" y="3730752"/>
            <a:ext cx="1892808" cy="118872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700016" y="4681728"/>
            <a:ext cx="2057400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700016" y="46817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Farmer Visit</a:t>
            </a:r>
            <a:endParaRPr lang="en-US" sz="7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11696" y="868680"/>
            <a:ext cx="2176272" cy="126187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711696" y="1911096"/>
            <a:ext cx="2176272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711696" y="191109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Watershed Infrastructure</a:t>
            </a:r>
            <a:endParaRPr lang="en-US" sz="75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11696" y="2295144"/>
            <a:ext cx="2176272" cy="126187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711696" y="3337560"/>
            <a:ext cx="2176272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711696" y="33375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Water Storage Site</a:t>
            </a:r>
            <a:endParaRPr lang="en-US" sz="7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11696" y="3657600"/>
            <a:ext cx="2157986" cy="1261872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6693410" y="4681728"/>
            <a:ext cx="2176272" cy="237744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6693410" y="467258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0D080"/>
                </a:solidFill>
              </a:rPr>
              <a:t>Completed Site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46304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46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PHOTO GALLERY · PART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Ground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D080"/>
                </a:solidFill>
              </a:rPr>
              <a:t>Structures, Earthwork &amp; Community Participation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80160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389888"/>
            <a:ext cx="2286000" cy="17007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426464"/>
            <a:ext cx="2212848" cy="1389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SCT Construction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6032" y="3255264"/>
            <a:ext cx="2286000" cy="17007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" y="3291840"/>
            <a:ext cx="2212848" cy="1389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" y="4700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Boulder Structure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651760" y="1389888"/>
            <a:ext cx="2029968" cy="3547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88336" y="1426464"/>
            <a:ext cx="1956816" cy="30906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51760" y="45354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Earthwork Progress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846320" y="1389888"/>
            <a:ext cx="2029968" cy="3547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82896" y="1426464"/>
            <a:ext cx="1956816" cy="30906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46320" y="45354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Agricultural Land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7040880" y="1389888"/>
            <a:ext cx="2029968" cy="35478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77456" y="1426464"/>
            <a:ext cx="1956816" cy="30906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4535424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</a:rPr>
              <a:t>Final Site View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182880"/>
            <a:ext cx="54864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6344" y="182880"/>
            <a:ext cx="8110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2D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Monitoring, Evaluation &amp; Challenges</a:t>
            </a:r>
            <a:endParaRPr lang="en-US" sz="20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47472" y="640080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49808"/>
            <a:ext cx="182880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498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Mechanism</a:t>
            </a:r>
            <a:endParaRPr lang="en-US" sz="85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12848" y="749808"/>
            <a:ext cx="100584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7498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Frequency</a:t>
            </a:r>
            <a:endParaRPr lang="en-US" sz="85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55264" y="749808"/>
            <a:ext cx="192024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749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Responsible</a:t>
            </a:r>
            <a:endParaRPr lang="en-US" sz="85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12080" y="749808"/>
            <a:ext cx="3657600" cy="3474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749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Findings/Notes</a:t>
            </a:r>
            <a:endParaRPr lang="en-US" sz="85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7472" y="1115568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1115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Field Visits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12848" y="1115568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11155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Regular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55264" y="1115568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1155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Mr. Suresh Kadam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12080" y="1115568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11155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Verified SCT and desilting completion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7472" y="1554480"/>
            <a:ext cx="182880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15544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Weekly Updates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12848" y="1554480"/>
            <a:ext cx="100584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67712" y="15544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Weekly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55264" y="1554480"/>
            <a:ext cx="192024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5544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Site Supervisors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212080" y="1554480"/>
            <a:ext cx="365760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66944" y="15544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Tracked Nala widening to 19,000 m³ target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7472" y="1993392"/>
            <a:ext cx="1828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19933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Progress Reports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12848" y="1993392"/>
            <a:ext cx="1005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67712" y="19933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Monthly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55264" y="1993392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199339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Reporting Team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12080" y="1993392"/>
            <a:ext cx="3657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66944" y="19933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Final achievements compiled Feb–Mar 2026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47472" y="2432304"/>
            <a:ext cx="182880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243230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Internal Audit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212848" y="2432304"/>
            <a:ext cx="100584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67712" y="24323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End of Project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55264" y="2432304"/>
            <a:ext cx="192024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243230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Financial Auditor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212080" y="2432304"/>
            <a:ext cx="3657600" cy="420624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66944" y="24323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Felix Titling" panose="04060505060202020A04" pitchFamily="82" charset="0"/>
                <a:cs typeface="Tiro Devanagari Marathi" panose="02000000000000000000" pitchFamily="2" charset="0"/>
              </a:rPr>
              <a:t>Aligned with Parivartan SGP guidelines</a:t>
            </a:r>
            <a:endParaRPr lang="en-US" sz="900" dirty="0">
              <a:latin typeface="Felix Titling" panose="04060505060202020A04" pitchFamily="82" charset="0"/>
              <a:cs typeface="Tiro Devanagari Marathi" panose="02000000000000000000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47472" y="2944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Challenge &amp; Resolution</a:t>
            </a:r>
            <a:endParaRPr lang="en-US"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47472" y="3291840"/>
            <a:ext cx="4114800" cy="1664208"/>
          </a:xfrm>
          <a:prstGeom prst="rect">
            <a:avLst/>
          </a:prstGeom>
          <a:solidFill>
            <a:srgbClr val="FBF3D5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47472" y="329184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4226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⚠  Challenge</a:t>
            </a:r>
            <a:endParaRPr lang="en-US" sz="9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57200" y="362102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A2A2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Finalising the last 1,500 m³ of Nala deepening &amp; widening within the reporting deadline required intensive field execution and daily monitoring.</a:t>
            </a:r>
            <a:endParaRPr lang="en-US" sz="9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57200" y="4279392"/>
            <a:ext cx="3840480" cy="22860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3159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7A4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✅  Outcome: 100% of the 19,000 m³ target achieved — deadline met.</a:t>
            </a:r>
            <a:endParaRPr lang="en-US" sz="9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773168" y="29443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Lessons Learned</a:t>
            </a:r>
            <a:endParaRPr lang="en-US"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773168" y="3291840"/>
            <a:ext cx="4114800" cy="402336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32918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✅</a:t>
            </a:r>
            <a:endParaRPr lang="en-US"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212080" y="32918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Desilting + land reclamation integration proved highly effective — 18 acres converted.</a:t>
            </a:r>
            <a:endParaRPr lang="en-US" sz="8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773168" y="3730752"/>
            <a:ext cx="4114800" cy="402336"/>
          </a:xfrm>
          <a:prstGeom prst="rect">
            <a:avLst/>
          </a:prstGeom>
          <a:solidFill>
            <a:srgbClr val="F0FAF4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73168" y="3730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✅</a:t>
            </a:r>
            <a:endParaRPr lang="en-US"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5212080" y="3730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Structural works before monsoon ensured immediate water harvesting benefits.</a:t>
            </a:r>
            <a:endParaRPr lang="en-US" sz="8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773168" y="4169664"/>
            <a:ext cx="4114800" cy="402336"/>
          </a:xfrm>
          <a:prstGeom prst="rect">
            <a:avLst/>
          </a:prstGeom>
          <a:solidFill>
            <a:srgbClr val="FBF3D5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416966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💡</a:t>
            </a:r>
            <a:endParaRPr lang="en-US"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212080" y="4169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More frequent exposure visits recommended for deeper knowledge transfer.</a:t>
            </a:r>
            <a:endParaRPr lang="en-US" sz="8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773168" y="4608576"/>
            <a:ext cx="4114800" cy="402336"/>
          </a:xfrm>
          <a:prstGeom prst="rect">
            <a:avLst/>
          </a:prstGeom>
          <a:solidFill>
            <a:srgbClr val="FBF3D5"/>
          </a:solidFill>
          <a:ln w="6350">
            <a:solidFill>
              <a:srgbClr val="D4C5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73168" y="46085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💡</a:t>
            </a:r>
            <a:endParaRPr lang="en-US" sz="13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212080" y="46085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A2A2A"/>
                </a:solidFill>
                <a:latin typeface="Tiro Devanagari Marathi" panose="02000000000000000000" pitchFamily="2" charset="0"/>
                <a:cs typeface="Tiro Devanagari Marathi" panose="02000000000000000000" pitchFamily="2" charset="0"/>
              </a:rPr>
              <a:t>Soil testing of desilted material before distribution could optimise crop selection.</a:t>
            </a:r>
            <a:endParaRPr lang="en-US" sz="85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0"/>
            <a:ext cx="8979408" cy="14813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64592" y="0"/>
            <a:ext cx="8979408" cy="1481328"/>
          </a:xfrm>
          <a:prstGeom prst="rect">
            <a:avLst/>
          </a:prstGeom>
          <a:solidFill>
            <a:srgbClr val="1B3A2D">
              <a:alpha val="60000"/>
            </a:srgbClr>
          </a:solidFill>
          <a:ln w="12700">
            <a:solidFill>
              <a:srgbClr val="1B3A2D">
                <a:alpha val="6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47472" y="182880"/>
            <a:ext cx="146304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1B3A2D"/>
                </a:solidFill>
              </a:rPr>
              <a:t>SUSTAINABILITY &amp; ROADMAP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47472" y="5486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ro Devanagari Marathi" panose="02000000000000000000" pitchFamily="2" charset="0"/>
                <a:ea typeface="Georgia" pitchFamily="34" charset="-122"/>
                <a:cs typeface="Tiro Devanagari Marathi" panose="02000000000000000000" pitchFamily="2" charset="0"/>
              </a:rPr>
              <a:t>Looking Forward</a:t>
            </a:r>
            <a:endParaRPr lang="en-US" sz="3200" dirty="0">
              <a:latin typeface="Tiro Devanagari Marathi" panose="02000000000000000000" pitchFamily="2" charset="0"/>
              <a:cs typeface="Tiro Devanagari Marathi" panose="02000000000000000000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47472" y="1554480"/>
            <a:ext cx="850392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" y="1700784"/>
            <a:ext cx="2724912" cy="3246120"/>
          </a:xfrm>
          <a:prstGeom prst="rect">
            <a:avLst/>
          </a:prstGeom>
          <a:solidFill>
            <a:srgbClr val="C8E6C9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" y="1700784"/>
            <a:ext cx="272491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810512"/>
            <a:ext cx="2724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896112" y="2542032"/>
            <a:ext cx="1627632" cy="27432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615184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Capacity</a:t>
            </a:r>
            <a:endParaRPr lang="en-US" sz="2400" dirty="0">
              <a:latin typeface="Felix Titling" panose="04060505060202020A04" pitchFamily="82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1B3A2D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Building</a:t>
            </a:r>
            <a:endParaRPr lang="en-US" sz="2400" dirty="0">
              <a:latin typeface="Felix Titling" panose="04060505060202020A04" pitchFamily="8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5488" y="327355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Conduct follow-up training for 39 farmers on sustainable agricultural practices using the 18 acres of reclaimed land.</a:t>
            </a:r>
            <a:endParaRPr lang="en-US" sz="105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55264" y="1700784"/>
            <a:ext cx="2724912" cy="3246120"/>
          </a:xfrm>
          <a:prstGeom prst="rect">
            <a:avLst/>
          </a:prstGeom>
          <a:solidFill>
            <a:srgbClr val="FBF3D5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55264" y="1700784"/>
            <a:ext cx="272491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55264" y="1810512"/>
            <a:ext cx="2724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3803904" y="2542032"/>
            <a:ext cx="1627632" cy="27432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46704" y="2615184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4226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2400" dirty="0">
              <a:latin typeface="Felix Titling" panose="04060505060202020A04" pitchFamily="82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6B4226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Ownership</a:t>
            </a:r>
            <a:endParaRPr lang="en-US" sz="2400" dirty="0">
              <a:latin typeface="Felix Titling" panose="04060505060202020A04" pitchFamily="8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383280" y="327355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Form Water User Groups to take long-term responsibility for maintenance of Gabion and Loose Boulder structures.</a:t>
            </a:r>
            <a:endParaRPr lang="en-US" sz="105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63056" y="1700784"/>
            <a:ext cx="2724912" cy="3246120"/>
          </a:xfrm>
          <a:prstGeom prst="rect">
            <a:avLst/>
          </a:prstGeom>
          <a:solidFill>
            <a:srgbClr val="BBDEFB"/>
          </a:solidFill>
          <a:ln w="6350">
            <a:solidFill>
              <a:srgbClr val="D4C5A0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63056" y="1700784"/>
            <a:ext cx="272491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63056" y="1810512"/>
            <a:ext cx="27249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6711696" y="2542032"/>
            <a:ext cx="1627632" cy="27432"/>
          </a:xfrm>
          <a:prstGeom prst="rect">
            <a:avLst/>
          </a:prstGeom>
          <a:solidFill>
            <a:srgbClr val="D4C5A0"/>
          </a:solidFill>
          <a:ln w="12700">
            <a:solidFill>
              <a:srgbClr val="D4C5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54496" y="2615184"/>
            <a:ext cx="2542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47A1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Scale &amp;</a:t>
            </a:r>
            <a:endParaRPr lang="en-US" sz="2400" dirty="0">
              <a:latin typeface="Felix Titling" panose="04060505060202020A04" pitchFamily="82" charset="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0D47A1"/>
                </a:solidFill>
                <a:latin typeface="Felix Titling" panose="04060505060202020A04" pitchFamily="82" charset="0"/>
                <a:ea typeface="Georgia" pitchFamily="34" charset="-122"/>
                <a:cs typeface="Georgia" pitchFamily="34" charset="-120"/>
              </a:rPr>
              <a:t>Continuity</a:t>
            </a:r>
            <a:endParaRPr lang="en-US" sz="2400" dirty="0">
              <a:latin typeface="Felix Titling" panose="04060505060202020A04" pitchFamily="8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91072" y="327355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A2A2A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Explore scaling the Nala deepening model to adjacent watersheds, building on 19,000 m³ success.</a:t>
            </a:r>
            <a:endParaRPr lang="en-US" sz="105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2D">
              <a:alpha val="72000"/>
            </a:srgbClr>
          </a:solidFill>
          <a:ln w="12700">
            <a:solidFill>
              <a:srgbClr val="1B3A2D">
                <a:alpha val="7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64592" y="0"/>
            <a:ext cx="9144000" cy="54864"/>
          </a:xfrm>
          <a:prstGeom prst="rect">
            <a:avLst/>
          </a:prstGeom>
          <a:solidFill>
            <a:srgbClr val="F0D080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592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769382"/>
            <a:ext cx="6400800" cy="3089386"/>
          </a:xfrm>
          <a:prstGeom prst="rect">
            <a:avLst/>
          </a:prstGeom>
          <a:solidFill>
            <a:srgbClr val="000000">
              <a:alpha val="38000"/>
            </a:srgbClr>
          </a:solidFill>
          <a:ln w="19050">
            <a:solidFill>
              <a:srgbClr val="C9A84C"/>
            </a:solidFill>
            <a:prstDash val="solid"/>
          </a:ln>
          <a:effectLst>
            <a:outerShdw blurRad="1524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0" y="987552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2286000" y="1847088"/>
            <a:ext cx="4572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19385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C9A84C"/>
                </a:solidFill>
                <a:latin typeface="Felix Titling" panose="04060505060202020A04" pitchFamily="82" charset="0"/>
              </a:rPr>
              <a:t>Shramjivi Janata Sahayyak Mandal (SJSM)</a:t>
            </a:r>
            <a:endParaRPr lang="en-US" dirty="0">
              <a:latin typeface="Felix Titling" panose="04060505060202020A04" pitchFamily="8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71600" y="228600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Watershed Management for Climate Resilience &amp; Sustainable Livelihoods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0" y="2761488"/>
            <a:ext cx="45720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45920" y="29077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📍  Veloshi, Block – Phaltan, Dist. Satara, Maharashtra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645920" y="3236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📅  Reporting Period: February – March 2026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645920" y="35661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6C9"/>
                </a:solidFill>
              </a:rPr>
              <a:t>🏦  Supported by Parivartan SGP — HDFC Bank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47472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0D080"/>
                </a:solidFill>
              </a:rPr>
              <a:t>Annual Report  |  2025 – 26  |  SJSM Satara</a:t>
            </a:r>
            <a:endParaRPr lang="en-US" sz="8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B31261-DDD1-D679-6059-A87442311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t="21050" r="-1226" b="23363"/>
          <a:stretch>
            <a:fillRect/>
          </a:stretch>
        </p:blipFill>
        <p:spPr>
          <a:xfrm>
            <a:off x="228600" y="-54736"/>
            <a:ext cx="1742208" cy="9567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242CF4-213E-606E-63B5-C07362DFA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7944" y="94351"/>
            <a:ext cx="1666056" cy="628025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A9E8E97D-C1F8-DE95-E70F-B285F16E3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051" y="4015682"/>
            <a:ext cx="2111897" cy="600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952</Words>
  <Application>Microsoft Office PowerPoint</Application>
  <PresentationFormat>On-screen Show (16:9)</PresentationFormat>
  <Paragraphs>249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DengXian</vt:lpstr>
      <vt:lpstr>Arial</vt:lpstr>
      <vt:lpstr>Bookman Old Style</vt:lpstr>
      <vt:lpstr>Felix Titling</vt:lpstr>
      <vt:lpstr>Georgia</vt:lpstr>
      <vt:lpstr>Tiro Devanagari Marathi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SJSM Annual Report 2025-26</dc:title>
  <dc:subject>PptxGenJS Presentation</dc:subject>
  <dc:creator>PptxGenJS</dc:creator>
  <cp:lastModifiedBy>Satwik Udupi</cp:lastModifiedBy>
  <cp:revision>2</cp:revision>
  <dcterms:created xsi:type="dcterms:W3CDTF">2026-03-29T06:20:20Z</dcterms:created>
  <dcterms:modified xsi:type="dcterms:W3CDTF">2026-03-29T10:04:40Z</dcterms:modified>
</cp:coreProperties>
</file>